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cc61c2-748d-f23c-f533-1f6eda581060}">
          <p14:sldIdLst>
            <p14:sldId id="256"/>
            <p14:sldId id="257"/>
            <p14:sldId id="258"/>
            <p14:sldId id="259"/>
          </p14:sldIdLst>
        </p14:section>
        <p14:section name="Data &amp; Method" id="{f234714a-b46d-6244-798e-d2786d211d3a}">
          <p14:sldIdLst>
            <p14:sldId id="260"/>
            <p14:sldId id="261"/>
            <p14:sldId id="262"/>
            <p14:sldId id="263"/>
            <p14:sldId id="264"/>
            <p14:sldId id="265"/>
          </p14:sldIdLst>
        </p14:section>
        <p14:section name="Results" id="{e3cfc29f-a98d-2839-378b-45af38ee4f9a}">
          <p14:sldIdLst>
            <p14:sldId id="266"/>
            <p14:sldId id="267"/>
            <p14:sldId id="268"/>
          </p14:sldIdLst>
        </p14:section>
        <p14:section name="Conclusion" id="{8d5fd458-1bd6-63d9-e921-4fbb9ae7874c}">
          <p14:sldIdLst>
            <p14:sldId id="269"/>
          </p14:sldIdLst>
        </p14:section>
        <p14:section name="Appendix: Model Explorer" id="{84a470bd-4615-bf86-aae8-874da77fb0c2}">
          <p14:sldIdLst>
            <p14:sldId id="270"/>
            <p14:sldId id="271"/>
            <p14:sldId id="272"/>
            <p14:sldId id="273"/>
            <p14:sldId id="274"/>
          </p14:sldIdLst>
        </p14:section>
        <p14:section name="Appendix: Details" id="{9f791b03-624e-e331-5dcb-6b772175ec93}">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Class balance (Outcome)</a:t>
            </a:r>
          </a:p>
        </c:rich>
      </c:tx>
      <c:layout/>
      <c:overlay val="0"/>
    </c:title>
    <c:autoTitleDeleted val="0"/>
    <c:plotArea>
      <c:layout/>
      <c:doughnutChart>
        <c:varyColors val="1"/>
        <c:ser>
          <c:idx val="0"/>
          <c:order val="0"/>
          <c:tx>
            <c:strRef>
              <c:f>Sheet1!$B$1</c:f>
              <c:strCache>
                <c:ptCount val="1"/>
                <c:pt idx="0">
                  <c:v>Outcome</c:v>
                </c:pt>
              </c:strCache>
            </c:strRef>
          </c:tx>
          <c:spPr>
            <a:solidFill>
              <a:schemeClr val="accent1"/>
            </a:solidFill>
            <a:ln w="9525" cap="flat">
              <a:solidFill>
                <a:srgbClr val="F9F9F9"/>
              </a:solidFill>
              <a:prstDash val="solid"/>
              <a:round/>
            </a:ln>
            <a:effectLst/>
          </c:spPr>
          <c:dPt>
            <c:idx val="0"/>
            <c:bubble3D val="0"/>
            <c:spPr>
              <a:solidFill>
                <a:srgbClr val="0E7C86"/>
              </a:solidFill>
              <a:effectLst/>
            </c:spPr>
          </c:dPt>
          <c:dPt>
            <c:idx val="1"/>
            <c:bubble3D val="0"/>
            <c:spPr>
              <a:solidFill>
                <a:srgbClr val="F25C54"/>
              </a:solidFill>
              <a:effectLst/>
            </c:spPr>
          </c:dPt>
          <c:dLbls>
            <c:dLbl>
              <c:idx val="0"/>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No diabetes (500)</c:v>
                </c:pt>
                <c:pt idx="1">
                  <c:v>Diabetes (268)</c:v>
                </c:pt>
              </c:strCache>
            </c:strRef>
          </c:cat>
          <c:val>
            <c:numRef>
              <c:f>Sheet1!$B$2:$B$3</c:f>
              <c:numCache>
                <c:ptCount val="2"/>
                <c:pt idx="0">
                  <c:v>500</c:v>
                </c:pt>
                <c:pt idx="1">
                  <c:v>268</c:v>
                </c:pt>
              </c:numCache>
            </c:numRef>
          </c:val>
        </c:ser>
        <c:firstSliceAng val="0"/>
        <c:holeSize val="55"/>
      </c:doughnutChart>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Hidden missing values: impossible zeros per feature</a:t>
            </a:r>
          </a:p>
        </c:rich>
      </c:tx>
      <c:layout/>
      <c:overlay val="0"/>
    </c:title>
    <c:autoTitleDeleted val="0"/>
    <c:plotArea>
      <c:layout/>
      <c:barChart>
        <c:barDir val="bar"/>
        <c:grouping val="clustered"/>
        <c:varyColors val="0"/>
        <c:ser>
          <c:idx val="0"/>
          <c:order val="0"/>
          <c:tx>
            <c:strRef>
              <c:f>Sheet1!$B$1</c:f>
              <c:strCache>
                <c:ptCount val="1"/>
                <c:pt idx="0">
                  <c:v>Invalid zeros (%)</c:v>
                </c:pt>
              </c:strCache>
            </c:strRef>
          </c:tx>
          <c:spPr>
            <a:solidFill>
              <a:srgbClr val="F25C54"/>
            </a:solidFill>
            <a:effectLst/>
          </c:spPr>
          <c:invertIfNegative val="0"/>
          <c:dLbls>
            <c:numFmt formatCode="0.0&quot;%&quot;"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BMI</c:v>
                  </c:pt>
                  <c:pt idx="1">
                    <c:v>Glucose</c:v>
                  </c:pt>
                  <c:pt idx="2">
                    <c:v>BloodPressure</c:v>
                  </c:pt>
                  <c:pt idx="3">
                    <c:v>SkinThickness</c:v>
                  </c:pt>
                  <c:pt idx="4">
                    <c:v>Insulin</c:v>
                  </c:pt>
                </c:lvl>
              </c:multiLvlStrCache>
            </c:multiLvlStrRef>
          </c:cat>
          <c:val>
            <c:numRef>
              <c:f>Sheet1!$B$2:$B$6</c:f>
              <c:numCache>
                <c:formatCode>General</c:formatCode>
                <c:ptCount val="5"/>
                <c:pt idx="0">
                  <c:v>1.43</c:v>
                </c:pt>
                <c:pt idx="1">
                  <c:v>0.65</c:v>
                </c:pt>
                <c:pt idx="2">
                  <c:v>4.56</c:v>
                </c:pt>
                <c:pt idx="3">
                  <c:v>29.56</c:v>
                </c:pt>
                <c:pt idx="4">
                  <c:v>48.7</c:v>
                </c:pt>
              </c:numCache>
            </c:numRef>
          </c:val>
        </c:ser>
        <c:dLbls>
          <c:numFmt formatCode="0.0&quot;%&quot;"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b"/>
        <c:majorGridlines>
          <c:spPr>
            <a:ln w="6350" cap="flat">
              <a:solidFill>
                <a:srgbClr val="DCE3E5"/>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7A8B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Training set class counts</a:t>
            </a:r>
          </a:p>
        </c:rich>
      </c:tx>
      <c:layout/>
      <c:overlay val="0"/>
    </c:title>
    <c:autoTitleDeleted val="0"/>
    <c:plotArea>
      <c:layout/>
      <c:barChart>
        <c:barDir val="col"/>
        <c:grouping val="clustered"/>
        <c:varyColors val="0"/>
        <c:ser>
          <c:idx val="0"/>
          <c:order val="0"/>
          <c:tx>
            <c:strRef>
              <c:f>Sheet1!$B$1</c:f>
              <c:strCache>
                <c:ptCount val="1"/>
                <c:pt idx="0">
                  <c:v>No diabetes</c:v>
                </c:pt>
              </c:strCache>
            </c:strRef>
          </c:tx>
          <c:spPr>
            <a:solidFill>
              <a:srgbClr val="0E7C86"/>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Sheet1!$A$2:$A$3</c:f>
              <c:multiLvlStrCache>
                <c:ptCount val="2"/>
                <c:lvl>
                  <c:pt idx="0">
                    <c:v>Before SMOTE</c:v>
                  </c:pt>
                  <c:pt idx="1">
                    <c:v>After SMOTE</c:v>
                  </c:pt>
                </c:lvl>
              </c:multiLvlStrCache>
            </c:multiLvlStrRef>
          </c:cat>
          <c:val>
            <c:numRef>
              <c:f>Sheet1!$B$2:$B$3</c:f>
              <c:numCache>
                <c:formatCode>General</c:formatCode>
                <c:ptCount val="2"/>
                <c:pt idx="0">
                  <c:v>400</c:v>
                </c:pt>
                <c:pt idx="1">
                  <c:v>400</c:v>
                </c:pt>
              </c:numCache>
            </c:numRef>
          </c:val>
        </c:ser>
        <c:ser>
          <c:idx val="1"/>
          <c:order val="1"/>
          <c:tx>
            <c:strRef>
              <c:f>Sheet1!$C$1</c:f>
              <c:strCache>
                <c:ptCount val="1"/>
                <c:pt idx="0">
                  <c:v>Diabetes</c:v>
                </c:pt>
              </c:strCache>
            </c:strRef>
          </c:tx>
          <c:spPr>
            <a:solidFill>
              <a:srgbClr val="F25C54"/>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Sheet1!$A$2:$A$3</c:f>
              <c:multiLvlStrCache>
                <c:ptCount val="2"/>
                <c:lvl>
                  <c:pt idx="0">
                    <c:v>Before SMOTE</c:v>
                  </c:pt>
                  <c:pt idx="1">
                    <c:v>After SMOTE</c:v>
                  </c:pt>
                </c:lvl>
              </c:multiLvlStrCache>
            </c:multiLvlStrRef>
          </c:cat>
          <c:val>
            <c:numRef>
              <c:f>Sheet1!$C$2:$C$3</c:f>
              <c:numCache>
                <c:formatCode>General</c:formatCode>
                <c:ptCount val="2"/>
                <c:pt idx="0">
                  <c:v>214</c:v>
                </c:pt>
                <c:pt idx="1">
                  <c:v>400</c:v>
                </c:pt>
              </c:numCache>
            </c:numRef>
          </c:val>
        </c:ser>
        <c:dLbls>
          <c:numFmt formatCode="#,##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480"/>
          <c:min val="0"/>
        </c:scaling>
        <c:delete val="0"/>
        <c:axPos val="l"/>
        <c:majorGridlines>
          <c:spPr>
            <a:ln w="6350" cap="flat">
              <a:solidFill>
                <a:srgbClr val="DCE3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B9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154 held-out patients (hover the bars in PowerPoint for exact values)</a:t>
            </a:r>
          </a:p>
        </c:rich>
      </c:tx>
      <c:layout/>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3A5A98"/>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Sheet1!$B$2:$B$6</c:f>
              <c:numCache>
                <c:formatCode>General</c:formatCode>
                <c:ptCount val="5"/>
                <c:pt idx="0">
                  <c:v>0.7078</c:v>
                </c:pt>
                <c:pt idx="1">
                  <c:v>0.5738</c:v>
                </c:pt>
                <c:pt idx="2">
                  <c:v>0.6481</c:v>
                </c:pt>
                <c:pt idx="3">
                  <c:v>0.6087</c:v>
                </c:pt>
                <c:pt idx="4">
                  <c:v>0.8113</c:v>
                </c:pt>
              </c:numCache>
            </c:numRef>
          </c:val>
        </c:ser>
        <c:ser>
          <c:idx val="1"/>
          <c:order val="1"/>
          <c:tx>
            <c:strRef>
              <c:f>Sheet1!$C$1</c:f>
              <c:strCache>
                <c:ptCount val="1"/>
                <c:pt idx="0">
                  <c:v>K-Nearest Neighbors</c:v>
                </c:pt>
              </c:strCache>
            </c:strRef>
          </c:tx>
          <c:spPr>
            <a:solidFill>
              <a:srgbClr val="F4B942"/>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Sheet1!$C$2:$C$6</c:f>
              <c:numCache>
                <c:formatCode>General</c:formatCode>
                <c:ptCount val="5"/>
                <c:pt idx="0">
                  <c:v>0.6948</c:v>
                </c:pt>
                <c:pt idx="1">
                  <c:v>0.5455</c:v>
                </c:pt>
                <c:pt idx="2">
                  <c:v>0.7778</c:v>
                </c:pt>
                <c:pt idx="3">
                  <c:v>0.6412</c:v>
                </c:pt>
                <c:pt idx="4">
                  <c:v>0.7974</c:v>
                </c:pt>
              </c:numCache>
            </c:numRef>
          </c:val>
        </c:ser>
        <c:ser>
          <c:idx val="2"/>
          <c:order val="2"/>
          <c:tx>
            <c:strRef>
              <c:f>Sheet1!$D$1</c:f>
              <c:strCache>
                <c:ptCount val="1"/>
                <c:pt idx="0">
                  <c:v>Decision Tree</c:v>
                </c:pt>
              </c:strCache>
            </c:strRef>
          </c:tx>
          <c:spPr>
            <a:solidFill>
              <a:srgbClr val="7A8B94"/>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Sheet1!$D$2:$D$6</c:f>
              <c:numCache>
                <c:formatCode>General</c:formatCode>
                <c:ptCount val="5"/>
                <c:pt idx="0">
                  <c:v>0.7273</c:v>
                </c:pt>
                <c:pt idx="1">
                  <c:v>0.5833</c:v>
                </c:pt>
                <c:pt idx="2">
                  <c:v>0.7778</c:v>
                </c:pt>
                <c:pt idx="3">
                  <c:v>0.6667</c:v>
                </c:pt>
                <c:pt idx="4">
                  <c:v>0.7616</c:v>
                </c:pt>
              </c:numCache>
            </c:numRef>
          </c:val>
        </c:ser>
        <c:ser>
          <c:idx val="3"/>
          <c:order val="3"/>
          <c:tx>
            <c:strRef>
              <c:f>Sheet1!$E$1</c:f>
              <c:strCache>
                <c:ptCount val="1"/>
                <c:pt idx="0">
                  <c:v>Random Forest</c:v>
                </c:pt>
              </c:strCache>
            </c:strRef>
          </c:tx>
          <c:spPr>
            <a:solidFill>
              <a:srgbClr val="0E7C86"/>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Sheet1!$E$2:$E$6</c:f>
              <c:numCache>
                <c:formatCode>General</c:formatCode>
                <c:ptCount val="5"/>
                <c:pt idx="0">
                  <c:v>0.7468</c:v>
                </c:pt>
                <c:pt idx="1">
                  <c:v>0.6154</c:v>
                </c:pt>
                <c:pt idx="2">
                  <c:v>0.7407</c:v>
                </c:pt>
                <c:pt idx="3">
                  <c:v>0.6723</c:v>
                </c:pt>
                <c:pt idx="4">
                  <c:v>0.8094</c:v>
                </c:pt>
              </c:numCache>
            </c:numRef>
          </c:val>
        </c:ser>
        <c:ser>
          <c:idx val="4"/>
          <c:order val="4"/>
          <c:tx>
            <c:strRef>
              <c:f>Sheet1!$F$1</c:f>
              <c:strCache>
                <c:ptCount val="1"/>
                <c:pt idx="0">
                  <c:v>XGBoost</c:v>
                </c:pt>
              </c:strCache>
            </c:strRef>
          </c:tx>
          <c:spPr>
            <a:solidFill>
              <a:srgbClr val="6B4E9B"/>
            </a:solidFill>
            <a:effectLst/>
          </c:spPr>
          <c:invertIfNegative val="0"/>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Sheet1!$F$2:$F$6</c:f>
              <c:numCache>
                <c:formatCode>General</c:formatCode>
                <c:ptCount val="5"/>
                <c:pt idx="0">
                  <c:v>0.7532</c:v>
                </c:pt>
                <c:pt idx="1">
                  <c:v>0.625</c:v>
                </c:pt>
                <c:pt idx="2">
                  <c:v>0.7407</c:v>
                </c:pt>
                <c:pt idx="3">
                  <c:v>0.678</c:v>
                </c:pt>
                <c:pt idx="4">
                  <c:v>0.8263</c:v>
                </c:pt>
              </c:numCache>
            </c:numRef>
          </c:val>
        </c:ser>
        <c:dLbls>
          <c:numFmt formatCode="#,##0" sourceLinked="0"/>
          <c:txPr>
            <a:bodyPr/>
            <a:lstStyle/>
            <a:p>
              <a:pPr>
                <a:defRPr b="0" i="0" strike="noStrike" sz="1100" u="none">
                  <a:solidFill>
                    <a:srgbClr val="1B2A33"/>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0.9"/>
          <c:min val="0.4"/>
        </c:scaling>
        <c:delete val="0"/>
        <c:axPos val="l"/>
        <c:majorGridlines>
          <c:spPr>
            <a:ln w="6350" cap="flat">
              <a:solidFill>
                <a:srgbClr val="DCE3E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B94"/>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Mean |SHAP| (Random Forest)</a:t>
            </a:r>
          </a:p>
        </c:rich>
      </c:tx>
      <c:layout/>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0E7C86"/>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Sheet1!$A$2:$A$9</c:f>
              <c:multiLvlStrCache>
                <c:ptCount val="8"/>
                <c:lvl>
                  <c:pt idx="0">
                    <c:v>BloodPressure</c:v>
                  </c:pt>
                  <c:pt idx="1">
                    <c:v>SkinThickness</c:v>
                  </c:pt>
                  <c:pt idx="2">
                    <c:v>Pregnancies</c:v>
                  </c:pt>
                  <c:pt idx="3">
                    <c:v>Insulin</c:v>
                  </c:pt>
                  <c:pt idx="4">
                    <c:v>Pedigree fn.</c:v>
                  </c:pt>
                  <c:pt idx="5">
                    <c:v>Age</c:v>
                  </c:pt>
                  <c:pt idx="6">
                    <c:v>BMI</c:v>
                  </c:pt>
                  <c:pt idx="7">
                    <c:v>Glucose</c:v>
                  </c:pt>
                </c:lvl>
              </c:multiLvlStrCache>
            </c:multiLvlStrRef>
          </c:cat>
          <c:val>
            <c:numRef>
              <c:f>Sheet1!$B$2:$B$9</c:f>
              <c:numCache>
                <c:formatCode>General</c:formatCode>
                <c:ptCount val="8"/>
                <c:pt idx="0">
                  <c:v>0.015</c:v>
                </c:pt>
                <c:pt idx="1">
                  <c:v>0.024</c:v>
                </c:pt>
                <c:pt idx="2">
                  <c:v>0.025</c:v>
                </c:pt>
                <c:pt idx="3">
                  <c:v>0.034</c:v>
                </c:pt>
                <c:pt idx="4">
                  <c:v>0.043</c:v>
                </c:pt>
                <c:pt idx="5">
                  <c:v>0.065</c:v>
                </c:pt>
                <c:pt idx="6">
                  <c:v>0.094</c:v>
                </c:pt>
                <c:pt idx="7">
                  <c:v>0.146</c:v>
                </c:pt>
              </c:numCache>
            </c:numRef>
          </c:val>
        </c:ser>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A8B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predicts whether a patient is likely to have diabetes from routine diagnostic measurements. I followed the complete KDD process, from defining the problem to interpreting the final model. It is an academic screening model, not a diagnostic tool.
Interactive deck: 'Start presentation' opens a clickable agenda; every slide has Agenda / Prev / Next buttons; the Model Explorer lets you drill into each model. The buttons at the bottom open the GitHub repository, the notebook in Google Colab and the PDF report (internet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navigation hub. Each tile jumps straight to that part of the talk, and every slide has an Agenda button to come back here. In a normal run I simply press Next; during questions I can jump to any topic. The Model Explorer (tile 10) opens a detail slide for each of the five models, and the Viva Q&amp;A button opens prepared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the input is a vector of eight measurements and the output is a class label plus a probability. I framed it as a screening problem, which matters later: in screening, missing a diabetic patient is worse than raising a false alarm, so recall gets special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objectives were not only to get a good score, but to do every step correctly: no information from the test set may leak into training, the model is chosen with a clear rule, and I can explain why the model makes its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first glance the data looks clean: there are no NaNs. But describe() shows zeros for glucose, blood pressure and BMI, which is impossible for a living person. These zeros are missing values in disguise; almost half of the insulin values are missing. I treated them as NaN instead of deleting rows, which would have thrown away half the data. The classes are imbalanced: about 65 /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backbone of the project. Each box is a section of my notebook: data cleaning is the zero-to-NaN step, transformation is imputation, scaling and SMOTE, and interpretation is feature importance and SHAP.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glucose plot shows two clearly shifted distributions, so glucose is the strongest single signal. Still, the curves overlap, so no single threshold separates the classes. Correlations between features are moderate, so I kept all eight features. I am careful to call these associations; the data cannot prove that anything causes diabetes. (Click 'Open correlation heatmap' to show the full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is leakage prevention. I split before fitting anything, so medians, scaling parameters and SMOTE's synthetic samples come only from training data. SMOTE sits inside an imbalanced-learn pipeline, so during cross-validation it only touches the training folds. My quick experiment showed why it matters: without imbalance handling, Logistic Regression's recall was only 0.57, so it missed over 40 % of diabetic patients; with SMOTE it rose to 0.72.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five models from different families, from simple to complex. Scaling is essential for Logistic Regression and KNN; tree models don't need it, but I kept one consistent pipeline. I used sensible fixed settings rather than a big hyperparameter search, which keeps the project explainable and avoids overfitting to a small dataset. Each card is clickable and opens that model's detail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that always says 'no diabetes' gets 65 % accuracy, which shows why accuracy alone is not enough. A false negative means a diabetic patient is missed and may not be referred; a false positive leads to an extra test. So I focus on recall and ROC-AUC, while still checking precision so the model doesn't flag everyone. Every model was evaluated with 5-fold cross-validation on the training data and once on the untouched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model wins every metric. XGBoost has the best test AUC, but its cross-validated recall is below 0.70. Logistic Regression is best in cross-validation but worst on test recall. Random Forest is consistently first or second in both evaluations and meets the recall requirement, so I chose it. With only 154 test patients, consistency is more trustworthy than one high score. The chart is a native PowerPoint chart, so values can be read on hover.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interactive part: each card opens a detail slide with that model's metrics, confusion matrix and the reason it was or wasn't selected; each detail slide has a button back to this explorer. The ROC curves show all models far above the random diagonal, with Random Forest, Logistic Regression and XGBoost almost overlapping.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SHAP plot, each dot is a test patient. Red dots are high values; dots on the right push the prediction toward diabetes. For glucose, all the red dots are on the right, so high glucose raises the predicted risk by up to about 30 percentage points. Four different interpretation methods agree on the ranking, which makes it convincing, but SHAP explains the model, not human biology.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project shows that routine measurements carry real predictive signal for diabetes, with glucose clearly dominant. Random Forest gave the best balance of catching diabetic patients and avoiding false alarms. The biggest limitation is the data: 768 Pima women from decades ago. Before any real use, the model would need external validation, calibration and a carefully chosen threshold. Thank you, I'm happy to take questions. (Viva Q&amp;A opens prepared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Linear, interpretable baseline (max_iter = 1000). Test accuracy 0.708, precision 0.574, recall 0.648, F1 0.609, ROC-AUC 0.811; it caught 35 of 54 diabetic patients with 26 false alarms. Verdict: Not selected. Best cross-validated ROC-AUC (0.843); But the lowest test recall: missed 19 of 54 diabetic patients; Fails the recall ≥ 0.70 rule on the test set. (Hidden slide: reached from the Model Explorer; use the buttons to move between models or go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K-Nearest Neighbors: Instance-based (distance) (k = 15 neighbours). Test accuracy 0.695, precision 0.545, recall 0.778, F1 0.641, ROC-AUC 0.797; it caught 42 of 54 diabetic patients with 35 false alarms. Verdict: Eligible, not selected. Highest recall: misses only 12 diabetic patients; But the most false alarms (35) and the lowest precision (0.55); Lower overall score than Random Forest. (Hidden slide: reached from the Model Explorer; use the buttons to move between models or go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Tree: Rule-based tree (max_depth = 5, min_samples_leaf = 5). Test accuracy 0.727, precision 0.583, recall 0.778, F1 0.667, ROC-AUC 0.762; it caught 42 of 54 diabetic patients with 30 false alarms. Verdict: Not selected. Readable if/else rules and high test recall; Lowest ROC-AUC: a shallow tree gives only a few distinct probabilities; Cross-validated recall 0.687 fails the 0.70 rule. (Hidden slide: reached from the Model Explorer; use the buttons to move between models or go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Bagging ensemble (300 trees, min_samples_leaf = 2). Test accuracy 0.747, precision 0.615, recall 0.741, F1 0.672, ROC-AUC 0.809; it caught 40 of 54 diabetic patients with 25 false alarms. Verdict: SELECTED final model. Recall ≥ 0.70 in both cross-validation (0.715) and test (0.741); First or second on most metrics in both evaluations; Highest overall score (0.727): balanced and stable. (Hidden slide: reached from the Model Explorer; use the buttons to move between models or go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Gradient-boosting ensemble (200 trees, depth 3, lr 0.05). Test accuracy 0.753, precision 0.625, recall 0.741, F1 0.678, ROC-AUC 0.826; it caught 40 of 54 diabetic patients with 24 false alarms. Verdict: Not selected. Best test accuracy, precision, F1 and ROC-AUC; But cross-validated recall 0.687 is below the 0.70 rule; Strong on one split, less consistent across folds. (Hidden slide: reached from the Model Explorer; use the buttons to move between models or go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Drill-down from the EDA slide. Glucose correlates most strongly with the outcome; feature-feature correlations are moderate, so all eight features were kept. Correlation is computed after replacing invalid zeros with NaN. Use 'Back to EDA' to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Drill-down from the interpretation slide: impurity-based importance of the three tree models and absolute standardised coefficients of Logistic Regression. All agree glucose is the most important feature and BMI the second. Importance shows how much a model relies on a feature, not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with prepared answers for likely viva questions; reachable from the agenda and the conclusion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4206240" cy="292608"/>
          </a:xfrm>
          <a:prstGeom prst="rect">
            <a:avLst/>
          </a:prstGeom>
          <a:noFill/>
          <a:ln/>
        </p:spPr>
        <p:txBody>
          <a:bodyPr wrap="square" lIns="0" tIns="0" rIns="0" bIns="0" rtlCol="0" anchor="ctr"/>
          <a:lstStyle/>
          <a:p>
            <a:pPr indent="0" marL="0">
              <a:buNone/>
            </a:pPr>
            <a:r>
              <a:rPr lang="en-US" sz="1000" dirty="0">
                <a:solidFill>
                  <a:schemeClr val="accent5"/>
                </a:solidFill>
              </a:rPr>
              <a:t>Diabetes Onset Prediction  |  Hardik Jain (23070521056)</a:t>
            </a:r>
            <a:endParaRPr lang="en-US" sz="1000" dirty="0"/>
          </a:p>
        </p:txBody>
      </p:sp>
      <p:sp>
        <p:nvSpPr>
          <p:cNvPr id="3" name="Text 1"/>
          <p:cNvSpPr/>
          <p:nvPr>
            <p:ph idx="101" type="title" hasCustomPrompt="1"/>
          </p:nvPr>
        </p:nvSpPr>
        <p:spPr>
          <a:xfrm>
            <a:off x="548640" y="347472"/>
            <a:ext cx="11064240" cy="73152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731520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hyperlink" Target="https://github.com/hardikjain2005/-Predictive-Analytics-CA-3-Diabetes-Onset-Prediction-Using-Machine-Learning" TargetMode="External"/><Relationship Id="rId3" Type="http://schemas.openxmlformats.org/officeDocument/2006/relationships/hyperlink" Target="https://colab.research.google.com/github/hardikjain2005/-Predictive-Analytics-CA-3-Diabetes-Onset-Prediction-Using-Machine-Learning/blob/main/notebooks/Diabetes_Onset_Prediction.ipynb" TargetMode="External"/><Relationship Id="rId4" Type="http://schemas.openxmlformats.org/officeDocument/2006/relationships/hyperlink" Target="https://github.com/hardikjain2005/-Predictive-Analytics-CA-3-Diabetes-Onset-Prediction-Using-Machine-Learning/blob/main/reports/Diabetes_Onset_Prediction_Report.pdf" TargetMode="External"/><Relationship Id="rId5" Type="http://schemas.openxmlformats.org/officeDocument/2006/relationships/image" Target="../media/image-1-1.pn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3" Type="http://schemas.openxmlformats.org/officeDocument/2006/relationships/slide" Target="slide3.xml"/><Relationship Id="rId4" Type="http://schemas.openxmlformats.org/officeDocument/2006/relationships/slide" Target="slide4.xml"/><Relationship Id="rId6" Type="http://schemas.openxmlformats.org/officeDocument/2006/relationships/slide" Target="slide4.xml"/><Relationship Id="rId7" Type="http://schemas.openxmlformats.org/officeDocument/2006/relationships/slide" Target="slide5.xml"/><Relationship Id="rId9" Type="http://schemas.openxmlformats.org/officeDocument/2006/relationships/slide" Target="slide5.xml"/><Relationship Id="rId10" Type="http://schemas.openxmlformats.org/officeDocument/2006/relationships/slide" Target="slide6.xml"/><Relationship Id="rId12" Type="http://schemas.openxmlformats.org/officeDocument/2006/relationships/slide" Target="slide6.xml"/><Relationship Id="rId13" Type="http://schemas.openxmlformats.org/officeDocument/2006/relationships/slide" Target="slide7.xml"/><Relationship Id="rId15" Type="http://schemas.openxmlformats.org/officeDocument/2006/relationships/slide" Target="slide7.xml"/><Relationship Id="rId16" Type="http://schemas.openxmlformats.org/officeDocument/2006/relationships/slide" Target="slide8.xml"/><Relationship Id="rId18" Type="http://schemas.openxmlformats.org/officeDocument/2006/relationships/slide" Target="slide8.xml"/><Relationship Id="rId19" Type="http://schemas.openxmlformats.org/officeDocument/2006/relationships/slide" Target="slide9.xml"/><Relationship Id="rId21" Type="http://schemas.openxmlformats.org/officeDocument/2006/relationships/slide" Target="slide9.xml"/><Relationship Id="rId22" Type="http://schemas.openxmlformats.org/officeDocument/2006/relationships/slide" Target="slide10.xml"/><Relationship Id="rId24" Type="http://schemas.openxmlformats.org/officeDocument/2006/relationships/slide" Target="slide10.xml"/><Relationship Id="rId25" Type="http://schemas.openxmlformats.org/officeDocument/2006/relationships/slide" Target="slide11.xml"/><Relationship Id="rId27" Type="http://schemas.openxmlformats.org/officeDocument/2006/relationships/slide" Target="slide11.xml"/><Relationship Id="rId28" Type="http://schemas.openxmlformats.org/officeDocument/2006/relationships/slide" Target="slide12.xml"/><Relationship Id="rId30" Type="http://schemas.openxmlformats.org/officeDocument/2006/relationships/slide" Target="slide12.xml"/><Relationship Id="rId31" Type="http://schemas.openxmlformats.org/officeDocument/2006/relationships/slide" Target="slide13.xml"/><Relationship Id="rId33" Type="http://schemas.openxmlformats.org/officeDocument/2006/relationships/slide" Target="slide13.xml"/><Relationship Id="rId34" Type="http://schemas.openxmlformats.org/officeDocument/2006/relationships/slide" Target="slide14.xml"/><Relationship Id="rId36" Type="http://schemas.openxmlformats.org/officeDocument/2006/relationships/slide" Target="slide14.xml"/><Relationship Id="rId37" Type="http://schemas.openxmlformats.org/officeDocument/2006/relationships/hyperlink" Target="https://github.com/hardikjain2005/-Predictive-Analytics-CA-3-Diabetes-Onset-Prediction-Using-Machine-Learning" TargetMode="External"/><Relationship Id="rId38" Type="http://schemas.openxmlformats.org/officeDocument/2006/relationships/hyperlink" Target="https://colab.research.google.com/github/hardikjain2005/-Predictive-Analytics-CA-3-Diabetes-Onset-Prediction-Using-Machine-Learning/blob/main/notebooks/Diabetes_Onset_Prediction.ipynb" TargetMode="External"/><Relationship Id="rId39" Type="http://schemas.openxmlformats.org/officeDocument/2006/relationships/hyperlink" Target="https://github.com/hardikjain2005/-Predictive-Analytics-CA-3-Diabetes-Onset-Prediction-Using-Machine-Learning/blob/main/reports/Diabetes_Onset_Prediction_Report.pdf" TargetMode="External"/><Relationship Id="rId40" Type="http://schemas.openxmlformats.org/officeDocument/2006/relationships/slide" Target="slide22.xml"/><Relationship Id="rId41" Type="http://schemas.openxmlformats.org/officeDocument/2006/relationships/slide" Target="slide3.xml"/><Relationship Id="rId42" Type="http://schemas.openxmlformats.org/officeDocument/2006/relationships/slide" Target="slide1.xml"/><Relationship Id="rId2" Type="http://schemas.openxmlformats.org/officeDocument/2006/relationships/image" Target="../media/image-2-1.png"/><Relationship Id="rId5" Type="http://schemas.openxmlformats.org/officeDocument/2006/relationships/image" Target="../media/image-2-2.png"/><Relationship Id="rId8" Type="http://schemas.openxmlformats.org/officeDocument/2006/relationships/image" Target="../media/image-2-3.png"/><Relationship Id="rId11" Type="http://schemas.openxmlformats.org/officeDocument/2006/relationships/image" Target="../media/image-2-4.png"/><Relationship Id="rId14" Type="http://schemas.openxmlformats.org/officeDocument/2006/relationships/image" Target="../media/image-2-5.png"/><Relationship Id="rId17" Type="http://schemas.openxmlformats.org/officeDocument/2006/relationships/image" Target="../media/image-2-6.png"/><Relationship Id="rId20" Type="http://schemas.openxmlformats.org/officeDocument/2006/relationships/image" Target="../media/image-2-7.png"/><Relationship Id="rId23" Type="http://schemas.openxmlformats.org/officeDocument/2006/relationships/image" Target="../media/image-2-8.png"/><Relationship Id="rId26" Type="http://schemas.openxmlformats.org/officeDocument/2006/relationships/image" Target="../media/image-2-9.png"/><Relationship Id="rId29" Type="http://schemas.openxmlformats.org/officeDocument/2006/relationships/image" Target="../media/image-2-10.png"/><Relationship Id="rId32" Type="http://schemas.openxmlformats.org/officeDocument/2006/relationships/image" Target="../media/image-2-11.png"/><Relationship Id="rId35" Type="http://schemas.openxmlformats.org/officeDocument/2006/relationships/image" Target="../media/image-2-12.png"/><Relationship Id="rId43" Type="http://schemas.openxmlformats.org/officeDocument/2006/relationships/slideLayout" Target="../slideLayouts/slideLayout2.xml"/><Relationship Id="rId4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4.xml"/><Relationship Id="rId3" Type="http://schemas.openxmlformats.org/officeDocument/2006/relationships/slide" Target="slide2.xml"/><Relationship Id="rId4" Type="http://schemas.openxmlformats.org/officeDocument/2006/relationships/slide" Target="slide2.xml"/><Relationship Id="rId1" Type="http://schemas.openxmlformats.org/officeDocument/2006/relationships/image" Target="../media/image-3-1.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slide" Target="slide5.xml"/><Relationship Id="rId5" Type="http://schemas.openxmlformats.org/officeDocument/2006/relationships/slide" Target="slide2.xml"/><Relationship Id="rId6" Type="http://schemas.openxmlformats.org/officeDocument/2006/relationships/slide" Target="slide3.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4" Type="http://schemas.openxmlformats.org/officeDocument/2006/relationships/slide" Target="slide2.xml"/><Relationship Id="rId5" Type="http://schemas.openxmlformats.org/officeDocument/2006/relationships/slide" Target="slide4.xml"/><Relationship Id="rId1" Type="http://schemas.openxmlformats.org/officeDocument/2006/relationships/chart" Target="/ppt/charts/chart1.xml"/><Relationship Id="rId2" Type="http://schemas.openxmlformats.org/officeDocument/2006/relationships/chart" Target="/ppt/charts/chart2.xml"/><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7.xml"/><Relationship Id="rId3" Type="http://schemas.openxmlformats.org/officeDocument/2006/relationships/slide" Target="slide2.xml"/><Relationship Id="rId4" Type="http://schemas.openxmlformats.org/officeDocument/2006/relationships/slide" Target="slide5.xml"/><Relationship Id="rId1" Type="http://schemas.openxmlformats.org/officeDocument/2006/relationships/image" Target="../media/image-6-1.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6" Type="http://schemas.openxmlformats.org/officeDocument/2006/relationships/slide" Target="slide20.xml"/><Relationship Id="rId7" Type="http://schemas.openxmlformats.org/officeDocument/2006/relationships/slide" Target="slide8.xml"/><Relationship Id="rId8" Type="http://schemas.openxmlformats.org/officeDocument/2006/relationships/slide" Target="slide2.xml"/><Relationship Id="rId9" Type="http://schemas.openxmlformats.org/officeDocument/2006/relationships/slide" Target="slide6.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9.xml"/><Relationship Id="rId3" Type="http://schemas.openxmlformats.org/officeDocument/2006/relationships/slide" Target="slide2.xml"/><Relationship Id="rId4" Type="http://schemas.openxmlformats.org/officeDocument/2006/relationships/slide" Target="slide7.xml"/><Relationship Id="rId1" Type="http://schemas.openxmlformats.org/officeDocument/2006/relationships/chart" Target="/ppt/charts/chart3.xml"/><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5.xml"/><Relationship Id="rId3" Type="http://schemas.openxmlformats.org/officeDocument/2006/relationships/slide" Target="slide15.xml"/><Relationship Id="rId4" Type="http://schemas.openxmlformats.org/officeDocument/2006/relationships/slide" Target="slide16.xml"/><Relationship Id="rId6" Type="http://schemas.openxmlformats.org/officeDocument/2006/relationships/slide" Target="slide16.xml"/><Relationship Id="rId7" Type="http://schemas.openxmlformats.org/officeDocument/2006/relationships/slide" Target="slide17.xml"/><Relationship Id="rId9" Type="http://schemas.openxmlformats.org/officeDocument/2006/relationships/slide" Target="slide17.xml"/><Relationship Id="rId10" Type="http://schemas.openxmlformats.org/officeDocument/2006/relationships/slide" Target="slide18.xml"/><Relationship Id="rId12" Type="http://schemas.openxmlformats.org/officeDocument/2006/relationships/slide" Target="slide18.xml"/><Relationship Id="rId13" Type="http://schemas.openxmlformats.org/officeDocument/2006/relationships/slide" Target="slide19.xml"/><Relationship Id="rId15" Type="http://schemas.openxmlformats.org/officeDocument/2006/relationships/slide" Target="slide19.xml"/><Relationship Id="rId16" Type="http://schemas.openxmlformats.org/officeDocument/2006/relationships/slide" Target="slide10.xml"/><Relationship Id="rId17" Type="http://schemas.openxmlformats.org/officeDocument/2006/relationships/slide" Target="slide2.xml"/><Relationship Id="rId18" Type="http://schemas.openxmlformats.org/officeDocument/2006/relationships/slide" Target="slide8.xml"/><Relationship Id="rId2" Type="http://schemas.openxmlformats.org/officeDocument/2006/relationships/image" Target="../media/image-9-1.png"/><Relationship Id="rId5" Type="http://schemas.openxmlformats.org/officeDocument/2006/relationships/image" Target="../media/image-9-2.png"/><Relationship Id="rId8" Type="http://schemas.openxmlformats.org/officeDocument/2006/relationships/image" Target="../media/image-9-3.png"/><Relationship Id="rId11" Type="http://schemas.openxmlformats.org/officeDocument/2006/relationships/image" Target="../media/image-9-4.png"/><Relationship Id="rId14" Type="http://schemas.openxmlformats.org/officeDocument/2006/relationships/image" Target="../media/image-9-5.png"/><Relationship Id="rId19" Type="http://schemas.openxmlformats.org/officeDocument/2006/relationships/slideLayout" Target="../slideLayouts/slideLayout2.xml"/><Relationship Id="rId2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slide" Target="slide9.xml"/><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 Target="slide12.xml"/><Relationship Id="rId4" Type="http://schemas.openxmlformats.org/officeDocument/2006/relationships/slide" Target="slide12.xml"/><Relationship Id="rId5" Type="http://schemas.openxmlformats.org/officeDocument/2006/relationships/slide" Target="slide2.xml"/><Relationship Id="rId6" Type="http://schemas.openxmlformats.org/officeDocument/2006/relationships/slide" Target="slide10.xml"/><Relationship Id="rId1" Type="http://schemas.openxmlformats.org/officeDocument/2006/relationships/chart" Target="/ppt/charts/chart4.xml"/><Relationship Id="rId2" Type="http://schemas.openxmlformats.org/officeDocument/2006/relationships/image" Target="../media/image-11-1.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15.xml"/><Relationship Id="rId4" Type="http://schemas.openxmlformats.org/officeDocument/2006/relationships/slide" Target="slide15.xml"/><Relationship Id="rId5" Type="http://schemas.openxmlformats.org/officeDocument/2006/relationships/slide" Target="slide16.xml"/><Relationship Id="rId7" Type="http://schemas.openxmlformats.org/officeDocument/2006/relationships/slide" Target="slide16.xml"/><Relationship Id="rId8" Type="http://schemas.openxmlformats.org/officeDocument/2006/relationships/slide" Target="slide17.xml"/><Relationship Id="rId10" Type="http://schemas.openxmlformats.org/officeDocument/2006/relationships/slide" Target="slide17.xml"/><Relationship Id="rId11" Type="http://schemas.openxmlformats.org/officeDocument/2006/relationships/slide" Target="slide18.xml"/><Relationship Id="rId13" Type="http://schemas.openxmlformats.org/officeDocument/2006/relationships/slide" Target="slide18.xml"/><Relationship Id="rId14" Type="http://schemas.openxmlformats.org/officeDocument/2006/relationships/slide" Target="slide19.xml"/><Relationship Id="rId16" Type="http://schemas.openxmlformats.org/officeDocument/2006/relationships/slide" Target="slide19.xml"/><Relationship Id="rId17" Type="http://schemas.openxmlformats.org/officeDocument/2006/relationships/slide" Target="slide13.xml"/><Relationship Id="rId18" Type="http://schemas.openxmlformats.org/officeDocument/2006/relationships/slide" Target="slide2.xml"/><Relationship Id="rId19" Type="http://schemas.openxmlformats.org/officeDocument/2006/relationships/slide" Target="slide11.xml"/><Relationship Id="rId1" Type="http://schemas.openxmlformats.org/officeDocument/2006/relationships/image" Target="../media/image-12-1.png"/><Relationship Id="rId3" Type="http://schemas.openxmlformats.org/officeDocument/2006/relationships/image" Target="../media/image-12-2.png"/><Relationship Id="rId6" Type="http://schemas.openxmlformats.org/officeDocument/2006/relationships/image" Target="../media/image-12-3.png"/><Relationship Id="rId9" Type="http://schemas.openxmlformats.org/officeDocument/2006/relationships/image" Target="../media/image-12-4.png"/><Relationship Id="rId12" Type="http://schemas.openxmlformats.org/officeDocument/2006/relationships/image" Target="../media/image-12-5.png"/><Relationship Id="rId15" Type="http://schemas.openxmlformats.org/officeDocument/2006/relationships/image" Target="../media/image-12-6.png"/><Relationship Id="rId20" Type="http://schemas.openxmlformats.org/officeDocument/2006/relationships/slideLayout" Target="../slideLayouts/slideLayout2.xml"/><Relationship Id="rId2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 Target="slide21.xml"/><Relationship Id="rId4" Type="http://schemas.openxmlformats.org/officeDocument/2006/relationships/slide" Target="slide14.xml"/><Relationship Id="rId5" Type="http://schemas.openxmlformats.org/officeDocument/2006/relationships/slide" Target="slide2.xml"/><Relationship Id="rId6" Type="http://schemas.openxmlformats.org/officeDocument/2006/relationships/slide" Target="slide12.xml"/><Relationship Id="rId2" Type="http://schemas.openxmlformats.org/officeDocument/2006/relationships/chart" Target="/ppt/charts/chart5.xml"/><Relationship Id="rId1" Type="http://schemas.openxmlformats.org/officeDocument/2006/relationships/image" Target="../media/image-13-1.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hyperlink" Target="https://github.com/hardikjain2005/-Predictive-Analytics-CA-3-Diabetes-Onset-Prediction-Using-Machine-Learning" TargetMode="External"/><Relationship Id="rId3" Type="http://schemas.openxmlformats.org/officeDocument/2006/relationships/hyperlink" Target="https://colab.research.google.com/github/hardikjain2005/-Predictive-Analytics-CA-3-Diabetes-Onset-Prediction-Using-Machine-Learning/blob/main/notebooks/Diabetes_Onset_Prediction.ipynb" TargetMode="External"/><Relationship Id="rId4" Type="http://schemas.openxmlformats.org/officeDocument/2006/relationships/slide" Target="slide2.xml"/><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3" Type="http://schemas.openxmlformats.org/officeDocument/2006/relationships/slide" Target="slide2.xml"/><Relationship Id="rId4" Type="http://schemas.openxmlformats.org/officeDocument/2006/relationships/slide" Target="slide19.xml"/><Relationship Id="rId5" Type="http://schemas.openxmlformats.org/officeDocument/2006/relationships/slide" Target="slide12.xml"/><Relationship Id="rId1" Type="http://schemas.openxmlformats.org/officeDocument/2006/relationships/image" Target="../media/image-15-1.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17.xml"/><Relationship Id="rId3" Type="http://schemas.openxmlformats.org/officeDocument/2006/relationships/slide" Target="slide2.xml"/><Relationship Id="rId4" Type="http://schemas.openxmlformats.org/officeDocument/2006/relationships/slide" Target="slide15.xml"/><Relationship Id="rId5" Type="http://schemas.openxmlformats.org/officeDocument/2006/relationships/slide" Target="slide12.xml"/><Relationship Id="rId1" Type="http://schemas.openxmlformats.org/officeDocument/2006/relationships/image" Target="../media/image-16-1.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18.xml"/><Relationship Id="rId3" Type="http://schemas.openxmlformats.org/officeDocument/2006/relationships/slide" Target="slide2.xml"/><Relationship Id="rId4" Type="http://schemas.openxmlformats.org/officeDocument/2006/relationships/slide" Target="slide16.xml"/><Relationship Id="rId5" Type="http://schemas.openxmlformats.org/officeDocument/2006/relationships/slide" Target="slide12.xml"/><Relationship Id="rId1" Type="http://schemas.openxmlformats.org/officeDocument/2006/relationships/image" Target="../media/image-17-1.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19.xml"/><Relationship Id="rId3" Type="http://schemas.openxmlformats.org/officeDocument/2006/relationships/slide" Target="slide2.xml"/><Relationship Id="rId4" Type="http://schemas.openxmlformats.org/officeDocument/2006/relationships/slide" Target="slide17.xml"/><Relationship Id="rId5" Type="http://schemas.openxmlformats.org/officeDocument/2006/relationships/slide" Target="slide12.xml"/><Relationship Id="rId1" Type="http://schemas.openxmlformats.org/officeDocument/2006/relationships/image" Target="../media/image-18-1.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15.xml"/><Relationship Id="rId3" Type="http://schemas.openxmlformats.org/officeDocument/2006/relationships/slide" Target="slide2.xml"/><Relationship Id="rId4" Type="http://schemas.openxmlformats.org/officeDocument/2006/relationships/slide" Target="slide18.xml"/><Relationship Id="rId5" Type="http://schemas.openxmlformats.org/officeDocument/2006/relationships/slide" Target="slide12.xml"/><Relationship Id="rId1" Type="http://schemas.openxmlformats.org/officeDocument/2006/relationships/image" Target="../media/image-19-1.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7.xml"/><Relationship Id="rId1" Type="http://schemas.openxmlformats.org/officeDocument/2006/relationships/image" Target="../media/image-20-1.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xml"/><Relationship Id="rId1" Type="http://schemas.openxmlformats.org/officeDocument/2006/relationships/image" Target="../media/image-21-1.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14.xml"/><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7315200" cy="173736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Diabetes Onset Prediction</a:t>
            </a:r>
            <a:endParaRPr lang="en-US" sz="4000" dirty="0"/>
          </a:p>
          <a:p>
            <a:pPr algn="l" indent="0" marL="0">
              <a:buNone/>
            </a:pPr>
            <a:r>
              <a:rPr lang="en-US" sz="4000" b="1" dirty="0">
                <a:solidFill>
                  <a:schemeClr val="accent3"/>
                </a:solidFill>
                <a:latin typeface="Cambria" pitchFamily="34" charset="0"/>
                <a:ea typeface="Cambria" pitchFamily="34" charset="-122"/>
                <a:cs typeface="Cambria" pitchFamily="34" charset="-120"/>
              </a:rPr>
              <a:t>Using Machine Learning</a:t>
            </a:r>
            <a:endParaRPr lang="en-US" sz="4000" dirty="0"/>
          </a:p>
        </p:txBody>
      </p:sp>
      <p:sp>
        <p:nvSpPr>
          <p:cNvPr id="3" name="Text 1"/>
          <p:cNvSpPr txBox="1"/>
          <p:nvPr/>
        </p:nvSpPr>
        <p:spPr>
          <a:xfrm>
            <a:off x="640080" y="2377440"/>
            <a:ext cx="6949440" cy="731520"/>
          </a:xfrm>
          <a:prstGeom prst="rect">
            <a:avLst/>
          </a:prstGeom>
          <a:noFill/>
          <a:ln/>
        </p:spPr>
        <p:txBody>
          <a:bodyPr wrap="square" lIns="0" tIns="0" rIns="0" bIns="0" rtlCol="0" anchor="t"/>
          <a:lstStyle/>
          <a:p>
            <a:pPr indent="0" marL="0">
              <a:buNone/>
            </a:pPr>
            <a:r>
              <a:rPr lang="en-US" sz="1800" i="1" dirty="0">
                <a:solidFill>
                  <a:schemeClr val="bg2"/>
                </a:solidFill>
              </a:rPr>
              <a:t>An end-to-end Predictive Analytics / KDD project on the Pima Indians Diabetes Dataset</a:t>
            </a:r>
            <a:endParaRPr lang="en-US" sz="1800" dirty="0"/>
          </a:p>
        </p:txBody>
      </p:sp>
      <p:sp>
        <p:nvSpPr>
          <p:cNvPr id="4" name="Text 2"/>
          <p:cNvSpPr txBox="1"/>
          <p:nvPr/>
        </p:nvSpPr>
        <p:spPr>
          <a:xfrm>
            <a:off x="640080" y="3337560"/>
            <a:ext cx="6949440" cy="731520"/>
          </a:xfrm>
          <a:prstGeom prst="rect">
            <a:avLst/>
          </a:prstGeom>
          <a:noFill/>
          <a:ln/>
        </p:spPr>
        <p:txBody>
          <a:bodyPr wrap="square" lIns="0" tIns="0" rIns="0" bIns="0" rtlCol="0" anchor="t"/>
          <a:lstStyle/>
          <a:p>
            <a:pPr indent="0" marL="0">
              <a:buNone/>
            </a:pPr>
            <a:r>
              <a:rPr lang="en-US" sz="1600" b="1" dirty="0">
                <a:solidFill>
                  <a:schemeClr val="bg1"/>
                </a:solidFill>
              </a:rPr>
              <a:t>Hardik Jain</a:t>
            </a:r>
            <a:endParaRPr lang="en-US" sz="1600" dirty="0"/>
          </a:p>
          <a:p>
            <a:pPr indent="0" marL="0">
              <a:buNone/>
            </a:pPr>
            <a:r>
              <a:rPr lang="en-US" sz="1600" dirty="0">
                <a:solidFill>
                  <a:schemeClr val="bg1"/>
                </a:solidFill>
              </a:rPr>
              <a:t>Student ID 23070521056  |  Predictive Analytics (CA-3)</a:t>
            </a:r>
            <a:endParaRPr lang="en-US" sz="1600" dirty="0"/>
          </a:p>
        </p:txBody>
      </p:sp>
      <p:sp>
        <p:nvSpPr>
          <p:cNvPr id="5" name="Button: Start presentation  ›">
            <a:hlinkClick r:id="rId1" tooltip="Go to the interactive agenda" action="ppaction://hlinksldjump"/>
          </p:cNvPr>
          <p:cNvSpPr/>
          <p:nvPr/>
        </p:nvSpPr>
        <p:spPr>
          <a:xfrm>
            <a:off x="640080" y="4343400"/>
            <a:ext cx="2743200" cy="502920"/>
          </a:xfrm>
          <a:prstGeom prst="roundRect">
            <a:avLst>
              <a:gd name="adj" fmla="val 18182"/>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Start presentation  ›</a:t>
            </a:r>
            <a:endParaRPr lang="en-US" sz="1600" dirty="0"/>
          </a:p>
        </p:txBody>
      </p:sp>
      <p:sp>
        <p:nvSpPr>
          <p:cNvPr id="6" name="Button: GitHub repository">
            <a:hlinkClick r:id="rId2" tooltip="GitHub repository"/>
          </p:cNvPr>
          <p:cNvSpPr/>
          <p:nvPr/>
        </p:nvSpPr>
        <p:spPr>
          <a:xfrm>
            <a:off x="640080" y="5029200"/>
            <a:ext cx="2148840" cy="411480"/>
          </a:xfrm>
          <a:prstGeom prst="roundRect">
            <a:avLst>
              <a:gd name="adj" fmla="val 22222"/>
            </a:avLst>
          </a:prstGeom>
          <a:solidFill>
            <a:schemeClr val="tx2"/>
          </a:solidFill>
          <a:ln w="15875">
            <a:solidFill>
              <a:srgbClr val="EAF3F4"/>
            </a:solidFill>
          </a:ln>
        </p:spPr>
        <p:txBody>
          <a:bodyPr wrap="square" lIns="0" tIns="0" rIns="0" bIns="0" rtlCol="0" anchor="ctr"/>
          <a:lstStyle/>
          <a:p>
            <a:pPr algn="ctr" indent="0" marL="0">
              <a:buNone/>
            </a:pPr>
            <a:r>
              <a:rPr lang="en-US" sz="1300" b="1" dirty="0">
                <a:solidFill>
                  <a:schemeClr val="bg1"/>
                </a:solidFill>
              </a:rPr>
              <a:t>GitHub repository</a:t>
            </a:r>
            <a:endParaRPr lang="en-US" sz="1300" dirty="0"/>
          </a:p>
        </p:txBody>
      </p:sp>
      <p:sp>
        <p:nvSpPr>
          <p:cNvPr id="7" name="Button: Open in Colab">
            <a:hlinkClick r:id="rId3" tooltip="Open in Colab"/>
          </p:cNvPr>
          <p:cNvSpPr/>
          <p:nvPr/>
        </p:nvSpPr>
        <p:spPr>
          <a:xfrm>
            <a:off x="2926080" y="5029200"/>
            <a:ext cx="1828800" cy="411480"/>
          </a:xfrm>
          <a:prstGeom prst="roundRect">
            <a:avLst>
              <a:gd name="adj" fmla="val 22222"/>
            </a:avLst>
          </a:prstGeom>
          <a:solidFill>
            <a:schemeClr val="tx2"/>
          </a:solidFill>
          <a:ln w="15875">
            <a:solidFill>
              <a:srgbClr val="EAF3F4"/>
            </a:solidFill>
          </a:ln>
        </p:spPr>
        <p:txBody>
          <a:bodyPr wrap="square" lIns="0" tIns="0" rIns="0" bIns="0" rtlCol="0" anchor="ctr"/>
          <a:lstStyle/>
          <a:p>
            <a:pPr algn="ctr" indent="0" marL="0">
              <a:buNone/>
            </a:pPr>
            <a:r>
              <a:rPr lang="en-US" sz="1300" b="1" dirty="0">
                <a:solidFill>
                  <a:schemeClr val="bg1"/>
                </a:solidFill>
              </a:rPr>
              <a:t>Open in Colab</a:t>
            </a:r>
            <a:endParaRPr lang="en-US" sz="1300" dirty="0"/>
          </a:p>
        </p:txBody>
      </p:sp>
      <p:sp>
        <p:nvSpPr>
          <p:cNvPr id="8" name="Button: Project report (PDF)">
            <a:hlinkClick r:id="rId4" tooltip="Project report (PDF)"/>
          </p:cNvPr>
          <p:cNvSpPr/>
          <p:nvPr/>
        </p:nvSpPr>
        <p:spPr>
          <a:xfrm>
            <a:off x="4892040" y="5029200"/>
            <a:ext cx="2240280" cy="411480"/>
          </a:xfrm>
          <a:prstGeom prst="roundRect">
            <a:avLst>
              <a:gd name="adj" fmla="val 22222"/>
            </a:avLst>
          </a:prstGeom>
          <a:solidFill>
            <a:schemeClr val="tx2"/>
          </a:solidFill>
          <a:ln w="15875">
            <a:solidFill>
              <a:srgbClr val="EAF3F4"/>
            </a:solidFill>
          </a:ln>
        </p:spPr>
        <p:txBody>
          <a:bodyPr wrap="square" lIns="0" tIns="0" rIns="0" bIns="0" rtlCol="0" anchor="ctr"/>
          <a:lstStyle/>
          <a:p>
            <a:pPr algn="ctr" indent="0" marL="0">
              <a:buNone/>
            </a:pPr>
            <a:r>
              <a:rPr lang="en-US" sz="1300" b="1" dirty="0">
                <a:solidFill>
                  <a:schemeClr val="bg1"/>
                </a:solidFill>
              </a:rPr>
              <a:t>Project report (PDF)</a:t>
            </a:r>
            <a:endParaRPr lang="en-US" sz="1300" dirty="0"/>
          </a:p>
        </p:txBody>
      </p:sp>
      <p:sp>
        <p:nvSpPr>
          <p:cNvPr id="9" name="Text 7"/>
          <p:cNvSpPr txBox="1"/>
          <p:nvPr/>
        </p:nvSpPr>
        <p:spPr>
          <a:xfrm>
            <a:off x="640080" y="6172200"/>
            <a:ext cx="7315200" cy="320040"/>
          </a:xfrm>
          <a:prstGeom prst="rect">
            <a:avLst/>
          </a:prstGeom>
          <a:noFill/>
          <a:ln/>
        </p:spPr>
        <p:txBody>
          <a:bodyPr wrap="square" lIns="0" tIns="0" rIns="0" bIns="0" rtlCol="0" anchor="t"/>
          <a:lstStyle/>
          <a:p>
            <a:pPr indent="0" marL="0">
              <a:buNone/>
            </a:pPr>
            <a:r>
              <a:rPr lang="en-US" sz="1100" i="1" dirty="0">
                <a:solidFill>
                  <a:schemeClr val="accent5"/>
                </a:solidFill>
              </a:rPr>
              <a:t>Academic project: a screening-support model, not a medical diagnostic tool.</a:t>
            </a:r>
            <a:endParaRPr lang="en-US" sz="1100" dirty="0"/>
          </a:p>
        </p:txBody>
      </p:sp>
      <p:sp>
        <p:nvSpPr>
          <p:cNvPr id="10" name="hero icon"/>
          <p:cNvSpPr/>
          <p:nvPr/>
        </p:nvSpPr>
        <p:spPr>
          <a:xfrm>
            <a:off x="8732520" y="822960"/>
            <a:ext cx="2377440" cy="2377440"/>
          </a:xfrm>
          <a:prstGeom prst="ellipse">
            <a:avLst/>
          </a:prstGeom>
          <a:solidFill>
            <a:schemeClr val="accent2"/>
          </a:solidFill>
          <a:ln w="12700">
            <a:solidFill>
              <a:schemeClr val="accent2"/>
            </a:solidFill>
            <a:prstDash val="solid"/>
          </a:ln>
        </p:spPr>
      </p:sp>
      <p:pic>
        <p:nvPicPr>
          <p:cNvPr id="11" name="hero icon glyph" descr="icon">    </p:cNvPr>
          <p:cNvPicPr>
            <a:picLocks noChangeAspect="1"/>
          </p:cNvPicPr>
          <p:nvPr/>
        </p:nvPicPr>
        <p:blipFill>
          <a:blip r:embed="rId5"/>
          <a:stretch>
            <a:fillRect/>
          </a:stretch>
        </p:blipFill>
        <p:spPr>
          <a:xfrm>
            <a:off x="9303106" y="1393546"/>
            <a:ext cx="1236269" cy="1236269"/>
          </a:xfrm>
          <a:prstGeom prst="rect">
            <a:avLst/>
          </a:prstGeom>
        </p:spPr>
      </p:pic>
      <p:sp>
        <p:nvSpPr>
          <p:cNvPr id="12" name="hero stat patients"/>
          <p:cNvSpPr/>
          <p:nvPr/>
        </p:nvSpPr>
        <p:spPr>
          <a:xfrm>
            <a:off x="8366760" y="3611880"/>
            <a:ext cx="3108960" cy="731520"/>
          </a:xfrm>
          <a:prstGeom prst="roundRect">
            <a:avLst>
              <a:gd name="adj" fmla="val 10000"/>
            </a:avLst>
          </a:prstGeom>
          <a:solidFill>
            <a:srgbClr val="134E5C"/>
          </a:solidFill>
          <a:ln w="12700">
            <a:solidFill>
              <a:srgbClr val="134E5C"/>
            </a:solidFill>
            <a:prstDash val="solid"/>
          </a:ln>
        </p:spPr>
      </p:sp>
      <p:sp>
        <p:nvSpPr>
          <p:cNvPr id="13" name="Text 10"/>
          <p:cNvSpPr txBox="1"/>
          <p:nvPr/>
        </p:nvSpPr>
        <p:spPr>
          <a:xfrm>
            <a:off x="8549640" y="3703320"/>
            <a:ext cx="1234440" cy="54864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768</a:t>
            </a:r>
            <a:endParaRPr lang="en-US" sz="2600" dirty="0"/>
          </a:p>
        </p:txBody>
      </p:sp>
      <p:sp>
        <p:nvSpPr>
          <p:cNvPr id="14" name="Text 11"/>
          <p:cNvSpPr txBox="1"/>
          <p:nvPr/>
        </p:nvSpPr>
        <p:spPr>
          <a:xfrm>
            <a:off x="9829800" y="3703320"/>
            <a:ext cx="1554480" cy="548640"/>
          </a:xfrm>
          <a:prstGeom prst="rect">
            <a:avLst/>
          </a:prstGeom>
          <a:noFill/>
          <a:ln/>
        </p:spPr>
        <p:txBody>
          <a:bodyPr wrap="square" lIns="0" tIns="0" rIns="0" bIns="0" rtlCol="0" anchor="ctr"/>
          <a:lstStyle/>
          <a:p>
            <a:pPr indent="0" marL="0">
              <a:buNone/>
            </a:pPr>
            <a:r>
              <a:rPr lang="en-US" sz="1400" dirty="0">
                <a:solidFill>
                  <a:schemeClr val="bg1"/>
                </a:solidFill>
              </a:rPr>
              <a:t>patients</a:t>
            </a:r>
            <a:endParaRPr lang="en-US" sz="1400" dirty="0"/>
          </a:p>
        </p:txBody>
      </p:sp>
      <p:sp>
        <p:nvSpPr>
          <p:cNvPr id="15" name="hero stat models compared"/>
          <p:cNvSpPr/>
          <p:nvPr/>
        </p:nvSpPr>
        <p:spPr>
          <a:xfrm>
            <a:off x="8366760" y="4480560"/>
            <a:ext cx="3108960" cy="731520"/>
          </a:xfrm>
          <a:prstGeom prst="roundRect">
            <a:avLst>
              <a:gd name="adj" fmla="val 10000"/>
            </a:avLst>
          </a:prstGeom>
          <a:solidFill>
            <a:srgbClr val="134E5C"/>
          </a:solidFill>
          <a:ln w="12700">
            <a:solidFill>
              <a:srgbClr val="134E5C"/>
            </a:solidFill>
            <a:prstDash val="solid"/>
          </a:ln>
        </p:spPr>
      </p:sp>
      <p:sp>
        <p:nvSpPr>
          <p:cNvPr id="16" name="Text 13"/>
          <p:cNvSpPr txBox="1"/>
          <p:nvPr/>
        </p:nvSpPr>
        <p:spPr>
          <a:xfrm>
            <a:off x="8549640" y="4572000"/>
            <a:ext cx="1234440" cy="54864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5</a:t>
            </a:r>
            <a:endParaRPr lang="en-US" sz="2600" dirty="0"/>
          </a:p>
        </p:txBody>
      </p:sp>
      <p:sp>
        <p:nvSpPr>
          <p:cNvPr id="17" name="Text 14"/>
          <p:cNvSpPr txBox="1"/>
          <p:nvPr/>
        </p:nvSpPr>
        <p:spPr>
          <a:xfrm>
            <a:off x="9829800" y="4572000"/>
            <a:ext cx="1554480" cy="548640"/>
          </a:xfrm>
          <a:prstGeom prst="rect">
            <a:avLst/>
          </a:prstGeom>
          <a:noFill/>
          <a:ln/>
        </p:spPr>
        <p:txBody>
          <a:bodyPr wrap="square" lIns="0" tIns="0" rIns="0" bIns="0" rtlCol="0" anchor="ctr"/>
          <a:lstStyle/>
          <a:p>
            <a:pPr indent="0" marL="0">
              <a:buNone/>
            </a:pPr>
            <a:r>
              <a:rPr lang="en-US" sz="1400" dirty="0">
                <a:solidFill>
                  <a:schemeClr val="bg1"/>
                </a:solidFill>
              </a:rPr>
              <a:t>models compared</a:t>
            </a:r>
            <a:endParaRPr lang="en-US" sz="1400" dirty="0"/>
          </a:p>
        </p:txBody>
      </p:sp>
      <p:sp>
        <p:nvSpPr>
          <p:cNvPr id="18" name="hero stat final ROC-AUC"/>
          <p:cNvSpPr/>
          <p:nvPr/>
        </p:nvSpPr>
        <p:spPr>
          <a:xfrm>
            <a:off x="8366760" y="5349240"/>
            <a:ext cx="3108960" cy="731520"/>
          </a:xfrm>
          <a:prstGeom prst="roundRect">
            <a:avLst>
              <a:gd name="adj" fmla="val 10000"/>
            </a:avLst>
          </a:prstGeom>
          <a:solidFill>
            <a:srgbClr val="134E5C"/>
          </a:solidFill>
          <a:ln w="12700">
            <a:solidFill>
              <a:srgbClr val="134E5C"/>
            </a:solidFill>
            <a:prstDash val="solid"/>
          </a:ln>
        </p:spPr>
      </p:sp>
      <p:sp>
        <p:nvSpPr>
          <p:cNvPr id="19" name="Text 16"/>
          <p:cNvSpPr txBox="1"/>
          <p:nvPr/>
        </p:nvSpPr>
        <p:spPr>
          <a:xfrm>
            <a:off x="8549640" y="5440680"/>
            <a:ext cx="1234440" cy="54864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0.809</a:t>
            </a:r>
            <a:endParaRPr lang="en-US" sz="2600" dirty="0"/>
          </a:p>
        </p:txBody>
      </p:sp>
      <p:sp>
        <p:nvSpPr>
          <p:cNvPr id="20" name="Text 17"/>
          <p:cNvSpPr txBox="1"/>
          <p:nvPr/>
        </p:nvSpPr>
        <p:spPr>
          <a:xfrm>
            <a:off x="9829800" y="5440680"/>
            <a:ext cx="1554480" cy="548640"/>
          </a:xfrm>
          <a:prstGeom prst="rect">
            <a:avLst/>
          </a:prstGeom>
          <a:noFill/>
          <a:ln/>
        </p:spPr>
        <p:txBody>
          <a:bodyPr wrap="square" lIns="0" tIns="0" rIns="0" bIns="0" rtlCol="0" anchor="ctr"/>
          <a:lstStyle/>
          <a:p>
            <a:pPr indent="0" marL="0">
              <a:buNone/>
            </a:pPr>
            <a:r>
              <a:rPr lang="en-US" sz="1400" dirty="0">
                <a:solidFill>
                  <a:schemeClr val="bg1"/>
                </a:solidFill>
              </a:rPr>
              <a:t>final ROC-AUC</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Interactive Agenda: click any topic</a:t>
            </a:r>
            <a:endParaRPr lang="en-US" sz="3200" dirty="0"/>
          </a:p>
        </p:txBody>
      </p:sp>
      <p:sp>
        <p:nvSpPr>
          <p:cNvPr id="3" name="Agenda tile: Problem Statement">
            <a:hlinkClick r:id="rId3" tooltip="Go to: Problem Statement" action="ppaction://hlinksldjump"/>
          </p:cNvPr>
          <p:cNvSpPr/>
          <p:nvPr/>
        </p:nvSpPr>
        <p:spPr>
          <a:xfrm>
            <a:off x="548640" y="13258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Agenda icon: Problem Statement">
            <a:hlinkClick r:id="rId3" tooltip="Go to: Problem Statement" action="ppaction://hlinksldjump"/>
          </p:cNvPr>
          <p:cNvSpPr/>
          <p:nvPr/>
        </p:nvSpPr>
        <p:spPr>
          <a:xfrm>
            <a:off x="731520" y="1600200"/>
            <a:ext cx="594360" cy="594360"/>
          </a:xfrm>
          <a:prstGeom prst="ellipse">
            <a:avLst/>
          </a:prstGeom>
          <a:solidFill>
            <a:schemeClr val="accent1"/>
          </a:solidFill>
          <a:ln w="12700">
            <a:solidFill>
              <a:schemeClr val="accent1"/>
            </a:solidFill>
            <a:prstDash val="solid"/>
          </a:ln>
        </p:spPr>
      </p:sp>
      <p:pic>
        <p:nvPicPr>
          <p:cNvPr id="5" name="Agenda icon: Problem Statement glyph" descr="icon">
            <a:hlinkClick r:id="rId3" tooltip="Go to: Problem Statement" action="ppaction://hlinksldjump"/>
          </p:cNvPr>
          <p:cNvPicPr>
            <a:picLocks noChangeAspect="1"/>
          </p:cNvPicPr>
          <p:nvPr/>
        </p:nvPicPr>
        <p:blipFill>
          <a:blip r:embed="rId2"/>
          <a:stretch>
            <a:fillRect/>
          </a:stretch>
        </p:blipFill>
        <p:spPr>
          <a:xfrm>
            <a:off x="874166" y="1742846"/>
            <a:ext cx="309067" cy="309067"/>
          </a:xfrm>
          <a:prstGeom prst="rect">
            <a:avLst/>
          </a:prstGeom>
        </p:spPr>
      </p:pic>
      <p:sp>
        <p:nvSpPr>
          <p:cNvPr id="6" name="Agenda label: Problem Statement">
            <a:hlinkClick r:id="rId3" tooltip="Go to: Problem Statement" action="ppaction://hlinksldjump"/>
          </p:cNvPr>
          <p:cNvSpPr/>
          <p:nvPr/>
        </p:nvSpPr>
        <p:spPr>
          <a:xfrm>
            <a:off x="1463040" y="14630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01</a:t>
            </a:r>
            <a:endParaRPr lang="en-US" sz="1100" dirty="0"/>
          </a:p>
          <a:p>
            <a:pPr indent="0" marL="0">
              <a:buNone/>
            </a:pPr>
            <a:r>
              <a:rPr lang="en-US" sz="1500" b="1" dirty="0">
                <a:solidFill>
                  <a:schemeClr val="tx2"/>
                </a:solidFill>
              </a:rPr>
              <a:t>Problem Statement</a:t>
            </a:r>
            <a:endParaRPr lang="en-US" sz="1100" dirty="0"/>
          </a:p>
        </p:txBody>
      </p:sp>
      <p:sp>
        <p:nvSpPr>
          <p:cNvPr id="7" name="Agenda tile: Motivation &amp; Objectives">
            <a:hlinkClick r:id="rId6" tooltip="Go to: Motivation &amp; Objectives" action="ppaction://hlinksldjump"/>
          </p:cNvPr>
          <p:cNvSpPr/>
          <p:nvPr/>
        </p:nvSpPr>
        <p:spPr>
          <a:xfrm>
            <a:off x="3360420" y="13258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Agenda icon: Motivation &amp; Objectives">
            <a:hlinkClick r:id="rId6" tooltip="Go to: Motivation &amp; Objectives" action="ppaction://hlinksldjump"/>
          </p:cNvPr>
          <p:cNvSpPr/>
          <p:nvPr/>
        </p:nvSpPr>
        <p:spPr>
          <a:xfrm>
            <a:off x="3543300" y="1600200"/>
            <a:ext cx="594360" cy="594360"/>
          </a:xfrm>
          <a:prstGeom prst="ellipse">
            <a:avLst/>
          </a:prstGeom>
          <a:solidFill>
            <a:schemeClr val="accent1"/>
          </a:solidFill>
          <a:ln w="12700">
            <a:solidFill>
              <a:schemeClr val="accent1"/>
            </a:solidFill>
            <a:prstDash val="solid"/>
          </a:ln>
        </p:spPr>
      </p:sp>
      <p:pic>
        <p:nvPicPr>
          <p:cNvPr id="9" name="Agenda icon: Motivation &amp; Objectives glyph" descr="icon">
            <a:hlinkClick r:id="rId6" tooltip="Go to: Motivation &amp; Objectives" action="ppaction://hlinksldjump"/>
          </p:cNvPr>
          <p:cNvPicPr>
            <a:picLocks noChangeAspect="1"/>
          </p:cNvPicPr>
          <p:nvPr/>
        </p:nvPicPr>
        <p:blipFill>
          <a:blip r:embed="rId5"/>
          <a:stretch>
            <a:fillRect/>
          </a:stretch>
        </p:blipFill>
        <p:spPr>
          <a:xfrm>
            <a:off x="3685946" y="1742846"/>
            <a:ext cx="309067" cy="309067"/>
          </a:xfrm>
          <a:prstGeom prst="rect">
            <a:avLst/>
          </a:prstGeom>
        </p:spPr>
      </p:pic>
      <p:sp>
        <p:nvSpPr>
          <p:cNvPr id="10" name="Agenda label: Motivation &amp; Objectives">
            <a:hlinkClick r:id="rId6" tooltip="Go to: Motivation &amp; Objectives" action="ppaction://hlinksldjump"/>
          </p:cNvPr>
          <p:cNvSpPr/>
          <p:nvPr/>
        </p:nvSpPr>
        <p:spPr>
          <a:xfrm>
            <a:off x="4274820" y="14630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02</a:t>
            </a:r>
            <a:endParaRPr lang="en-US" sz="1100" dirty="0"/>
          </a:p>
          <a:p>
            <a:pPr indent="0" marL="0">
              <a:buNone/>
            </a:pPr>
            <a:r>
              <a:rPr lang="en-US" sz="1500" b="1" dirty="0">
                <a:solidFill>
                  <a:schemeClr val="tx2"/>
                </a:solidFill>
              </a:rPr>
              <a:t>Motivation &amp; Objectives</a:t>
            </a:r>
            <a:endParaRPr lang="en-US" sz="1100" dirty="0"/>
          </a:p>
        </p:txBody>
      </p:sp>
      <p:sp>
        <p:nvSpPr>
          <p:cNvPr id="11" name="Agenda tile: Dataset">
            <a:hlinkClick r:id="rId9" tooltip="Go to: Dataset" action="ppaction://hlinksldjump"/>
          </p:cNvPr>
          <p:cNvSpPr/>
          <p:nvPr/>
        </p:nvSpPr>
        <p:spPr>
          <a:xfrm>
            <a:off x="6172200" y="13258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2" name="Agenda icon: Dataset">
            <a:hlinkClick r:id="rId9" tooltip="Go to: Dataset" action="ppaction://hlinksldjump"/>
          </p:cNvPr>
          <p:cNvSpPr/>
          <p:nvPr/>
        </p:nvSpPr>
        <p:spPr>
          <a:xfrm>
            <a:off x="6355080" y="1600200"/>
            <a:ext cx="594360" cy="594360"/>
          </a:xfrm>
          <a:prstGeom prst="ellipse">
            <a:avLst/>
          </a:prstGeom>
          <a:solidFill>
            <a:schemeClr val="accent1"/>
          </a:solidFill>
          <a:ln w="12700">
            <a:solidFill>
              <a:schemeClr val="accent1"/>
            </a:solidFill>
            <a:prstDash val="solid"/>
          </a:ln>
        </p:spPr>
      </p:sp>
      <p:pic>
        <p:nvPicPr>
          <p:cNvPr id="13" name="Agenda icon: Dataset glyph" descr="icon">
            <a:hlinkClick r:id="rId9" tooltip="Go to: Dataset" action="ppaction://hlinksldjump"/>
          </p:cNvPr>
          <p:cNvPicPr>
            <a:picLocks noChangeAspect="1"/>
          </p:cNvPicPr>
          <p:nvPr/>
        </p:nvPicPr>
        <p:blipFill>
          <a:blip r:embed="rId8"/>
          <a:stretch>
            <a:fillRect/>
          </a:stretch>
        </p:blipFill>
        <p:spPr>
          <a:xfrm>
            <a:off x="6497726" y="1742846"/>
            <a:ext cx="309067" cy="309067"/>
          </a:xfrm>
          <a:prstGeom prst="rect">
            <a:avLst/>
          </a:prstGeom>
        </p:spPr>
      </p:pic>
      <p:sp>
        <p:nvSpPr>
          <p:cNvPr id="14" name="Agenda label: Dataset">
            <a:hlinkClick r:id="rId9" tooltip="Go to: Dataset" action="ppaction://hlinksldjump"/>
          </p:cNvPr>
          <p:cNvSpPr/>
          <p:nvPr/>
        </p:nvSpPr>
        <p:spPr>
          <a:xfrm>
            <a:off x="7086600" y="14630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03</a:t>
            </a:r>
            <a:endParaRPr lang="en-US" sz="1100" dirty="0"/>
          </a:p>
          <a:p>
            <a:pPr indent="0" marL="0">
              <a:buNone/>
            </a:pPr>
            <a:r>
              <a:rPr lang="en-US" sz="1500" b="1" dirty="0">
                <a:solidFill>
                  <a:schemeClr val="tx2"/>
                </a:solidFill>
              </a:rPr>
              <a:t>Dataset</a:t>
            </a:r>
            <a:endParaRPr lang="en-US" sz="1100" dirty="0"/>
          </a:p>
        </p:txBody>
      </p:sp>
      <p:sp>
        <p:nvSpPr>
          <p:cNvPr id="15" name="Agenda tile: KDD Workflow">
            <a:hlinkClick r:id="rId12" tooltip="Go to: KDD Workflow" action="ppaction://hlinksldjump"/>
          </p:cNvPr>
          <p:cNvSpPr/>
          <p:nvPr/>
        </p:nvSpPr>
        <p:spPr>
          <a:xfrm>
            <a:off x="8983980" y="13258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Agenda icon: KDD Workflow">
            <a:hlinkClick r:id="rId12" tooltip="Go to: KDD Workflow" action="ppaction://hlinksldjump"/>
          </p:cNvPr>
          <p:cNvSpPr/>
          <p:nvPr/>
        </p:nvSpPr>
        <p:spPr>
          <a:xfrm>
            <a:off x="9166860" y="1600200"/>
            <a:ext cx="594360" cy="594360"/>
          </a:xfrm>
          <a:prstGeom prst="ellipse">
            <a:avLst/>
          </a:prstGeom>
          <a:solidFill>
            <a:schemeClr val="accent1"/>
          </a:solidFill>
          <a:ln w="12700">
            <a:solidFill>
              <a:schemeClr val="accent1"/>
            </a:solidFill>
            <a:prstDash val="solid"/>
          </a:ln>
        </p:spPr>
      </p:sp>
      <p:pic>
        <p:nvPicPr>
          <p:cNvPr id="17" name="Agenda icon: KDD Workflow glyph" descr="icon">
            <a:hlinkClick r:id="rId12" tooltip="Go to: KDD Workflow" action="ppaction://hlinksldjump"/>
          </p:cNvPr>
          <p:cNvPicPr>
            <a:picLocks noChangeAspect="1"/>
          </p:cNvPicPr>
          <p:nvPr/>
        </p:nvPicPr>
        <p:blipFill>
          <a:blip r:embed="rId11"/>
          <a:stretch>
            <a:fillRect/>
          </a:stretch>
        </p:blipFill>
        <p:spPr>
          <a:xfrm>
            <a:off x="9309506" y="1742846"/>
            <a:ext cx="309067" cy="309067"/>
          </a:xfrm>
          <a:prstGeom prst="rect">
            <a:avLst/>
          </a:prstGeom>
        </p:spPr>
      </p:pic>
      <p:sp>
        <p:nvSpPr>
          <p:cNvPr id="18" name="Agenda label: KDD Workflow">
            <a:hlinkClick r:id="rId12" tooltip="Go to: KDD Workflow" action="ppaction://hlinksldjump"/>
          </p:cNvPr>
          <p:cNvSpPr/>
          <p:nvPr/>
        </p:nvSpPr>
        <p:spPr>
          <a:xfrm>
            <a:off x="9898380" y="14630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04</a:t>
            </a:r>
            <a:endParaRPr lang="en-US" sz="1100" dirty="0"/>
          </a:p>
          <a:p>
            <a:pPr indent="0" marL="0">
              <a:buNone/>
            </a:pPr>
            <a:r>
              <a:rPr lang="en-US" sz="1500" b="1" dirty="0">
                <a:solidFill>
                  <a:schemeClr val="tx2"/>
                </a:solidFill>
              </a:rPr>
              <a:t>KDD Workflow</a:t>
            </a:r>
            <a:endParaRPr lang="en-US" sz="1100" dirty="0"/>
          </a:p>
        </p:txBody>
      </p:sp>
      <p:sp>
        <p:nvSpPr>
          <p:cNvPr id="19" name="Agenda tile: Data Understanding &amp; EDA">
            <a:hlinkClick r:id="rId15" tooltip="Go to: Data Understanding &amp; EDA" action="ppaction://hlinksldjump"/>
          </p:cNvPr>
          <p:cNvSpPr/>
          <p:nvPr/>
        </p:nvSpPr>
        <p:spPr>
          <a:xfrm>
            <a:off x="548640" y="26974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0" name="Agenda icon: Data Understanding &amp; EDA">
            <a:hlinkClick r:id="rId15" tooltip="Go to: Data Understanding &amp; EDA" action="ppaction://hlinksldjump"/>
          </p:cNvPr>
          <p:cNvSpPr/>
          <p:nvPr/>
        </p:nvSpPr>
        <p:spPr>
          <a:xfrm>
            <a:off x="731520" y="2971800"/>
            <a:ext cx="594360" cy="594360"/>
          </a:xfrm>
          <a:prstGeom prst="ellipse">
            <a:avLst/>
          </a:prstGeom>
          <a:solidFill>
            <a:schemeClr val="accent1"/>
          </a:solidFill>
          <a:ln w="12700">
            <a:solidFill>
              <a:schemeClr val="accent1"/>
            </a:solidFill>
            <a:prstDash val="solid"/>
          </a:ln>
        </p:spPr>
      </p:sp>
      <p:pic>
        <p:nvPicPr>
          <p:cNvPr id="21" name="Agenda icon: Data Understanding &amp; EDA glyph" descr="icon">
            <a:hlinkClick r:id="rId15" tooltip="Go to: Data Understanding &amp; EDA" action="ppaction://hlinksldjump"/>
          </p:cNvPr>
          <p:cNvPicPr>
            <a:picLocks noChangeAspect="1"/>
          </p:cNvPicPr>
          <p:nvPr/>
        </p:nvPicPr>
        <p:blipFill>
          <a:blip r:embed="rId14"/>
          <a:stretch>
            <a:fillRect/>
          </a:stretch>
        </p:blipFill>
        <p:spPr>
          <a:xfrm>
            <a:off x="874166" y="3114446"/>
            <a:ext cx="309067" cy="309067"/>
          </a:xfrm>
          <a:prstGeom prst="rect">
            <a:avLst/>
          </a:prstGeom>
        </p:spPr>
      </p:pic>
      <p:sp>
        <p:nvSpPr>
          <p:cNvPr id="22" name="Agenda label: Data Understanding &amp; EDA">
            <a:hlinkClick r:id="rId15" tooltip="Go to: Data Understanding &amp; EDA" action="ppaction://hlinksldjump"/>
          </p:cNvPr>
          <p:cNvSpPr/>
          <p:nvPr/>
        </p:nvSpPr>
        <p:spPr>
          <a:xfrm>
            <a:off x="1463040" y="28346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05</a:t>
            </a:r>
            <a:endParaRPr lang="en-US" sz="1100" dirty="0"/>
          </a:p>
          <a:p>
            <a:pPr indent="0" marL="0">
              <a:buNone/>
            </a:pPr>
            <a:r>
              <a:rPr lang="en-US" sz="1500" b="1" dirty="0">
                <a:solidFill>
                  <a:schemeClr val="tx2"/>
                </a:solidFill>
              </a:rPr>
              <a:t>Data Understanding &amp; EDA</a:t>
            </a:r>
            <a:endParaRPr lang="en-US" sz="1100" dirty="0"/>
          </a:p>
        </p:txBody>
      </p:sp>
      <p:sp>
        <p:nvSpPr>
          <p:cNvPr id="23" name="Agenda tile: Preprocessing &amp; SMOTE">
            <a:hlinkClick r:id="rId18" tooltip="Go to: Preprocessing &amp; SMOTE" action="ppaction://hlinksldjump"/>
          </p:cNvPr>
          <p:cNvSpPr/>
          <p:nvPr/>
        </p:nvSpPr>
        <p:spPr>
          <a:xfrm>
            <a:off x="3360420" y="26974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4" name="Agenda icon: Preprocessing &amp; SMOTE">
            <a:hlinkClick r:id="rId18" tooltip="Go to: Preprocessing &amp; SMOTE" action="ppaction://hlinksldjump"/>
          </p:cNvPr>
          <p:cNvSpPr/>
          <p:nvPr/>
        </p:nvSpPr>
        <p:spPr>
          <a:xfrm>
            <a:off x="3543300" y="2971800"/>
            <a:ext cx="594360" cy="594360"/>
          </a:xfrm>
          <a:prstGeom prst="ellipse">
            <a:avLst/>
          </a:prstGeom>
          <a:solidFill>
            <a:schemeClr val="accent1"/>
          </a:solidFill>
          <a:ln w="12700">
            <a:solidFill>
              <a:schemeClr val="accent1"/>
            </a:solidFill>
            <a:prstDash val="solid"/>
          </a:ln>
        </p:spPr>
      </p:sp>
      <p:pic>
        <p:nvPicPr>
          <p:cNvPr id="25" name="Agenda icon: Preprocessing &amp; SMOTE glyph" descr="icon">
            <a:hlinkClick r:id="rId18" tooltip="Go to: Preprocessing &amp; SMOTE" action="ppaction://hlinksldjump"/>
          </p:cNvPr>
          <p:cNvPicPr>
            <a:picLocks noChangeAspect="1"/>
          </p:cNvPicPr>
          <p:nvPr/>
        </p:nvPicPr>
        <p:blipFill>
          <a:blip r:embed="rId17"/>
          <a:stretch>
            <a:fillRect/>
          </a:stretch>
        </p:blipFill>
        <p:spPr>
          <a:xfrm>
            <a:off x="3685946" y="3114446"/>
            <a:ext cx="309067" cy="309067"/>
          </a:xfrm>
          <a:prstGeom prst="rect">
            <a:avLst/>
          </a:prstGeom>
        </p:spPr>
      </p:pic>
      <p:sp>
        <p:nvSpPr>
          <p:cNvPr id="26" name="Agenda label: Preprocessing &amp; SMOTE">
            <a:hlinkClick r:id="rId18" tooltip="Go to: Preprocessing &amp; SMOTE" action="ppaction://hlinksldjump"/>
          </p:cNvPr>
          <p:cNvSpPr/>
          <p:nvPr/>
        </p:nvSpPr>
        <p:spPr>
          <a:xfrm>
            <a:off x="4274820" y="28346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06</a:t>
            </a:r>
            <a:endParaRPr lang="en-US" sz="1100" dirty="0"/>
          </a:p>
          <a:p>
            <a:pPr indent="0" marL="0">
              <a:buNone/>
            </a:pPr>
            <a:r>
              <a:rPr lang="en-US" sz="1500" b="1" dirty="0">
                <a:solidFill>
                  <a:schemeClr val="tx2"/>
                </a:solidFill>
              </a:rPr>
              <a:t>Preprocessing &amp; SMOTE</a:t>
            </a:r>
            <a:endParaRPr lang="en-US" sz="1100" dirty="0"/>
          </a:p>
        </p:txBody>
      </p:sp>
      <p:sp>
        <p:nvSpPr>
          <p:cNvPr id="27" name="Agenda tile: Models Used">
            <a:hlinkClick r:id="rId21" tooltip="Go to: Models Used" action="ppaction://hlinksldjump"/>
          </p:cNvPr>
          <p:cNvSpPr/>
          <p:nvPr/>
        </p:nvSpPr>
        <p:spPr>
          <a:xfrm>
            <a:off x="6172200" y="26974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8" name="Agenda icon: Models Used">
            <a:hlinkClick r:id="rId21" tooltip="Go to: Models Used" action="ppaction://hlinksldjump"/>
          </p:cNvPr>
          <p:cNvSpPr/>
          <p:nvPr/>
        </p:nvSpPr>
        <p:spPr>
          <a:xfrm>
            <a:off x="6355080" y="2971800"/>
            <a:ext cx="594360" cy="594360"/>
          </a:xfrm>
          <a:prstGeom prst="ellipse">
            <a:avLst/>
          </a:prstGeom>
          <a:solidFill>
            <a:schemeClr val="accent1"/>
          </a:solidFill>
          <a:ln w="12700">
            <a:solidFill>
              <a:schemeClr val="accent1"/>
            </a:solidFill>
            <a:prstDash val="solid"/>
          </a:ln>
        </p:spPr>
      </p:sp>
      <p:pic>
        <p:nvPicPr>
          <p:cNvPr id="29" name="Agenda icon: Models Used glyph" descr="icon">
            <a:hlinkClick r:id="rId21" tooltip="Go to: Models Used" action="ppaction://hlinksldjump"/>
          </p:cNvPr>
          <p:cNvPicPr>
            <a:picLocks noChangeAspect="1"/>
          </p:cNvPicPr>
          <p:nvPr/>
        </p:nvPicPr>
        <p:blipFill>
          <a:blip r:embed="rId20"/>
          <a:stretch>
            <a:fillRect/>
          </a:stretch>
        </p:blipFill>
        <p:spPr>
          <a:xfrm>
            <a:off x="6497726" y="3114446"/>
            <a:ext cx="309067" cy="309067"/>
          </a:xfrm>
          <a:prstGeom prst="rect">
            <a:avLst/>
          </a:prstGeom>
        </p:spPr>
      </p:pic>
      <p:sp>
        <p:nvSpPr>
          <p:cNvPr id="30" name="Agenda label: Models Used">
            <a:hlinkClick r:id="rId21" tooltip="Go to: Models Used" action="ppaction://hlinksldjump"/>
          </p:cNvPr>
          <p:cNvSpPr/>
          <p:nvPr/>
        </p:nvSpPr>
        <p:spPr>
          <a:xfrm>
            <a:off x="7086600" y="28346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07</a:t>
            </a:r>
            <a:endParaRPr lang="en-US" sz="1100" dirty="0"/>
          </a:p>
          <a:p>
            <a:pPr indent="0" marL="0">
              <a:buNone/>
            </a:pPr>
            <a:r>
              <a:rPr lang="en-US" sz="1500" b="1" dirty="0">
                <a:solidFill>
                  <a:schemeClr val="tx2"/>
                </a:solidFill>
              </a:rPr>
              <a:t>Models Used</a:t>
            </a:r>
            <a:endParaRPr lang="en-US" sz="1100" dirty="0"/>
          </a:p>
        </p:txBody>
      </p:sp>
      <p:sp>
        <p:nvSpPr>
          <p:cNvPr id="31" name="Agenda tile: Evaluation Metrics">
            <a:hlinkClick r:id="rId24" tooltip="Go to: Evaluation Metrics" action="ppaction://hlinksldjump"/>
          </p:cNvPr>
          <p:cNvSpPr/>
          <p:nvPr/>
        </p:nvSpPr>
        <p:spPr>
          <a:xfrm>
            <a:off x="8983980" y="26974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2" name="Agenda icon: Evaluation Metrics">
            <a:hlinkClick r:id="rId24" tooltip="Go to: Evaluation Metrics" action="ppaction://hlinksldjump"/>
          </p:cNvPr>
          <p:cNvSpPr/>
          <p:nvPr/>
        </p:nvSpPr>
        <p:spPr>
          <a:xfrm>
            <a:off x="9166860" y="2971800"/>
            <a:ext cx="594360" cy="594360"/>
          </a:xfrm>
          <a:prstGeom prst="ellipse">
            <a:avLst/>
          </a:prstGeom>
          <a:solidFill>
            <a:schemeClr val="accent1"/>
          </a:solidFill>
          <a:ln w="12700">
            <a:solidFill>
              <a:schemeClr val="accent1"/>
            </a:solidFill>
            <a:prstDash val="solid"/>
          </a:ln>
        </p:spPr>
      </p:sp>
      <p:pic>
        <p:nvPicPr>
          <p:cNvPr id="33" name="Agenda icon: Evaluation Metrics glyph" descr="icon">
            <a:hlinkClick r:id="rId24" tooltip="Go to: Evaluation Metrics" action="ppaction://hlinksldjump"/>
          </p:cNvPr>
          <p:cNvPicPr>
            <a:picLocks noChangeAspect="1"/>
          </p:cNvPicPr>
          <p:nvPr/>
        </p:nvPicPr>
        <p:blipFill>
          <a:blip r:embed="rId23"/>
          <a:stretch>
            <a:fillRect/>
          </a:stretch>
        </p:blipFill>
        <p:spPr>
          <a:xfrm>
            <a:off x="9309506" y="3114446"/>
            <a:ext cx="309067" cy="309067"/>
          </a:xfrm>
          <a:prstGeom prst="rect">
            <a:avLst/>
          </a:prstGeom>
        </p:spPr>
      </p:pic>
      <p:sp>
        <p:nvSpPr>
          <p:cNvPr id="34" name="Agenda label: Evaluation Metrics">
            <a:hlinkClick r:id="rId24" tooltip="Go to: Evaluation Metrics" action="ppaction://hlinksldjump"/>
          </p:cNvPr>
          <p:cNvSpPr/>
          <p:nvPr/>
        </p:nvSpPr>
        <p:spPr>
          <a:xfrm>
            <a:off x="9898380" y="28346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08</a:t>
            </a:r>
            <a:endParaRPr lang="en-US" sz="1100" dirty="0"/>
          </a:p>
          <a:p>
            <a:pPr indent="0" marL="0">
              <a:buNone/>
            </a:pPr>
            <a:r>
              <a:rPr lang="en-US" sz="1500" b="1" dirty="0">
                <a:solidFill>
                  <a:schemeClr val="tx2"/>
                </a:solidFill>
              </a:rPr>
              <a:t>Evaluation Metrics</a:t>
            </a:r>
            <a:endParaRPr lang="en-US" sz="1100" dirty="0"/>
          </a:p>
        </p:txBody>
      </p:sp>
      <p:sp>
        <p:nvSpPr>
          <p:cNvPr id="35" name="Agenda tile: Results &amp; Comparison">
            <a:hlinkClick r:id="rId27" tooltip="Go to: Results &amp; Comparison" action="ppaction://hlinksldjump"/>
          </p:cNvPr>
          <p:cNvSpPr/>
          <p:nvPr/>
        </p:nvSpPr>
        <p:spPr>
          <a:xfrm>
            <a:off x="548640" y="40690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6" name="Agenda icon: Results &amp; Comparison">
            <a:hlinkClick r:id="rId27" tooltip="Go to: Results &amp; Comparison" action="ppaction://hlinksldjump"/>
          </p:cNvPr>
          <p:cNvSpPr/>
          <p:nvPr/>
        </p:nvSpPr>
        <p:spPr>
          <a:xfrm>
            <a:off x="731520" y="4343400"/>
            <a:ext cx="594360" cy="594360"/>
          </a:xfrm>
          <a:prstGeom prst="ellipse">
            <a:avLst/>
          </a:prstGeom>
          <a:solidFill>
            <a:schemeClr val="accent1"/>
          </a:solidFill>
          <a:ln w="12700">
            <a:solidFill>
              <a:schemeClr val="accent1"/>
            </a:solidFill>
            <a:prstDash val="solid"/>
          </a:ln>
        </p:spPr>
      </p:sp>
      <p:pic>
        <p:nvPicPr>
          <p:cNvPr id="37" name="Agenda icon: Results &amp; Comparison glyph" descr="icon">
            <a:hlinkClick r:id="rId27" tooltip="Go to: Results &amp; Comparison" action="ppaction://hlinksldjump"/>
          </p:cNvPr>
          <p:cNvPicPr>
            <a:picLocks noChangeAspect="1"/>
          </p:cNvPicPr>
          <p:nvPr/>
        </p:nvPicPr>
        <p:blipFill>
          <a:blip r:embed="rId26"/>
          <a:stretch>
            <a:fillRect/>
          </a:stretch>
        </p:blipFill>
        <p:spPr>
          <a:xfrm>
            <a:off x="874166" y="4486046"/>
            <a:ext cx="309067" cy="309067"/>
          </a:xfrm>
          <a:prstGeom prst="rect">
            <a:avLst/>
          </a:prstGeom>
        </p:spPr>
      </p:pic>
      <p:sp>
        <p:nvSpPr>
          <p:cNvPr id="38" name="Agenda label: Results &amp; Comparison">
            <a:hlinkClick r:id="rId27" tooltip="Go to: Results &amp; Comparison" action="ppaction://hlinksldjump"/>
          </p:cNvPr>
          <p:cNvSpPr/>
          <p:nvPr/>
        </p:nvSpPr>
        <p:spPr>
          <a:xfrm>
            <a:off x="1463040" y="42062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09</a:t>
            </a:r>
            <a:endParaRPr lang="en-US" sz="1100" dirty="0"/>
          </a:p>
          <a:p>
            <a:pPr indent="0" marL="0">
              <a:buNone/>
            </a:pPr>
            <a:r>
              <a:rPr lang="en-US" sz="1500" b="1" dirty="0">
                <a:solidFill>
                  <a:schemeClr val="tx2"/>
                </a:solidFill>
              </a:rPr>
              <a:t>Results &amp; Comparison</a:t>
            </a:r>
            <a:endParaRPr lang="en-US" sz="1100" dirty="0"/>
          </a:p>
        </p:txBody>
      </p:sp>
      <p:sp>
        <p:nvSpPr>
          <p:cNvPr id="39" name="Agenda tile: Model Explorer">
            <a:hlinkClick r:id="rId30" tooltip="Go to: Model Explorer" action="ppaction://hlinksldjump"/>
          </p:cNvPr>
          <p:cNvSpPr/>
          <p:nvPr/>
        </p:nvSpPr>
        <p:spPr>
          <a:xfrm>
            <a:off x="3360420" y="40690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0" name="Agenda icon: Model Explorer">
            <a:hlinkClick r:id="rId30" tooltip="Go to: Model Explorer" action="ppaction://hlinksldjump"/>
          </p:cNvPr>
          <p:cNvSpPr/>
          <p:nvPr/>
        </p:nvSpPr>
        <p:spPr>
          <a:xfrm>
            <a:off x="3543300" y="4343400"/>
            <a:ext cx="594360" cy="594360"/>
          </a:xfrm>
          <a:prstGeom prst="ellipse">
            <a:avLst/>
          </a:prstGeom>
          <a:solidFill>
            <a:schemeClr val="accent2"/>
          </a:solidFill>
          <a:ln w="12700">
            <a:solidFill>
              <a:schemeClr val="accent2"/>
            </a:solidFill>
            <a:prstDash val="solid"/>
          </a:ln>
        </p:spPr>
      </p:sp>
      <p:pic>
        <p:nvPicPr>
          <p:cNvPr id="41" name="Agenda icon: Model Explorer glyph" descr="icon">
            <a:hlinkClick r:id="rId30" tooltip="Go to: Model Explorer" action="ppaction://hlinksldjump"/>
          </p:cNvPr>
          <p:cNvPicPr>
            <a:picLocks noChangeAspect="1"/>
          </p:cNvPicPr>
          <p:nvPr/>
        </p:nvPicPr>
        <p:blipFill>
          <a:blip r:embed="rId29"/>
          <a:stretch>
            <a:fillRect/>
          </a:stretch>
        </p:blipFill>
        <p:spPr>
          <a:xfrm>
            <a:off x="3685946" y="4486046"/>
            <a:ext cx="309067" cy="309067"/>
          </a:xfrm>
          <a:prstGeom prst="rect">
            <a:avLst/>
          </a:prstGeom>
        </p:spPr>
      </p:pic>
      <p:sp>
        <p:nvSpPr>
          <p:cNvPr id="42" name="Agenda label: Model Explorer">
            <a:hlinkClick r:id="rId30" tooltip="Go to: Model Explorer" action="ppaction://hlinksldjump"/>
          </p:cNvPr>
          <p:cNvSpPr/>
          <p:nvPr/>
        </p:nvSpPr>
        <p:spPr>
          <a:xfrm>
            <a:off x="4274820" y="42062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10</a:t>
            </a:r>
            <a:endParaRPr lang="en-US" sz="1100" dirty="0"/>
          </a:p>
          <a:p>
            <a:pPr indent="0" marL="0">
              <a:buNone/>
            </a:pPr>
            <a:r>
              <a:rPr lang="en-US" sz="1500" b="1" dirty="0">
                <a:solidFill>
                  <a:schemeClr val="tx2"/>
                </a:solidFill>
              </a:rPr>
              <a:t>Model Explorer</a:t>
            </a:r>
            <a:endParaRPr lang="en-US" sz="1100" dirty="0"/>
          </a:p>
        </p:txBody>
      </p:sp>
      <p:sp>
        <p:nvSpPr>
          <p:cNvPr id="43" name="Agenda tile: Interpretation (SHAP)">
            <a:hlinkClick r:id="rId33" tooltip="Go to: Interpretation (SHAP)" action="ppaction://hlinksldjump"/>
          </p:cNvPr>
          <p:cNvSpPr/>
          <p:nvPr/>
        </p:nvSpPr>
        <p:spPr>
          <a:xfrm>
            <a:off x="6172200" y="40690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4" name="Agenda icon: Interpretation (SHAP)">
            <a:hlinkClick r:id="rId33" tooltip="Go to: Interpretation (SHAP)" action="ppaction://hlinksldjump"/>
          </p:cNvPr>
          <p:cNvSpPr/>
          <p:nvPr/>
        </p:nvSpPr>
        <p:spPr>
          <a:xfrm>
            <a:off x="6355080" y="4343400"/>
            <a:ext cx="594360" cy="594360"/>
          </a:xfrm>
          <a:prstGeom prst="ellipse">
            <a:avLst/>
          </a:prstGeom>
          <a:solidFill>
            <a:schemeClr val="accent1"/>
          </a:solidFill>
          <a:ln w="12700">
            <a:solidFill>
              <a:schemeClr val="accent1"/>
            </a:solidFill>
            <a:prstDash val="solid"/>
          </a:ln>
        </p:spPr>
      </p:sp>
      <p:pic>
        <p:nvPicPr>
          <p:cNvPr id="45" name="Agenda icon: Interpretation (SHAP) glyph" descr="icon">
            <a:hlinkClick r:id="rId33" tooltip="Go to: Interpretation (SHAP)" action="ppaction://hlinksldjump"/>
          </p:cNvPr>
          <p:cNvPicPr>
            <a:picLocks noChangeAspect="1"/>
          </p:cNvPicPr>
          <p:nvPr/>
        </p:nvPicPr>
        <p:blipFill>
          <a:blip r:embed="rId32"/>
          <a:stretch>
            <a:fillRect/>
          </a:stretch>
        </p:blipFill>
        <p:spPr>
          <a:xfrm>
            <a:off x="6497726" y="4486046"/>
            <a:ext cx="309067" cy="309067"/>
          </a:xfrm>
          <a:prstGeom prst="rect">
            <a:avLst/>
          </a:prstGeom>
        </p:spPr>
      </p:pic>
      <p:sp>
        <p:nvSpPr>
          <p:cNvPr id="46" name="Agenda label: Interpretation (SHAP)">
            <a:hlinkClick r:id="rId33" tooltip="Go to: Interpretation (SHAP)" action="ppaction://hlinksldjump"/>
          </p:cNvPr>
          <p:cNvSpPr/>
          <p:nvPr/>
        </p:nvSpPr>
        <p:spPr>
          <a:xfrm>
            <a:off x="7086600" y="42062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11</a:t>
            </a:r>
            <a:endParaRPr lang="en-US" sz="1100" dirty="0"/>
          </a:p>
          <a:p>
            <a:pPr indent="0" marL="0">
              <a:buNone/>
            </a:pPr>
            <a:r>
              <a:rPr lang="en-US" sz="1500" b="1" dirty="0">
                <a:solidFill>
                  <a:schemeClr val="tx2"/>
                </a:solidFill>
              </a:rPr>
              <a:t>Interpretation (SHAP)</a:t>
            </a:r>
            <a:endParaRPr lang="en-US" sz="1100" dirty="0"/>
          </a:p>
        </p:txBody>
      </p:sp>
      <p:sp>
        <p:nvSpPr>
          <p:cNvPr id="47" name="Agenda tile: Conclusion &amp; Future Scope">
            <a:hlinkClick r:id="rId36" tooltip="Go to: Conclusion &amp; Future Scope" action="ppaction://hlinksldjump"/>
          </p:cNvPr>
          <p:cNvSpPr/>
          <p:nvPr/>
        </p:nvSpPr>
        <p:spPr>
          <a:xfrm>
            <a:off x="8983980" y="4069080"/>
            <a:ext cx="260604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8" name="Agenda icon: Conclusion &amp; Future Scope">
            <a:hlinkClick r:id="rId36" tooltip="Go to: Conclusion &amp; Future Scope" action="ppaction://hlinksldjump"/>
          </p:cNvPr>
          <p:cNvSpPr/>
          <p:nvPr/>
        </p:nvSpPr>
        <p:spPr>
          <a:xfrm>
            <a:off x="9166860" y="4343400"/>
            <a:ext cx="594360" cy="594360"/>
          </a:xfrm>
          <a:prstGeom prst="ellipse">
            <a:avLst/>
          </a:prstGeom>
          <a:solidFill>
            <a:schemeClr val="accent1"/>
          </a:solidFill>
          <a:ln w="12700">
            <a:solidFill>
              <a:schemeClr val="accent1"/>
            </a:solidFill>
            <a:prstDash val="solid"/>
          </a:ln>
        </p:spPr>
      </p:sp>
      <p:pic>
        <p:nvPicPr>
          <p:cNvPr id="49" name="Agenda icon: Conclusion &amp; Future Scope glyph" descr="icon">
            <a:hlinkClick r:id="rId36" tooltip="Go to: Conclusion &amp; Future Scope" action="ppaction://hlinksldjump"/>
          </p:cNvPr>
          <p:cNvPicPr>
            <a:picLocks noChangeAspect="1"/>
          </p:cNvPicPr>
          <p:nvPr/>
        </p:nvPicPr>
        <p:blipFill>
          <a:blip r:embed="rId35"/>
          <a:stretch>
            <a:fillRect/>
          </a:stretch>
        </p:blipFill>
        <p:spPr>
          <a:xfrm>
            <a:off x="9309506" y="4486046"/>
            <a:ext cx="309067" cy="309067"/>
          </a:xfrm>
          <a:prstGeom prst="rect">
            <a:avLst/>
          </a:prstGeom>
        </p:spPr>
      </p:pic>
      <p:sp>
        <p:nvSpPr>
          <p:cNvPr id="50" name="Agenda label: Conclusion &amp; Future Scope">
            <a:hlinkClick r:id="rId36" tooltip="Go to: Conclusion &amp; Future Scope" action="ppaction://hlinksldjump"/>
          </p:cNvPr>
          <p:cNvSpPr/>
          <p:nvPr/>
        </p:nvSpPr>
        <p:spPr>
          <a:xfrm>
            <a:off x="9898380" y="4206240"/>
            <a:ext cx="1554480" cy="868680"/>
          </a:xfrm>
          <a:prstGeom prst="rect">
            <a:avLst/>
          </a:prstGeom>
          <a:noFill/>
          <a:ln/>
        </p:spPr>
        <p:txBody>
          <a:bodyPr wrap="square" lIns="0" tIns="0" rIns="0" bIns="0" rtlCol="0" anchor="ctr"/>
          <a:lstStyle/>
          <a:p>
            <a:pPr indent="0" marL="0">
              <a:buNone/>
            </a:pPr>
            <a:r>
              <a:rPr lang="en-US" sz="1100" b="1" dirty="0">
                <a:solidFill>
                  <a:schemeClr val="accent5"/>
                </a:solidFill>
              </a:rPr>
              <a:t>12</a:t>
            </a:r>
            <a:endParaRPr lang="en-US" sz="1100" dirty="0"/>
          </a:p>
          <a:p>
            <a:pPr indent="0" marL="0">
              <a:buNone/>
            </a:pPr>
            <a:r>
              <a:rPr lang="en-US" sz="1500" b="1" dirty="0">
                <a:solidFill>
                  <a:schemeClr val="tx2"/>
                </a:solidFill>
              </a:rPr>
              <a:t>Conclusion &amp; Future Scope</a:t>
            </a:r>
            <a:endParaRPr lang="en-US" sz="1100" dirty="0"/>
          </a:p>
        </p:txBody>
      </p:sp>
      <p:sp>
        <p:nvSpPr>
          <p:cNvPr id="51" name="Text 37"/>
          <p:cNvSpPr txBox="1"/>
          <p:nvPr/>
        </p:nvSpPr>
        <p:spPr>
          <a:xfrm>
            <a:off x="548640" y="5532120"/>
            <a:ext cx="1188720" cy="384048"/>
          </a:xfrm>
          <a:prstGeom prst="rect">
            <a:avLst/>
          </a:prstGeom>
          <a:noFill/>
          <a:ln/>
        </p:spPr>
        <p:txBody>
          <a:bodyPr wrap="square" lIns="0" tIns="0" rIns="0" bIns="0" rtlCol="0" anchor="ctr"/>
          <a:lstStyle/>
          <a:p>
            <a:pPr indent="0" marL="0">
              <a:buNone/>
            </a:pPr>
            <a:r>
              <a:rPr lang="en-US" sz="1300" b="1" dirty="0">
                <a:solidFill>
                  <a:schemeClr val="tx2"/>
                </a:solidFill>
              </a:rPr>
              <a:t>Quick links:</a:t>
            </a:r>
            <a:endParaRPr lang="en-US" sz="1300" dirty="0"/>
          </a:p>
        </p:txBody>
      </p:sp>
      <p:sp>
        <p:nvSpPr>
          <p:cNvPr id="52" name="Button: GitHub repo">
            <a:hlinkClick r:id="rId37" tooltip="GitHub repo"/>
          </p:cNvPr>
          <p:cNvSpPr/>
          <p:nvPr/>
        </p:nvSpPr>
        <p:spPr>
          <a:xfrm>
            <a:off x="1737360" y="5532120"/>
            <a:ext cx="1554480" cy="384048"/>
          </a:xfrm>
          <a:prstGeom prst="roundRect">
            <a:avLst>
              <a:gd name="adj" fmla="val 2381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bg1"/>
                </a:solidFill>
              </a:rPr>
              <a:t>GitHub repo</a:t>
            </a:r>
            <a:endParaRPr lang="en-US" sz="1200" dirty="0"/>
          </a:p>
        </p:txBody>
      </p:sp>
      <p:sp>
        <p:nvSpPr>
          <p:cNvPr id="53" name="Button: Open in Colab">
            <a:hlinkClick r:id="rId38" tooltip="Open in Colab"/>
          </p:cNvPr>
          <p:cNvSpPr/>
          <p:nvPr/>
        </p:nvSpPr>
        <p:spPr>
          <a:xfrm>
            <a:off x="3429000" y="5532120"/>
            <a:ext cx="1554480" cy="384048"/>
          </a:xfrm>
          <a:prstGeom prst="roundRect">
            <a:avLst>
              <a:gd name="adj" fmla="val 2381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bg1"/>
                </a:solidFill>
              </a:rPr>
              <a:t>Open in Colab</a:t>
            </a:r>
            <a:endParaRPr lang="en-US" sz="1200" dirty="0"/>
          </a:p>
        </p:txBody>
      </p:sp>
      <p:sp>
        <p:nvSpPr>
          <p:cNvPr id="54" name="Button: Report (PDF)">
            <a:hlinkClick r:id="rId39" tooltip="Report (PDF)"/>
          </p:cNvPr>
          <p:cNvSpPr/>
          <p:nvPr/>
        </p:nvSpPr>
        <p:spPr>
          <a:xfrm>
            <a:off x="5120640" y="5532120"/>
            <a:ext cx="1554480" cy="384048"/>
          </a:xfrm>
          <a:prstGeom prst="roundRect">
            <a:avLst>
              <a:gd name="adj" fmla="val 23810"/>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bg1"/>
                </a:solidFill>
              </a:rPr>
              <a:t>Report (PDF)</a:t>
            </a:r>
            <a:endParaRPr lang="en-US" sz="1200" dirty="0"/>
          </a:p>
        </p:txBody>
      </p:sp>
      <p:sp>
        <p:nvSpPr>
          <p:cNvPr id="55" name="Button: Viva Q&amp;amp;A">
            <a:hlinkClick r:id="rId40" tooltip="Prepared answers to likely viva questions" action="ppaction://hlinksldjump"/>
          </p:cNvPr>
          <p:cNvSpPr/>
          <p:nvPr/>
        </p:nvSpPr>
        <p:spPr>
          <a:xfrm>
            <a:off x="6812280" y="5532120"/>
            <a:ext cx="1554480" cy="384048"/>
          </a:xfrm>
          <a:prstGeom prst="roundRect">
            <a:avLst>
              <a:gd name="adj" fmla="val 2381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Viva Q&amp;A</a:t>
            </a:r>
            <a:endParaRPr lang="en-US" sz="1200" dirty="0"/>
          </a:p>
        </p:txBody>
      </p:sp>
      <p:sp>
        <p:nvSpPr>
          <p:cNvPr id="56" name="Button: Next ›">
            <a:hlinkClick r:id="rId41"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57" name="Button: ‹ Title">
            <a:hlinkClick r:id="rId42" tooltip="‹ Title"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Title</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Problem Statement</a:t>
            </a:r>
            <a:endParaRPr lang="en-US" sz="3200" dirty="0"/>
          </a:p>
        </p:txBody>
      </p:sp>
      <p:sp>
        <p:nvSpPr>
          <p:cNvPr id="3" name="Text 1"/>
          <p:cNvSpPr txBox="1"/>
          <p:nvPr/>
        </p:nvSpPr>
        <p:spPr>
          <a:xfrm>
            <a:off x="548640" y="1371600"/>
            <a:ext cx="4937760" cy="32918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Type 2 diabetes often develops unnoticed for years</a:t>
            </a:r>
            <a:endParaRPr lang="en-US" sz="1500" dirty="0"/>
          </a:p>
          <a:p>
            <a:pPr marL="203200" indent="-203200">
              <a:spcAft>
                <a:spcPts val="600"/>
              </a:spcAft>
              <a:buSzPct val="100000"/>
              <a:buChar char="•"/>
            </a:pPr>
            <a:r>
              <a:rPr lang="en-US" sz="1600" b="1" dirty="0">
                <a:solidFill>
                  <a:schemeClr val="tx1"/>
                </a:solidFill>
              </a:rPr>
              <a:t>Task: </a:t>
            </a:r>
            <a:pPr indent="0" marL="0">
              <a:spcAft>
                <a:spcPts val="600"/>
              </a:spcAft>
              <a:buNone/>
            </a:pPr>
            <a:r>
              <a:rPr lang="en-US" sz="1600" dirty="0">
                <a:solidFill>
                  <a:schemeClr val="tx1"/>
                </a:solidFill>
              </a:rPr>
              <a:t>predict Outcome (0 = no diabetes, 1 = diabetes) from 8 routine measurements</a:t>
            </a:r>
            <a:endParaRPr lang="en-US" sz="1500" dirty="0"/>
          </a:p>
          <a:p>
            <a:pPr marL="203200" indent="-203200">
              <a:spcAft>
                <a:spcPts val="600"/>
              </a:spcAft>
              <a:buSzPct val="100000"/>
              <a:buChar char="•"/>
            </a:pPr>
            <a:r>
              <a:rPr lang="en-US" sz="1600" b="1" dirty="0">
                <a:solidFill>
                  <a:schemeClr val="tx1"/>
                </a:solidFill>
              </a:rPr>
              <a:t>Output: </a:t>
            </a:r>
            <a:pPr indent="0" marL="0">
              <a:spcAft>
                <a:spcPts val="600"/>
              </a:spcAft>
              <a:buNone/>
            </a:pPr>
            <a:r>
              <a:rPr lang="en-US" sz="1600" dirty="0">
                <a:solidFill>
                  <a:schemeClr val="tx1"/>
                </a:solidFill>
              </a:rPr>
              <a:t>a class and a probability, used to flag patients for clinical testing</a:t>
            </a:r>
            <a:endParaRPr lang="en-US" sz="1500" dirty="0"/>
          </a:p>
          <a:p>
            <a:pPr marL="203200" indent="-203200">
              <a:spcAft>
                <a:spcPts val="600"/>
              </a:spcAft>
              <a:buSzPct val="100000"/>
              <a:buChar char="•"/>
            </a:pPr>
            <a:r>
              <a:rPr lang="en-US" sz="1600" dirty="0">
                <a:solidFill>
                  <a:schemeClr val="tx1"/>
                </a:solidFill>
              </a:rPr>
              <a:t>Supervised binary classification on imbalanced, partly incomplete data</a:t>
            </a:r>
            <a:endParaRPr lang="en-US" sz="1500" dirty="0"/>
          </a:p>
          <a:p>
            <a:pPr marL="203200" indent="-203200">
              <a:spcAft>
                <a:spcPts val="600"/>
              </a:spcAft>
              <a:buSzPct val="100000"/>
              <a:buChar char="•"/>
            </a:pPr>
            <a:r>
              <a:rPr lang="en-US" sz="1600" b="1" dirty="0">
                <a:solidFill>
                  <a:schemeClr val="tx1"/>
                </a:solidFill>
              </a:rPr>
              <a:t>Screening support, </a:t>
            </a:r>
            <a:pPr indent="0" marL="0">
              <a:spcAft>
                <a:spcPts val="600"/>
              </a:spcAft>
              <a:buNone/>
            </a:pPr>
            <a:r>
              <a:rPr lang="en-US" sz="1600" dirty="0">
                <a:solidFill>
                  <a:schemeClr val="tx1"/>
                </a:solidFill>
              </a:rPr>
              <a:t>not a medical diagnosis</a:t>
            </a:r>
            <a:endParaRPr lang="en-US" sz="1500" dirty="0"/>
          </a:p>
        </p:txBody>
      </p:sp>
      <p:sp>
        <p:nvSpPr>
          <p:cNvPr id="4" name="formal statement"/>
          <p:cNvSpPr/>
          <p:nvPr/>
        </p:nvSpPr>
        <p:spPr>
          <a:xfrm>
            <a:off x="548640" y="4800600"/>
            <a:ext cx="493776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Text 3"/>
          <p:cNvSpPr txBox="1"/>
          <p:nvPr/>
        </p:nvSpPr>
        <p:spPr>
          <a:xfrm>
            <a:off x="777240" y="4937760"/>
            <a:ext cx="4526280" cy="960120"/>
          </a:xfrm>
          <a:prstGeom prst="rect">
            <a:avLst/>
          </a:prstGeom>
          <a:noFill/>
          <a:ln/>
        </p:spPr>
        <p:txBody>
          <a:bodyPr wrap="square" lIns="0" tIns="0" rIns="0" bIns="0" rtlCol="0" anchor="ctr"/>
          <a:lstStyle/>
          <a:p>
            <a:pPr indent="0" marL="0">
              <a:buNone/>
            </a:pPr>
            <a:r>
              <a:rPr lang="en-US" sz="1500" b="1" dirty="0">
                <a:solidFill>
                  <a:schemeClr val="tx2"/>
                </a:solidFill>
              </a:rPr>
              <a:t>Formally: </a:t>
            </a:r>
            <a:pPr indent="0" marL="0">
              <a:buNone/>
            </a:pPr>
            <a:r>
              <a:rPr lang="en-US" sz="1500" dirty="0">
                <a:solidFill>
                  <a:schemeClr val="tx1"/>
                </a:solidFill>
              </a:rPr>
              <a:t>given X = (x₁ … x₈), learn f(X) → ŷ ∈ {0, 1} and estimate P(y = 1 | X)</a:t>
            </a:r>
            <a:endParaRPr lang="en-US" sz="1500" dirty="0"/>
          </a:p>
        </p:txBody>
      </p:sp>
      <p:sp>
        <p:nvSpPr>
          <p:cNvPr id="6" name="inputs card"/>
          <p:cNvSpPr/>
          <p:nvPr/>
        </p:nvSpPr>
        <p:spPr>
          <a:xfrm>
            <a:off x="5989320" y="1371600"/>
            <a:ext cx="2468880" cy="4663440"/>
          </a:xfrm>
          <a:prstGeom prst="roundRect">
            <a:avLst>
              <a:gd name="adj" fmla="val 296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5"/>
          <p:cNvSpPr txBox="1"/>
          <p:nvPr/>
        </p:nvSpPr>
        <p:spPr>
          <a:xfrm>
            <a:off x="6172200" y="1508760"/>
            <a:ext cx="2103120" cy="365760"/>
          </a:xfrm>
          <a:prstGeom prst="rect">
            <a:avLst/>
          </a:prstGeom>
          <a:noFill/>
          <a:ln/>
        </p:spPr>
        <p:txBody>
          <a:bodyPr wrap="square" lIns="0" tIns="0" rIns="0" bIns="0" rtlCol="0" anchor="t"/>
          <a:lstStyle/>
          <a:p>
            <a:pPr indent="0" marL="0">
              <a:buNone/>
            </a:pPr>
            <a:r>
              <a:rPr lang="en-US" sz="1500" b="1" dirty="0">
                <a:solidFill>
                  <a:schemeClr val="tx2"/>
                </a:solidFill>
              </a:rPr>
              <a:t>8 inputs</a:t>
            </a:r>
            <a:endParaRPr lang="en-US" sz="1500" dirty="0"/>
          </a:p>
        </p:txBody>
      </p:sp>
      <p:sp>
        <p:nvSpPr>
          <p:cNvPr id="8" name="input Pregnancies"/>
          <p:cNvSpPr/>
          <p:nvPr/>
        </p:nvSpPr>
        <p:spPr>
          <a:xfrm>
            <a:off x="6217920" y="1965960"/>
            <a:ext cx="2011680" cy="384048"/>
          </a:xfrm>
          <a:prstGeom prst="roundRect">
            <a:avLst>
              <a:gd name="adj" fmla="val 14286"/>
            </a:avLst>
          </a:prstGeom>
          <a:solidFill>
            <a:schemeClr val="bg1"/>
          </a:solidFill>
          <a:ln>
            <a:solidFill>
              <a:srgbClr val="C9D9DC"/>
            </a:solidFill>
          </a:ln>
        </p:spPr>
        <p:txBody>
          <a:bodyPr wrap="square" lIns="0" tIns="0" rIns="0" bIns="0" rtlCol="0" anchor="ctr"/>
          <a:lstStyle/>
          <a:p>
            <a:pPr algn="ctr" indent="0" marL="0">
              <a:buNone/>
            </a:pPr>
            <a:r>
              <a:rPr lang="en-US" sz="1300" dirty="0">
                <a:solidFill>
                  <a:schemeClr val="tx1"/>
                </a:solidFill>
              </a:rPr>
              <a:t>Pregnancies</a:t>
            </a:r>
            <a:endParaRPr lang="en-US" sz="1300" dirty="0"/>
          </a:p>
        </p:txBody>
      </p:sp>
      <p:sp>
        <p:nvSpPr>
          <p:cNvPr id="9" name="input Glucose"/>
          <p:cNvSpPr/>
          <p:nvPr/>
        </p:nvSpPr>
        <p:spPr>
          <a:xfrm>
            <a:off x="6217920" y="2450592"/>
            <a:ext cx="2011680" cy="384048"/>
          </a:xfrm>
          <a:prstGeom prst="roundRect">
            <a:avLst>
              <a:gd name="adj" fmla="val 14286"/>
            </a:avLst>
          </a:prstGeom>
          <a:solidFill>
            <a:schemeClr val="bg1"/>
          </a:solidFill>
          <a:ln>
            <a:solidFill>
              <a:srgbClr val="C9D9DC"/>
            </a:solidFill>
          </a:ln>
        </p:spPr>
        <p:txBody>
          <a:bodyPr wrap="square" lIns="0" tIns="0" rIns="0" bIns="0" rtlCol="0" anchor="ctr"/>
          <a:lstStyle/>
          <a:p>
            <a:pPr algn="ctr" indent="0" marL="0">
              <a:buNone/>
            </a:pPr>
            <a:r>
              <a:rPr lang="en-US" sz="1300" dirty="0">
                <a:solidFill>
                  <a:schemeClr val="tx1"/>
                </a:solidFill>
              </a:rPr>
              <a:t>Glucose</a:t>
            </a:r>
            <a:endParaRPr lang="en-US" sz="1300" dirty="0"/>
          </a:p>
        </p:txBody>
      </p:sp>
      <p:sp>
        <p:nvSpPr>
          <p:cNvPr id="10" name="input Blood pressure"/>
          <p:cNvSpPr/>
          <p:nvPr/>
        </p:nvSpPr>
        <p:spPr>
          <a:xfrm>
            <a:off x="6217920" y="2935224"/>
            <a:ext cx="2011680" cy="384048"/>
          </a:xfrm>
          <a:prstGeom prst="roundRect">
            <a:avLst>
              <a:gd name="adj" fmla="val 14286"/>
            </a:avLst>
          </a:prstGeom>
          <a:solidFill>
            <a:schemeClr val="bg1"/>
          </a:solidFill>
          <a:ln>
            <a:solidFill>
              <a:srgbClr val="C9D9DC"/>
            </a:solidFill>
          </a:ln>
        </p:spPr>
        <p:txBody>
          <a:bodyPr wrap="square" lIns="0" tIns="0" rIns="0" bIns="0" rtlCol="0" anchor="ctr"/>
          <a:lstStyle/>
          <a:p>
            <a:pPr algn="ctr" indent="0" marL="0">
              <a:buNone/>
            </a:pPr>
            <a:r>
              <a:rPr lang="en-US" sz="1300" dirty="0">
                <a:solidFill>
                  <a:schemeClr val="tx1"/>
                </a:solidFill>
              </a:rPr>
              <a:t>Blood pressure</a:t>
            </a:r>
            <a:endParaRPr lang="en-US" sz="1300" dirty="0"/>
          </a:p>
        </p:txBody>
      </p:sp>
      <p:sp>
        <p:nvSpPr>
          <p:cNvPr id="11" name="input Skin thickness"/>
          <p:cNvSpPr/>
          <p:nvPr/>
        </p:nvSpPr>
        <p:spPr>
          <a:xfrm>
            <a:off x="6217920" y="3419856"/>
            <a:ext cx="2011680" cy="384048"/>
          </a:xfrm>
          <a:prstGeom prst="roundRect">
            <a:avLst>
              <a:gd name="adj" fmla="val 14286"/>
            </a:avLst>
          </a:prstGeom>
          <a:solidFill>
            <a:schemeClr val="bg1"/>
          </a:solidFill>
          <a:ln>
            <a:solidFill>
              <a:srgbClr val="C9D9DC"/>
            </a:solidFill>
          </a:ln>
        </p:spPr>
        <p:txBody>
          <a:bodyPr wrap="square" lIns="0" tIns="0" rIns="0" bIns="0" rtlCol="0" anchor="ctr"/>
          <a:lstStyle/>
          <a:p>
            <a:pPr algn="ctr" indent="0" marL="0">
              <a:buNone/>
            </a:pPr>
            <a:r>
              <a:rPr lang="en-US" sz="1300" dirty="0">
                <a:solidFill>
                  <a:schemeClr val="tx1"/>
                </a:solidFill>
              </a:rPr>
              <a:t>Skin thickness</a:t>
            </a:r>
            <a:endParaRPr lang="en-US" sz="1300" dirty="0"/>
          </a:p>
        </p:txBody>
      </p:sp>
      <p:sp>
        <p:nvSpPr>
          <p:cNvPr id="12" name="input Insulin"/>
          <p:cNvSpPr/>
          <p:nvPr/>
        </p:nvSpPr>
        <p:spPr>
          <a:xfrm>
            <a:off x="6217920" y="3904488"/>
            <a:ext cx="2011680" cy="384048"/>
          </a:xfrm>
          <a:prstGeom prst="roundRect">
            <a:avLst>
              <a:gd name="adj" fmla="val 14286"/>
            </a:avLst>
          </a:prstGeom>
          <a:solidFill>
            <a:schemeClr val="bg1"/>
          </a:solidFill>
          <a:ln>
            <a:solidFill>
              <a:srgbClr val="C9D9DC"/>
            </a:solidFill>
          </a:ln>
        </p:spPr>
        <p:txBody>
          <a:bodyPr wrap="square" lIns="0" tIns="0" rIns="0" bIns="0" rtlCol="0" anchor="ctr"/>
          <a:lstStyle/>
          <a:p>
            <a:pPr algn="ctr" indent="0" marL="0">
              <a:buNone/>
            </a:pPr>
            <a:r>
              <a:rPr lang="en-US" sz="1300" dirty="0">
                <a:solidFill>
                  <a:schemeClr val="tx1"/>
                </a:solidFill>
              </a:rPr>
              <a:t>Insulin</a:t>
            </a:r>
            <a:endParaRPr lang="en-US" sz="1300" dirty="0"/>
          </a:p>
        </p:txBody>
      </p:sp>
      <p:sp>
        <p:nvSpPr>
          <p:cNvPr id="13" name="input BMI"/>
          <p:cNvSpPr/>
          <p:nvPr/>
        </p:nvSpPr>
        <p:spPr>
          <a:xfrm>
            <a:off x="6217920" y="4389120"/>
            <a:ext cx="2011680" cy="384048"/>
          </a:xfrm>
          <a:prstGeom prst="roundRect">
            <a:avLst>
              <a:gd name="adj" fmla="val 14286"/>
            </a:avLst>
          </a:prstGeom>
          <a:solidFill>
            <a:schemeClr val="bg1"/>
          </a:solidFill>
          <a:ln>
            <a:solidFill>
              <a:srgbClr val="C9D9DC"/>
            </a:solidFill>
          </a:ln>
        </p:spPr>
        <p:txBody>
          <a:bodyPr wrap="square" lIns="0" tIns="0" rIns="0" bIns="0" rtlCol="0" anchor="ctr"/>
          <a:lstStyle/>
          <a:p>
            <a:pPr algn="ctr" indent="0" marL="0">
              <a:buNone/>
            </a:pPr>
            <a:r>
              <a:rPr lang="en-US" sz="1300" dirty="0">
                <a:solidFill>
                  <a:schemeClr val="tx1"/>
                </a:solidFill>
              </a:rPr>
              <a:t>BMI</a:t>
            </a:r>
            <a:endParaRPr lang="en-US" sz="1300" dirty="0"/>
          </a:p>
        </p:txBody>
      </p:sp>
      <p:sp>
        <p:nvSpPr>
          <p:cNvPr id="14" name="input Pedigree function"/>
          <p:cNvSpPr/>
          <p:nvPr/>
        </p:nvSpPr>
        <p:spPr>
          <a:xfrm>
            <a:off x="6217920" y="4873752"/>
            <a:ext cx="2011680" cy="384048"/>
          </a:xfrm>
          <a:prstGeom prst="roundRect">
            <a:avLst>
              <a:gd name="adj" fmla="val 14286"/>
            </a:avLst>
          </a:prstGeom>
          <a:solidFill>
            <a:schemeClr val="bg1"/>
          </a:solidFill>
          <a:ln>
            <a:solidFill>
              <a:srgbClr val="C9D9DC"/>
            </a:solidFill>
          </a:ln>
        </p:spPr>
        <p:txBody>
          <a:bodyPr wrap="square" lIns="0" tIns="0" rIns="0" bIns="0" rtlCol="0" anchor="ctr"/>
          <a:lstStyle/>
          <a:p>
            <a:pPr algn="ctr" indent="0" marL="0">
              <a:buNone/>
            </a:pPr>
            <a:r>
              <a:rPr lang="en-US" sz="1300" dirty="0">
                <a:solidFill>
                  <a:schemeClr val="tx1"/>
                </a:solidFill>
              </a:rPr>
              <a:t>Pedigree function</a:t>
            </a:r>
            <a:endParaRPr lang="en-US" sz="1300" dirty="0"/>
          </a:p>
        </p:txBody>
      </p:sp>
      <p:sp>
        <p:nvSpPr>
          <p:cNvPr id="15" name="input Age"/>
          <p:cNvSpPr/>
          <p:nvPr/>
        </p:nvSpPr>
        <p:spPr>
          <a:xfrm>
            <a:off x="6217920" y="5358384"/>
            <a:ext cx="2011680" cy="384048"/>
          </a:xfrm>
          <a:prstGeom prst="roundRect">
            <a:avLst>
              <a:gd name="adj" fmla="val 14286"/>
            </a:avLst>
          </a:prstGeom>
          <a:solidFill>
            <a:schemeClr val="bg1"/>
          </a:solidFill>
          <a:ln>
            <a:solidFill>
              <a:srgbClr val="C9D9DC"/>
            </a:solidFill>
          </a:ln>
        </p:spPr>
        <p:txBody>
          <a:bodyPr wrap="square" lIns="0" tIns="0" rIns="0" bIns="0" rtlCol="0" anchor="ctr"/>
          <a:lstStyle/>
          <a:p>
            <a:pPr algn="ctr" indent="0" marL="0">
              <a:buNone/>
            </a:pPr>
            <a:r>
              <a:rPr lang="en-US" sz="1300" dirty="0">
                <a:solidFill>
                  <a:schemeClr val="tx1"/>
                </a:solidFill>
              </a:rPr>
              <a:t>Age</a:t>
            </a:r>
            <a:endParaRPr lang="en-US" sz="1300" dirty="0"/>
          </a:p>
        </p:txBody>
      </p:sp>
      <p:sp>
        <p:nvSpPr>
          <p:cNvPr id="16" name="arrow 1"/>
          <p:cNvSpPr/>
          <p:nvPr/>
        </p:nvSpPr>
        <p:spPr>
          <a:xfrm>
            <a:off x="8549640" y="3429000"/>
            <a:ext cx="502920" cy="457200"/>
          </a:xfrm>
          <a:prstGeom prst="rightArrow">
            <a:avLst/>
          </a:prstGeom>
          <a:solidFill>
            <a:schemeClr val="accent5"/>
          </a:solidFill>
          <a:ln w="12700">
            <a:solidFill>
              <a:schemeClr val="accent5"/>
            </a:solidFill>
            <a:prstDash val="solid"/>
          </a:ln>
        </p:spPr>
      </p:sp>
      <p:sp>
        <p:nvSpPr>
          <p:cNvPr id="17" name="model icon"/>
          <p:cNvSpPr/>
          <p:nvPr/>
        </p:nvSpPr>
        <p:spPr>
          <a:xfrm>
            <a:off x="9144000" y="3017520"/>
            <a:ext cx="1280160" cy="1280160"/>
          </a:xfrm>
          <a:prstGeom prst="ellipse">
            <a:avLst/>
          </a:prstGeom>
          <a:solidFill>
            <a:schemeClr val="accent1"/>
          </a:solidFill>
          <a:ln w="12700">
            <a:solidFill>
              <a:schemeClr val="accent1"/>
            </a:solidFill>
            <a:prstDash val="solid"/>
          </a:ln>
        </p:spPr>
      </p:sp>
      <p:pic>
        <p:nvPicPr>
          <p:cNvPr id="18" name="model icon glyph" descr="icon">    </p:cNvPr>
          <p:cNvPicPr>
            <a:picLocks noChangeAspect="1"/>
          </p:cNvPicPr>
          <p:nvPr/>
        </p:nvPicPr>
        <p:blipFill>
          <a:blip r:embed="rId1"/>
          <a:stretch>
            <a:fillRect/>
          </a:stretch>
        </p:blipFill>
        <p:spPr>
          <a:xfrm>
            <a:off x="9451238" y="3324758"/>
            <a:ext cx="665683" cy="665683"/>
          </a:xfrm>
          <a:prstGeom prst="rect">
            <a:avLst/>
          </a:prstGeom>
        </p:spPr>
      </p:pic>
      <p:sp>
        <p:nvSpPr>
          <p:cNvPr id="19" name="Text 16"/>
          <p:cNvSpPr txBox="1"/>
          <p:nvPr/>
        </p:nvSpPr>
        <p:spPr>
          <a:xfrm>
            <a:off x="9006840" y="4343400"/>
            <a:ext cx="1554480" cy="320040"/>
          </a:xfrm>
          <a:prstGeom prst="rect">
            <a:avLst/>
          </a:prstGeom>
          <a:noFill/>
          <a:ln/>
        </p:spPr>
        <p:txBody>
          <a:bodyPr wrap="square" lIns="0" tIns="0" rIns="0" bIns="0" rtlCol="0" anchor="t"/>
          <a:lstStyle/>
          <a:p>
            <a:pPr algn="ctr" indent="0" marL="0">
              <a:buNone/>
            </a:pPr>
            <a:r>
              <a:rPr lang="en-US" sz="1300" b="1" dirty="0">
                <a:solidFill>
                  <a:schemeClr val="tx2"/>
                </a:solidFill>
              </a:rPr>
              <a:t>ML model</a:t>
            </a:r>
            <a:endParaRPr lang="en-US" sz="1300" dirty="0"/>
          </a:p>
        </p:txBody>
      </p:sp>
      <p:sp>
        <p:nvSpPr>
          <p:cNvPr id="20" name="arrow 2"/>
          <p:cNvSpPr/>
          <p:nvPr/>
        </p:nvSpPr>
        <p:spPr>
          <a:xfrm>
            <a:off x="10515600" y="3429000"/>
            <a:ext cx="411480" cy="457200"/>
          </a:xfrm>
          <a:prstGeom prst="rightArrow">
            <a:avLst/>
          </a:prstGeom>
          <a:solidFill>
            <a:schemeClr val="accent5"/>
          </a:solidFill>
          <a:ln w="12700">
            <a:solidFill>
              <a:schemeClr val="accent5"/>
            </a:solidFill>
            <a:prstDash val="solid"/>
          </a:ln>
        </p:spPr>
      </p:sp>
      <p:sp>
        <p:nvSpPr>
          <p:cNvPr id="21" name="output card"/>
          <p:cNvSpPr/>
          <p:nvPr/>
        </p:nvSpPr>
        <p:spPr>
          <a:xfrm>
            <a:off x="10972800" y="2514600"/>
            <a:ext cx="667512" cy="2286000"/>
          </a:xfrm>
          <a:prstGeom prst="roundRect">
            <a:avLst>
              <a:gd name="adj" fmla="val 10959"/>
            </a:avLst>
          </a:prstGeom>
          <a:solidFill>
            <a:schemeClr val="accent2"/>
          </a:solidFill>
          <a:ln w="12700">
            <a:solidFill>
              <a:schemeClr val="accent2"/>
            </a:solidFill>
            <a:prstDash val="solid"/>
          </a:ln>
          <a:effectLst>
            <a:outerShdw sx="100000" sy="100000" kx="0" ky="0" algn="bl" rotWithShape="0" blurRad="76200" dist="25400" dir="5400000">
              <a:srgbClr val="000000">
                <a:alpha val="15000"/>
              </a:srgbClr>
            </a:outerShdw>
          </a:effectLst>
        </p:spPr>
      </p:sp>
      <p:sp>
        <p:nvSpPr>
          <p:cNvPr id="22" name="Text 19"/>
          <p:cNvSpPr txBox="1"/>
          <p:nvPr/>
        </p:nvSpPr>
        <p:spPr>
          <a:xfrm>
            <a:off x="10972800" y="2514600"/>
            <a:ext cx="667512" cy="2286000"/>
          </a:xfrm>
          <a:prstGeom prst="rect">
            <a:avLst/>
          </a:prstGeom>
          <a:noFill/>
          <a:ln/>
        </p:spPr>
        <p:txBody>
          <a:bodyPr wrap="square" lIns="0" tIns="0" rIns="0" bIns="0" rtlCol="0" anchor="ctr" vert="vert270"/>
          <a:lstStyle/>
          <a:p>
            <a:pPr algn="ctr" indent="0" marL="0">
              <a:buNone/>
            </a:pPr>
            <a:r>
              <a:rPr lang="en-US" sz="1400" b="1" dirty="0">
                <a:solidFill>
                  <a:schemeClr val="bg1"/>
                </a:solidFill>
              </a:rPr>
              <a:t>Risk %</a:t>
            </a:r>
            <a:endParaRPr lang="en-US" sz="1400" dirty="0"/>
          </a:p>
        </p:txBody>
      </p:sp>
      <p:sp>
        <p:nvSpPr>
          <p:cNvPr id="23" name="Button: Next ›">
            <a:hlinkClick r:id="rId2"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24" name="Button: Agenda">
            <a:hlinkClick r:id="rId3"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25" name="Button: ‹ Prev">
            <a:hlinkClick r:id="rId4"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Motivation &amp; Objectives</a:t>
            </a:r>
            <a:endParaRPr lang="en-US" sz="3200" dirty="0"/>
          </a:p>
        </p:txBody>
      </p:sp>
      <p:sp>
        <p:nvSpPr>
          <p:cNvPr id="3" name="Text 1"/>
          <p:cNvSpPr txBox="1"/>
          <p:nvPr/>
        </p:nvSpPr>
        <p:spPr>
          <a:xfrm>
            <a:off x="548640" y="1325880"/>
            <a:ext cx="51206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Why it matters</a:t>
            </a:r>
            <a:endParaRPr lang="en-US" sz="2000" dirty="0"/>
          </a:p>
        </p:txBody>
      </p:sp>
      <p:sp>
        <p:nvSpPr>
          <p:cNvPr id="4" name="why icon 0"/>
          <p:cNvSpPr/>
          <p:nvPr/>
        </p:nvSpPr>
        <p:spPr>
          <a:xfrm>
            <a:off x="548640" y="1874520"/>
            <a:ext cx="731520" cy="731520"/>
          </a:xfrm>
          <a:prstGeom prst="ellipse">
            <a:avLst/>
          </a:prstGeom>
          <a:solidFill>
            <a:schemeClr val="accent1"/>
          </a:solidFill>
          <a:ln w="12700">
            <a:solidFill>
              <a:schemeClr val="accent1"/>
            </a:solidFill>
            <a:prstDash val="solid"/>
          </a:ln>
        </p:spPr>
      </p:sp>
      <p:pic>
        <p:nvPicPr>
          <p:cNvPr id="5" name="why icon 0 glyph" descr="icon">    </p:cNvPr>
          <p:cNvPicPr>
            <a:picLocks noChangeAspect="1"/>
          </p:cNvPicPr>
          <p:nvPr/>
        </p:nvPicPr>
        <p:blipFill>
          <a:blip r:embed="rId1"/>
          <a:stretch>
            <a:fillRect/>
          </a:stretch>
        </p:blipFill>
        <p:spPr>
          <a:xfrm>
            <a:off x="724205" y="2050085"/>
            <a:ext cx="380390" cy="380390"/>
          </a:xfrm>
          <a:prstGeom prst="rect">
            <a:avLst/>
          </a:prstGeom>
        </p:spPr>
      </p:pic>
      <p:sp>
        <p:nvSpPr>
          <p:cNvPr id="6" name="Text 3"/>
          <p:cNvSpPr txBox="1"/>
          <p:nvPr/>
        </p:nvSpPr>
        <p:spPr>
          <a:xfrm>
            <a:off x="1463040" y="1856232"/>
            <a:ext cx="4206240" cy="914400"/>
          </a:xfrm>
          <a:prstGeom prst="rect">
            <a:avLst/>
          </a:prstGeom>
          <a:noFill/>
          <a:ln/>
        </p:spPr>
        <p:txBody>
          <a:bodyPr wrap="square" lIns="0" tIns="0" rIns="0" bIns="0" rtlCol="0" anchor="ctr"/>
          <a:lstStyle/>
          <a:p>
            <a:pPr indent="0" marL="0">
              <a:buNone/>
            </a:pPr>
            <a:r>
              <a:rPr lang="en-US" sz="1600" b="1" dirty="0">
                <a:solidFill>
                  <a:schemeClr val="tx2"/>
                </a:solidFill>
              </a:rPr>
              <a:t>Early detection</a:t>
            </a:r>
            <a:endParaRPr lang="en-US" sz="1500" dirty="0"/>
          </a:p>
          <a:p>
            <a:pPr indent="0" marL="0">
              <a:buNone/>
            </a:pPr>
            <a:r>
              <a:rPr lang="en-US" sz="1400" dirty="0">
                <a:solidFill>
                  <a:schemeClr val="tx1"/>
                </a:solidFill>
              </a:rPr>
              <a:t>Earlier testing and intervention can reduce complications</a:t>
            </a:r>
            <a:endParaRPr lang="en-US" sz="1500" dirty="0"/>
          </a:p>
        </p:txBody>
      </p:sp>
      <p:sp>
        <p:nvSpPr>
          <p:cNvPr id="7" name="why icon 1"/>
          <p:cNvSpPr/>
          <p:nvPr/>
        </p:nvSpPr>
        <p:spPr>
          <a:xfrm>
            <a:off x="548640" y="3200400"/>
            <a:ext cx="731520" cy="731520"/>
          </a:xfrm>
          <a:prstGeom prst="ellipse">
            <a:avLst/>
          </a:prstGeom>
          <a:solidFill>
            <a:schemeClr val="accent1"/>
          </a:solidFill>
          <a:ln w="12700">
            <a:solidFill>
              <a:schemeClr val="accent1"/>
            </a:solidFill>
            <a:prstDash val="solid"/>
          </a:ln>
        </p:spPr>
      </p:sp>
      <p:pic>
        <p:nvPicPr>
          <p:cNvPr id="8" name="why icon 1 glyph" descr="icon">    </p:cNvPr>
          <p:cNvPicPr>
            <a:picLocks noChangeAspect="1"/>
          </p:cNvPicPr>
          <p:nvPr/>
        </p:nvPicPr>
        <p:blipFill>
          <a:blip r:embed="rId2"/>
          <a:stretch>
            <a:fillRect/>
          </a:stretch>
        </p:blipFill>
        <p:spPr>
          <a:xfrm>
            <a:off x="724205" y="3375965"/>
            <a:ext cx="380390" cy="380390"/>
          </a:xfrm>
          <a:prstGeom prst="rect">
            <a:avLst/>
          </a:prstGeom>
        </p:spPr>
      </p:pic>
      <p:sp>
        <p:nvSpPr>
          <p:cNvPr id="9" name="Text 5"/>
          <p:cNvSpPr txBox="1"/>
          <p:nvPr/>
        </p:nvSpPr>
        <p:spPr>
          <a:xfrm>
            <a:off x="1463040" y="3182112"/>
            <a:ext cx="4206240" cy="914400"/>
          </a:xfrm>
          <a:prstGeom prst="rect">
            <a:avLst/>
          </a:prstGeom>
          <a:noFill/>
          <a:ln/>
        </p:spPr>
        <p:txBody>
          <a:bodyPr wrap="square" lIns="0" tIns="0" rIns="0" bIns="0" rtlCol="0" anchor="ctr"/>
          <a:lstStyle/>
          <a:p>
            <a:pPr indent="0" marL="0">
              <a:buNone/>
            </a:pPr>
            <a:r>
              <a:rPr lang="en-US" sz="1600" b="1" dirty="0">
                <a:solidFill>
                  <a:schemeClr val="tx2"/>
                </a:solidFill>
              </a:rPr>
              <a:t>Low-cost inputs</a:t>
            </a:r>
            <a:endParaRPr lang="en-US" sz="1500" dirty="0"/>
          </a:p>
          <a:p>
            <a:pPr indent="0" marL="0">
              <a:buNone/>
            </a:pPr>
            <a:r>
              <a:rPr lang="en-US" sz="1400" dirty="0">
                <a:solidFill>
                  <a:schemeClr val="tx1"/>
                </a:solidFill>
              </a:rPr>
              <a:t>Uses measurements hospitals already record</a:t>
            </a:r>
            <a:endParaRPr lang="en-US" sz="1500" dirty="0"/>
          </a:p>
        </p:txBody>
      </p:sp>
      <p:sp>
        <p:nvSpPr>
          <p:cNvPr id="10" name="why icon 2"/>
          <p:cNvSpPr/>
          <p:nvPr/>
        </p:nvSpPr>
        <p:spPr>
          <a:xfrm>
            <a:off x="548640" y="4526280"/>
            <a:ext cx="731520" cy="731520"/>
          </a:xfrm>
          <a:prstGeom prst="ellipse">
            <a:avLst/>
          </a:prstGeom>
          <a:solidFill>
            <a:schemeClr val="accent2"/>
          </a:solidFill>
          <a:ln w="12700">
            <a:solidFill>
              <a:schemeClr val="accent2"/>
            </a:solidFill>
            <a:prstDash val="solid"/>
          </a:ln>
        </p:spPr>
      </p:sp>
      <p:pic>
        <p:nvPicPr>
          <p:cNvPr id="11" name="why icon 2 glyph" descr="icon">    </p:cNvPr>
          <p:cNvPicPr>
            <a:picLocks noChangeAspect="1"/>
          </p:cNvPicPr>
          <p:nvPr/>
        </p:nvPicPr>
        <p:blipFill>
          <a:blip r:embed="rId3"/>
          <a:stretch>
            <a:fillRect/>
          </a:stretch>
        </p:blipFill>
        <p:spPr>
          <a:xfrm>
            <a:off x="724205" y="4701845"/>
            <a:ext cx="380390" cy="380390"/>
          </a:xfrm>
          <a:prstGeom prst="rect">
            <a:avLst/>
          </a:prstGeom>
        </p:spPr>
      </p:pic>
      <p:sp>
        <p:nvSpPr>
          <p:cNvPr id="12" name="Text 7"/>
          <p:cNvSpPr txBox="1"/>
          <p:nvPr/>
        </p:nvSpPr>
        <p:spPr>
          <a:xfrm>
            <a:off x="1463040" y="4507992"/>
            <a:ext cx="4206240" cy="914400"/>
          </a:xfrm>
          <a:prstGeom prst="rect">
            <a:avLst/>
          </a:prstGeom>
          <a:noFill/>
          <a:ln/>
        </p:spPr>
        <p:txBody>
          <a:bodyPr wrap="square" lIns="0" tIns="0" rIns="0" bIns="0" rtlCol="0" anchor="ctr"/>
          <a:lstStyle/>
          <a:p>
            <a:pPr indent="0" marL="0">
              <a:buNone/>
            </a:pPr>
            <a:r>
              <a:rPr lang="en-US" sz="1600" b="1" dirty="0">
                <a:solidFill>
                  <a:schemeClr val="tx2"/>
                </a:solidFill>
              </a:rPr>
              <a:t>Realistic data problems</a:t>
            </a:r>
            <a:endParaRPr lang="en-US" sz="1500" dirty="0"/>
          </a:p>
          <a:p>
            <a:pPr indent="0" marL="0">
              <a:buNone/>
            </a:pPr>
            <a:r>
              <a:rPr lang="en-US" sz="1400" dirty="0">
                <a:solidFill>
                  <a:schemeClr val="tx1"/>
                </a:solidFill>
              </a:rPr>
              <a:t>Hidden missing values and class imbalance to handle correctly</a:t>
            </a:r>
            <a:endParaRPr lang="en-US" sz="1500" dirty="0"/>
          </a:p>
        </p:txBody>
      </p:sp>
      <p:sp>
        <p:nvSpPr>
          <p:cNvPr id="13" name="Text 8"/>
          <p:cNvSpPr txBox="1"/>
          <p:nvPr/>
        </p:nvSpPr>
        <p:spPr>
          <a:xfrm>
            <a:off x="6309360" y="1325880"/>
            <a:ext cx="53035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Objectives</a:t>
            </a:r>
            <a:endParaRPr lang="en-US" sz="2000" dirty="0"/>
          </a:p>
        </p:txBody>
      </p:sp>
      <p:sp>
        <p:nvSpPr>
          <p:cNvPr id="14" name="objective 1"/>
          <p:cNvSpPr/>
          <p:nvPr/>
        </p:nvSpPr>
        <p:spPr>
          <a:xfrm>
            <a:off x="6309360" y="1874520"/>
            <a:ext cx="5330952" cy="685800"/>
          </a:xfrm>
          <a:prstGeom prst="roundRect">
            <a:avLst>
              <a:gd name="adj" fmla="val 1066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5" name="objective number 1"/>
          <p:cNvSpPr/>
          <p:nvPr/>
        </p:nvSpPr>
        <p:spPr>
          <a:xfrm>
            <a:off x="6446520" y="2002536"/>
            <a:ext cx="429768" cy="4297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1"/>
          <p:cNvSpPr txBox="1"/>
          <p:nvPr/>
        </p:nvSpPr>
        <p:spPr>
          <a:xfrm>
            <a:off x="7040880" y="1920240"/>
            <a:ext cx="4480560" cy="594360"/>
          </a:xfrm>
          <a:prstGeom prst="rect">
            <a:avLst/>
          </a:prstGeom>
          <a:noFill/>
          <a:ln/>
        </p:spPr>
        <p:txBody>
          <a:bodyPr wrap="square" lIns="0" tIns="0" rIns="0" bIns="0" rtlCol="0" anchor="ctr"/>
          <a:lstStyle/>
          <a:p>
            <a:pPr indent="0" marL="0">
              <a:buNone/>
            </a:pPr>
            <a:r>
              <a:rPr lang="en-US" sz="1500" dirty="0">
                <a:solidFill>
                  <a:schemeClr val="tx1"/>
                </a:solidFill>
              </a:rPr>
              <a:t>Clean the data: treat impossible zeros as missing</a:t>
            </a:r>
            <a:endParaRPr lang="en-US" sz="1500" dirty="0"/>
          </a:p>
        </p:txBody>
      </p:sp>
      <p:sp>
        <p:nvSpPr>
          <p:cNvPr id="17" name="objective 2"/>
          <p:cNvSpPr/>
          <p:nvPr/>
        </p:nvSpPr>
        <p:spPr>
          <a:xfrm>
            <a:off x="6309360" y="2697480"/>
            <a:ext cx="5330952" cy="685800"/>
          </a:xfrm>
          <a:prstGeom prst="roundRect">
            <a:avLst>
              <a:gd name="adj" fmla="val 1066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8" name="objective number 2"/>
          <p:cNvSpPr/>
          <p:nvPr/>
        </p:nvSpPr>
        <p:spPr>
          <a:xfrm>
            <a:off x="6446520" y="2825496"/>
            <a:ext cx="429768" cy="4297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Text 14"/>
          <p:cNvSpPr txBox="1"/>
          <p:nvPr/>
        </p:nvSpPr>
        <p:spPr>
          <a:xfrm>
            <a:off x="7040880" y="2743200"/>
            <a:ext cx="4480560" cy="594360"/>
          </a:xfrm>
          <a:prstGeom prst="rect">
            <a:avLst/>
          </a:prstGeom>
          <a:noFill/>
          <a:ln/>
        </p:spPr>
        <p:txBody>
          <a:bodyPr wrap="square" lIns="0" tIns="0" rIns="0" bIns="0" rtlCol="0" anchor="ctr"/>
          <a:lstStyle/>
          <a:p>
            <a:pPr indent="0" marL="0">
              <a:buNone/>
            </a:pPr>
            <a:r>
              <a:rPr lang="en-US" sz="1500" dirty="0">
                <a:solidFill>
                  <a:schemeClr val="tx1"/>
                </a:solidFill>
              </a:rPr>
              <a:t>Explore how each measurement relates to diabetes</a:t>
            </a:r>
            <a:endParaRPr lang="en-US" sz="1500" dirty="0"/>
          </a:p>
        </p:txBody>
      </p:sp>
      <p:sp>
        <p:nvSpPr>
          <p:cNvPr id="20" name="objective 3"/>
          <p:cNvSpPr/>
          <p:nvPr/>
        </p:nvSpPr>
        <p:spPr>
          <a:xfrm>
            <a:off x="6309360" y="3520440"/>
            <a:ext cx="5330952" cy="685800"/>
          </a:xfrm>
          <a:prstGeom prst="roundRect">
            <a:avLst>
              <a:gd name="adj" fmla="val 1066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1" name="objective number 3"/>
          <p:cNvSpPr/>
          <p:nvPr/>
        </p:nvSpPr>
        <p:spPr>
          <a:xfrm>
            <a:off x="6446520" y="3648456"/>
            <a:ext cx="429768" cy="4297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Text 17"/>
          <p:cNvSpPr txBox="1"/>
          <p:nvPr/>
        </p:nvSpPr>
        <p:spPr>
          <a:xfrm>
            <a:off x="7040880" y="3566160"/>
            <a:ext cx="4480560" cy="594360"/>
          </a:xfrm>
          <a:prstGeom prst="rect">
            <a:avLst/>
          </a:prstGeom>
          <a:noFill/>
          <a:ln/>
        </p:spPr>
        <p:txBody>
          <a:bodyPr wrap="square" lIns="0" tIns="0" rIns="0" bIns="0" rtlCol="0" anchor="ctr"/>
          <a:lstStyle/>
          <a:p>
            <a:pPr indent="0" marL="0">
              <a:buNone/>
            </a:pPr>
            <a:r>
              <a:rPr lang="en-US" sz="1500" dirty="0">
                <a:solidFill>
                  <a:schemeClr val="tx1"/>
                </a:solidFill>
              </a:rPr>
              <a:t>Build a leak-free pipeline (fit on training data only)</a:t>
            </a:r>
            <a:endParaRPr lang="en-US" sz="1500" dirty="0"/>
          </a:p>
        </p:txBody>
      </p:sp>
      <p:sp>
        <p:nvSpPr>
          <p:cNvPr id="23" name="objective 4"/>
          <p:cNvSpPr/>
          <p:nvPr/>
        </p:nvSpPr>
        <p:spPr>
          <a:xfrm>
            <a:off x="6309360" y="4343400"/>
            <a:ext cx="5330952" cy="685800"/>
          </a:xfrm>
          <a:prstGeom prst="roundRect">
            <a:avLst>
              <a:gd name="adj" fmla="val 1066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4" name="objective number 4"/>
          <p:cNvSpPr/>
          <p:nvPr/>
        </p:nvSpPr>
        <p:spPr>
          <a:xfrm>
            <a:off x="6446520" y="4471416"/>
            <a:ext cx="429768" cy="4297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0"/>
          <p:cNvSpPr txBox="1"/>
          <p:nvPr/>
        </p:nvSpPr>
        <p:spPr>
          <a:xfrm>
            <a:off x="7040880" y="4389120"/>
            <a:ext cx="4480560" cy="594360"/>
          </a:xfrm>
          <a:prstGeom prst="rect">
            <a:avLst/>
          </a:prstGeom>
          <a:noFill/>
          <a:ln/>
        </p:spPr>
        <p:txBody>
          <a:bodyPr wrap="square" lIns="0" tIns="0" rIns="0" bIns="0" rtlCol="0" anchor="ctr"/>
          <a:lstStyle/>
          <a:p>
            <a:pPr indent="0" marL="0">
              <a:buNone/>
            </a:pPr>
            <a:r>
              <a:rPr lang="en-US" sz="1500" dirty="0">
                <a:solidFill>
                  <a:schemeClr val="tx1"/>
                </a:solidFill>
              </a:rPr>
              <a:t>Compare 5 models with imbalance-aware metrics</a:t>
            </a:r>
            <a:endParaRPr lang="en-US" sz="1500" dirty="0"/>
          </a:p>
        </p:txBody>
      </p:sp>
      <p:sp>
        <p:nvSpPr>
          <p:cNvPr id="26" name="objective 5"/>
          <p:cNvSpPr/>
          <p:nvPr/>
        </p:nvSpPr>
        <p:spPr>
          <a:xfrm>
            <a:off x="6309360" y="5166360"/>
            <a:ext cx="5330952" cy="685800"/>
          </a:xfrm>
          <a:prstGeom prst="roundRect">
            <a:avLst>
              <a:gd name="adj" fmla="val 1066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7" name="objective number 5"/>
          <p:cNvSpPr/>
          <p:nvPr/>
        </p:nvSpPr>
        <p:spPr>
          <a:xfrm>
            <a:off x="6446520" y="5294376"/>
            <a:ext cx="429768" cy="4297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3"/>
          <p:cNvSpPr txBox="1"/>
          <p:nvPr/>
        </p:nvSpPr>
        <p:spPr>
          <a:xfrm>
            <a:off x="7040880" y="5212080"/>
            <a:ext cx="4480560" cy="594360"/>
          </a:xfrm>
          <a:prstGeom prst="rect">
            <a:avLst/>
          </a:prstGeom>
          <a:noFill/>
          <a:ln/>
        </p:spPr>
        <p:txBody>
          <a:bodyPr wrap="square" lIns="0" tIns="0" rIns="0" bIns="0" rtlCol="0" anchor="ctr"/>
          <a:lstStyle/>
          <a:p>
            <a:pPr indent="0" marL="0">
              <a:buNone/>
            </a:pPr>
            <a:r>
              <a:rPr lang="en-US" sz="1500" dirty="0">
                <a:solidFill>
                  <a:schemeClr val="tx1"/>
                </a:solidFill>
              </a:rPr>
              <a:t>Select a model with a recall-aware rule, then explain it with SHAP</a:t>
            </a:r>
            <a:endParaRPr lang="en-US" sz="1500" dirty="0"/>
          </a:p>
        </p:txBody>
      </p:sp>
      <p:sp>
        <p:nvSpPr>
          <p:cNvPr id="29" name="Button: Next ›">
            <a:hlinkClick r:id="rId4"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30" name="Button: Agenda">
            <a:hlinkClick r:id="rId5"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31" name="Button: ‹ Prev">
            <a:hlinkClick r:id="rId6"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Dataset: Pima Indians Diabetes</a:t>
            </a:r>
            <a:endParaRPr lang="en-US" sz="3200" dirty="0"/>
          </a:p>
        </p:txBody>
      </p:sp>
      <p:sp>
        <p:nvSpPr>
          <p:cNvPr id="3" name="stat patients (Pima Indian women aged 21+)"/>
          <p:cNvSpPr/>
          <p:nvPr/>
        </p:nvSpPr>
        <p:spPr>
          <a:xfrm>
            <a:off x="548640" y="1325880"/>
            <a:ext cx="26060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731520" y="1417320"/>
            <a:ext cx="224028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768</a:t>
            </a:r>
            <a:endParaRPr lang="en-US" sz="3600" dirty="0"/>
          </a:p>
        </p:txBody>
      </p:sp>
      <p:sp>
        <p:nvSpPr>
          <p:cNvPr id="5" name="Text 3"/>
          <p:cNvSpPr txBox="1"/>
          <p:nvPr/>
        </p:nvSpPr>
        <p:spPr>
          <a:xfrm>
            <a:off x="731520" y="2103120"/>
            <a:ext cx="2286000" cy="457200"/>
          </a:xfrm>
          <a:prstGeom prst="rect">
            <a:avLst/>
          </a:prstGeom>
          <a:noFill/>
          <a:ln/>
        </p:spPr>
        <p:txBody>
          <a:bodyPr wrap="square" lIns="0" tIns="0" rIns="0" bIns="0" rtlCol="0" anchor="t"/>
          <a:lstStyle/>
          <a:p>
            <a:pPr indent="0" marL="0">
              <a:buNone/>
            </a:pPr>
            <a:r>
              <a:rPr lang="en-US" sz="1300" dirty="0">
                <a:solidFill>
                  <a:schemeClr val="tx1"/>
                </a:solidFill>
              </a:rPr>
              <a:t>patients (Pima Indian women aged 21+)</a:t>
            </a:r>
            <a:endParaRPr lang="en-US" sz="1300" dirty="0"/>
          </a:p>
        </p:txBody>
      </p:sp>
      <p:sp>
        <p:nvSpPr>
          <p:cNvPr id="6" name="stat diagnostic features + Outcome"/>
          <p:cNvSpPr/>
          <p:nvPr/>
        </p:nvSpPr>
        <p:spPr>
          <a:xfrm>
            <a:off x="3360420" y="1325880"/>
            <a:ext cx="26060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5"/>
          <p:cNvSpPr txBox="1"/>
          <p:nvPr/>
        </p:nvSpPr>
        <p:spPr>
          <a:xfrm>
            <a:off x="3543300" y="1417320"/>
            <a:ext cx="224028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8</a:t>
            </a:r>
            <a:endParaRPr lang="en-US" sz="3600" dirty="0"/>
          </a:p>
        </p:txBody>
      </p:sp>
      <p:sp>
        <p:nvSpPr>
          <p:cNvPr id="8" name="Text 6"/>
          <p:cNvSpPr txBox="1"/>
          <p:nvPr/>
        </p:nvSpPr>
        <p:spPr>
          <a:xfrm>
            <a:off x="3543300" y="2103120"/>
            <a:ext cx="2286000" cy="457200"/>
          </a:xfrm>
          <a:prstGeom prst="rect">
            <a:avLst/>
          </a:prstGeom>
          <a:noFill/>
          <a:ln/>
        </p:spPr>
        <p:txBody>
          <a:bodyPr wrap="square" lIns="0" tIns="0" rIns="0" bIns="0" rtlCol="0" anchor="t"/>
          <a:lstStyle/>
          <a:p>
            <a:pPr indent="0" marL="0">
              <a:buNone/>
            </a:pPr>
            <a:r>
              <a:rPr lang="en-US" sz="1300" dirty="0">
                <a:solidFill>
                  <a:schemeClr val="tx1"/>
                </a:solidFill>
              </a:rPr>
              <a:t>diagnostic features + Outcome</a:t>
            </a:r>
            <a:endParaRPr lang="en-US" sz="1300" dirty="0"/>
          </a:p>
        </p:txBody>
      </p:sp>
      <p:sp>
        <p:nvSpPr>
          <p:cNvPr id="9" name="stat diabetic (268 of 768)"/>
          <p:cNvSpPr/>
          <p:nvPr/>
        </p:nvSpPr>
        <p:spPr>
          <a:xfrm>
            <a:off x="6172200" y="1325880"/>
            <a:ext cx="26060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Text 8"/>
          <p:cNvSpPr txBox="1"/>
          <p:nvPr/>
        </p:nvSpPr>
        <p:spPr>
          <a:xfrm>
            <a:off x="6355080" y="1417320"/>
            <a:ext cx="224028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34.9 %</a:t>
            </a:r>
            <a:endParaRPr lang="en-US" sz="3600" dirty="0"/>
          </a:p>
        </p:txBody>
      </p:sp>
      <p:sp>
        <p:nvSpPr>
          <p:cNvPr id="11" name="Text 9"/>
          <p:cNvSpPr txBox="1"/>
          <p:nvPr/>
        </p:nvSpPr>
        <p:spPr>
          <a:xfrm>
            <a:off x="6355080" y="2103120"/>
            <a:ext cx="2286000" cy="457200"/>
          </a:xfrm>
          <a:prstGeom prst="rect">
            <a:avLst/>
          </a:prstGeom>
          <a:noFill/>
          <a:ln/>
        </p:spPr>
        <p:txBody>
          <a:bodyPr wrap="square" lIns="0" tIns="0" rIns="0" bIns="0" rtlCol="0" anchor="t"/>
          <a:lstStyle/>
          <a:p>
            <a:pPr indent="0" marL="0">
              <a:buNone/>
            </a:pPr>
            <a:r>
              <a:rPr lang="en-US" sz="1300" dirty="0">
                <a:solidFill>
                  <a:schemeClr val="tx1"/>
                </a:solidFill>
              </a:rPr>
              <a:t>diabetic (268 of 768)</a:t>
            </a:r>
            <a:endParaRPr lang="en-US" sz="1300" dirty="0"/>
          </a:p>
        </p:txBody>
      </p:sp>
      <p:sp>
        <p:nvSpPr>
          <p:cNvPr id="12" name="stat of Insulin values missing (zeros)"/>
          <p:cNvSpPr/>
          <p:nvPr/>
        </p:nvSpPr>
        <p:spPr>
          <a:xfrm>
            <a:off x="8983980" y="1325880"/>
            <a:ext cx="26060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3" name="Text 11"/>
          <p:cNvSpPr txBox="1"/>
          <p:nvPr/>
        </p:nvSpPr>
        <p:spPr>
          <a:xfrm>
            <a:off x="9166860" y="1417320"/>
            <a:ext cx="224028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48.7 %</a:t>
            </a:r>
            <a:endParaRPr lang="en-US" sz="3600" dirty="0"/>
          </a:p>
        </p:txBody>
      </p:sp>
      <p:sp>
        <p:nvSpPr>
          <p:cNvPr id="14" name="Text 12"/>
          <p:cNvSpPr txBox="1"/>
          <p:nvPr/>
        </p:nvSpPr>
        <p:spPr>
          <a:xfrm>
            <a:off x="9166860" y="2103120"/>
            <a:ext cx="2286000" cy="457200"/>
          </a:xfrm>
          <a:prstGeom prst="rect">
            <a:avLst/>
          </a:prstGeom>
          <a:noFill/>
          <a:ln/>
        </p:spPr>
        <p:txBody>
          <a:bodyPr wrap="square" lIns="0" tIns="0" rIns="0" bIns="0" rtlCol="0" anchor="t"/>
          <a:lstStyle/>
          <a:p>
            <a:pPr indent="0" marL="0">
              <a:buNone/>
            </a:pPr>
            <a:r>
              <a:rPr lang="en-US" sz="1300" dirty="0">
                <a:solidFill>
                  <a:schemeClr val="tx1"/>
                </a:solidFill>
              </a:rPr>
              <a:t>of Insulin values missing (zeros)</a:t>
            </a:r>
            <a:endParaRPr lang="en-US" sz="1300" dirty="0"/>
          </a:p>
        </p:txBody>
      </p:sp>
      <p:graphicFrame>
        <p:nvGraphicFramePr>
          <p:cNvPr id="15" name="Chart 0" descr=""/>
          <p:cNvGraphicFramePr/>
          <p:nvPr/>
        </p:nvGraphicFramePr>
        <p:xfrm>
          <a:off x="548640" y="2880360"/>
          <a:ext cx="42062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Chart 1" descr=""/>
          <p:cNvGraphicFramePr/>
          <p:nvPr/>
        </p:nvGraphicFramePr>
        <p:xfrm>
          <a:off x="5029200" y="2880360"/>
          <a:ext cx="6611112" cy="3291840"/>
        </p:xfrm>
        <a:graphic xmlns:a="http://schemas.openxmlformats.org/drawingml/2006/main">
          <a:graphicData uri="http://schemas.openxmlformats.org/drawingml/2006/chart">
            <c:chart xmlns:c="http://schemas.openxmlformats.org/drawingml/2006/chart" r:id="rId2"/>
          </a:graphicData>
        </a:graphic>
      </p:graphicFrame>
      <p:sp>
        <p:nvSpPr>
          <p:cNvPr id="17" name="Button: Next ›">
            <a:hlinkClick r:id="rId3"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18" name="Button: Agenda">
            <a:hlinkClick r:id="rId4"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19" name="Button: ‹ Prev">
            <a:hlinkClick r:id="rId5"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KDD / Predictive Analytics Workflow</a:t>
            </a:r>
            <a:endParaRPr lang="en-US" sz="3200" dirty="0"/>
          </a:p>
        </p:txBody>
      </p:sp>
      <p:pic>
        <p:nvPicPr>
          <p:cNvPr id="3" name="KDD workflow figure" descr="KDD workflow: ten stages from problem definition to knowledge">    </p:cNvPr>
          <p:cNvPicPr>
            <a:picLocks noChangeAspect="1"/>
          </p:cNvPicPr>
          <p:nvPr/>
        </p:nvPicPr>
        <p:blipFill>
          <a:blip r:embed="rId1"/>
          <a:stretch>
            <a:fillRect/>
          </a:stretch>
        </p:blipFill>
        <p:spPr>
          <a:xfrm>
            <a:off x="685800" y="1234440"/>
            <a:ext cx="10789920" cy="4505186"/>
          </a:xfrm>
          <a:prstGeom prst="rect">
            <a:avLst/>
          </a:prstGeom>
        </p:spPr>
      </p:pic>
      <p:sp>
        <p:nvSpPr>
          <p:cNvPr id="4" name="Button: Next ›">
            <a:hlinkClick r:id="rId2"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5" name="Button: Agenda">
            <a:hlinkClick r:id="rId3"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6" name="Button: ‹ Prev">
            <a:hlinkClick r:id="rId4"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Data Understanding &amp; EDA</a:t>
            </a:r>
            <a:endParaRPr lang="en-US" sz="3200" dirty="0"/>
          </a:p>
        </p:txBody>
      </p:sp>
      <p:pic>
        <p:nvPicPr>
          <p:cNvPr id="3" name="glucose figure" descr="Glucose distribution by outcome">    </p:cNvPr>
          <p:cNvPicPr>
            <a:picLocks noChangeAspect="1"/>
          </p:cNvPicPr>
          <p:nvPr/>
        </p:nvPicPr>
        <p:blipFill>
          <a:blip r:embed="rId1"/>
          <a:stretch>
            <a:fillRect/>
          </a:stretch>
        </p:blipFill>
        <p:spPr>
          <a:xfrm>
            <a:off x="548640" y="1280160"/>
            <a:ext cx="6400800" cy="4074348"/>
          </a:xfrm>
          <a:prstGeom prst="rect">
            <a:avLst/>
          </a:prstGeom>
        </p:spPr>
      </p:pic>
      <p:sp>
        <p:nvSpPr>
          <p:cNvPr id="4" name="insight icon 0"/>
          <p:cNvSpPr/>
          <p:nvPr/>
        </p:nvSpPr>
        <p:spPr>
          <a:xfrm>
            <a:off x="7269480" y="1389888"/>
            <a:ext cx="566928" cy="566928"/>
          </a:xfrm>
          <a:prstGeom prst="ellipse">
            <a:avLst/>
          </a:prstGeom>
          <a:solidFill>
            <a:schemeClr val="accent2"/>
          </a:solidFill>
          <a:ln w="12700">
            <a:solidFill>
              <a:schemeClr val="accent2"/>
            </a:solidFill>
            <a:prstDash val="solid"/>
          </a:ln>
        </p:spPr>
      </p:sp>
      <p:pic>
        <p:nvPicPr>
          <p:cNvPr id="5" name="insight icon 0 glyph" descr="icon">    </p:cNvPr>
          <p:cNvPicPr>
            <a:picLocks noChangeAspect="1"/>
          </p:cNvPicPr>
          <p:nvPr/>
        </p:nvPicPr>
        <p:blipFill>
          <a:blip r:embed="rId2"/>
          <a:stretch>
            <a:fillRect/>
          </a:stretch>
        </p:blipFill>
        <p:spPr>
          <a:xfrm>
            <a:off x="7405543" y="1525951"/>
            <a:ext cx="294803" cy="294803"/>
          </a:xfrm>
          <a:prstGeom prst="rect">
            <a:avLst/>
          </a:prstGeom>
        </p:spPr>
      </p:pic>
      <p:sp>
        <p:nvSpPr>
          <p:cNvPr id="6" name="Text 2"/>
          <p:cNvSpPr txBox="1"/>
          <p:nvPr/>
        </p:nvSpPr>
        <p:spPr>
          <a:xfrm>
            <a:off x="8001000" y="1325880"/>
            <a:ext cx="3657600" cy="777240"/>
          </a:xfrm>
          <a:prstGeom prst="rect">
            <a:avLst/>
          </a:prstGeom>
          <a:noFill/>
          <a:ln/>
        </p:spPr>
        <p:txBody>
          <a:bodyPr wrap="square" lIns="0" tIns="0" rIns="0" bIns="0" rtlCol="0" anchor="ctr"/>
          <a:lstStyle/>
          <a:p>
            <a:pPr indent="0" marL="0">
              <a:buNone/>
            </a:pPr>
            <a:r>
              <a:rPr lang="en-US" sz="1500" b="1" dirty="0">
                <a:solidFill>
                  <a:schemeClr val="tx2"/>
                </a:solidFill>
              </a:rPr>
              <a:t>Glucose separates best</a:t>
            </a:r>
            <a:endParaRPr lang="en-US" sz="1500" dirty="0"/>
          </a:p>
          <a:p>
            <a:pPr indent="0" marL="0">
              <a:buNone/>
            </a:pPr>
            <a:r>
              <a:rPr lang="en-US" sz="1400" dirty="0">
                <a:solidFill>
                  <a:schemeClr val="tx1"/>
                </a:solidFill>
              </a:rPr>
              <a:t>Median 140 vs 107 mg/dL, r = 0.49</a:t>
            </a:r>
            <a:endParaRPr lang="en-US" sz="1500" dirty="0"/>
          </a:p>
        </p:txBody>
      </p:sp>
      <p:sp>
        <p:nvSpPr>
          <p:cNvPr id="7" name="insight icon 1"/>
          <p:cNvSpPr/>
          <p:nvPr/>
        </p:nvSpPr>
        <p:spPr>
          <a:xfrm>
            <a:off x="7269480" y="2350008"/>
            <a:ext cx="566928" cy="566928"/>
          </a:xfrm>
          <a:prstGeom prst="ellipse">
            <a:avLst/>
          </a:prstGeom>
          <a:solidFill>
            <a:schemeClr val="accent1"/>
          </a:solidFill>
          <a:ln w="12700">
            <a:solidFill>
              <a:schemeClr val="accent1"/>
            </a:solidFill>
            <a:prstDash val="solid"/>
          </a:ln>
        </p:spPr>
      </p:sp>
      <p:pic>
        <p:nvPicPr>
          <p:cNvPr id="8" name="insight icon 1 glyph" descr="icon">    </p:cNvPr>
          <p:cNvPicPr>
            <a:picLocks noChangeAspect="1"/>
          </p:cNvPicPr>
          <p:nvPr/>
        </p:nvPicPr>
        <p:blipFill>
          <a:blip r:embed="rId3"/>
          <a:stretch>
            <a:fillRect/>
          </a:stretch>
        </p:blipFill>
        <p:spPr>
          <a:xfrm>
            <a:off x="7405543" y="2486071"/>
            <a:ext cx="294803" cy="294803"/>
          </a:xfrm>
          <a:prstGeom prst="rect">
            <a:avLst/>
          </a:prstGeom>
        </p:spPr>
      </p:pic>
      <p:sp>
        <p:nvSpPr>
          <p:cNvPr id="9" name="Text 4"/>
          <p:cNvSpPr txBox="1"/>
          <p:nvPr/>
        </p:nvSpPr>
        <p:spPr>
          <a:xfrm>
            <a:off x="8001000" y="2286000"/>
            <a:ext cx="3657600" cy="777240"/>
          </a:xfrm>
          <a:prstGeom prst="rect">
            <a:avLst/>
          </a:prstGeom>
          <a:noFill/>
          <a:ln/>
        </p:spPr>
        <p:txBody>
          <a:bodyPr wrap="square" lIns="0" tIns="0" rIns="0" bIns="0" rtlCol="0" anchor="ctr"/>
          <a:lstStyle/>
          <a:p>
            <a:pPr indent="0" marL="0">
              <a:buNone/>
            </a:pPr>
            <a:r>
              <a:rPr lang="en-US" sz="1500" b="1" dirty="0">
                <a:solidFill>
                  <a:schemeClr val="tx2"/>
                </a:solidFill>
              </a:rPr>
              <a:t>BMI is higher</a:t>
            </a:r>
            <a:endParaRPr lang="en-US" sz="1500" dirty="0"/>
          </a:p>
          <a:p>
            <a:pPr indent="0" marL="0">
              <a:buNone/>
            </a:pPr>
            <a:r>
              <a:rPr lang="en-US" sz="1400" dirty="0">
                <a:solidFill>
                  <a:schemeClr val="tx1"/>
                </a:solidFill>
              </a:rPr>
              <a:t>Median 34.3 vs 30.1 kg/m², r = 0.31</a:t>
            </a:r>
            <a:endParaRPr lang="en-US" sz="1500" dirty="0"/>
          </a:p>
        </p:txBody>
      </p:sp>
      <p:sp>
        <p:nvSpPr>
          <p:cNvPr id="10" name="insight icon 2"/>
          <p:cNvSpPr/>
          <p:nvPr/>
        </p:nvSpPr>
        <p:spPr>
          <a:xfrm>
            <a:off x="7269480" y="3310128"/>
            <a:ext cx="566928" cy="566928"/>
          </a:xfrm>
          <a:prstGeom prst="ellipse">
            <a:avLst/>
          </a:prstGeom>
          <a:solidFill>
            <a:schemeClr val="accent1"/>
          </a:solidFill>
          <a:ln w="12700">
            <a:solidFill>
              <a:schemeClr val="accent1"/>
            </a:solidFill>
            <a:prstDash val="solid"/>
          </a:ln>
        </p:spPr>
      </p:sp>
      <p:pic>
        <p:nvPicPr>
          <p:cNvPr id="11" name="insight icon 2 glyph" descr="icon">    </p:cNvPr>
          <p:cNvPicPr>
            <a:picLocks noChangeAspect="1"/>
          </p:cNvPicPr>
          <p:nvPr/>
        </p:nvPicPr>
        <p:blipFill>
          <a:blip r:embed="rId4"/>
          <a:stretch>
            <a:fillRect/>
          </a:stretch>
        </p:blipFill>
        <p:spPr>
          <a:xfrm>
            <a:off x="7405543" y="3446191"/>
            <a:ext cx="294803" cy="294803"/>
          </a:xfrm>
          <a:prstGeom prst="rect">
            <a:avLst/>
          </a:prstGeom>
        </p:spPr>
      </p:pic>
      <p:sp>
        <p:nvSpPr>
          <p:cNvPr id="12" name="Text 6"/>
          <p:cNvSpPr txBox="1"/>
          <p:nvPr/>
        </p:nvSpPr>
        <p:spPr>
          <a:xfrm>
            <a:off x="8001000" y="3246120"/>
            <a:ext cx="3657600" cy="777240"/>
          </a:xfrm>
          <a:prstGeom prst="rect">
            <a:avLst/>
          </a:prstGeom>
          <a:noFill/>
          <a:ln/>
        </p:spPr>
        <p:txBody>
          <a:bodyPr wrap="square" lIns="0" tIns="0" rIns="0" bIns="0" rtlCol="0" anchor="ctr"/>
          <a:lstStyle/>
          <a:p>
            <a:pPr indent="0" marL="0">
              <a:buNone/>
            </a:pPr>
            <a:r>
              <a:rPr lang="en-US" sz="1500" b="1" dirty="0">
                <a:solidFill>
                  <a:schemeClr val="tx2"/>
                </a:solidFill>
              </a:rPr>
              <a:t>Diabetic patients are older</a:t>
            </a:r>
            <a:endParaRPr lang="en-US" sz="1500" dirty="0"/>
          </a:p>
          <a:p>
            <a:pPr indent="0" marL="0">
              <a:buNone/>
            </a:pPr>
            <a:r>
              <a:rPr lang="en-US" sz="1400" dirty="0">
                <a:solidFill>
                  <a:schemeClr val="tx1"/>
                </a:solidFill>
              </a:rPr>
              <a:t>Median age 36 vs 27 years</a:t>
            </a:r>
            <a:endParaRPr lang="en-US" sz="1500" dirty="0"/>
          </a:p>
        </p:txBody>
      </p:sp>
      <p:sp>
        <p:nvSpPr>
          <p:cNvPr id="13" name="insight icon 3"/>
          <p:cNvSpPr/>
          <p:nvPr/>
        </p:nvSpPr>
        <p:spPr>
          <a:xfrm>
            <a:off x="7269480" y="4270248"/>
            <a:ext cx="566928" cy="566928"/>
          </a:xfrm>
          <a:prstGeom prst="ellipse">
            <a:avLst/>
          </a:prstGeom>
          <a:solidFill>
            <a:schemeClr val="accent1"/>
          </a:solidFill>
          <a:ln w="12700">
            <a:solidFill>
              <a:schemeClr val="accent1"/>
            </a:solidFill>
            <a:prstDash val="solid"/>
          </a:ln>
        </p:spPr>
      </p:sp>
      <p:pic>
        <p:nvPicPr>
          <p:cNvPr id="14" name="insight icon 3 glyph" descr="icon">    </p:cNvPr>
          <p:cNvPicPr>
            <a:picLocks noChangeAspect="1"/>
          </p:cNvPicPr>
          <p:nvPr/>
        </p:nvPicPr>
        <p:blipFill>
          <a:blip r:embed="rId5"/>
          <a:stretch>
            <a:fillRect/>
          </a:stretch>
        </p:blipFill>
        <p:spPr>
          <a:xfrm>
            <a:off x="7405543" y="4406311"/>
            <a:ext cx="294803" cy="294803"/>
          </a:xfrm>
          <a:prstGeom prst="rect">
            <a:avLst/>
          </a:prstGeom>
        </p:spPr>
      </p:pic>
      <p:sp>
        <p:nvSpPr>
          <p:cNvPr id="15" name="Text 8"/>
          <p:cNvSpPr txBox="1"/>
          <p:nvPr/>
        </p:nvSpPr>
        <p:spPr>
          <a:xfrm>
            <a:off x="8001000" y="4206240"/>
            <a:ext cx="3657600" cy="777240"/>
          </a:xfrm>
          <a:prstGeom prst="rect">
            <a:avLst/>
          </a:prstGeom>
          <a:noFill/>
          <a:ln/>
        </p:spPr>
        <p:txBody>
          <a:bodyPr wrap="square" lIns="0" tIns="0" rIns="0" bIns="0" rtlCol="0" anchor="ctr"/>
          <a:lstStyle/>
          <a:p>
            <a:pPr indent="0" marL="0">
              <a:buNone/>
            </a:pPr>
            <a:r>
              <a:rPr lang="en-US" sz="1500" b="1" dirty="0">
                <a:solidFill>
                  <a:schemeClr val="tx2"/>
                </a:solidFill>
              </a:rPr>
              <a:t>Moderate correlations</a:t>
            </a:r>
            <a:endParaRPr lang="en-US" sz="1500" dirty="0"/>
          </a:p>
          <a:p>
            <a:pPr indent="0" marL="0">
              <a:buNone/>
            </a:pPr>
            <a:r>
              <a:rPr lang="en-US" sz="1400" dirty="0">
                <a:solidFill>
                  <a:schemeClr val="tx1"/>
                </a:solidFill>
              </a:rPr>
              <a:t>SkinThickness–BMI 0.65, Glucose–Insulin 0.58</a:t>
            </a:r>
            <a:endParaRPr lang="en-US" sz="1500" dirty="0"/>
          </a:p>
        </p:txBody>
      </p:sp>
      <p:sp>
        <p:nvSpPr>
          <p:cNvPr id="16" name="Button: Open correlation heatmap  ›">
            <a:hlinkClick r:id="rId6" tooltip="Drill down: correlation heatmap" action="ppaction://hlinksldjump"/>
          </p:cNvPr>
          <p:cNvSpPr/>
          <p:nvPr/>
        </p:nvSpPr>
        <p:spPr>
          <a:xfrm>
            <a:off x="7269480" y="5257800"/>
            <a:ext cx="4370832" cy="438912"/>
          </a:xfrm>
          <a:prstGeom prst="roundRect">
            <a:avLst>
              <a:gd name="adj" fmla="val 20833"/>
            </a:avLst>
          </a:prstGeom>
          <a:solidFill>
            <a:schemeClr val="accent2"/>
          </a:solidFill>
          <a:ln>
            <a:solidFill>
              <a:schemeClr val="accent2"/>
            </a:solidFill>
          </a:ln>
        </p:spPr>
        <p:txBody>
          <a:bodyPr wrap="square" lIns="0" tIns="0" rIns="0" bIns="0" rtlCol="0" anchor="ctr"/>
          <a:lstStyle/>
          <a:p>
            <a:pPr algn="ctr" indent="0" marL="0">
              <a:buNone/>
            </a:pPr>
            <a:r>
              <a:rPr lang="en-US" sz="1400" b="1" dirty="0">
                <a:solidFill>
                  <a:schemeClr val="bg1"/>
                </a:solidFill>
              </a:rPr>
              <a:t>Open correlation heatmap  ›</a:t>
            </a:r>
            <a:endParaRPr lang="en-US" sz="1400" dirty="0"/>
          </a:p>
        </p:txBody>
      </p:sp>
      <p:sp>
        <p:nvSpPr>
          <p:cNvPr id="17" name="Text 10"/>
          <p:cNvSpPr txBox="1"/>
          <p:nvPr/>
        </p:nvSpPr>
        <p:spPr>
          <a:xfrm>
            <a:off x="548640" y="5760720"/>
            <a:ext cx="6400800" cy="320040"/>
          </a:xfrm>
          <a:prstGeom prst="rect">
            <a:avLst/>
          </a:prstGeom>
          <a:noFill/>
          <a:ln/>
        </p:spPr>
        <p:txBody>
          <a:bodyPr wrap="square" lIns="0" tIns="0" rIns="0" bIns="0" rtlCol="0" anchor="t"/>
          <a:lstStyle/>
          <a:p>
            <a:pPr indent="0" marL="0">
              <a:buNone/>
            </a:pPr>
            <a:r>
              <a:rPr lang="en-US" sz="1200" i="1" dirty="0">
                <a:solidFill>
                  <a:schemeClr val="accent5"/>
                </a:solidFill>
              </a:rPr>
              <a:t>Associations in this sample, not causal effects</a:t>
            </a:r>
            <a:endParaRPr lang="en-US" sz="1200" dirty="0"/>
          </a:p>
        </p:txBody>
      </p:sp>
      <p:sp>
        <p:nvSpPr>
          <p:cNvPr id="18" name="Button: Next ›">
            <a:hlinkClick r:id="rId7"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19" name="Button: Agenda">
            <a:hlinkClick r:id="rId8"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20" name="Button: ‹ Prev">
            <a:hlinkClick r:id="rId9"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Preprocessing &amp; SMOTE: a Leak-Free Pipeline</a:t>
            </a:r>
            <a:endParaRPr lang="en-US" sz="3200" dirty="0"/>
          </a:p>
        </p:txBody>
      </p:sp>
      <p:sp>
        <p:nvSpPr>
          <p:cNvPr id="3" name="step Zeros → NaN"/>
          <p:cNvSpPr/>
          <p:nvPr/>
        </p:nvSpPr>
        <p:spPr>
          <a:xfrm>
            <a:off x="548640" y="1325880"/>
            <a:ext cx="1600200" cy="777240"/>
          </a:xfrm>
          <a:prstGeom prst="roundRect">
            <a:avLst>
              <a:gd name="adj" fmla="val 9412"/>
            </a:avLst>
          </a:prstGeom>
          <a:solidFill>
            <a:schemeClr val="accent5"/>
          </a:solidFill>
          <a:ln>
            <a:solidFill>
              <a:schemeClr val="accent5"/>
            </a:solidFill>
          </a:ln>
        </p:spPr>
        <p:txBody>
          <a:bodyPr wrap="square" lIns="50800" tIns="50800" rIns="50800" bIns="50800" rtlCol="0" anchor="ctr"/>
          <a:lstStyle/>
          <a:p>
            <a:pPr algn="ctr" indent="0" marL="0">
              <a:buNone/>
            </a:pPr>
            <a:r>
              <a:rPr lang="en-US" sz="1400" b="1" dirty="0">
                <a:solidFill>
                  <a:schemeClr val="bg1"/>
                </a:solidFill>
              </a:rPr>
              <a:t>Zeros → NaN</a:t>
            </a:r>
            <a:endParaRPr lang="en-US" sz="1400" dirty="0"/>
          </a:p>
        </p:txBody>
      </p:sp>
      <p:sp>
        <p:nvSpPr>
          <p:cNvPr id="4" name="step arrow 0"/>
          <p:cNvSpPr/>
          <p:nvPr/>
        </p:nvSpPr>
        <p:spPr>
          <a:xfrm>
            <a:off x="2176272" y="1572768"/>
            <a:ext cx="219456" cy="274320"/>
          </a:xfrm>
          <a:prstGeom prst="rightArrow">
            <a:avLst/>
          </a:prstGeom>
          <a:solidFill>
            <a:schemeClr val="accent5"/>
          </a:solidFill>
          <a:ln w="12700">
            <a:solidFill>
              <a:schemeClr val="accent5"/>
            </a:solidFill>
            <a:prstDash val="solid"/>
          </a:ln>
        </p:spPr>
      </p:sp>
      <p:sp>
        <p:nvSpPr>
          <p:cNvPr id="5" name="step Stratified 80/20 split"/>
          <p:cNvSpPr/>
          <p:nvPr/>
        </p:nvSpPr>
        <p:spPr>
          <a:xfrm>
            <a:off x="2423160" y="1325880"/>
            <a:ext cx="1600200" cy="777240"/>
          </a:xfrm>
          <a:prstGeom prst="roundRect">
            <a:avLst>
              <a:gd name="adj" fmla="val 9412"/>
            </a:avLst>
          </a:prstGeom>
          <a:solidFill>
            <a:schemeClr val="tx2"/>
          </a:solidFill>
          <a:ln>
            <a:solidFill>
              <a:schemeClr val="tx2"/>
            </a:solidFill>
          </a:ln>
        </p:spPr>
        <p:txBody>
          <a:bodyPr wrap="square" lIns="50800" tIns="50800" rIns="50800" bIns="50800" rtlCol="0" anchor="ctr"/>
          <a:lstStyle/>
          <a:p>
            <a:pPr algn="ctr" indent="0" marL="0">
              <a:buNone/>
            </a:pPr>
            <a:r>
              <a:rPr lang="en-US" sz="1400" b="1" dirty="0">
                <a:solidFill>
                  <a:schemeClr val="bg1"/>
                </a:solidFill>
              </a:rPr>
              <a:t>Stratified 80/20 split</a:t>
            </a:r>
            <a:endParaRPr lang="en-US" sz="1400" dirty="0"/>
          </a:p>
        </p:txBody>
      </p:sp>
      <p:sp>
        <p:nvSpPr>
          <p:cNvPr id="6" name="step arrow 1"/>
          <p:cNvSpPr/>
          <p:nvPr/>
        </p:nvSpPr>
        <p:spPr>
          <a:xfrm>
            <a:off x="4050792" y="1572768"/>
            <a:ext cx="219456" cy="274320"/>
          </a:xfrm>
          <a:prstGeom prst="rightArrow">
            <a:avLst/>
          </a:prstGeom>
          <a:solidFill>
            <a:schemeClr val="accent5"/>
          </a:solidFill>
          <a:ln w="12700">
            <a:solidFill>
              <a:schemeClr val="accent5"/>
            </a:solidFill>
            <a:prstDash val="solid"/>
          </a:ln>
        </p:spPr>
      </p:sp>
      <p:sp>
        <p:nvSpPr>
          <p:cNvPr id="7" name="step Median imputation"/>
          <p:cNvSpPr/>
          <p:nvPr/>
        </p:nvSpPr>
        <p:spPr>
          <a:xfrm>
            <a:off x="4297680" y="1325880"/>
            <a:ext cx="1600200" cy="777240"/>
          </a:xfrm>
          <a:prstGeom prst="roundRect">
            <a:avLst>
              <a:gd name="adj" fmla="val 9412"/>
            </a:avLst>
          </a:prstGeom>
          <a:solidFill>
            <a:schemeClr val="accent1"/>
          </a:solidFill>
          <a:ln>
            <a:solidFill>
              <a:schemeClr val="accent1"/>
            </a:solidFill>
          </a:ln>
        </p:spPr>
        <p:txBody>
          <a:bodyPr wrap="square" lIns="50800" tIns="50800" rIns="50800" bIns="50800" rtlCol="0" anchor="ctr"/>
          <a:lstStyle/>
          <a:p>
            <a:pPr algn="ctr" indent="0" marL="0">
              <a:buNone/>
            </a:pPr>
            <a:r>
              <a:rPr lang="en-US" sz="1400" b="1" dirty="0">
                <a:solidFill>
                  <a:schemeClr val="bg1"/>
                </a:solidFill>
              </a:rPr>
              <a:t>Median imputation</a:t>
            </a:r>
            <a:endParaRPr lang="en-US" sz="1400" dirty="0"/>
          </a:p>
        </p:txBody>
      </p:sp>
      <p:sp>
        <p:nvSpPr>
          <p:cNvPr id="8" name="step arrow 2"/>
          <p:cNvSpPr/>
          <p:nvPr/>
        </p:nvSpPr>
        <p:spPr>
          <a:xfrm>
            <a:off x="5925312" y="1572768"/>
            <a:ext cx="219456" cy="274320"/>
          </a:xfrm>
          <a:prstGeom prst="rightArrow">
            <a:avLst/>
          </a:prstGeom>
          <a:solidFill>
            <a:schemeClr val="accent5"/>
          </a:solidFill>
          <a:ln w="12700">
            <a:solidFill>
              <a:schemeClr val="accent5"/>
            </a:solidFill>
            <a:prstDash val="solid"/>
          </a:ln>
        </p:spPr>
      </p:sp>
      <p:sp>
        <p:nvSpPr>
          <p:cNvPr id="9" name="step Standard scaling"/>
          <p:cNvSpPr/>
          <p:nvPr/>
        </p:nvSpPr>
        <p:spPr>
          <a:xfrm>
            <a:off x="6172200" y="1325880"/>
            <a:ext cx="1600200" cy="777240"/>
          </a:xfrm>
          <a:prstGeom prst="roundRect">
            <a:avLst>
              <a:gd name="adj" fmla="val 9412"/>
            </a:avLst>
          </a:prstGeom>
          <a:solidFill>
            <a:schemeClr val="accent1"/>
          </a:solidFill>
          <a:ln>
            <a:solidFill>
              <a:schemeClr val="accent1"/>
            </a:solidFill>
          </a:ln>
        </p:spPr>
        <p:txBody>
          <a:bodyPr wrap="square" lIns="50800" tIns="50800" rIns="50800" bIns="50800" rtlCol="0" anchor="ctr"/>
          <a:lstStyle/>
          <a:p>
            <a:pPr algn="ctr" indent="0" marL="0">
              <a:buNone/>
            </a:pPr>
            <a:r>
              <a:rPr lang="en-US" sz="1400" b="1" dirty="0">
                <a:solidFill>
                  <a:schemeClr val="bg1"/>
                </a:solidFill>
              </a:rPr>
              <a:t>Standard scaling</a:t>
            </a:r>
            <a:endParaRPr lang="en-US" sz="1400" dirty="0"/>
          </a:p>
        </p:txBody>
      </p:sp>
      <p:sp>
        <p:nvSpPr>
          <p:cNvPr id="10" name="step arrow 3"/>
          <p:cNvSpPr/>
          <p:nvPr/>
        </p:nvSpPr>
        <p:spPr>
          <a:xfrm>
            <a:off x="7799832" y="1572768"/>
            <a:ext cx="219456" cy="274320"/>
          </a:xfrm>
          <a:prstGeom prst="rightArrow">
            <a:avLst/>
          </a:prstGeom>
          <a:solidFill>
            <a:schemeClr val="accent5"/>
          </a:solidFill>
          <a:ln w="12700">
            <a:solidFill>
              <a:schemeClr val="accent5"/>
            </a:solidFill>
            <a:prstDash val="solid"/>
          </a:ln>
        </p:spPr>
      </p:sp>
      <p:sp>
        <p:nvSpPr>
          <p:cNvPr id="11" name="step SMOTE (train only)"/>
          <p:cNvSpPr/>
          <p:nvPr/>
        </p:nvSpPr>
        <p:spPr>
          <a:xfrm>
            <a:off x="8046720" y="1325880"/>
            <a:ext cx="1600200" cy="777240"/>
          </a:xfrm>
          <a:prstGeom prst="roundRect">
            <a:avLst>
              <a:gd name="adj" fmla="val 9412"/>
            </a:avLst>
          </a:prstGeom>
          <a:solidFill>
            <a:schemeClr val="accent2"/>
          </a:solidFill>
          <a:ln>
            <a:solidFill>
              <a:schemeClr val="accent2"/>
            </a:solidFill>
          </a:ln>
        </p:spPr>
        <p:txBody>
          <a:bodyPr wrap="square" lIns="50800" tIns="50800" rIns="50800" bIns="50800" rtlCol="0" anchor="ctr"/>
          <a:lstStyle/>
          <a:p>
            <a:pPr algn="ctr" indent="0" marL="0">
              <a:buNone/>
            </a:pPr>
            <a:r>
              <a:rPr lang="en-US" sz="1400" b="1" dirty="0">
                <a:solidFill>
                  <a:schemeClr val="bg1"/>
                </a:solidFill>
              </a:rPr>
              <a:t>SMOTE (train only)</a:t>
            </a:r>
            <a:endParaRPr lang="en-US" sz="1400" dirty="0"/>
          </a:p>
        </p:txBody>
      </p:sp>
      <p:sp>
        <p:nvSpPr>
          <p:cNvPr id="12" name="step arrow 4"/>
          <p:cNvSpPr/>
          <p:nvPr/>
        </p:nvSpPr>
        <p:spPr>
          <a:xfrm>
            <a:off x="9674352" y="1572768"/>
            <a:ext cx="219456" cy="274320"/>
          </a:xfrm>
          <a:prstGeom prst="rightArrow">
            <a:avLst/>
          </a:prstGeom>
          <a:solidFill>
            <a:schemeClr val="accent5"/>
          </a:solidFill>
          <a:ln w="12700">
            <a:solidFill>
              <a:schemeClr val="accent5"/>
            </a:solidFill>
            <a:prstDash val="solid"/>
          </a:ln>
        </p:spPr>
      </p:sp>
      <p:sp>
        <p:nvSpPr>
          <p:cNvPr id="13" name="step Classifier"/>
          <p:cNvSpPr/>
          <p:nvPr/>
        </p:nvSpPr>
        <p:spPr>
          <a:xfrm>
            <a:off x="9921240" y="1325880"/>
            <a:ext cx="1600200" cy="777240"/>
          </a:xfrm>
          <a:prstGeom prst="roundRect">
            <a:avLst>
              <a:gd name="adj" fmla="val 9412"/>
            </a:avLst>
          </a:prstGeom>
          <a:solidFill>
            <a:schemeClr val="accent4"/>
          </a:solidFill>
          <a:ln>
            <a:solidFill>
              <a:schemeClr val="accent4"/>
            </a:solidFill>
          </a:ln>
        </p:spPr>
        <p:txBody>
          <a:bodyPr wrap="square" lIns="50800" tIns="50800" rIns="50800" bIns="50800" rtlCol="0" anchor="ctr"/>
          <a:lstStyle/>
          <a:p>
            <a:pPr algn="ctr" indent="0" marL="0">
              <a:buNone/>
            </a:pPr>
            <a:r>
              <a:rPr lang="en-US" sz="1400" b="1" dirty="0">
                <a:solidFill>
                  <a:schemeClr val="bg1"/>
                </a:solidFill>
              </a:rPr>
              <a:t>Classifier</a:t>
            </a:r>
            <a:endParaRPr lang="en-US" sz="1400" dirty="0"/>
          </a:p>
        </p:txBody>
      </p:sp>
      <p:sp>
        <p:nvSpPr>
          <p:cNvPr id="14" name="Text 12"/>
          <p:cNvSpPr txBox="1"/>
          <p:nvPr/>
        </p:nvSpPr>
        <p:spPr>
          <a:xfrm>
            <a:off x="548640" y="2212848"/>
            <a:ext cx="11064240" cy="320040"/>
          </a:xfrm>
          <a:prstGeom prst="rect">
            <a:avLst/>
          </a:prstGeom>
          <a:noFill/>
          <a:ln/>
        </p:spPr>
        <p:txBody>
          <a:bodyPr wrap="square" lIns="0" tIns="0" rIns="0" bIns="0" rtlCol="0" anchor="t"/>
          <a:lstStyle/>
          <a:p>
            <a:pPr indent="0" marL="0">
              <a:buNone/>
            </a:pPr>
            <a:r>
              <a:rPr lang="en-US" sz="1300" i="1" dirty="0">
                <a:solidFill>
                  <a:schemeClr val="accent5"/>
                </a:solidFill>
              </a:rPr>
              <a:t>Steps 3–5 are learned from the 614 training rows only, inside one imblearn pipeline (re-fitted in every CV fold)</a:t>
            </a:r>
            <a:endParaRPr lang="en-US" sz="1300" dirty="0"/>
          </a:p>
        </p:txBody>
      </p:sp>
      <p:graphicFrame>
        <p:nvGraphicFramePr>
          <p:cNvPr id="15" name="Chart 0" descr=""/>
          <p:cNvGraphicFramePr/>
          <p:nvPr/>
        </p:nvGraphicFramePr>
        <p:xfrm>
          <a:off x="548640" y="269748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16" name="prep card 0"/>
          <p:cNvSpPr/>
          <p:nvPr/>
        </p:nvSpPr>
        <p:spPr>
          <a:xfrm>
            <a:off x="6309360" y="2743200"/>
            <a:ext cx="5330952"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6492240" y="2852928"/>
            <a:ext cx="2194560" cy="7315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614 / 154</a:t>
            </a:r>
            <a:endParaRPr lang="en-US" sz="2400" dirty="0"/>
          </a:p>
        </p:txBody>
      </p:sp>
      <p:sp>
        <p:nvSpPr>
          <p:cNvPr id="18" name="Text 15"/>
          <p:cNvSpPr txBox="1"/>
          <p:nvPr/>
        </p:nvSpPr>
        <p:spPr>
          <a:xfrm>
            <a:off x="8732520" y="2852928"/>
            <a:ext cx="2788920" cy="731520"/>
          </a:xfrm>
          <a:prstGeom prst="rect">
            <a:avLst/>
          </a:prstGeom>
          <a:noFill/>
          <a:ln/>
        </p:spPr>
        <p:txBody>
          <a:bodyPr wrap="square" lIns="0" tIns="0" rIns="0" bIns="0" rtlCol="0" anchor="ctr"/>
          <a:lstStyle/>
          <a:p>
            <a:pPr indent="0" marL="0">
              <a:buNone/>
            </a:pPr>
            <a:r>
              <a:rPr lang="en-US" sz="1400" dirty="0">
                <a:solidFill>
                  <a:schemeClr val="tx1"/>
                </a:solidFill>
              </a:rPr>
              <a:t>train / test rows, both ~35 % diabetic</a:t>
            </a:r>
            <a:endParaRPr lang="en-US" sz="1400" dirty="0"/>
          </a:p>
        </p:txBody>
      </p:sp>
      <p:sp>
        <p:nvSpPr>
          <p:cNvPr id="19" name="prep card 1"/>
          <p:cNvSpPr/>
          <p:nvPr/>
        </p:nvSpPr>
        <p:spPr>
          <a:xfrm>
            <a:off x="6309360" y="3886200"/>
            <a:ext cx="5330952"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6492240" y="3995928"/>
            <a:ext cx="2194560" cy="7315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Never resampled</a:t>
            </a:r>
            <a:endParaRPr lang="en-US" sz="2400" dirty="0"/>
          </a:p>
        </p:txBody>
      </p:sp>
      <p:sp>
        <p:nvSpPr>
          <p:cNvPr id="21" name="Text 18"/>
          <p:cNvSpPr txBox="1"/>
          <p:nvPr/>
        </p:nvSpPr>
        <p:spPr>
          <a:xfrm>
            <a:off x="8732520" y="3995928"/>
            <a:ext cx="2788920" cy="731520"/>
          </a:xfrm>
          <a:prstGeom prst="rect">
            <a:avLst/>
          </a:prstGeom>
          <a:noFill/>
          <a:ln/>
        </p:spPr>
        <p:txBody>
          <a:bodyPr wrap="square" lIns="0" tIns="0" rIns="0" bIns="0" rtlCol="0" anchor="ctr"/>
          <a:lstStyle/>
          <a:p>
            <a:pPr indent="0" marL="0">
              <a:buNone/>
            </a:pPr>
            <a:r>
              <a:rPr lang="en-US" sz="1400" dirty="0">
                <a:solidFill>
                  <a:schemeClr val="tx1"/>
                </a:solidFill>
              </a:rPr>
              <a:t>the test set keeps its real 100 / 54 split</a:t>
            </a:r>
            <a:endParaRPr lang="en-US" sz="1400" dirty="0"/>
          </a:p>
        </p:txBody>
      </p:sp>
      <p:sp>
        <p:nvSpPr>
          <p:cNvPr id="22" name="prep card 2"/>
          <p:cNvSpPr/>
          <p:nvPr/>
        </p:nvSpPr>
        <p:spPr>
          <a:xfrm>
            <a:off x="6309360" y="5029200"/>
            <a:ext cx="5330952"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3" name="Text 20"/>
          <p:cNvSpPr txBox="1"/>
          <p:nvPr/>
        </p:nvSpPr>
        <p:spPr>
          <a:xfrm>
            <a:off x="6492240" y="5138928"/>
            <a:ext cx="2194560" cy="73152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0.57 → 0.72</a:t>
            </a:r>
            <a:endParaRPr lang="en-US" sz="2400" dirty="0"/>
          </a:p>
        </p:txBody>
      </p:sp>
      <p:sp>
        <p:nvSpPr>
          <p:cNvPr id="24" name="Text 21"/>
          <p:cNvSpPr txBox="1"/>
          <p:nvPr/>
        </p:nvSpPr>
        <p:spPr>
          <a:xfrm>
            <a:off x="8732520" y="5138928"/>
            <a:ext cx="2788920" cy="731520"/>
          </a:xfrm>
          <a:prstGeom prst="rect">
            <a:avLst/>
          </a:prstGeom>
          <a:noFill/>
          <a:ln/>
        </p:spPr>
        <p:txBody>
          <a:bodyPr wrap="square" lIns="0" tIns="0" rIns="0" bIns="0" rtlCol="0" anchor="ctr"/>
          <a:lstStyle/>
          <a:p>
            <a:pPr indent="0" marL="0">
              <a:buNone/>
            </a:pPr>
            <a:r>
              <a:rPr lang="en-US" sz="1400" dirty="0">
                <a:solidFill>
                  <a:schemeClr val="tx1"/>
                </a:solidFill>
              </a:rPr>
              <a:t>cross-validated recall of Logistic Regression with SMOTE</a:t>
            </a:r>
            <a:endParaRPr lang="en-US" sz="1400" dirty="0"/>
          </a:p>
        </p:txBody>
      </p:sp>
      <p:sp>
        <p:nvSpPr>
          <p:cNvPr id="25" name="Button: Next ›">
            <a:hlinkClick r:id="rId2"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26" name="Button: Agenda">
            <a:hlinkClick r:id="rId3"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27" name="Button: ‹ Prev">
            <a:hlinkClick r:id="rId4"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Five Models, Simple to Complex</a:t>
            </a:r>
            <a:endParaRPr lang="en-US" sz="3200" dirty="0"/>
          </a:p>
        </p:txBody>
      </p:sp>
      <p:sp>
        <p:nvSpPr>
          <p:cNvPr id="3" name="model card Logistic Regression">
            <a:hlinkClick r:id="rId3" tooltip="Model Explorer: Logistic Regression" action="ppaction://hlinksldjump"/>
          </p:cNvPr>
          <p:cNvSpPr/>
          <p:nvPr/>
        </p:nvSpPr>
        <p:spPr>
          <a:xfrm>
            <a:off x="548640" y="1371600"/>
            <a:ext cx="2057400" cy="429768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model icon Logistic Regression">
            <a:hlinkClick r:id="rId3" tooltip="Model Explorer: Logistic Regression" action="ppaction://hlinksldjump"/>
          </p:cNvPr>
          <p:cNvSpPr/>
          <p:nvPr/>
        </p:nvSpPr>
        <p:spPr>
          <a:xfrm>
            <a:off x="1120140" y="1600200"/>
            <a:ext cx="914400" cy="914400"/>
          </a:xfrm>
          <a:prstGeom prst="ellipse">
            <a:avLst/>
          </a:prstGeom>
          <a:solidFill>
            <a:srgbClr val="3A5A98"/>
          </a:solidFill>
          <a:ln w="12700">
            <a:solidFill>
              <a:srgbClr val="3A5A98"/>
            </a:solidFill>
            <a:prstDash val="solid"/>
          </a:ln>
        </p:spPr>
      </p:sp>
      <p:pic>
        <p:nvPicPr>
          <p:cNvPr id="5" name="model icon Logistic Regression glyph" descr="icon">
            <a:hlinkClick r:id="rId3" tooltip="Model Explorer: Logistic Regression" action="ppaction://hlinksldjump"/>
          </p:cNvPr>
          <p:cNvPicPr>
            <a:picLocks noChangeAspect="1"/>
          </p:cNvPicPr>
          <p:nvPr/>
        </p:nvPicPr>
        <p:blipFill>
          <a:blip r:embed="rId2"/>
          <a:stretch>
            <a:fillRect/>
          </a:stretch>
        </p:blipFill>
        <p:spPr>
          <a:xfrm>
            <a:off x="1339596" y="1819656"/>
            <a:ext cx="475488" cy="475488"/>
          </a:xfrm>
          <a:prstGeom prst="rect">
            <a:avLst/>
          </a:prstGeom>
        </p:spPr>
      </p:pic>
      <p:sp>
        <p:nvSpPr>
          <p:cNvPr id="6" name="model text Logistic Regression">
            <a:hlinkClick r:id="rId3" tooltip="Model Explorer: Logistic Regression" action="ppaction://hlinksldjump"/>
          </p:cNvPr>
          <p:cNvSpPr/>
          <p:nvPr/>
        </p:nvSpPr>
        <p:spPr>
          <a:xfrm>
            <a:off x="685800" y="2697480"/>
            <a:ext cx="1783080" cy="2377440"/>
          </a:xfrm>
          <a:prstGeom prst="rect">
            <a:avLst/>
          </a:prstGeom>
          <a:noFill/>
          <a:ln/>
        </p:spPr>
        <p:txBody>
          <a:bodyPr wrap="square" lIns="0" tIns="0" rIns="0" bIns="0" rtlCol="0" anchor="t"/>
          <a:lstStyle/>
          <a:p>
            <a:pPr algn="ctr" indent="0" marL="0">
              <a:buNone/>
            </a:pPr>
            <a:r>
              <a:rPr lang="en-US" sz="1600" b="1" dirty="0">
                <a:solidFill>
                  <a:schemeClr val="tx2"/>
                </a:solidFill>
              </a:rPr>
              <a:t>Logistic Regression</a:t>
            </a:r>
            <a:endParaRPr lang="en-US" sz="1600" dirty="0"/>
          </a:p>
          <a:p>
            <a:pPr algn="ctr" indent="0" marL="0">
              <a:buNone/>
            </a:pPr>
            <a:r>
              <a:rPr lang="en-US" sz="1300" dirty="0">
                <a:solidFill>
                  <a:schemeClr val="tx1"/>
                </a:solidFill>
              </a:rPr>
              <a:t>Linear, interpretable baseline</a:t>
            </a:r>
            <a:endParaRPr lang="en-US" sz="1600" dirty="0"/>
          </a:p>
          <a:p>
            <a:pPr algn="ctr" indent="0" marL="0">
              <a:buNone/>
            </a:pPr>
            <a:r>
              <a:rPr lang="en-US" sz="800" dirty="0">
                <a:solidFill>
                  <a:srgbClr val="000000"/>
                </a:solidFill>
              </a:rPr>
              <a:t> </a:t>
            </a:r>
            <a:endParaRPr lang="en-US" sz="1600" dirty="0"/>
          </a:p>
          <a:p>
            <a:pPr algn="ctr" indent="0" marL="0">
              <a:buNone/>
            </a:pPr>
            <a:r>
              <a:rPr lang="en-US" sz="1200" i="1" dirty="0">
                <a:solidFill>
                  <a:schemeClr val="accent5"/>
                </a:solidFill>
              </a:rPr>
              <a:t>max_iter = 1000</a:t>
            </a:r>
            <a:endParaRPr lang="en-US" sz="1600" dirty="0"/>
          </a:p>
        </p:txBody>
      </p:sp>
      <p:sp>
        <p:nvSpPr>
          <p:cNvPr id="7" name="Text 4"/>
          <p:cNvSpPr txBox="1"/>
          <p:nvPr/>
        </p:nvSpPr>
        <p:spPr>
          <a:xfrm>
            <a:off x="685800" y="5166360"/>
            <a:ext cx="1783080" cy="320040"/>
          </a:xfrm>
          <a:prstGeom prst="rect">
            <a:avLst/>
          </a:prstGeom>
          <a:noFill/>
          <a:ln/>
        </p:spPr>
        <p:txBody>
          <a:bodyPr wrap="square" lIns="0" tIns="0" rIns="0" bIns="0" rtlCol="0" anchor="t"/>
          <a:lstStyle/>
          <a:p>
            <a:pPr algn="ctr" indent="0" marL="0">
              <a:buNone/>
            </a:pPr>
            <a:r>
              <a:rPr lang="en-US" sz="1100" b="1" dirty="0">
                <a:solidFill>
                  <a:schemeClr val="accent1"/>
                </a:solidFill>
              </a:rPr>
              <a:t>Click for details ›</a:t>
            </a:r>
            <a:endParaRPr lang="en-US" sz="1100" dirty="0"/>
          </a:p>
        </p:txBody>
      </p:sp>
      <p:sp>
        <p:nvSpPr>
          <p:cNvPr id="8" name="model card K-Nearest Neighbors">
            <a:hlinkClick r:id="rId6" tooltip="Model Explorer: K-Nearest Neighbors" action="ppaction://hlinksldjump"/>
          </p:cNvPr>
          <p:cNvSpPr/>
          <p:nvPr/>
        </p:nvSpPr>
        <p:spPr>
          <a:xfrm>
            <a:off x="2802636" y="1371600"/>
            <a:ext cx="2057400" cy="429768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model icon K-Nearest Neighbors">
            <a:hlinkClick r:id="rId6" tooltip="Model Explorer: K-Nearest Neighbors" action="ppaction://hlinksldjump"/>
          </p:cNvPr>
          <p:cNvSpPr/>
          <p:nvPr/>
        </p:nvSpPr>
        <p:spPr>
          <a:xfrm>
            <a:off x="3374136" y="1600200"/>
            <a:ext cx="914400" cy="914400"/>
          </a:xfrm>
          <a:prstGeom prst="ellipse">
            <a:avLst/>
          </a:prstGeom>
          <a:solidFill>
            <a:srgbClr val="F4B942"/>
          </a:solidFill>
          <a:ln w="12700">
            <a:solidFill>
              <a:srgbClr val="F4B942"/>
            </a:solidFill>
            <a:prstDash val="solid"/>
          </a:ln>
        </p:spPr>
      </p:sp>
      <p:pic>
        <p:nvPicPr>
          <p:cNvPr id="10" name="model icon K-Nearest Neighbors glyph" descr="icon">
            <a:hlinkClick r:id="rId6" tooltip="Model Explorer: K-Nearest Neighbors" action="ppaction://hlinksldjump"/>
          </p:cNvPr>
          <p:cNvPicPr>
            <a:picLocks noChangeAspect="1"/>
          </p:cNvPicPr>
          <p:nvPr/>
        </p:nvPicPr>
        <p:blipFill>
          <a:blip r:embed="rId5"/>
          <a:stretch>
            <a:fillRect/>
          </a:stretch>
        </p:blipFill>
        <p:spPr>
          <a:xfrm>
            <a:off x="3593592" y="1819656"/>
            <a:ext cx="475488" cy="475488"/>
          </a:xfrm>
          <a:prstGeom prst="rect">
            <a:avLst/>
          </a:prstGeom>
        </p:spPr>
      </p:pic>
      <p:sp>
        <p:nvSpPr>
          <p:cNvPr id="11" name="model text K-Nearest Neighbors">
            <a:hlinkClick r:id="rId6" tooltip="Model Explorer: K-Nearest Neighbors" action="ppaction://hlinksldjump"/>
          </p:cNvPr>
          <p:cNvSpPr/>
          <p:nvPr/>
        </p:nvSpPr>
        <p:spPr>
          <a:xfrm>
            <a:off x="2939796" y="2697480"/>
            <a:ext cx="1783080" cy="2377440"/>
          </a:xfrm>
          <a:prstGeom prst="rect">
            <a:avLst/>
          </a:prstGeom>
          <a:noFill/>
          <a:ln/>
        </p:spPr>
        <p:txBody>
          <a:bodyPr wrap="square" lIns="0" tIns="0" rIns="0" bIns="0" rtlCol="0" anchor="t"/>
          <a:lstStyle/>
          <a:p>
            <a:pPr algn="ctr" indent="0" marL="0">
              <a:buNone/>
            </a:pPr>
            <a:r>
              <a:rPr lang="en-US" sz="1600" b="1" dirty="0">
                <a:solidFill>
                  <a:schemeClr val="tx2"/>
                </a:solidFill>
              </a:rPr>
              <a:t>K-Nearest Neighbors</a:t>
            </a:r>
            <a:endParaRPr lang="en-US" sz="1600" dirty="0"/>
          </a:p>
          <a:p>
            <a:pPr algn="ctr" indent="0" marL="0">
              <a:buNone/>
            </a:pPr>
            <a:r>
              <a:rPr lang="en-US" sz="1300" dirty="0">
                <a:solidFill>
                  <a:schemeClr val="tx1"/>
                </a:solidFill>
              </a:rPr>
              <a:t>Instance-based (distance)</a:t>
            </a:r>
            <a:endParaRPr lang="en-US" sz="1600" dirty="0"/>
          </a:p>
          <a:p>
            <a:pPr algn="ctr" indent="0" marL="0">
              <a:buNone/>
            </a:pPr>
            <a:r>
              <a:rPr lang="en-US" sz="800" dirty="0">
                <a:solidFill>
                  <a:srgbClr val="000000"/>
                </a:solidFill>
              </a:rPr>
              <a:t> </a:t>
            </a:r>
            <a:endParaRPr lang="en-US" sz="1600" dirty="0"/>
          </a:p>
          <a:p>
            <a:pPr algn="ctr" indent="0" marL="0">
              <a:buNone/>
            </a:pPr>
            <a:r>
              <a:rPr lang="en-US" sz="1200" i="1" dirty="0">
                <a:solidFill>
                  <a:schemeClr val="accent5"/>
                </a:solidFill>
              </a:rPr>
              <a:t>k = 15 neighbours</a:t>
            </a:r>
            <a:endParaRPr lang="en-US" sz="1600" dirty="0"/>
          </a:p>
        </p:txBody>
      </p:sp>
      <p:sp>
        <p:nvSpPr>
          <p:cNvPr id="12" name="Text 8"/>
          <p:cNvSpPr txBox="1"/>
          <p:nvPr/>
        </p:nvSpPr>
        <p:spPr>
          <a:xfrm>
            <a:off x="2939796" y="5166360"/>
            <a:ext cx="1783080" cy="320040"/>
          </a:xfrm>
          <a:prstGeom prst="rect">
            <a:avLst/>
          </a:prstGeom>
          <a:noFill/>
          <a:ln/>
        </p:spPr>
        <p:txBody>
          <a:bodyPr wrap="square" lIns="0" tIns="0" rIns="0" bIns="0" rtlCol="0" anchor="t"/>
          <a:lstStyle/>
          <a:p>
            <a:pPr algn="ctr" indent="0" marL="0">
              <a:buNone/>
            </a:pPr>
            <a:r>
              <a:rPr lang="en-US" sz="1100" b="1" dirty="0">
                <a:solidFill>
                  <a:schemeClr val="accent1"/>
                </a:solidFill>
              </a:rPr>
              <a:t>Click for details ›</a:t>
            </a:r>
            <a:endParaRPr lang="en-US" sz="1100" dirty="0"/>
          </a:p>
        </p:txBody>
      </p:sp>
      <p:sp>
        <p:nvSpPr>
          <p:cNvPr id="13" name="model card Decision Tree">
            <a:hlinkClick r:id="rId9" tooltip="Model Explorer: Decision Tree" action="ppaction://hlinksldjump"/>
          </p:cNvPr>
          <p:cNvSpPr/>
          <p:nvPr/>
        </p:nvSpPr>
        <p:spPr>
          <a:xfrm>
            <a:off x="5056632" y="1371600"/>
            <a:ext cx="2057400" cy="429768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model icon Decision Tree">
            <a:hlinkClick r:id="rId9" tooltip="Model Explorer: Decision Tree" action="ppaction://hlinksldjump"/>
          </p:cNvPr>
          <p:cNvSpPr/>
          <p:nvPr/>
        </p:nvSpPr>
        <p:spPr>
          <a:xfrm>
            <a:off x="5628132" y="1600200"/>
            <a:ext cx="914400" cy="914400"/>
          </a:xfrm>
          <a:prstGeom prst="ellipse">
            <a:avLst/>
          </a:prstGeom>
          <a:solidFill>
            <a:srgbClr val="7A8B94"/>
          </a:solidFill>
          <a:ln w="12700">
            <a:solidFill>
              <a:srgbClr val="7A8B94"/>
            </a:solidFill>
            <a:prstDash val="solid"/>
          </a:ln>
        </p:spPr>
      </p:sp>
      <p:pic>
        <p:nvPicPr>
          <p:cNvPr id="15" name="model icon Decision Tree glyph" descr="icon">
            <a:hlinkClick r:id="rId9" tooltip="Model Explorer: Decision Tree" action="ppaction://hlinksldjump"/>
          </p:cNvPr>
          <p:cNvPicPr>
            <a:picLocks noChangeAspect="1"/>
          </p:cNvPicPr>
          <p:nvPr/>
        </p:nvPicPr>
        <p:blipFill>
          <a:blip r:embed="rId8"/>
          <a:stretch>
            <a:fillRect/>
          </a:stretch>
        </p:blipFill>
        <p:spPr>
          <a:xfrm>
            <a:off x="5847588" y="1819656"/>
            <a:ext cx="475488" cy="475488"/>
          </a:xfrm>
          <a:prstGeom prst="rect">
            <a:avLst/>
          </a:prstGeom>
        </p:spPr>
      </p:pic>
      <p:sp>
        <p:nvSpPr>
          <p:cNvPr id="16" name="model text Decision Tree">
            <a:hlinkClick r:id="rId9" tooltip="Model Explorer: Decision Tree" action="ppaction://hlinksldjump"/>
          </p:cNvPr>
          <p:cNvSpPr/>
          <p:nvPr/>
        </p:nvSpPr>
        <p:spPr>
          <a:xfrm>
            <a:off x="5193792" y="2697480"/>
            <a:ext cx="1783080" cy="2377440"/>
          </a:xfrm>
          <a:prstGeom prst="rect">
            <a:avLst/>
          </a:prstGeom>
          <a:noFill/>
          <a:ln/>
        </p:spPr>
        <p:txBody>
          <a:bodyPr wrap="square" lIns="0" tIns="0" rIns="0" bIns="0" rtlCol="0" anchor="t"/>
          <a:lstStyle/>
          <a:p>
            <a:pPr algn="ctr" indent="0" marL="0">
              <a:buNone/>
            </a:pPr>
            <a:r>
              <a:rPr lang="en-US" sz="1600" b="1" dirty="0">
                <a:solidFill>
                  <a:schemeClr val="tx2"/>
                </a:solidFill>
              </a:rPr>
              <a:t>Decision Tree</a:t>
            </a:r>
            <a:endParaRPr lang="en-US" sz="1600" dirty="0"/>
          </a:p>
          <a:p>
            <a:pPr algn="ctr" indent="0" marL="0">
              <a:buNone/>
            </a:pPr>
            <a:r>
              <a:rPr lang="en-US" sz="1300" dirty="0">
                <a:solidFill>
                  <a:schemeClr val="tx1"/>
                </a:solidFill>
              </a:rPr>
              <a:t>Rule-based tree</a:t>
            </a:r>
            <a:endParaRPr lang="en-US" sz="1600" dirty="0"/>
          </a:p>
          <a:p>
            <a:pPr algn="ctr" indent="0" marL="0">
              <a:buNone/>
            </a:pPr>
            <a:r>
              <a:rPr lang="en-US" sz="800" dirty="0">
                <a:solidFill>
                  <a:srgbClr val="000000"/>
                </a:solidFill>
              </a:rPr>
              <a:t> </a:t>
            </a:r>
            <a:endParaRPr lang="en-US" sz="1600" dirty="0"/>
          </a:p>
          <a:p>
            <a:pPr algn="ctr" indent="0" marL="0">
              <a:buNone/>
            </a:pPr>
            <a:r>
              <a:rPr lang="en-US" sz="1200" i="1" dirty="0">
                <a:solidFill>
                  <a:schemeClr val="accent5"/>
                </a:solidFill>
              </a:rPr>
              <a:t>max_depth = 5, min_samples_leaf = 5</a:t>
            </a:r>
            <a:endParaRPr lang="en-US" sz="1600" dirty="0"/>
          </a:p>
        </p:txBody>
      </p:sp>
      <p:sp>
        <p:nvSpPr>
          <p:cNvPr id="17" name="Text 12"/>
          <p:cNvSpPr txBox="1"/>
          <p:nvPr/>
        </p:nvSpPr>
        <p:spPr>
          <a:xfrm>
            <a:off x="5193792" y="5166360"/>
            <a:ext cx="1783080" cy="320040"/>
          </a:xfrm>
          <a:prstGeom prst="rect">
            <a:avLst/>
          </a:prstGeom>
          <a:noFill/>
          <a:ln/>
        </p:spPr>
        <p:txBody>
          <a:bodyPr wrap="square" lIns="0" tIns="0" rIns="0" bIns="0" rtlCol="0" anchor="t"/>
          <a:lstStyle/>
          <a:p>
            <a:pPr algn="ctr" indent="0" marL="0">
              <a:buNone/>
            </a:pPr>
            <a:r>
              <a:rPr lang="en-US" sz="1100" b="1" dirty="0">
                <a:solidFill>
                  <a:schemeClr val="accent1"/>
                </a:solidFill>
              </a:rPr>
              <a:t>Click for details ›</a:t>
            </a:r>
            <a:endParaRPr lang="en-US" sz="1100" dirty="0"/>
          </a:p>
        </p:txBody>
      </p:sp>
      <p:sp>
        <p:nvSpPr>
          <p:cNvPr id="18" name="model card Random Forest">
            <a:hlinkClick r:id="rId12" tooltip="Model Explorer: Random Forest" action="ppaction://hlinksldjump"/>
          </p:cNvPr>
          <p:cNvSpPr/>
          <p:nvPr/>
        </p:nvSpPr>
        <p:spPr>
          <a:xfrm>
            <a:off x="7310628" y="1371600"/>
            <a:ext cx="2057400" cy="429768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model icon Random Forest">
            <a:hlinkClick r:id="rId12" tooltip="Model Explorer: Random Forest" action="ppaction://hlinksldjump"/>
          </p:cNvPr>
          <p:cNvSpPr/>
          <p:nvPr/>
        </p:nvSpPr>
        <p:spPr>
          <a:xfrm>
            <a:off x="7882128" y="1600200"/>
            <a:ext cx="914400" cy="914400"/>
          </a:xfrm>
          <a:prstGeom prst="ellipse">
            <a:avLst/>
          </a:prstGeom>
          <a:solidFill>
            <a:srgbClr val="0E7C86"/>
          </a:solidFill>
          <a:ln w="12700">
            <a:solidFill>
              <a:srgbClr val="0E7C86"/>
            </a:solidFill>
            <a:prstDash val="solid"/>
          </a:ln>
        </p:spPr>
      </p:sp>
      <p:pic>
        <p:nvPicPr>
          <p:cNvPr id="20" name="model icon Random Forest glyph" descr="icon">
            <a:hlinkClick r:id="rId12" tooltip="Model Explorer: Random Forest" action="ppaction://hlinksldjump"/>
          </p:cNvPr>
          <p:cNvPicPr>
            <a:picLocks noChangeAspect="1"/>
          </p:cNvPicPr>
          <p:nvPr/>
        </p:nvPicPr>
        <p:blipFill>
          <a:blip r:embed="rId11"/>
          <a:stretch>
            <a:fillRect/>
          </a:stretch>
        </p:blipFill>
        <p:spPr>
          <a:xfrm>
            <a:off x="8101584" y="1819656"/>
            <a:ext cx="475488" cy="475488"/>
          </a:xfrm>
          <a:prstGeom prst="rect">
            <a:avLst/>
          </a:prstGeom>
        </p:spPr>
      </p:pic>
      <p:sp>
        <p:nvSpPr>
          <p:cNvPr id="21" name="model text Random Forest">
            <a:hlinkClick r:id="rId12" tooltip="Model Explorer: Random Forest" action="ppaction://hlinksldjump"/>
          </p:cNvPr>
          <p:cNvSpPr/>
          <p:nvPr/>
        </p:nvSpPr>
        <p:spPr>
          <a:xfrm>
            <a:off x="7447788" y="2697480"/>
            <a:ext cx="1783080" cy="2377440"/>
          </a:xfrm>
          <a:prstGeom prst="rect">
            <a:avLst/>
          </a:prstGeom>
          <a:noFill/>
          <a:ln/>
        </p:spPr>
        <p:txBody>
          <a:bodyPr wrap="square" lIns="0" tIns="0" rIns="0" bIns="0" rtlCol="0" anchor="t"/>
          <a:lstStyle/>
          <a:p>
            <a:pPr algn="ctr" indent="0" marL="0">
              <a:buNone/>
            </a:pPr>
            <a:r>
              <a:rPr lang="en-US" sz="1600" b="1" dirty="0">
                <a:solidFill>
                  <a:schemeClr val="tx2"/>
                </a:solidFill>
              </a:rPr>
              <a:t>Random Forest</a:t>
            </a:r>
            <a:endParaRPr lang="en-US" sz="1600" dirty="0"/>
          </a:p>
          <a:p>
            <a:pPr algn="ctr" indent="0" marL="0">
              <a:buNone/>
            </a:pPr>
            <a:r>
              <a:rPr lang="en-US" sz="1300" dirty="0">
                <a:solidFill>
                  <a:schemeClr val="tx1"/>
                </a:solidFill>
              </a:rPr>
              <a:t>Bagging ensemble</a:t>
            </a:r>
            <a:endParaRPr lang="en-US" sz="1600" dirty="0"/>
          </a:p>
          <a:p>
            <a:pPr algn="ctr" indent="0" marL="0">
              <a:buNone/>
            </a:pPr>
            <a:r>
              <a:rPr lang="en-US" sz="800" dirty="0">
                <a:solidFill>
                  <a:srgbClr val="000000"/>
                </a:solidFill>
              </a:rPr>
              <a:t> </a:t>
            </a:r>
            <a:endParaRPr lang="en-US" sz="1600" dirty="0"/>
          </a:p>
          <a:p>
            <a:pPr algn="ctr" indent="0" marL="0">
              <a:buNone/>
            </a:pPr>
            <a:r>
              <a:rPr lang="en-US" sz="1200" i="1" dirty="0">
                <a:solidFill>
                  <a:schemeClr val="accent5"/>
                </a:solidFill>
              </a:rPr>
              <a:t>300 trees, min_samples_leaf = 2</a:t>
            </a:r>
            <a:endParaRPr lang="en-US" sz="1600" dirty="0"/>
          </a:p>
        </p:txBody>
      </p:sp>
      <p:sp>
        <p:nvSpPr>
          <p:cNvPr id="22" name="Text 16"/>
          <p:cNvSpPr txBox="1"/>
          <p:nvPr/>
        </p:nvSpPr>
        <p:spPr>
          <a:xfrm>
            <a:off x="7447788" y="5166360"/>
            <a:ext cx="1783080" cy="320040"/>
          </a:xfrm>
          <a:prstGeom prst="rect">
            <a:avLst/>
          </a:prstGeom>
          <a:noFill/>
          <a:ln/>
        </p:spPr>
        <p:txBody>
          <a:bodyPr wrap="square" lIns="0" tIns="0" rIns="0" bIns="0" rtlCol="0" anchor="t"/>
          <a:lstStyle/>
          <a:p>
            <a:pPr algn="ctr" indent="0" marL="0">
              <a:buNone/>
            </a:pPr>
            <a:r>
              <a:rPr lang="en-US" sz="1100" b="1" dirty="0">
                <a:solidFill>
                  <a:schemeClr val="accent1"/>
                </a:solidFill>
              </a:rPr>
              <a:t>Click for details ›</a:t>
            </a:r>
            <a:endParaRPr lang="en-US" sz="1100" dirty="0"/>
          </a:p>
        </p:txBody>
      </p:sp>
      <p:sp>
        <p:nvSpPr>
          <p:cNvPr id="23" name="model card XGBoost">
            <a:hlinkClick r:id="rId15" tooltip="Model Explorer: XGBoost" action="ppaction://hlinksldjump"/>
          </p:cNvPr>
          <p:cNvSpPr/>
          <p:nvPr/>
        </p:nvSpPr>
        <p:spPr>
          <a:xfrm>
            <a:off x="9564624" y="1371600"/>
            <a:ext cx="2057400" cy="429768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4" name="model icon XGBoost">
            <a:hlinkClick r:id="rId15" tooltip="Model Explorer: XGBoost" action="ppaction://hlinksldjump"/>
          </p:cNvPr>
          <p:cNvSpPr/>
          <p:nvPr/>
        </p:nvSpPr>
        <p:spPr>
          <a:xfrm>
            <a:off x="10136124" y="1600200"/>
            <a:ext cx="914400" cy="914400"/>
          </a:xfrm>
          <a:prstGeom prst="ellipse">
            <a:avLst/>
          </a:prstGeom>
          <a:solidFill>
            <a:srgbClr val="6B4E9B"/>
          </a:solidFill>
          <a:ln w="12700">
            <a:solidFill>
              <a:srgbClr val="6B4E9B"/>
            </a:solidFill>
            <a:prstDash val="solid"/>
          </a:ln>
        </p:spPr>
      </p:sp>
      <p:pic>
        <p:nvPicPr>
          <p:cNvPr id="25" name="model icon XGBoost glyph" descr="icon">
            <a:hlinkClick r:id="rId15" tooltip="Model Explorer: XGBoost" action="ppaction://hlinksldjump"/>
          </p:cNvPr>
          <p:cNvPicPr>
            <a:picLocks noChangeAspect="1"/>
          </p:cNvPicPr>
          <p:nvPr/>
        </p:nvPicPr>
        <p:blipFill>
          <a:blip r:embed="rId14"/>
          <a:stretch>
            <a:fillRect/>
          </a:stretch>
        </p:blipFill>
        <p:spPr>
          <a:xfrm>
            <a:off x="10355580" y="1819656"/>
            <a:ext cx="475488" cy="475488"/>
          </a:xfrm>
          <a:prstGeom prst="rect">
            <a:avLst/>
          </a:prstGeom>
        </p:spPr>
      </p:pic>
      <p:sp>
        <p:nvSpPr>
          <p:cNvPr id="26" name="model text XGBoost">
            <a:hlinkClick r:id="rId15" tooltip="Model Explorer: XGBoost" action="ppaction://hlinksldjump"/>
          </p:cNvPr>
          <p:cNvSpPr/>
          <p:nvPr/>
        </p:nvSpPr>
        <p:spPr>
          <a:xfrm>
            <a:off x="9701784" y="2697480"/>
            <a:ext cx="1783080" cy="2377440"/>
          </a:xfrm>
          <a:prstGeom prst="rect">
            <a:avLst/>
          </a:prstGeom>
          <a:noFill/>
          <a:ln/>
        </p:spPr>
        <p:txBody>
          <a:bodyPr wrap="square" lIns="0" tIns="0" rIns="0" bIns="0" rtlCol="0" anchor="t"/>
          <a:lstStyle/>
          <a:p>
            <a:pPr algn="ctr" indent="0" marL="0">
              <a:buNone/>
            </a:pPr>
            <a:r>
              <a:rPr lang="en-US" sz="1600" b="1" dirty="0">
                <a:solidFill>
                  <a:schemeClr val="tx2"/>
                </a:solidFill>
              </a:rPr>
              <a:t>XGBoost</a:t>
            </a:r>
            <a:endParaRPr lang="en-US" sz="1600" dirty="0"/>
          </a:p>
          <a:p>
            <a:pPr algn="ctr" indent="0" marL="0">
              <a:buNone/>
            </a:pPr>
            <a:r>
              <a:rPr lang="en-US" sz="1300" dirty="0">
                <a:solidFill>
                  <a:schemeClr val="tx1"/>
                </a:solidFill>
              </a:rPr>
              <a:t>Gradient-boosting ensemble</a:t>
            </a:r>
            <a:endParaRPr lang="en-US" sz="1600" dirty="0"/>
          </a:p>
          <a:p>
            <a:pPr algn="ctr" indent="0" marL="0">
              <a:buNone/>
            </a:pPr>
            <a:r>
              <a:rPr lang="en-US" sz="800" dirty="0">
                <a:solidFill>
                  <a:srgbClr val="000000"/>
                </a:solidFill>
              </a:rPr>
              <a:t> </a:t>
            </a:r>
            <a:endParaRPr lang="en-US" sz="1600" dirty="0"/>
          </a:p>
          <a:p>
            <a:pPr algn="ctr" indent="0" marL="0">
              <a:buNone/>
            </a:pPr>
            <a:r>
              <a:rPr lang="en-US" sz="1200" i="1" dirty="0">
                <a:solidFill>
                  <a:schemeClr val="accent5"/>
                </a:solidFill>
              </a:rPr>
              <a:t>200 trees, depth 3, lr 0.05</a:t>
            </a:r>
            <a:endParaRPr lang="en-US" sz="1600" dirty="0"/>
          </a:p>
        </p:txBody>
      </p:sp>
      <p:sp>
        <p:nvSpPr>
          <p:cNvPr id="27" name="Text 20"/>
          <p:cNvSpPr txBox="1"/>
          <p:nvPr/>
        </p:nvSpPr>
        <p:spPr>
          <a:xfrm>
            <a:off x="9701784" y="5166360"/>
            <a:ext cx="1783080" cy="320040"/>
          </a:xfrm>
          <a:prstGeom prst="rect">
            <a:avLst/>
          </a:prstGeom>
          <a:noFill/>
          <a:ln/>
        </p:spPr>
        <p:txBody>
          <a:bodyPr wrap="square" lIns="0" tIns="0" rIns="0" bIns="0" rtlCol="0" anchor="t"/>
          <a:lstStyle/>
          <a:p>
            <a:pPr algn="ctr" indent="0" marL="0">
              <a:buNone/>
            </a:pPr>
            <a:r>
              <a:rPr lang="en-US" sz="1100" b="1" dirty="0">
                <a:solidFill>
                  <a:schemeClr val="accent1"/>
                </a:solidFill>
              </a:rPr>
              <a:t>Click for details ›</a:t>
            </a:r>
            <a:endParaRPr lang="en-US" sz="1100" dirty="0"/>
          </a:p>
        </p:txBody>
      </p:sp>
      <p:sp>
        <p:nvSpPr>
          <p:cNvPr id="28" name="Text 21"/>
          <p:cNvSpPr txBox="1"/>
          <p:nvPr/>
        </p:nvSpPr>
        <p:spPr>
          <a:xfrm>
            <a:off x="548640" y="5806440"/>
            <a:ext cx="11064240" cy="320040"/>
          </a:xfrm>
          <a:prstGeom prst="rect">
            <a:avLst/>
          </a:prstGeom>
          <a:noFill/>
          <a:ln/>
        </p:spPr>
        <p:txBody>
          <a:bodyPr wrap="square" lIns="0" tIns="0" rIns="0" bIns="0" rtlCol="0" anchor="t"/>
          <a:lstStyle/>
          <a:p>
            <a:pPr algn="ctr" indent="0" marL="0">
              <a:buNone/>
            </a:pPr>
            <a:r>
              <a:rPr lang="en-US" sz="1300" i="1" dirty="0">
                <a:solidFill>
                  <a:schemeClr val="accent5"/>
                </a:solidFill>
              </a:rPr>
              <a:t>Same pipeline for every model  |  random_state = 42  |  no tuning on the test set</a:t>
            </a:r>
            <a:endParaRPr lang="en-US" sz="1300" dirty="0"/>
          </a:p>
        </p:txBody>
      </p:sp>
      <p:sp>
        <p:nvSpPr>
          <p:cNvPr id="29" name="Button: Next ›">
            <a:hlinkClick r:id="rId16"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30" name="Button: Agenda">
            <a:hlinkClick r:id="rId17"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31" name="Button: ‹ Prev">
            <a:hlinkClick r:id="rId18"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Evaluation Metrics</a:t>
            </a:r>
            <a:endParaRPr lang="en-US" sz="3200" dirty="0"/>
          </a:p>
        </p:txBody>
      </p:sp>
      <p:sp>
        <p:nvSpPr>
          <p:cNvPr id="3" name="metric Accuracy"/>
          <p:cNvSpPr/>
          <p:nvPr/>
        </p:nvSpPr>
        <p:spPr>
          <a:xfrm>
            <a:off x="548640" y="1325880"/>
            <a:ext cx="6309360" cy="749808"/>
          </a:xfrm>
          <a:prstGeom prst="roundRect">
            <a:avLst>
              <a:gd name="adj" fmla="val 97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731520" y="1417320"/>
            <a:ext cx="1463040" cy="566928"/>
          </a:xfrm>
          <a:prstGeom prst="rect">
            <a:avLst/>
          </a:prstGeom>
          <a:noFill/>
          <a:ln/>
        </p:spPr>
        <p:txBody>
          <a:bodyPr wrap="square" lIns="0" tIns="0" rIns="0" bIns="0" rtlCol="0" anchor="ctr"/>
          <a:lstStyle/>
          <a:p>
            <a:pPr indent="0" marL="0">
              <a:buNone/>
            </a:pPr>
            <a:r>
              <a:rPr lang="en-US" sz="1700" b="1" dirty="0">
                <a:solidFill>
                  <a:schemeClr val="tx2"/>
                </a:solidFill>
              </a:rPr>
              <a:t>Accuracy</a:t>
            </a:r>
            <a:endParaRPr lang="en-US" sz="1700" dirty="0"/>
          </a:p>
        </p:txBody>
      </p:sp>
      <p:sp>
        <p:nvSpPr>
          <p:cNvPr id="5" name="Text 3"/>
          <p:cNvSpPr txBox="1"/>
          <p:nvPr/>
        </p:nvSpPr>
        <p:spPr>
          <a:xfrm>
            <a:off x="2240280" y="1417320"/>
            <a:ext cx="2926080" cy="566928"/>
          </a:xfrm>
          <a:prstGeom prst="rect">
            <a:avLst/>
          </a:prstGeom>
          <a:noFill/>
          <a:ln/>
        </p:spPr>
        <p:txBody>
          <a:bodyPr wrap="square" lIns="0" tIns="0" rIns="0" bIns="0" rtlCol="0" anchor="ctr"/>
          <a:lstStyle/>
          <a:p>
            <a:pPr indent="0" marL="0">
              <a:buNone/>
            </a:pPr>
            <a:r>
              <a:rPr lang="en-US" sz="1400" dirty="0">
                <a:solidFill>
                  <a:schemeClr val="tx1"/>
                </a:solidFill>
              </a:rPr>
              <a:t>Share of correct predictions</a:t>
            </a:r>
            <a:endParaRPr lang="en-US" sz="1400" dirty="0"/>
          </a:p>
        </p:txBody>
      </p:sp>
      <p:sp>
        <p:nvSpPr>
          <p:cNvPr id="6" name="Text 4"/>
          <p:cNvSpPr txBox="1"/>
          <p:nvPr/>
        </p:nvSpPr>
        <p:spPr>
          <a:xfrm>
            <a:off x="5212080" y="1417320"/>
            <a:ext cx="1508760" cy="566928"/>
          </a:xfrm>
          <a:prstGeom prst="rect">
            <a:avLst/>
          </a:prstGeom>
          <a:noFill/>
          <a:ln/>
        </p:spPr>
        <p:txBody>
          <a:bodyPr wrap="square" lIns="0" tIns="0" rIns="0" bIns="0" rtlCol="0" anchor="ctr"/>
          <a:lstStyle/>
          <a:p>
            <a:pPr indent="0" marL="0">
              <a:buNone/>
            </a:pPr>
            <a:r>
              <a:rPr lang="en-US" sz="1300" i="1" dirty="0">
                <a:solidFill>
                  <a:schemeClr val="accent5"/>
                </a:solidFill>
              </a:rPr>
              <a:t>(TP + TN) / all</a:t>
            </a:r>
            <a:endParaRPr lang="en-US" sz="1300" dirty="0"/>
          </a:p>
        </p:txBody>
      </p:sp>
      <p:sp>
        <p:nvSpPr>
          <p:cNvPr id="7" name="metric Precision"/>
          <p:cNvSpPr/>
          <p:nvPr/>
        </p:nvSpPr>
        <p:spPr>
          <a:xfrm>
            <a:off x="548640" y="2221992"/>
            <a:ext cx="6309360" cy="749808"/>
          </a:xfrm>
          <a:prstGeom prst="roundRect">
            <a:avLst>
              <a:gd name="adj" fmla="val 97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Text 6"/>
          <p:cNvSpPr txBox="1"/>
          <p:nvPr/>
        </p:nvSpPr>
        <p:spPr>
          <a:xfrm>
            <a:off x="731520" y="2313432"/>
            <a:ext cx="1463040" cy="566928"/>
          </a:xfrm>
          <a:prstGeom prst="rect">
            <a:avLst/>
          </a:prstGeom>
          <a:noFill/>
          <a:ln/>
        </p:spPr>
        <p:txBody>
          <a:bodyPr wrap="square" lIns="0" tIns="0" rIns="0" bIns="0" rtlCol="0" anchor="ctr"/>
          <a:lstStyle/>
          <a:p>
            <a:pPr indent="0" marL="0">
              <a:buNone/>
            </a:pPr>
            <a:r>
              <a:rPr lang="en-US" sz="1700" b="1" dirty="0">
                <a:solidFill>
                  <a:schemeClr val="tx2"/>
                </a:solidFill>
              </a:rPr>
              <a:t>Precision</a:t>
            </a:r>
            <a:endParaRPr lang="en-US" sz="1700" dirty="0"/>
          </a:p>
        </p:txBody>
      </p:sp>
      <p:sp>
        <p:nvSpPr>
          <p:cNvPr id="9" name="Text 7"/>
          <p:cNvSpPr txBox="1"/>
          <p:nvPr/>
        </p:nvSpPr>
        <p:spPr>
          <a:xfrm>
            <a:off x="2240280" y="2313432"/>
            <a:ext cx="2926080" cy="566928"/>
          </a:xfrm>
          <a:prstGeom prst="rect">
            <a:avLst/>
          </a:prstGeom>
          <a:noFill/>
          <a:ln/>
        </p:spPr>
        <p:txBody>
          <a:bodyPr wrap="square" lIns="0" tIns="0" rIns="0" bIns="0" rtlCol="0" anchor="ctr"/>
          <a:lstStyle/>
          <a:p>
            <a:pPr indent="0" marL="0">
              <a:buNone/>
            </a:pPr>
            <a:r>
              <a:rPr lang="en-US" sz="1400" dirty="0">
                <a:solidFill>
                  <a:schemeClr val="tx1"/>
                </a:solidFill>
              </a:rPr>
              <a:t>Of those flagged, how many are diabetic</a:t>
            </a:r>
            <a:endParaRPr lang="en-US" sz="1400" dirty="0"/>
          </a:p>
        </p:txBody>
      </p:sp>
      <p:sp>
        <p:nvSpPr>
          <p:cNvPr id="10" name="Text 8"/>
          <p:cNvSpPr txBox="1"/>
          <p:nvPr/>
        </p:nvSpPr>
        <p:spPr>
          <a:xfrm>
            <a:off x="5212080" y="2313432"/>
            <a:ext cx="1508760" cy="566928"/>
          </a:xfrm>
          <a:prstGeom prst="rect">
            <a:avLst/>
          </a:prstGeom>
          <a:noFill/>
          <a:ln/>
        </p:spPr>
        <p:txBody>
          <a:bodyPr wrap="square" lIns="0" tIns="0" rIns="0" bIns="0" rtlCol="0" anchor="ctr"/>
          <a:lstStyle/>
          <a:p>
            <a:pPr indent="0" marL="0">
              <a:buNone/>
            </a:pPr>
            <a:r>
              <a:rPr lang="en-US" sz="1300" i="1" dirty="0">
                <a:solidFill>
                  <a:schemeClr val="accent5"/>
                </a:solidFill>
              </a:rPr>
              <a:t>TP / (TP + FP)</a:t>
            </a:r>
            <a:endParaRPr lang="en-US" sz="1300" dirty="0"/>
          </a:p>
        </p:txBody>
      </p:sp>
      <p:sp>
        <p:nvSpPr>
          <p:cNvPr id="11" name="metric Recall"/>
          <p:cNvSpPr/>
          <p:nvPr/>
        </p:nvSpPr>
        <p:spPr>
          <a:xfrm>
            <a:off x="548640" y="3118104"/>
            <a:ext cx="6309360" cy="749808"/>
          </a:xfrm>
          <a:prstGeom prst="roundRect">
            <a:avLst>
              <a:gd name="adj" fmla="val 9756"/>
            </a:avLst>
          </a:prstGeom>
          <a:solidFill>
            <a:srgbClr val="FDE3E1"/>
          </a:solidFill>
          <a:ln w="12700">
            <a:solidFill>
              <a:srgbClr val="FDE3E1"/>
            </a:solidFill>
            <a:prstDash val="solid"/>
          </a:ln>
          <a:effectLst>
            <a:outerShdw sx="100000" sy="100000" kx="0" ky="0" algn="bl" rotWithShape="0" blurRad="76200" dist="25400" dir="5400000">
              <a:srgbClr val="000000">
                <a:alpha val="15000"/>
              </a:srgbClr>
            </a:outerShdw>
          </a:effectLst>
        </p:spPr>
      </p:sp>
      <p:sp>
        <p:nvSpPr>
          <p:cNvPr id="12" name="Text 10"/>
          <p:cNvSpPr txBox="1"/>
          <p:nvPr/>
        </p:nvSpPr>
        <p:spPr>
          <a:xfrm>
            <a:off x="731520" y="3209544"/>
            <a:ext cx="1463040" cy="566928"/>
          </a:xfrm>
          <a:prstGeom prst="rect">
            <a:avLst/>
          </a:prstGeom>
          <a:noFill/>
          <a:ln/>
        </p:spPr>
        <p:txBody>
          <a:bodyPr wrap="square" lIns="0" tIns="0" rIns="0" bIns="0" rtlCol="0" anchor="ctr"/>
          <a:lstStyle/>
          <a:p>
            <a:pPr indent="0" marL="0">
              <a:buNone/>
            </a:pPr>
            <a:r>
              <a:rPr lang="en-US" sz="1700" b="1" dirty="0">
                <a:solidFill>
                  <a:schemeClr val="accent2"/>
                </a:solidFill>
              </a:rPr>
              <a:t>Recall</a:t>
            </a:r>
            <a:endParaRPr lang="en-US" sz="1700" dirty="0"/>
          </a:p>
        </p:txBody>
      </p:sp>
      <p:sp>
        <p:nvSpPr>
          <p:cNvPr id="13" name="Text 11"/>
          <p:cNvSpPr txBox="1"/>
          <p:nvPr/>
        </p:nvSpPr>
        <p:spPr>
          <a:xfrm>
            <a:off x="2240280" y="3209544"/>
            <a:ext cx="2926080" cy="566928"/>
          </a:xfrm>
          <a:prstGeom prst="rect">
            <a:avLst/>
          </a:prstGeom>
          <a:noFill/>
          <a:ln/>
        </p:spPr>
        <p:txBody>
          <a:bodyPr wrap="square" lIns="0" tIns="0" rIns="0" bIns="0" rtlCol="0" anchor="ctr"/>
          <a:lstStyle/>
          <a:p>
            <a:pPr indent="0" marL="0">
              <a:buNone/>
            </a:pPr>
            <a:r>
              <a:rPr lang="en-US" sz="1400" dirty="0">
                <a:solidFill>
                  <a:schemeClr val="tx1"/>
                </a:solidFill>
              </a:rPr>
              <a:t>Of diabetic patients, how many are caught</a:t>
            </a:r>
            <a:endParaRPr lang="en-US" sz="1400" dirty="0"/>
          </a:p>
        </p:txBody>
      </p:sp>
      <p:sp>
        <p:nvSpPr>
          <p:cNvPr id="14" name="Text 12"/>
          <p:cNvSpPr txBox="1"/>
          <p:nvPr/>
        </p:nvSpPr>
        <p:spPr>
          <a:xfrm>
            <a:off x="5212080" y="3209544"/>
            <a:ext cx="1508760" cy="566928"/>
          </a:xfrm>
          <a:prstGeom prst="rect">
            <a:avLst/>
          </a:prstGeom>
          <a:noFill/>
          <a:ln/>
        </p:spPr>
        <p:txBody>
          <a:bodyPr wrap="square" lIns="0" tIns="0" rIns="0" bIns="0" rtlCol="0" anchor="ctr"/>
          <a:lstStyle/>
          <a:p>
            <a:pPr indent="0" marL="0">
              <a:buNone/>
            </a:pPr>
            <a:r>
              <a:rPr lang="en-US" sz="1300" i="1" dirty="0">
                <a:solidFill>
                  <a:schemeClr val="accent5"/>
                </a:solidFill>
              </a:rPr>
              <a:t>TP / (TP + FN)</a:t>
            </a:r>
            <a:endParaRPr lang="en-US" sz="1300" dirty="0"/>
          </a:p>
        </p:txBody>
      </p:sp>
      <p:sp>
        <p:nvSpPr>
          <p:cNvPr id="15" name="metric F1 score"/>
          <p:cNvSpPr/>
          <p:nvPr/>
        </p:nvSpPr>
        <p:spPr>
          <a:xfrm>
            <a:off x="548640" y="4014216"/>
            <a:ext cx="6309360" cy="749808"/>
          </a:xfrm>
          <a:prstGeom prst="roundRect">
            <a:avLst>
              <a:gd name="adj" fmla="val 97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Text 14"/>
          <p:cNvSpPr txBox="1"/>
          <p:nvPr/>
        </p:nvSpPr>
        <p:spPr>
          <a:xfrm>
            <a:off x="731520" y="4105656"/>
            <a:ext cx="1463040" cy="566928"/>
          </a:xfrm>
          <a:prstGeom prst="rect">
            <a:avLst/>
          </a:prstGeom>
          <a:noFill/>
          <a:ln/>
        </p:spPr>
        <p:txBody>
          <a:bodyPr wrap="square" lIns="0" tIns="0" rIns="0" bIns="0" rtlCol="0" anchor="ctr"/>
          <a:lstStyle/>
          <a:p>
            <a:pPr indent="0" marL="0">
              <a:buNone/>
            </a:pPr>
            <a:r>
              <a:rPr lang="en-US" sz="1700" b="1" dirty="0">
                <a:solidFill>
                  <a:schemeClr val="tx2"/>
                </a:solidFill>
              </a:rPr>
              <a:t>F1 score</a:t>
            </a:r>
            <a:endParaRPr lang="en-US" sz="1700" dirty="0"/>
          </a:p>
        </p:txBody>
      </p:sp>
      <p:sp>
        <p:nvSpPr>
          <p:cNvPr id="17" name="Text 15"/>
          <p:cNvSpPr txBox="1"/>
          <p:nvPr/>
        </p:nvSpPr>
        <p:spPr>
          <a:xfrm>
            <a:off x="2240280" y="4105656"/>
            <a:ext cx="2926080" cy="566928"/>
          </a:xfrm>
          <a:prstGeom prst="rect">
            <a:avLst/>
          </a:prstGeom>
          <a:noFill/>
          <a:ln/>
        </p:spPr>
        <p:txBody>
          <a:bodyPr wrap="square" lIns="0" tIns="0" rIns="0" bIns="0" rtlCol="0" anchor="ctr"/>
          <a:lstStyle/>
          <a:p>
            <a:pPr indent="0" marL="0">
              <a:buNone/>
            </a:pPr>
            <a:r>
              <a:rPr lang="en-US" sz="1400" dirty="0">
                <a:solidFill>
                  <a:schemeClr val="tx1"/>
                </a:solidFill>
              </a:rPr>
              <a:t>Balance of precision and recall</a:t>
            </a:r>
            <a:endParaRPr lang="en-US" sz="1400" dirty="0"/>
          </a:p>
        </p:txBody>
      </p:sp>
      <p:sp>
        <p:nvSpPr>
          <p:cNvPr id="18" name="Text 16"/>
          <p:cNvSpPr txBox="1"/>
          <p:nvPr/>
        </p:nvSpPr>
        <p:spPr>
          <a:xfrm>
            <a:off x="5212080" y="4105656"/>
            <a:ext cx="1508760" cy="566928"/>
          </a:xfrm>
          <a:prstGeom prst="rect">
            <a:avLst/>
          </a:prstGeom>
          <a:noFill/>
          <a:ln/>
        </p:spPr>
        <p:txBody>
          <a:bodyPr wrap="square" lIns="0" tIns="0" rIns="0" bIns="0" rtlCol="0" anchor="ctr"/>
          <a:lstStyle/>
          <a:p>
            <a:pPr indent="0" marL="0">
              <a:buNone/>
            </a:pPr>
            <a:r>
              <a:rPr lang="en-US" sz="1300" i="1" dirty="0">
                <a:solidFill>
                  <a:schemeClr val="accent5"/>
                </a:solidFill>
              </a:rPr>
              <a:t>2PR / (P + R)</a:t>
            </a:r>
            <a:endParaRPr lang="en-US" sz="1300" dirty="0"/>
          </a:p>
        </p:txBody>
      </p:sp>
      <p:sp>
        <p:nvSpPr>
          <p:cNvPr id="19" name="metric ROC-AUC"/>
          <p:cNvSpPr/>
          <p:nvPr/>
        </p:nvSpPr>
        <p:spPr>
          <a:xfrm>
            <a:off x="548640" y="4910328"/>
            <a:ext cx="6309360" cy="749808"/>
          </a:xfrm>
          <a:prstGeom prst="roundRect">
            <a:avLst>
              <a:gd name="adj" fmla="val 97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0" name="Text 18"/>
          <p:cNvSpPr txBox="1"/>
          <p:nvPr/>
        </p:nvSpPr>
        <p:spPr>
          <a:xfrm>
            <a:off x="731520" y="5001768"/>
            <a:ext cx="1463040" cy="566928"/>
          </a:xfrm>
          <a:prstGeom prst="rect">
            <a:avLst/>
          </a:prstGeom>
          <a:noFill/>
          <a:ln/>
        </p:spPr>
        <p:txBody>
          <a:bodyPr wrap="square" lIns="0" tIns="0" rIns="0" bIns="0" rtlCol="0" anchor="ctr"/>
          <a:lstStyle/>
          <a:p>
            <a:pPr indent="0" marL="0">
              <a:buNone/>
            </a:pPr>
            <a:r>
              <a:rPr lang="en-US" sz="1700" b="1" dirty="0">
                <a:solidFill>
                  <a:schemeClr val="tx2"/>
                </a:solidFill>
              </a:rPr>
              <a:t>ROC-AUC</a:t>
            </a:r>
            <a:endParaRPr lang="en-US" sz="1700" dirty="0"/>
          </a:p>
        </p:txBody>
      </p:sp>
      <p:sp>
        <p:nvSpPr>
          <p:cNvPr id="21" name="Text 19"/>
          <p:cNvSpPr txBox="1"/>
          <p:nvPr/>
        </p:nvSpPr>
        <p:spPr>
          <a:xfrm>
            <a:off x="2240280" y="5001768"/>
            <a:ext cx="2926080" cy="566928"/>
          </a:xfrm>
          <a:prstGeom prst="rect">
            <a:avLst/>
          </a:prstGeom>
          <a:noFill/>
          <a:ln/>
        </p:spPr>
        <p:txBody>
          <a:bodyPr wrap="square" lIns="0" tIns="0" rIns="0" bIns="0" rtlCol="0" anchor="ctr"/>
          <a:lstStyle/>
          <a:p>
            <a:pPr indent="0" marL="0">
              <a:buNone/>
            </a:pPr>
            <a:r>
              <a:rPr lang="en-US" sz="1400" dirty="0">
                <a:solidFill>
                  <a:schemeClr val="tx1"/>
                </a:solidFill>
              </a:rPr>
              <a:t>Ranking quality across all thresholds</a:t>
            </a:r>
            <a:endParaRPr lang="en-US" sz="1400" dirty="0"/>
          </a:p>
        </p:txBody>
      </p:sp>
      <p:sp>
        <p:nvSpPr>
          <p:cNvPr id="22" name="Text 20"/>
          <p:cNvSpPr txBox="1"/>
          <p:nvPr/>
        </p:nvSpPr>
        <p:spPr>
          <a:xfrm>
            <a:off x="5212080" y="5001768"/>
            <a:ext cx="1508760" cy="566928"/>
          </a:xfrm>
          <a:prstGeom prst="rect">
            <a:avLst/>
          </a:prstGeom>
          <a:noFill/>
          <a:ln/>
        </p:spPr>
        <p:txBody>
          <a:bodyPr wrap="square" lIns="0" tIns="0" rIns="0" bIns="0" rtlCol="0" anchor="ctr"/>
          <a:lstStyle/>
          <a:p>
            <a:pPr indent="0" marL="0">
              <a:buNone/>
            </a:pPr>
            <a:r>
              <a:rPr lang="en-US" sz="1300" i="1" dirty="0">
                <a:solidFill>
                  <a:schemeClr val="accent5"/>
                </a:solidFill>
              </a:rPr>
              <a:t>area under ROC</a:t>
            </a:r>
            <a:endParaRPr lang="en-US" sz="1300" dirty="0"/>
          </a:p>
        </p:txBody>
      </p:sp>
      <p:sp>
        <p:nvSpPr>
          <p:cNvPr id="23" name="Text 21"/>
          <p:cNvSpPr txBox="1"/>
          <p:nvPr/>
        </p:nvSpPr>
        <p:spPr>
          <a:xfrm>
            <a:off x="7315200" y="1325880"/>
            <a:ext cx="42976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Confusion matrix</a:t>
            </a:r>
            <a:endParaRPr lang="en-US" sz="1800" dirty="0"/>
          </a:p>
        </p:txBody>
      </p:sp>
      <p:sp>
        <p:nvSpPr>
          <p:cNvPr id="24" name="Text 22"/>
          <p:cNvSpPr txBox="1"/>
          <p:nvPr/>
        </p:nvSpPr>
        <p:spPr>
          <a:xfrm>
            <a:off x="8001000" y="1783080"/>
            <a:ext cx="1737360" cy="274320"/>
          </a:xfrm>
          <a:prstGeom prst="rect">
            <a:avLst/>
          </a:prstGeom>
          <a:noFill/>
          <a:ln/>
        </p:spPr>
        <p:txBody>
          <a:bodyPr wrap="square" lIns="0" tIns="0" rIns="0" bIns="0" rtlCol="0" anchor="t"/>
          <a:lstStyle/>
          <a:p>
            <a:pPr algn="ctr" indent="0" marL="0">
              <a:buNone/>
            </a:pPr>
            <a:r>
              <a:rPr lang="en-US" sz="1200" b="1" dirty="0">
                <a:solidFill>
                  <a:schemeClr val="accent5"/>
                </a:solidFill>
              </a:rPr>
              <a:t>Predicted −</a:t>
            </a:r>
            <a:endParaRPr lang="en-US" sz="1200" dirty="0"/>
          </a:p>
        </p:txBody>
      </p:sp>
      <p:sp>
        <p:nvSpPr>
          <p:cNvPr id="25" name="Text 23"/>
          <p:cNvSpPr txBox="1"/>
          <p:nvPr/>
        </p:nvSpPr>
        <p:spPr>
          <a:xfrm>
            <a:off x="9829800" y="1783080"/>
            <a:ext cx="1737360" cy="274320"/>
          </a:xfrm>
          <a:prstGeom prst="rect">
            <a:avLst/>
          </a:prstGeom>
          <a:noFill/>
          <a:ln/>
        </p:spPr>
        <p:txBody>
          <a:bodyPr wrap="square" lIns="0" tIns="0" rIns="0" bIns="0" rtlCol="0" anchor="t"/>
          <a:lstStyle/>
          <a:p>
            <a:pPr algn="ctr" indent="0" marL="0">
              <a:buNone/>
            </a:pPr>
            <a:r>
              <a:rPr lang="en-US" sz="1200" b="1" dirty="0">
                <a:solidFill>
                  <a:schemeClr val="accent5"/>
                </a:solidFill>
              </a:rPr>
              <a:t>Predicted +</a:t>
            </a:r>
            <a:endParaRPr lang="en-US" sz="1200" dirty="0"/>
          </a:p>
        </p:txBody>
      </p:sp>
      <p:sp>
        <p:nvSpPr>
          <p:cNvPr id="26" name="Text 24"/>
          <p:cNvSpPr txBox="1"/>
          <p:nvPr/>
        </p:nvSpPr>
        <p:spPr>
          <a:xfrm>
            <a:off x="7269480" y="2103120"/>
            <a:ext cx="685800" cy="1463040"/>
          </a:xfrm>
          <a:prstGeom prst="rect">
            <a:avLst/>
          </a:prstGeom>
          <a:noFill/>
          <a:ln/>
        </p:spPr>
        <p:txBody>
          <a:bodyPr wrap="square" lIns="0" tIns="0" rIns="0" bIns="0" rtlCol="0" anchor="ctr"/>
          <a:lstStyle/>
          <a:p>
            <a:pPr algn="ctr" indent="0" marL="0">
              <a:buNone/>
            </a:pPr>
            <a:r>
              <a:rPr lang="en-US" sz="1200" b="1" dirty="0">
                <a:solidFill>
                  <a:schemeClr val="accent5"/>
                </a:solidFill>
              </a:rPr>
              <a:t>Actual −</a:t>
            </a:r>
            <a:endParaRPr lang="en-US" sz="1200" dirty="0"/>
          </a:p>
        </p:txBody>
      </p:sp>
      <p:sp>
        <p:nvSpPr>
          <p:cNvPr id="27" name="Text 25"/>
          <p:cNvSpPr txBox="1"/>
          <p:nvPr/>
        </p:nvSpPr>
        <p:spPr>
          <a:xfrm>
            <a:off x="7269480" y="3657600"/>
            <a:ext cx="685800" cy="1463040"/>
          </a:xfrm>
          <a:prstGeom prst="rect">
            <a:avLst/>
          </a:prstGeom>
          <a:noFill/>
          <a:ln/>
        </p:spPr>
        <p:txBody>
          <a:bodyPr wrap="square" lIns="0" tIns="0" rIns="0" bIns="0" rtlCol="0" anchor="ctr"/>
          <a:lstStyle/>
          <a:p>
            <a:pPr algn="ctr" indent="0" marL="0">
              <a:buNone/>
            </a:pPr>
            <a:r>
              <a:rPr lang="en-US" sz="1200" b="1" dirty="0">
                <a:solidFill>
                  <a:schemeClr val="accent5"/>
                </a:solidFill>
              </a:rPr>
              <a:t>Actual +</a:t>
            </a:r>
            <a:endParaRPr lang="en-US" sz="1200" dirty="0"/>
          </a:p>
        </p:txBody>
      </p:sp>
      <p:sp>
        <p:nvSpPr>
          <p:cNvPr id="28" name="cm cell TN"/>
          <p:cNvSpPr/>
          <p:nvPr/>
        </p:nvSpPr>
        <p:spPr>
          <a:xfrm>
            <a:off x="8001000" y="2103120"/>
            <a:ext cx="1737360" cy="1463040"/>
          </a:xfrm>
          <a:prstGeom prst="roundRect">
            <a:avLst>
              <a:gd name="adj" fmla="val 3750"/>
            </a:avLst>
          </a:prstGeom>
          <a:solidFill>
            <a:schemeClr val="bg2"/>
          </a:solidFill>
          <a:ln>
            <a:solidFill>
              <a:schemeClr val="bg2"/>
            </a:solidFill>
          </a:ln>
        </p:spPr>
        <p:txBody>
          <a:bodyPr wrap="square" lIns="50800" tIns="50800" rIns="50800" bIns="50800" rtlCol="0" anchor="ctr"/>
          <a:lstStyle/>
          <a:p>
            <a:pPr algn="ctr" indent="0" marL="0">
              <a:buNone/>
            </a:pPr>
            <a:r>
              <a:rPr lang="en-US" sz="2600" b="1" dirty="0">
                <a:solidFill>
                  <a:schemeClr val="tx2"/>
                </a:solidFill>
              </a:rPr>
              <a:t>TN</a:t>
            </a:r>
            <a:endParaRPr lang="en-US" sz="2600" dirty="0"/>
          </a:p>
          <a:p>
            <a:pPr algn="ctr" indent="0" marL="0">
              <a:buNone/>
            </a:pPr>
            <a:r>
              <a:rPr lang="en-US" sz="1200" dirty="0">
                <a:solidFill>
                  <a:schemeClr val="tx2"/>
                </a:solidFill>
              </a:rPr>
              <a:t>correct: no diabetes</a:t>
            </a:r>
            <a:endParaRPr lang="en-US" sz="2600" dirty="0"/>
          </a:p>
        </p:txBody>
      </p:sp>
      <p:sp>
        <p:nvSpPr>
          <p:cNvPr id="29" name="cm cell FP"/>
          <p:cNvSpPr/>
          <p:nvPr/>
        </p:nvSpPr>
        <p:spPr>
          <a:xfrm>
            <a:off x="9829800" y="2103120"/>
            <a:ext cx="1737360" cy="1463040"/>
          </a:xfrm>
          <a:prstGeom prst="roundRect">
            <a:avLst>
              <a:gd name="adj" fmla="val 3750"/>
            </a:avLst>
          </a:prstGeom>
          <a:solidFill>
            <a:schemeClr val="bg2"/>
          </a:solidFill>
          <a:ln>
            <a:solidFill>
              <a:schemeClr val="bg2"/>
            </a:solidFill>
          </a:ln>
        </p:spPr>
        <p:txBody>
          <a:bodyPr wrap="square" lIns="50800" tIns="50800" rIns="50800" bIns="50800" rtlCol="0" anchor="ctr"/>
          <a:lstStyle/>
          <a:p>
            <a:pPr algn="ctr" indent="0" marL="0">
              <a:buNone/>
            </a:pPr>
            <a:r>
              <a:rPr lang="en-US" sz="2600" b="1" dirty="0">
                <a:solidFill>
                  <a:schemeClr val="tx2"/>
                </a:solidFill>
              </a:rPr>
              <a:t>FP</a:t>
            </a:r>
            <a:endParaRPr lang="en-US" sz="2600" dirty="0"/>
          </a:p>
          <a:p>
            <a:pPr algn="ctr" indent="0" marL="0">
              <a:buNone/>
            </a:pPr>
            <a:r>
              <a:rPr lang="en-US" sz="1200" dirty="0">
                <a:solidFill>
                  <a:schemeClr val="tx2"/>
                </a:solidFill>
              </a:rPr>
              <a:t>false alarm → extra test</a:t>
            </a:r>
            <a:endParaRPr lang="en-US" sz="2600" dirty="0"/>
          </a:p>
        </p:txBody>
      </p:sp>
      <p:sp>
        <p:nvSpPr>
          <p:cNvPr id="30" name="cm cell FN"/>
          <p:cNvSpPr/>
          <p:nvPr/>
        </p:nvSpPr>
        <p:spPr>
          <a:xfrm>
            <a:off x="8001000" y="3657600"/>
            <a:ext cx="1737360" cy="1463040"/>
          </a:xfrm>
          <a:prstGeom prst="roundRect">
            <a:avLst>
              <a:gd name="adj" fmla="val 3750"/>
            </a:avLst>
          </a:prstGeom>
          <a:solidFill>
            <a:schemeClr val="accent2"/>
          </a:solidFill>
          <a:ln>
            <a:solidFill>
              <a:schemeClr val="accent2"/>
            </a:solidFill>
          </a:ln>
        </p:spPr>
        <p:txBody>
          <a:bodyPr wrap="square" lIns="50800" tIns="50800" rIns="50800" bIns="50800" rtlCol="0" anchor="ctr"/>
          <a:lstStyle/>
          <a:p>
            <a:pPr algn="ctr" indent="0" marL="0">
              <a:buNone/>
            </a:pPr>
            <a:r>
              <a:rPr lang="en-US" sz="2600" b="1" dirty="0">
                <a:solidFill>
                  <a:schemeClr val="bg1"/>
                </a:solidFill>
              </a:rPr>
              <a:t>FN</a:t>
            </a:r>
            <a:endParaRPr lang="en-US" sz="2600" dirty="0"/>
          </a:p>
          <a:p>
            <a:pPr algn="ctr" indent="0" marL="0">
              <a:buNone/>
            </a:pPr>
            <a:r>
              <a:rPr lang="en-US" sz="1200" dirty="0">
                <a:solidFill>
                  <a:schemeClr val="bg1"/>
                </a:solidFill>
              </a:rPr>
              <a:t>missed diabetic patient</a:t>
            </a:r>
            <a:endParaRPr lang="en-US" sz="2600" dirty="0"/>
          </a:p>
        </p:txBody>
      </p:sp>
      <p:sp>
        <p:nvSpPr>
          <p:cNvPr id="31" name="cm cell TP"/>
          <p:cNvSpPr/>
          <p:nvPr/>
        </p:nvSpPr>
        <p:spPr>
          <a:xfrm>
            <a:off x="9829800" y="3657600"/>
            <a:ext cx="1737360" cy="1463040"/>
          </a:xfrm>
          <a:prstGeom prst="roundRect">
            <a:avLst>
              <a:gd name="adj" fmla="val 3750"/>
            </a:avLst>
          </a:prstGeom>
          <a:solidFill>
            <a:schemeClr val="accent1"/>
          </a:solidFill>
          <a:ln>
            <a:solidFill>
              <a:schemeClr val="accent1"/>
            </a:solidFill>
          </a:ln>
        </p:spPr>
        <p:txBody>
          <a:bodyPr wrap="square" lIns="50800" tIns="50800" rIns="50800" bIns="50800" rtlCol="0" anchor="ctr"/>
          <a:lstStyle/>
          <a:p>
            <a:pPr algn="ctr" indent="0" marL="0">
              <a:buNone/>
            </a:pPr>
            <a:r>
              <a:rPr lang="en-US" sz="2600" b="1" dirty="0">
                <a:solidFill>
                  <a:schemeClr val="bg1"/>
                </a:solidFill>
              </a:rPr>
              <a:t>TP</a:t>
            </a:r>
            <a:endParaRPr lang="en-US" sz="2600" dirty="0"/>
          </a:p>
          <a:p>
            <a:pPr algn="ctr" indent="0" marL="0">
              <a:buNone/>
            </a:pPr>
            <a:r>
              <a:rPr lang="en-US" sz="1200" dirty="0">
                <a:solidFill>
                  <a:schemeClr val="bg1"/>
                </a:solidFill>
              </a:rPr>
              <a:t>diabetic patient caught</a:t>
            </a:r>
            <a:endParaRPr lang="en-US" sz="2600" dirty="0"/>
          </a:p>
        </p:txBody>
      </p:sp>
      <p:sp>
        <p:nvSpPr>
          <p:cNvPr id="32" name="Text 30"/>
          <p:cNvSpPr txBox="1"/>
          <p:nvPr/>
        </p:nvSpPr>
        <p:spPr>
          <a:xfrm>
            <a:off x="7269480" y="5349240"/>
            <a:ext cx="4370832" cy="685800"/>
          </a:xfrm>
          <a:prstGeom prst="rect">
            <a:avLst/>
          </a:prstGeom>
          <a:noFill/>
          <a:ln/>
        </p:spPr>
        <p:txBody>
          <a:bodyPr wrap="square" lIns="0" tIns="0" rIns="0" bIns="0" rtlCol="0" anchor="t"/>
          <a:lstStyle/>
          <a:p>
            <a:pPr indent="0" marL="0">
              <a:buNone/>
            </a:pPr>
            <a:r>
              <a:rPr lang="en-US" sz="1300" i="1" dirty="0">
                <a:solidFill>
                  <a:schemeClr val="tx2"/>
                </a:solidFill>
              </a:rPr>
              <a:t>In screening, FN is the costliest error, so recall matters most; precision keeps false alarms in check</a:t>
            </a:r>
            <a:endParaRPr lang="en-US" sz="1300" dirty="0"/>
          </a:p>
        </p:txBody>
      </p:sp>
      <p:sp>
        <p:nvSpPr>
          <p:cNvPr id="33" name="Button: Next ›">
            <a:hlinkClick r:id="rId1"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34" name="Button: Agenda">
            <a:hlinkClick r:id="rId2"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35" name="Button: ‹ Prev">
            <a:hlinkClick r:id="rId3"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Results: Test-Set Comparison</a:t>
            </a:r>
            <a:endParaRPr lang="en-US" sz="3200" dirty="0"/>
          </a:p>
        </p:txBody>
      </p:sp>
      <p:graphicFrame>
        <p:nvGraphicFramePr>
          <p:cNvPr id="3" name="Chart 0" descr=""/>
          <p:cNvGraphicFramePr/>
          <p:nvPr/>
        </p:nvGraphicFramePr>
        <p:xfrm>
          <a:off x="457200" y="1234440"/>
          <a:ext cx="7040880" cy="4937760"/>
        </p:xfrm>
        <a:graphic xmlns:a="http://schemas.openxmlformats.org/drawingml/2006/main">
          <a:graphicData uri="http://schemas.openxmlformats.org/drawingml/2006/chart">
            <c:chart xmlns:c="http://schemas.openxmlformats.org/drawingml/2006/chart" r:id="rId1"/>
          </a:graphicData>
        </a:graphic>
      </p:graphicFrame>
      <p:sp>
        <p:nvSpPr>
          <p:cNvPr id="4" name="winner card"/>
          <p:cNvSpPr/>
          <p:nvPr/>
        </p:nvSpPr>
        <p:spPr>
          <a:xfrm>
            <a:off x="7772400" y="1234440"/>
            <a:ext cx="3867912" cy="3337560"/>
          </a:xfrm>
          <a:prstGeom prst="roundRect">
            <a:avLst>
              <a:gd name="adj" fmla="val 2192"/>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5" name="trophy"/>
          <p:cNvSpPr/>
          <p:nvPr/>
        </p:nvSpPr>
        <p:spPr>
          <a:xfrm>
            <a:off x="8001000" y="1463040"/>
            <a:ext cx="685800" cy="685800"/>
          </a:xfrm>
          <a:prstGeom prst="ellipse">
            <a:avLst/>
          </a:prstGeom>
          <a:solidFill>
            <a:schemeClr val="accent3"/>
          </a:solidFill>
          <a:ln w="12700">
            <a:solidFill>
              <a:schemeClr val="accent3"/>
            </a:solidFill>
            <a:prstDash val="solid"/>
          </a:ln>
        </p:spPr>
      </p:sp>
      <p:pic>
        <p:nvPicPr>
          <p:cNvPr id="6" name="trophy glyph" descr="icon">    </p:cNvPr>
          <p:cNvPicPr>
            <a:picLocks noChangeAspect="1"/>
          </p:cNvPicPr>
          <p:nvPr/>
        </p:nvPicPr>
        <p:blipFill>
          <a:blip r:embed="rId2"/>
          <a:stretch>
            <a:fillRect/>
          </a:stretch>
        </p:blipFill>
        <p:spPr>
          <a:xfrm>
            <a:off x="8165592" y="1627632"/>
            <a:ext cx="356616" cy="356616"/>
          </a:xfrm>
          <a:prstGeom prst="rect">
            <a:avLst/>
          </a:prstGeom>
        </p:spPr>
      </p:pic>
      <p:sp>
        <p:nvSpPr>
          <p:cNvPr id="7" name="Text 3"/>
          <p:cNvSpPr txBox="1"/>
          <p:nvPr/>
        </p:nvSpPr>
        <p:spPr>
          <a:xfrm>
            <a:off x="8823960" y="1463040"/>
            <a:ext cx="2743200" cy="731520"/>
          </a:xfrm>
          <a:prstGeom prst="rect">
            <a:avLst/>
          </a:prstGeom>
          <a:noFill/>
          <a:ln/>
        </p:spPr>
        <p:txBody>
          <a:bodyPr wrap="square" lIns="0" tIns="0" rIns="0" bIns="0" rtlCol="0" anchor="ctr"/>
          <a:lstStyle/>
          <a:p>
            <a:pPr indent="0" marL="0">
              <a:buNone/>
            </a:pPr>
            <a:r>
              <a:rPr lang="en-US" sz="1300" b="1" dirty="0">
                <a:solidFill>
                  <a:schemeClr val="accent3"/>
                </a:solidFill>
                <a:latin typeface="Cambria" pitchFamily="34" charset="0"/>
                <a:ea typeface="Cambria" pitchFamily="34" charset="-122"/>
                <a:cs typeface="Cambria" pitchFamily="34" charset="-120"/>
              </a:rPr>
              <a:t>Final model</a:t>
            </a:r>
            <a:endParaRPr lang="en-US" sz="1500" dirty="0"/>
          </a:p>
          <a:p>
            <a:pPr indent="0" marL="0">
              <a:buNone/>
            </a:pPr>
            <a:r>
              <a:rPr lang="en-US" sz="2200" b="1" dirty="0">
                <a:solidFill>
                  <a:schemeClr val="bg1"/>
                </a:solidFill>
                <a:latin typeface="Cambria" pitchFamily="34" charset="0"/>
                <a:ea typeface="Cambria" pitchFamily="34" charset="-122"/>
                <a:cs typeface="Cambria" pitchFamily="34" charset="-120"/>
              </a:rPr>
              <a:t>Random Forest</a:t>
            </a:r>
            <a:endParaRPr lang="en-US" sz="1500" dirty="0"/>
          </a:p>
        </p:txBody>
      </p:sp>
      <p:sp>
        <p:nvSpPr>
          <p:cNvPr id="8" name="Text 4"/>
          <p:cNvSpPr txBox="1"/>
          <p:nvPr/>
        </p:nvSpPr>
        <p:spPr>
          <a:xfrm>
            <a:off x="8001000" y="2377440"/>
            <a:ext cx="3520440" cy="210312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chemeClr val="bg1"/>
                </a:solidFill>
              </a:rPr>
              <a:t>Recall 0.741 </a:t>
            </a:r>
            <a:pPr indent="0" marL="0">
              <a:spcAft>
                <a:spcPts val="600"/>
              </a:spcAft>
              <a:buNone/>
            </a:pPr>
            <a:r>
              <a:rPr lang="en-US" sz="1400" dirty="0">
                <a:solidFill>
                  <a:schemeClr val="bg1"/>
                </a:solidFill>
              </a:rPr>
              <a:t>(40 of 54 caught)</a:t>
            </a:r>
            <a:endParaRPr lang="en-US" sz="1500" dirty="0"/>
          </a:p>
          <a:p>
            <a:pPr marL="203200" indent="-203200">
              <a:spcAft>
                <a:spcPts val="600"/>
              </a:spcAft>
              <a:buSzPct val="100000"/>
              <a:buChar char="•"/>
            </a:pPr>
            <a:r>
              <a:rPr lang="en-US" sz="1400" b="1" dirty="0">
                <a:solidFill>
                  <a:schemeClr val="bg1"/>
                </a:solidFill>
              </a:rPr>
              <a:t>ROC-AUC 0.809 </a:t>
            </a:r>
            <a:pPr indent="0" marL="0">
              <a:spcAft>
                <a:spcPts val="600"/>
              </a:spcAft>
              <a:buNone/>
            </a:pPr>
            <a:r>
              <a:rPr lang="en-US" sz="1400" dirty="0">
                <a:solidFill>
                  <a:schemeClr val="bg1"/>
                </a:solidFill>
              </a:rPr>
              <a:t>(CV 0.829)</a:t>
            </a:r>
            <a:endParaRPr lang="en-US" sz="1500" dirty="0"/>
          </a:p>
          <a:p>
            <a:pPr marL="203200" indent="-203200">
              <a:spcAft>
                <a:spcPts val="600"/>
              </a:spcAft>
              <a:buSzPct val="100000"/>
              <a:buChar char="•"/>
            </a:pPr>
            <a:r>
              <a:rPr lang="en-US" sz="1400" b="1" dirty="0">
                <a:solidFill>
                  <a:schemeClr val="bg1"/>
                </a:solidFill>
              </a:rPr>
              <a:t>Precision 0.615, </a:t>
            </a:r>
            <a:pPr indent="0" marL="0">
              <a:spcAft>
                <a:spcPts val="600"/>
              </a:spcAft>
              <a:buNone/>
            </a:pPr>
            <a:r>
              <a:rPr lang="en-US" sz="1400" dirty="0">
                <a:solidFill>
                  <a:schemeClr val="bg1"/>
                </a:solidFill>
              </a:rPr>
              <a:t>specificity 0.75</a:t>
            </a:r>
            <a:endParaRPr lang="en-US" sz="1500" dirty="0"/>
          </a:p>
          <a:p>
            <a:pPr marL="203200" indent="-203200">
              <a:spcAft>
                <a:spcPts val="600"/>
              </a:spcAft>
              <a:buSzPct val="100000"/>
              <a:buChar char="•"/>
            </a:pPr>
            <a:r>
              <a:rPr lang="en-US" sz="1400" dirty="0">
                <a:solidFill>
                  <a:schemeClr val="bg1"/>
                </a:solidFill>
              </a:rPr>
              <a:t>Recall ≥ 0.70 in both CV and test, highest overall score</a:t>
            </a:r>
            <a:endParaRPr lang="en-US" sz="1500" dirty="0"/>
          </a:p>
        </p:txBody>
      </p:sp>
      <p:sp>
        <p:nvSpPr>
          <p:cNvPr id="9" name="Text 5"/>
          <p:cNvSpPr txBox="1"/>
          <p:nvPr/>
        </p:nvSpPr>
        <p:spPr>
          <a:xfrm>
            <a:off x="7772400" y="4709160"/>
            <a:ext cx="3867912" cy="731520"/>
          </a:xfrm>
          <a:prstGeom prst="rect">
            <a:avLst/>
          </a:prstGeom>
          <a:noFill/>
          <a:ln/>
        </p:spPr>
        <p:txBody>
          <a:bodyPr wrap="square" lIns="0" tIns="0" rIns="0" bIns="0" rtlCol="0" anchor="t"/>
          <a:lstStyle/>
          <a:p>
            <a:pPr indent="0" marL="0">
              <a:buNone/>
            </a:pPr>
            <a:r>
              <a:rPr lang="en-US" sz="1300" i="1" dirty="0">
                <a:solidFill>
                  <a:schemeClr val="tx2"/>
                </a:solidFill>
              </a:rPr>
              <a:t>XGBoost had the best test scores, but its cross-validated recall (0.687) failed the 0.70 screening rule</a:t>
            </a:r>
            <a:endParaRPr lang="en-US" sz="1300" dirty="0"/>
          </a:p>
        </p:txBody>
      </p:sp>
      <p:sp>
        <p:nvSpPr>
          <p:cNvPr id="10" name="Button: Open the Model Explorer  ›">
            <a:hlinkClick r:id="rId3" tooltip="Open the Model Explorer  ›" action="ppaction://hlinksldjump"/>
          </p:cNvPr>
          <p:cNvSpPr/>
          <p:nvPr/>
        </p:nvSpPr>
        <p:spPr>
          <a:xfrm>
            <a:off x="7772400" y="5577840"/>
            <a:ext cx="3867912" cy="457200"/>
          </a:xfrm>
          <a:prstGeom prst="roundRect">
            <a:avLst>
              <a:gd name="adj" fmla="val 20000"/>
            </a:avLst>
          </a:prstGeom>
          <a:solidFill>
            <a:schemeClr val="accent2"/>
          </a:solidFill>
          <a:ln>
            <a:solidFill>
              <a:schemeClr val="accent2"/>
            </a:solidFill>
          </a:ln>
        </p:spPr>
        <p:txBody>
          <a:bodyPr wrap="square" lIns="0" tIns="0" rIns="0" bIns="0" rtlCol="0" anchor="ctr"/>
          <a:lstStyle/>
          <a:p>
            <a:pPr algn="ctr" indent="0" marL="0">
              <a:buNone/>
            </a:pPr>
            <a:r>
              <a:rPr lang="en-US" sz="1400" b="1" dirty="0">
                <a:solidFill>
                  <a:schemeClr val="bg1"/>
                </a:solidFill>
              </a:rPr>
              <a:t>Open the Model Explorer  ›</a:t>
            </a:r>
            <a:endParaRPr lang="en-US" sz="1400" dirty="0"/>
          </a:p>
        </p:txBody>
      </p:sp>
      <p:sp>
        <p:nvSpPr>
          <p:cNvPr id="11" name="Button: Next ›">
            <a:hlinkClick r:id="rId4"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12" name="Button: Agenda">
            <a:hlinkClick r:id="rId5"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13" name="Button: ‹ Prev">
            <a:hlinkClick r:id="rId6"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Model Explorer: click a model</a:t>
            </a:r>
            <a:endParaRPr lang="en-US" sz="3200" dirty="0"/>
          </a:p>
        </p:txBody>
      </p:sp>
      <p:pic>
        <p:nvPicPr>
          <p:cNvPr id="3" name="ROC curves figure" descr="ROC curves of all five models">    </p:cNvPr>
          <p:cNvPicPr>
            <a:picLocks noChangeAspect="1"/>
          </p:cNvPicPr>
          <p:nvPr/>
        </p:nvPicPr>
        <p:blipFill>
          <a:blip r:embed="rId1"/>
          <a:stretch>
            <a:fillRect/>
          </a:stretch>
        </p:blipFill>
        <p:spPr>
          <a:xfrm>
            <a:off x="548640" y="1234440"/>
            <a:ext cx="5120640" cy="4139563"/>
          </a:xfrm>
          <a:prstGeom prst="rect">
            <a:avLst/>
          </a:prstGeom>
        </p:spPr>
      </p:pic>
      <p:sp>
        <p:nvSpPr>
          <p:cNvPr id="4" name="explorer card Logistic Regression">
            <a:hlinkClick r:id="rId4" tooltip="Inspect Logistic Regression" action="ppaction://hlinksldjump"/>
          </p:cNvPr>
          <p:cNvSpPr/>
          <p:nvPr/>
        </p:nvSpPr>
        <p:spPr>
          <a:xfrm>
            <a:off x="5989320" y="1234440"/>
            <a:ext cx="5650992" cy="841248"/>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explorer icon Logistic Regression">
            <a:hlinkClick r:id="rId4" tooltip="Inspect Logistic Regression" action="ppaction://hlinksldjump"/>
          </p:cNvPr>
          <p:cNvSpPr/>
          <p:nvPr/>
        </p:nvSpPr>
        <p:spPr>
          <a:xfrm>
            <a:off x="6144768" y="1362456"/>
            <a:ext cx="585216" cy="585216"/>
          </a:xfrm>
          <a:prstGeom prst="ellipse">
            <a:avLst/>
          </a:prstGeom>
          <a:solidFill>
            <a:srgbClr val="3A5A98"/>
          </a:solidFill>
          <a:ln w="12700">
            <a:solidFill>
              <a:srgbClr val="3A5A98"/>
            </a:solidFill>
            <a:prstDash val="solid"/>
          </a:ln>
        </p:spPr>
      </p:sp>
      <p:pic>
        <p:nvPicPr>
          <p:cNvPr id="6" name="explorer icon Logistic Regression glyph" descr="icon">
            <a:hlinkClick r:id="rId4" tooltip="Inspect Logistic Regression" action="ppaction://hlinksldjump"/>
          </p:cNvPr>
          <p:cNvPicPr>
            <a:picLocks noChangeAspect="1"/>
          </p:cNvPicPr>
          <p:nvPr/>
        </p:nvPicPr>
        <p:blipFill>
          <a:blip r:embed="rId3"/>
          <a:stretch>
            <a:fillRect/>
          </a:stretch>
        </p:blipFill>
        <p:spPr>
          <a:xfrm>
            <a:off x="6285220" y="1502908"/>
            <a:ext cx="304312" cy="304312"/>
          </a:xfrm>
          <a:prstGeom prst="rect">
            <a:avLst/>
          </a:prstGeom>
        </p:spPr>
      </p:pic>
      <p:sp>
        <p:nvSpPr>
          <p:cNvPr id="7" name="explorer text Logistic Regression">
            <a:hlinkClick r:id="rId4" tooltip="Inspect Logistic Regression" action="ppaction://hlinksldjump"/>
          </p:cNvPr>
          <p:cNvSpPr/>
          <p:nvPr/>
        </p:nvSpPr>
        <p:spPr>
          <a:xfrm>
            <a:off x="6858000" y="1307592"/>
            <a:ext cx="3246120" cy="694944"/>
          </a:xfrm>
          <a:prstGeom prst="rect">
            <a:avLst/>
          </a:prstGeom>
          <a:noFill/>
          <a:ln/>
        </p:spPr>
        <p:txBody>
          <a:bodyPr wrap="square" lIns="0" tIns="0" rIns="0" bIns="0" rtlCol="0" anchor="ctr"/>
          <a:lstStyle/>
          <a:p>
            <a:pPr indent="0" marL="0">
              <a:buNone/>
            </a:pPr>
            <a:r>
              <a:rPr lang="en-US" sz="1600" b="1" dirty="0">
                <a:solidFill>
                  <a:schemeClr val="tx2"/>
                </a:solidFill>
              </a:rPr>
              <a:t>Logistic Regression</a:t>
            </a:r>
            <a:endParaRPr lang="en-US" sz="1600" dirty="0"/>
          </a:p>
          <a:p>
            <a:pPr indent="0" marL="0">
              <a:buNone/>
            </a:pPr>
            <a:r>
              <a:rPr lang="en-US" sz="1300" dirty="0">
                <a:solidFill>
                  <a:schemeClr val="tx1"/>
                </a:solidFill>
              </a:rPr>
              <a:t>ROC-AUC 0.811   |   Recall 0.648   |   FN 19</a:t>
            </a:r>
            <a:endParaRPr lang="en-US" sz="1600" dirty="0"/>
          </a:p>
        </p:txBody>
      </p:sp>
      <p:sp>
        <p:nvSpPr>
          <p:cNvPr id="8" name="explorer badge Logistic Regression">
            <a:hlinkClick r:id="rId4" tooltip="Inspect Logistic Regression" action="ppaction://hlinksldjump"/>
          </p:cNvPr>
          <p:cNvSpPr/>
          <p:nvPr/>
        </p:nvSpPr>
        <p:spPr>
          <a:xfrm>
            <a:off x="10195560" y="1453896"/>
            <a:ext cx="1280160" cy="402336"/>
          </a:xfrm>
          <a:prstGeom prst="roundRect">
            <a:avLst>
              <a:gd name="adj" fmla="val 22727"/>
            </a:avLst>
          </a:prstGeom>
          <a:solidFill>
            <a:schemeClr val="accent5"/>
          </a:solidFill>
          <a:ln>
            <a:solidFill>
              <a:schemeClr val="accent5"/>
            </a:solidFill>
          </a:ln>
        </p:spPr>
        <p:txBody>
          <a:bodyPr wrap="square" lIns="0" tIns="0" rIns="0" bIns="0" rtlCol="0" anchor="ctr"/>
          <a:lstStyle/>
          <a:p>
            <a:pPr algn="ctr" indent="0" marL="0">
              <a:buNone/>
            </a:pPr>
            <a:r>
              <a:rPr lang="en-US" sz="1200" b="1" dirty="0">
                <a:solidFill>
                  <a:schemeClr val="bg1"/>
                </a:solidFill>
              </a:rPr>
              <a:t>Rule failed</a:t>
            </a:r>
            <a:endParaRPr lang="en-US" sz="1200" dirty="0"/>
          </a:p>
        </p:txBody>
      </p:sp>
      <p:sp>
        <p:nvSpPr>
          <p:cNvPr id="9" name="explorer card K-Nearest Neighbors">
            <a:hlinkClick r:id="rId7" tooltip="Inspect K-Nearest Neighbors" action="ppaction://hlinksldjump"/>
          </p:cNvPr>
          <p:cNvSpPr/>
          <p:nvPr/>
        </p:nvSpPr>
        <p:spPr>
          <a:xfrm>
            <a:off x="5989320" y="2212848"/>
            <a:ext cx="5650992" cy="841248"/>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explorer icon K-Nearest Neighbors">
            <a:hlinkClick r:id="rId7" tooltip="Inspect K-Nearest Neighbors" action="ppaction://hlinksldjump"/>
          </p:cNvPr>
          <p:cNvSpPr/>
          <p:nvPr/>
        </p:nvSpPr>
        <p:spPr>
          <a:xfrm>
            <a:off x="6144768" y="2340864"/>
            <a:ext cx="585216" cy="585216"/>
          </a:xfrm>
          <a:prstGeom prst="ellipse">
            <a:avLst/>
          </a:prstGeom>
          <a:solidFill>
            <a:srgbClr val="F4B942"/>
          </a:solidFill>
          <a:ln w="12700">
            <a:solidFill>
              <a:srgbClr val="F4B942"/>
            </a:solidFill>
            <a:prstDash val="solid"/>
          </a:ln>
        </p:spPr>
      </p:sp>
      <p:pic>
        <p:nvPicPr>
          <p:cNvPr id="11" name="explorer icon K-Nearest Neighbors glyph" descr="icon">
            <a:hlinkClick r:id="rId7" tooltip="Inspect K-Nearest Neighbors" action="ppaction://hlinksldjump"/>
          </p:cNvPr>
          <p:cNvPicPr>
            <a:picLocks noChangeAspect="1"/>
          </p:cNvPicPr>
          <p:nvPr/>
        </p:nvPicPr>
        <p:blipFill>
          <a:blip r:embed="rId6"/>
          <a:stretch>
            <a:fillRect/>
          </a:stretch>
        </p:blipFill>
        <p:spPr>
          <a:xfrm>
            <a:off x="6285220" y="2481316"/>
            <a:ext cx="304312" cy="304312"/>
          </a:xfrm>
          <a:prstGeom prst="rect">
            <a:avLst/>
          </a:prstGeom>
        </p:spPr>
      </p:pic>
      <p:sp>
        <p:nvSpPr>
          <p:cNvPr id="12" name="explorer text K-Nearest Neighbors">
            <a:hlinkClick r:id="rId7" tooltip="Inspect K-Nearest Neighbors" action="ppaction://hlinksldjump"/>
          </p:cNvPr>
          <p:cNvSpPr/>
          <p:nvPr/>
        </p:nvSpPr>
        <p:spPr>
          <a:xfrm>
            <a:off x="6858000" y="2286000"/>
            <a:ext cx="3246120" cy="694944"/>
          </a:xfrm>
          <a:prstGeom prst="rect">
            <a:avLst/>
          </a:prstGeom>
          <a:noFill/>
          <a:ln/>
        </p:spPr>
        <p:txBody>
          <a:bodyPr wrap="square" lIns="0" tIns="0" rIns="0" bIns="0" rtlCol="0" anchor="ctr"/>
          <a:lstStyle/>
          <a:p>
            <a:pPr indent="0" marL="0">
              <a:buNone/>
            </a:pPr>
            <a:r>
              <a:rPr lang="en-US" sz="1600" b="1" dirty="0">
                <a:solidFill>
                  <a:schemeClr val="tx2"/>
                </a:solidFill>
              </a:rPr>
              <a:t>K-Nearest Neighbors</a:t>
            </a:r>
            <a:endParaRPr lang="en-US" sz="1600" dirty="0"/>
          </a:p>
          <a:p>
            <a:pPr indent="0" marL="0">
              <a:buNone/>
            </a:pPr>
            <a:r>
              <a:rPr lang="en-US" sz="1300" dirty="0">
                <a:solidFill>
                  <a:schemeClr val="tx1"/>
                </a:solidFill>
              </a:rPr>
              <a:t>ROC-AUC 0.797   |   Recall 0.778   |   FN 12</a:t>
            </a:r>
            <a:endParaRPr lang="en-US" sz="1600" dirty="0"/>
          </a:p>
        </p:txBody>
      </p:sp>
      <p:sp>
        <p:nvSpPr>
          <p:cNvPr id="13" name="explorer badge K-Nearest Neighbors">
            <a:hlinkClick r:id="rId7" tooltip="Inspect K-Nearest Neighbors" action="ppaction://hlinksldjump"/>
          </p:cNvPr>
          <p:cNvSpPr/>
          <p:nvPr/>
        </p:nvSpPr>
        <p:spPr>
          <a:xfrm>
            <a:off x="10195560" y="2432304"/>
            <a:ext cx="1280160" cy="402336"/>
          </a:xfrm>
          <a:prstGeom prst="roundRect">
            <a:avLst>
              <a:gd name="adj" fmla="val 22727"/>
            </a:avLst>
          </a:prstGeom>
          <a:solidFill>
            <a:schemeClr val="accent3"/>
          </a:solidFill>
          <a:ln>
            <a:solidFill>
              <a:schemeClr val="accent3"/>
            </a:solidFill>
          </a:ln>
        </p:spPr>
        <p:txBody>
          <a:bodyPr wrap="square" lIns="0" tIns="0" rIns="0" bIns="0" rtlCol="0" anchor="ctr"/>
          <a:lstStyle/>
          <a:p>
            <a:pPr algn="ctr" indent="0" marL="0">
              <a:buNone/>
            </a:pPr>
            <a:r>
              <a:rPr lang="en-US" sz="1200" b="1" dirty="0">
                <a:solidFill>
                  <a:schemeClr val="bg1"/>
                </a:solidFill>
              </a:rPr>
              <a:t>Eligible</a:t>
            </a:r>
            <a:endParaRPr lang="en-US" sz="1200" dirty="0"/>
          </a:p>
        </p:txBody>
      </p:sp>
      <p:sp>
        <p:nvSpPr>
          <p:cNvPr id="14" name="explorer card Decision Tree">
            <a:hlinkClick r:id="rId10" tooltip="Inspect Decision Tree" action="ppaction://hlinksldjump"/>
          </p:cNvPr>
          <p:cNvSpPr/>
          <p:nvPr/>
        </p:nvSpPr>
        <p:spPr>
          <a:xfrm>
            <a:off x="5989320" y="3191256"/>
            <a:ext cx="5650992" cy="841248"/>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5" name="explorer icon Decision Tree">
            <a:hlinkClick r:id="rId10" tooltip="Inspect Decision Tree" action="ppaction://hlinksldjump"/>
          </p:cNvPr>
          <p:cNvSpPr/>
          <p:nvPr/>
        </p:nvSpPr>
        <p:spPr>
          <a:xfrm>
            <a:off x="6144768" y="3319272"/>
            <a:ext cx="585216" cy="585216"/>
          </a:xfrm>
          <a:prstGeom prst="ellipse">
            <a:avLst/>
          </a:prstGeom>
          <a:solidFill>
            <a:srgbClr val="7A8B94"/>
          </a:solidFill>
          <a:ln w="12700">
            <a:solidFill>
              <a:srgbClr val="7A8B94"/>
            </a:solidFill>
            <a:prstDash val="solid"/>
          </a:ln>
        </p:spPr>
      </p:sp>
      <p:pic>
        <p:nvPicPr>
          <p:cNvPr id="16" name="explorer icon Decision Tree glyph" descr="icon">
            <a:hlinkClick r:id="rId10" tooltip="Inspect Decision Tree" action="ppaction://hlinksldjump"/>
          </p:cNvPr>
          <p:cNvPicPr>
            <a:picLocks noChangeAspect="1"/>
          </p:cNvPicPr>
          <p:nvPr/>
        </p:nvPicPr>
        <p:blipFill>
          <a:blip r:embed="rId9"/>
          <a:stretch>
            <a:fillRect/>
          </a:stretch>
        </p:blipFill>
        <p:spPr>
          <a:xfrm>
            <a:off x="6285220" y="3459724"/>
            <a:ext cx="304312" cy="304312"/>
          </a:xfrm>
          <a:prstGeom prst="rect">
            <a:avLst/>
          </a:prstGeom>
        </p:spPr>
      </p:pic>
      <p:sp>
        <p:nvSpPr>
          <p:cNvPr id="17" name="explorer text Decision Tree">
            <a:hlinkClick r:id="rId10" tooltip="Inspect Decision Tree" action="ppaction://hlinksldjump"/>
          </p:cNvPr>
          <p:cNvSpPr/>
          <p:nvPr/>
        </p:nvSpPr>
        <p:spPr>
          <a:xfrm>
            <a:off x="6858000" y="3264408"/>
            <a:ext cx="3246120" cy="694944"/>
          </a:xfrm>
          <a:prstGeom prst="rect">
            <a:avLst/>
          </a:prstGeom>
          <a:noFill/>
          <a:ln/>
        </p:spPr>
        <p:txBody>
          <a:bodyPr wrap="square" lIns="0" tIns="0" rIns="0" bIns="0" rtlCol="0" anchor="ctr"/>
          <a:lstStyle/>
          <a:p>
            <a:pPr indent="0" marL="0">
              <a:buNone/>
            </a:pPr>
            <a:r>
              <a:rPr lang="en-US" sz="1600" b="1" dirty="0">
                <a:solidFill>
                  <a:schemeClr val="tx2"/>
                </a:solidFill>
              </a:rPr>
              <a:t>Decision Tree</a:t>
            </a:r>
            <a:endParaRPr lang="en-US" sz="1600" dirty="0"/>
          </a:p>
          <a:p>
            <a:pPr indent="0" marL="0">
              <a:buNone/>
            </a:pPr>
            <a:r>
              <a:rPr lang="en-US" sz="1300" dirty="0">
                <a:solidFill>
                  <a:schemeClr val="tx1"/>
                </a:solidFill>
              </a:rPr>
              <a:t>ROC-AUC 0.762   |   Recall 0.778   |   FN 12</a:t>
            </a:r>
            <a:endParaRPr lang="en-US" sz="1600" dirty="0"/>
          </a:p>
        </p:txBody>
      </p:sp>
      <p:sp>
        <p:nvSpPr>
          <p:cNvPr id="18" name="explorer badge Decision Tree">
            <a:hlinkClick r:id="rId10" tooltip="Inspect Decision Tree" action="ppaction://hlinksldjump"/>
          </p:cNvPr>
          <p:cNvSpPr/>
          <p:nvPr/>
        </p:nvSpPr>
        <p:spPr>
          <a:xfrm>
            <a:off x="10195560" y="3410712"/>
            <a:ext cx="1280160" cy="402336"/>
          </a:xfrm>
          <a:prstGeom prst="roundRect">
            <a:avLst>
              <a:gd name="adj" fmla="val 22727"/>
            </a:avLst>
          </a:prstGeom>
          <a:solidFill>
            <a:schemeClr val="accent5"/>
          </a:solidFill>
          <a:ln>
            <a:solidFill>
              <a:schemeClr val="accent5"/>
            </a:solidFill>
          </a:ln>
        </p:spPr>
        <p:txBody>
          <a:bodyPr wrap="square" lIns="0" tIns="0" rIns="0" bIns="0" rtlCol="0" anchor="ctr"/>
          <a:lstStyle/>
          <a:p>
            <a:pPr algn="ctr" indent="0" marL="0">
              <a:buNone/>
            </a:pPr>
            <a:r>
              <a:rPr lang="en-US" sz="1200" b="1" dirty="0">
                <a:solidFill>
                  <a:schemeClr val="bg1"/>
                </a:solidFill>
              </a:rPr>
              <a:t>Rule failed</a:t>
            </a:r>
            <a:endParaRPr lang="en-US" sz="1200" dirty="0"/>
          </a:p>
        </p:txBody>
      </p:sp>
      <p:sp>
        <p:nvSpPr>
          <p:cNvPr id="19" name="explorer card Random Forest">
            <a:hlinkClick r:id="rId13" tooltip="Inspect Random Forest" action="ppaction://hlinksldjump"/>
          </p:cNvPr>
          <p:cNvSpPr/>
          <p:nvPr/>
        </p:nvSpPr>
        <p:spPr>
          <a:xfrm>
            <a:off x="5989320" y="4169664"/>
            <a:ext cx="5650992" cy="841248"/>
          </a:xfrm>
          <a:prstGeom prst="roundRect">
            <a:avLst>
              <a:gd name="adj" fmla="val 8696"/>
            </a:avLst>
          </a:prstGeom>
          <a:solidFill>
            <a:srgbClr val="D8EFEF"/>
          </a:solidFill>
          <a:ln w="12700">
            <a:solidFill>
              <a:srgbClr val="D8EFEF"/>
            </a:solidFill>
            <a:prstDash val="solid"/>
          </a:ln>
          <a:effectLst>
            <a:outerShdw sx="100000" sy="100000" kx="0" ky="0" algn="bl" rotWithShape="0" blurRad="76200" dist="25400" dir="5400000">
              <a:srgbClr val="000000">
                <a:alpha val="15000"/>
              </a:srgbClr>
            </a:outerShdw>
          </a:effectLst>
        </p:spPr>
      </p:sp>
      <p:sp>
        <p:nvSpPr>
          <p:cNvPr id="20" name="explorer icon Random Forest">
            <a:hlinkClick r:id="rId13" tooltip="Inspect Random Forest" action="ppaction://hlinksldjump"/>
          </p:cNvPr>
          <p:cNvSpPr/>
          <p:nvPr/>
        </p:nvSpPr>
        <p:spPr>
          <a:xfrm>
            <a:off x="6144768" y="4297680"/>
            <a:ext cx="585216" cy="585216"/>
          </a:xfrm>
          <a:prstGeom prst="ellipse">
            <a:avLst/>
          </a:prstGeom>
          <a:solidFill>
            <a:srgbClr val="0E7C86"/>
          </a:solidFill>
          <a:ln w="12700">
            <a:solidFill>
              <a:srgbClr val="0E7C86"/>
            </a:solidFill>
            <a:prstDash val="solid"/>
          </a:ln>
        </p:spPr>
      </p:sp>
      <p:pic>
        <p:nvPicPr>
          <p:cNvPr id="21" name="explorer icon Random Forest glyph" descr="icon">
            <a:hlinkClick r:id="rId13" tooltip="Inspect Random Forest" action="ppaction://hlinksldjump"/>
          </p:cNvPr>
          <p:cNvPicPr>
            <a:picLocks noChangeAspect="1"/>
          </p:cNvPicPr>
          <p:nvPr/>
        </p:nvPicPr>
        <p:blipFill>
          <a:blip r:embed="rId12"/>
          <a:stretch>
            <a:fillRect/>
          </a:stretch>
        </p:blipFill>
        <p:spPr>
          <a:xfrm>
            <a:off x="6285220" y="4438132"/>
            <a:ext cx="304312" cy="304312"/>
          </a:xfrm>
          <a:prstGeom prst="rect">
            <a:avLst/>
          </a:prstGeom>
        </p:spPr>
      </p:pic>
      <p:sp>
        <p:nvSpPr>
          <p:cNvPr id="22" name="explorer text Random Forest">
            <a:hlinkClick r:id="rId13" tooltip="Inspect Random Forest" action="ppaction://hlinksldjump"/>
          </p:cNvPr>
          <p:cNvSpPr/>
          <p:nvPr/>
        </p:nvSpPr>
        <p:spPr>
          <a:xfrm>
            <a:off x="6858000" y="4242816"/>
            <a:ext cx="3246120" cy="694944"/>
          </a:xfrm>
          <a:prstGeom prst="rect">
            <a:avLst/>
          </a:prstGeom>
          <a:noFill/>
          <a:ln/>
        </p:spPr>
        <p:txBody>
          <a:bodyPr wrap="square" lIns="0" tIns="0" rIns="0" bIns="0" rtlCol="0" anchor="ctr"/>
          <a:lstStyle/>
          <a:p>
            <a:pPr indent="0" marL="0">
              <a:buNone/>
            </a:pPr>
            <a:r>
              <a:rPr lang="en-US" sz="1600" b="1" dirty="0">
                <a:solidFill>
                  <a:schemeClr val="tx2"/>
                </a:solidFill>
              </a:rPr>
              <a:t>Random Forest</a:t>
            </a:r>
            <a:endParaRPr lang="en-US" sz="1600" dirty="0"/>
          </a:p>
          <a:p>
            <a:pPr indent="0" marL="0">
              <a:buNone/>
            </a:pPr>
            <a:r>
              <a:rPr lang="en-US" sz="1300" dirty="0">
                <a:solidFill>
                  <a:schemeClr val="tx1"/>
                </a:solidFill>
              </a:rPr>
              <a:t>ROC-AUC 0.809   |   Recall 0.741   |   FN 14</a:t>
            </a:r>
            <a:endParaRPr lang="en-US" sz="1600" dirty="0"/>
          </a:p>
        </p:txBody>
      </p:sp>
      <p:sp>
        <p:nvSpPr>
          <p:cNvPr id="23" name="explorer badge Random Forest">
            <a:hlinkClick r:id="rId13" tooltip="Inspect Random Forest" action="ppaction://hlinksldjump"/>
          </p:cNvPr>
          <p:cNvSpPr/>
          <p:nvPr/>
        </p:nvSpPr>
        <p:spPr>
          <a:xfrm>
            <a:off x="10195560" y="4389120"/>
            <a:ext cx="1280160" cy="402336"/>
          </a:xfrm>
          <a:prstGeom prst="roundRect">
            <a:avLst>
              <a:gd name="adj" fmla="val 22727"/>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Selected</a:t>
            </a:r>
            <a:endParaRPr lang="en-US" sz="1200" dirty="0"/>
          </a:p>
        </p:txBody>
      </p:sp>
      <p:sp>
        <p:nvSpPr>
          <p:cNvPr id="24" name="explorer card XGBoost">
            <a:hlinkClick r:id="rId16" tooltip="Inspect XGBoost" action="ppaction://hlinksldjump"/>
          </p:cNvPr>
          <p:cNvSpPr/>
          <p:nvPr/>
        </p:nvSpPr>
        <p:spPr>
          <a:xfrm>
            <a:off x="5989320" y="5148072"/>
            <a:ext cx="5650992" cy="841248"/>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5" name="explorer icon XGBoost">
            <a:hlinkClick r:id="rId16" tooltip="Inspect XGBoost" action="ppaction://hlinksldjump"/>
          </p:cNvPr>
          <p:cNvSpPr/>
          <p:nvPr/>
        </p:nvSpPr>
        <p:spPr>
          <a:xfrm>
            <a:off x="6144768" y="5276088"/>
            <a:ext cx="585216" cy="585216"/>
          </a:xfrm>
          <a:prstGeom prst="ellipse">
            <a:avLst/>
          </a:prstGeom>
          <a:solidFill>
            <a:srgbClr val="6B4E9B"/>
          </a:solidFill>
          <a:ln w="12700">
            <a:solidFill>
              <a:srgbClr val="6B4E9B"/>
            </a:solidFill>
            <a:prstDash val="solid"/>
          </a:ln>
        </p:spPr>
      </p:sp>
      <p:pic>
        <p:nvPicPr>
          <p:cNvPr id="26" name="explorer icon XGBoost glyph" descr="icon">
            <a:hlinkClick r:id="rId16" tooltip="Inspect XGBoost" action="ppaction://hlinksldjump"/>
          </p:cNvPr>
          <p:cNvPicPr>
            <a:picLocks noChangeAspect="1"/>
          </p:cNvPicPr>
          <p:nvPr/>
        </p:nvPicPr>
        <p:blipFill>
          <a:blip r:embed="rId15"/>
          <a:stretch>
            <a:fillRect/>
          </a:stretch>
        </p:blipFill>
        <p:spPr>
          <a:xfrm>
            <a:off x="6285220" y="5416540"/>
            <a:ext cx="304312" cy="304312"/>
          </a:xfrm>
          <a:prstGeom prst="rect">
            <a:avLst/>
          </a:prstGeom>
        </p:spPr>
      </p:pic>
      <p:sp>
        <p:nvSpPr>
          <p:cNvPr id="27" name="explorer text XGBoost">
            <a:hlinkClick r:id="rId16" tooltip="Inspect XGBoost" action="ppaction://hlinksldjump"/>
          </p:cNvPr>
          <p:cNvSpPr/>
          <p:nvPr/>
        </p:nvSpPr>
        <p:spPr>
          <a:xfrm>
            <a:off x="6858000" y="5221224"/>
            <a:ext cx="3246120" cy="694944"/>
          </a:xfrm>
          <a:prstGeom prst="rect">
            <a:avLst/>
          </a:prstGeom>
          <a:noFill/>
          <a:ln/>
        </p:spPr>
        <p:txBody>
          <a:bodyPr wrap="square" lIns="0" tIns="0" rIns="0" bIns="0" rtlCol="0" anchor="ctr"/>
          <a:lstStyle/>
          <a:p>
            <a:pPr indent="0" marL="0">
              <a:buNone/>
            </a:pPr>
            <a:r>
              <a:rPr lang="en-US" sz="1600" b="1" dirty="0">
                <a:solidFill>
                  <a:schemeClr val="tx2"/>
                </a:solidFill>
              </a:rPr>
              <a:t>XGBoost</a:t>
            </a:r>
            <a:endParaRPr lang="en-US" sz="1600" dirty="0"/>
          </a:p>
          <a:p>
            <a:pPr indent="0" marL="0">
              <a:buNone/>
            </a:pPr>
            <a:r>
              <a:rPr lang="en-US" sz="1300" dirty="0">
                <a:solidFill>
                  <a:schemeClr val="tx1"/>
                </a:solidFill>
              </a:rPr>
              <a:t>ROC-AUC 0.826   |   Recall 0.741   |   FN 14</a:t>
            </a:r>
            <a:endParaRPr lang="en-US" sz="1600" dirty="0"/>
          </a:p>
        </p:txBody>
      </p:sp>
      <p:sp>
        <p:nvSpPr>
          <p:cNvPr id="28" name="explorer badge XGBoost">
            <a:hlinkClick r:id="rId16" tooltip="Inspect XGBoost" action="ppaction://hlinksldjump"/>
          </p:cNvPr>
          <p:cNvSpPr/>
          <p:nvPr/>
        </p:nvSpPr>
        <p:spPr>
          <a:xfrm>
            <a:off x="10195560" y="5367528"/>
            <a:ext cx="1280160" cy="402336"/>
          </a:xfrm>
          <a:prstGeom prst="roundRect">
            <a:avLst>
              <a:gd name="adj" fmla="val 22727"/>
            </a:avLst>
          </a:prstGeom>
          <a:solidFill>
            <a:schemeClr val="accent5"/>
          </a:solidFill>
          <a:ln>
            <a:solidFill>
              <a:schemeClr val="accent5"/>
            </a:solidFill>
          </a:ln>
        </p:spPr>
        <p:txBody>
          <a:bodyPr wrap="square" lIns="0" tIns="0" rIns="0" bIns="0" rtlCol="0" anchor="ctr"/>
          <a:lstStyle/>
          <a:p>
            <a:pPr algn="ctr" indent="0" marL="0">
              <a:buNone/>
            </a:pPr>
            <a:r>
              <a:rPr lang="en-US" sz="1200" b="1" dirty="0">
                <a:solidFill>
                  <a:schemeClr val="bg1"/>
                </a:solidFill>
              </a:rPr>
              <a:t>Rule failed</a:t>
            </a:r>
            <a:endParaRPr lang="en-US" sz="1200" dirty="0"/>
          </a:p>
        </p:txBody>
      </p:sp>
      <p:sp>
        <p:nvSpPr>
          <p:cNvPr id="29" name="Button: Next ›">
            <a:hlinkClick r:id="rId17"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30" name="Button: Agenda">
            <a:hlinkClick r:id="rId18"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31" name="Button: ‹ Prev">
            <a:hlinkClick r:id="rId19"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Interpretation: What Drives the Predictions?</a:t>
            </a:r>
            <a:endParaRPr lang="en-US" sz="3200" dirty="0"/>
          </a:p>
        </p:txBody>
      </p:sp>
      <p:pic>
        <p:nvPicPr>
          <p:cNvPr id="3" name="SHAP summary figure" descr="SHAP summary plot for the Random Forest">    </p:cNvPr>
          <p:cNvPicPr>
            <a:picLocks noChangeAspect="1"/>
          </p:cNvPicPr>
          <p:nvPr/>
        </p:nvPicPr>
        <p:blipFill>
          <a:blip r:embed="rId1"/>
          <a:stretch>
            <a:fillRect/>
          </a:stretch>
        </p:blipFill>
        <p:spPr>
          <a:xfrm>
            <a:off x="457200" y="1234440"/>
            <a:ext cx="6309360" cy="4041871"/>
          </a:xfrm>
          <a:prstGeom prst="rect">
            <a:avLst/>
          </a:prstGeom>
        </p:spPr>
      </p:pic>
      <p:graphicFrame>
        <p:nvGraphicFramePr>
          <p:cNvPr id="4" name="Chart 0" descr=""/>
          <p:cNvGraphicFramePr/>
          <p:nvPr/>
        </p:nvGraphicFramePr>
        <p:xfrm>
          <a:off x="6995160" y="1234440"/>
          <a:ext cx="4663440" cy="30175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7086600" y="4343400"/>
            <a:ext cx="4526280" cy="128016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chemeClr val="tx1"/>
                </a:solidFill>
              </a:rPr>
              <a:t>Glucose dominates: </a:t>
            </a:r>
            <a:pPr indent="0" marL="0">
              <a:spcAft>
                <a:spcPts val="600"/>
              </a:spcAft>
              <a:buNone/>
            </a:pPr>
            <a:r>
              <a:rPr lang="en-US" sz="1400" dirty="0">
                <a:solidFill>
                  <a:schemeClr val="tx1"/>
                </a:solidFill>
              </a:rPr>
              <a:t>high values push risk up by up to ~30 points</a:t>
            </a:r>
            <a:endParaRPr lang="en-US" sz="1500" dirty="0"/>
          </a:p>
          <a:p>
            <a:pPr marL="203200" indent="-203200">
              <a:spcAft>
                <a:spcPts val="600"/>
              </a:spcAft>
              <a:buSzPct val="100000"/>
              <a:buChar char="•"/>
            </a:pPr>
            <a:r>
              <a:rPr lang="en-US" sz="1400" b="1" dirty="0">
                <a:solidFill>
                  <a:schemeClr val="tx1"/>
                </a:solidFill>
              </a:rPr>
              <a:t>BMI, Age, pedigree </a:t>
            </a:r>
            <a:pPr indent="0" marL="0">
              <a:spcAft>
                <a:spcPts val="600"/>
              </a:spcAft>
              <a:buNone/>
            </a:pPr>
            <a:r>
              <a:rPr lang="en-US" sz="1400" dirty="0">
                <a:solidFill>
                  <a:schemeClr val="tx1"/>
                </a:solidFill>
              </a:rPr>
              <a:t>form the next tier</a:t>
            </a:r>
            <a:endParaRPr lang="en-US" sz="1500" dirty="0"/>
          </a:p>
          <a:p>
            <a:pPr marL="203200" indent="-203200">
              <a:spcAft>
                <a:spcPts val="600"/>
              </a:spcAft>
              <a:buSzPct val="100000"/>
              <a:buChar char="•"/>
            </a:pPr>
            <a:r>
              <a:rPr lang="en-US" sz="1400" dirty="0">
                <a:solidFill>
                  <a:schemeClr val="tx1"/>
                </a:solidFill>
              </a:rPr>
              <a:t>Four methods agree; this explains the model, not biology</a:t>
            </a:r>
            <a:endParaRPr lang="en-US" sz="1500" dirty="0"/>
          </a:p>
        </p:txBody>
      </p:sp>
      <p:sp>
        <p:nvSpPr>
          <p:cNvPr id="6" name="Button: All-model feature importance  ›">
            <a:hlinkClick r:id="rId3" tooltip="All-model feature importance  ›" action="ppaction://hlinksldjump"/>
          </p:cNvPr>
          <p:cNvSpPr/>
          <p:nvPr/>
        </p:nvSpPr>
        <p:spPr>
          <a:xfrm>
            <a:off x="7086600" y="5623560"/>
            <a:ext cx="4553712" cy="411480"/>
          </a:xfrm>
          <a:prstGeom prst="roundRect">
            <a:avLst>
              <a:gd name="adj" fmla="val 22222"/>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bg1"/>
                </a:solidFill>
              </a:rPr>
              <a:t>All-model feature importance  ›</a:t>
            </a:r>
            <a:endParaRPr lang="en-US" sz="1300" dirty="0"/>
          </a:p>
        </p:txBody>
      </p:sp>
      <p:sp>
        <p:nvSpPr>
          <p:cNvPr id="7" name="Button: Next ›">
            <a:hlinkClick r:id="rId4" tooltip="Nex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Next ›</a:t>
            </a:r>
            <a:endParaRPr lang="en-US" sz="1200" dirty="0"/>
          </a:p>
        </p:txBody>
      </p:sp>
      <p:sp>
        <p:nvSpPr>
          <p:cNvPr id="8" name="Button: Agenda">
            <a:hlinkClick r:id="rId5"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9" name="Button: ‹ Prev">
            <a:hlinkClick r:id="rId6" tooltip="‹ Prev"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Prev</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7315200" cy="173736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Conclusion &amp; Future Scope</a:t>
            </a:r>
            <a:endParaRPr lang="en-US" sz="4000" dirty="0"/>
          </a:p>
        </p:txBody>
      </p:sp>
      <p:sp>
        <p:nvSpPr>
          <p:cNvPr id="3" name="final stat recall"/>
          <p:cNvSpPr/>
          <p:nvPr/>
        </p:nvSpPr>
        <p:spPr>
          <a:xfrm>
            <a:off x="640080" y="1600200"/>
            <a:ext cx="2103120" cy="1280160"/>
          </a:xfrm>
          <a:prstGeom prst="roundRect">
            <a:avLst>
              <a:gd name="adj" fmla="val 5714"/>
            </a:avLst>
          </a:prstGeom>
          <a:solidFill>
            <a:srgbClr val="134E5C"/>
          </a:solidFill>
          <a:ln w="12700">
            <a:solidFill>
              <a:srgbClr val="134E5C"/>
            </a:solidFill>
            <a:prstDash val="solid"/>
          </a:ln>
        </p:spPr>
      </p:sp>
      <p:sp>
        <p:nvSpPr>
          <p:cNvPr id="4" name="Text 2"/>
          <p:cNvSpPr txBox="1"/>
          <p:nvPr/>
        </p:nvSpPr>
        <p:spPr>
          <a:xfrm>
            <a:off x="777240" y="1691640"/>
            <a:ext cx="1828800" cy="68580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0.741</a:t>
            </a:r>
            <a:endParaRPr lang="en-US" sz="3600" dirty="0"/>
          </a:p>
        </p:txBody>
      </p:sp>
      <p:sp>
        <p:nvSpPr>
          <p:cNvPr id="5" name="Text 3"/>
          <p:cNvSpPr txBox="1"/>
          <p:nvPr/>
        </p:nvSpPr>
        <p:spPr>
          <a:xfrm>
            <a:off x="777240" y="2377440"/>
            <a:ext cx="1828800" cy="365760"/>
          </a:xfrm>
          <a:prstGeom prst="rect">
            <a:avLst/>
          </a:prstGeom>
          <a:noFill/>
          <a:ln/>
        </p:spPr>
        <p:txBody>
          <a:bodyPr wrap="square" lIns="0" tIns="0" rIns="0" bIns="0" rtlCol="0" anchor="t"/>
          <a:lstStyle/>
          <a:p>
            <a:pPr algn="ctr" indent="0" marL="0">
              <a:buNone/>
            </a:pPr>
            <a:r>
              <a:rPr lang="en-US" sz="1300" dirty="0">
                <a:solidFill>
                  <a:schemeClr val="bg1"/>
                </a:solidFill>
              </a:rPr>
              <a:t>Random Forest recall</a:t>
            </a:r>
            <a:endParaRPr lang="en-US" sz="1300" dirty="0"/>
          </a:p>
        </p:txBody>
      </p:sp>
      <p:sp>
        <p:nvSpPr>
          <p:cNvPr id="6" name="final stat ROC-AUC"/>
          <p:cNvSpPr/>
          <p:nvPr/>
        </p:nvSpPr>
        <p:spPr>
          <a:xfrm>
            <a:off x="2971800" y="1600200"/>
            <a:ext cx="2103120" cy="1280160"/>
          </a:xfrm>
          <a:prstGeom prst="roundRect">
            <a:avLst>
              <a:gd name="adj" fmla="val 5714"/>
            </a:avLst>
          </a:prstGeom>
          <a:solidFill>
            <a:srgbClr val="134E5C"/>
          </a:solidFill>
          <a:ln w="12700">
            <a:solidFill>
              <a:srgbClr val="134E5C"/>
            </a:solidFill>
            <a:prstDash val="solid"/>
          </a:ln>
        </p:spPr>
      </p:sp>
      <p:sp>
        <p:nvSpPr>
          <p:cNvPr id="7" name="Text 5"/>
          <p:cNvSpPr txBox="1"/>
          <p:nvPr/>
        </p:nvSpPr>
        <p:spPr>
          <a:xfrm>
            <a:off x="3108960" y="1691640"/>
            <a:ext cx="1828800" cy="68580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0.809</a:t>
            </a:r>
            <a:endParaRPr lang="en-US" sz="3600" dirty="0"/>
          </a:p>
        </p:txBody>
      </p:sp>
      <p:sp>
        <p:nvSpPr>
          <p:cNvPr id="8" name="Text 6"/>
          <p:cNvSpPr txBox="1"/>
          <p:nvPr/>
        </p:nvSpPr>
        <p:spPr>
          <a:xfrm>
            <a:off x="3108960" y="2377440"/>
            <a:ext cx="1828800" cy="365760"/>
          </a:xfrm>
          <a:prstGeom prst="rect">
            <a:avLst/>
          </a:prstGeom>
          <a:noFill/>
          <a:ln/>
        </p:spPr>
        <p:txBody>
          <a:bodyPr wrap="square" lIns="0" tIns="0" rIns="0" bIns="0" rtlCol="0" anchor="t"/>
          <a:lstStyle/>
          <a:p>
            <a:pPr algn="ctr" indent="0" marL="0">
              <a:buNone/>
            </a:pPr>
            <a:r>
              <a:rPr lang="en-US" sz="1300" dirty="0">
                <a:solidFill>
                  <a:schemeClr val="bg1"/>
                </a:solidFill>
              </a:rPr>
              <a:t>Random Forest ROC-AUC</a:t>
            </a:r>
            <a:endParaRPr lang="en-US" sz="1300" dirty="0"/>
          </a:p>
        </p:txBody>
      </p:sp>
      <p:sp>
        <p:nvSpPr>
          <p:cNvPr id="9" name="final stat accuracy"/>
          <p:cNvSpPr/>
          <p:nvPr/>
        </p:nvSpPr>
        <p:spPr>
          <a:xfrm>
            <a:off x="5303520" y="1600200"/>
            <a:ext cx="2103120" cy="1280160"/>
          </a:xfrm>
          <a:prstGeom prst="roundRect">
            <a:avLst>
              <a:gd name="adj" fmla="val 5714"/>
            </a:avLst>
          </a:prstGeom>
          <a:solidFill>
            <a:srgbClr val="134E5C"/>
          </a:solidFill>
          <a:ln w="12700">
            <a:solidFill>
              <a:srgbClr val="134E5C"/>
            </a:solidFill>
            <a:prstDash val="solid"/>
          </a:ln>
        </p:spPr>
      </p:sp>
      <p:sp>
        <p:nvSpPr>
          <p:cNvPr id="10" name="Text 8"/>
          <p:cNvSpPr txBox="1"/>
          <p:nvPr/>
        </p:nvSpPr>
        <p:spPr>
          <a:xfrm>
            <a:off x="5440680" y="1691640"/>
            <a:ext cx="1828800" cy="68580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0.747</a:t>
            </a:r>
            <a:endParaRPr lang="en-US" sz="3600" dirty="0"/>
          </a:p>
        </p:txBody>
      </p:sp>
      <p:sp>
        <p:nvSpPr>
          <p:cNvPr id="11" name="Text 9"/>
          <p:cNvSpPr txBox="1"/>
          <p:nvPr/>
        </p:nvSpPr>
        <p:spPr>
          <a:xfrm>
            <a:off x="5440680" y="2377440"/>
            <a:ext cx="1828800" cy="365760"/>
          </a:xfrm>
          <a:prstGeom prst="rect">
            <a:avLst/>
          </a:prstGeom>
          <a:noFill/>
          <a:ln/>
        </p:spPr>
        <p:txBody>
          <a:bodyPr wrap="square" lIns="0" tIns="0" rIns="0" bIns="0" rtlCol="0" anchor="t"/>
          <a:lstStyle/>
          <a:p>
            <a:pPr algn="ctr" indent="0" marL="0">
              <a:buNone/>
            </a:pPr>
            <a:r>
              <a:rPr lang="en-US" sz="1300" dirty="0">
                <a:solidFill>
                  <a:schemeClr val="bg1"/>
                </a:solidFill>
              </a:rPr>
              <a:t>Random Forest accuracy</a:t>
            </a:r>
            <a:endParaRPr lang="en-US" sz="1300" dirty="0"/>
          </a:p>
        </p:txBody>
      </p:sp>
      <p:sp>
        <p:nvSpPr>
          <p:cNvPr id="12" name="Text 10"/>
          <p:cNvSpPr txBox="1"/>
          <p:nvPr/>
        </p:nvSpPr>
        <p:spPr>
          <a:xfrm>
            <a:off x="640080" y="3154680"/>
            <a:ext cx="676656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bg1"/>
                </a:solidFill>
              </a:rPr>
              <a:t>Leak-free, reproducible KDD pipeline; all 5 models clearly beat chance (AUC 0.76–0.83)</a:t>
            </a:r>
            <a:endParaRPr lang="en-US" sz="1500" dirty="0"/>
          </a:p>
          <a:p>
            <a:pPr marL="203200" indent="-203200">
              <a:spcAft>
                <a:spcPts val="600"/>
              </a:spcAft>
              <a:buSzPct val="100000"/>
              <a:buChar char="•"/>
            </a:pPr>
            <a:r>
              <a:rPr lang="en-US" sz="1500" dirty="0">
                <a:solidFill>
                  <a:schemeClr val="bg1"/>
                </a:solidFill>
              </a:rPr>
              <a:t>Glucose, BMI, Age and pedigree function are the key predictors</a:t>
            </a:r>
            <a:endParaRPr lang="en-US" sz="1500" dirty="0"/>
          </a:p>
          <a:p>
            <a:pPr marL="203200" indent="-203200">
              <a:spcAft>
                <a:spcPts val="600"/>
              </a:spcAft>
              <a:buSzPct val="100000"/>
              <a:buChar char="•"/>
            </a:pPr>
            <a:r>
              <a:rPr lang="en-US" sz="1500" dirty="0">
                <a:solidFill>
                  <a:schemeClr val="bg1"/>
                </a:solidFill>
              </a:rPr>
              <a:t>Limitations: small, narrow, historical dataset; imputed values; no external validation</a:t>
            </a:r>
            <a:endParaRPr lang="en-US" sz="1500" dirty="0"/>
          </a:p>
        </p:txBody>
      </p:sp>
      <p:sp>
        <p:nvSpPr>
          <p:cNvPr id="13" name="Text 11"/>
          <p:cNvSpPr txBox="1"/>
          <p:nvPr/>
        </p:nvSpPr>
        <p:spPr>
          <a:xfrm>
            <a:off x="8001000" y="1600200"/>
            <a:ext cx="3566160" cy="41148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Future scope</a:t>
            </a:r>
            <a:endParaRPr lang="en-US" sz="1800" dirty="0"/>
          </a:p>
        </p:txBody>
      </p:sp>
      <p:sp>
        <p:nvSpPr>
          <p:cNvPr id="14" name="future Larger, diverse datasets"/>
          <p:cNvSpPr/>
          <p:nvPr/>
        </p:nvSpPr>
        <p:spPr>
          <a:xfrm>
            <a:off x="8001000" y="2103120"/>
            <a:ext cx="3566160" cy="457200"/>
          </a:xfrm>
          <a:prstGeom prst="roundRect">
            <a:avLst>
              <a:gd name="adj" fmla="val 20000"/>
            </a:avLst>
          </a:prstGeom>
          <a:solidFill>
            <a:srgbClr val="134E5C"/>
          </a:solidFill>
          <a:ln>
            <a:solidFill>
              <a:srgbClr val="134E5C"/>
            </a:solidFill>
          </a:ln>
        </p:spPr>
        <p:txBody>
          <a:bodyPr wrap="square" lIns="127000" tIns="127000" rIns="127000" bIns="127000" rtlCol="0" anchor="ctr"/>
          <a:lstStyle/>
          <a:p>
            <a:pPr algn="l" indent="0" marL="0">
              <a:buNone/>
            </a:pPr>
            <a:r>
              <a:rPr lang="en-US" sz="1400" dirty="0">
                <a:solidFill>
                  <a:schemeClr val="bg1"/>
                </a:solidFill>
              </a:rPr>
              <a:t>Larger, diverse datasets</a:t>
            </a:r>
            <a:endParaRPr lang="en-US" sz="1400" dirty="0"/>
          </a:p>
        </p:txBody>
      </p:sp>
      <p:sp>
        <p:nvSpPr>
          <p:cNvPr id="15" name="future External validation"/>
          <p:cNvSpPr/>
          <p:nvPr/>
        </p:nvSpPr>
        <p:spPr>
          <a:xfrm>
            <a:off x="8001000" y="2670048"/>
            <a:ext cx="3566160" cy="457200"/>
          </a:xfrm>
          <a:prstGeom prst="roundRect">
            <a:avLst>
              <a:gd name="adj" fmla="val 20000"/>
            </a:avLst>
          </a:prstGeom>
          <a:solidFill>
            <a:srgbClr val="134E5C"/>
          </a:solidFill>
          <a:ln>
            <a:solidFill>
              <a:srgbClr val="134E5C"/>
            </a:solidFill>
          </a:ln>
        </p:spPr>
        <p:txBody>
          <a:bodyPr wrap="square" lIns="127000" tIns="127000" rIns="127000" bIns="127000" rtlCol="0" anchor="ctr"/>
          <a:lstStyle/>
          <a:p>
            <a:pPr algn="l" indent="0" marL="0">
              <a:buNone/>
            </a:pPr>
            <a:r>
              <a:rPr lang="en-US" sz="1400" dirty="0">
                <a:solidFill>
                  <a:schemeClr val="bg1"/>
                </a:solidFill>
              </a:rPr>
              <a:t>External validation</a:t>
            </a:r>
            <a:endParaRPr lang="en-US" sz="1400" dirty="0"/>
          </a:p>
        </p:txBody>
      </p:sp>
      <p:sp>
        <p:nvSpPr>
          <p:cNvPr id="16" name="future Hyperparameter tuning"/>
          <p:cNvSpPr/>
          <p:nvPr/>
        </p:nvSpPr>
        <p:spPr>
          <a:xfrm>
            <a:off x="8001000" y="3236976"/>
            <a:ext cx="3566160" cy="457200"/>
          </a:xfrm>
          <a:prstGeom prst="roundRect">
            <a:avLst>
              <a:gd name="adj" fmla="val 20000"/>
            </a:avLst>
          </a:prstGeom>
          <a:solidFill>
            <a:srgbClr val="134E5C"/>
          </a:solidFill>
          <a:ln>
            <a:solidFill>
              <a:srgbClr val="134E5C"/>
            </a:solidFill>
          </a:ln>
        </p:spPr>
        <p:txBody>
          <a:bodyPr wrap="square" lIns="127000" tIns="127000" rIns="127000" bIns="127000" rtlCol="0" anchor="ctr"/>
          <a:lstStyle/>
          <a:p>
            <a:pPr algn="l" indent="0" marL="0">
              <a:buNone/>
            </a:pPr>
            <a:r>
              <a:rPr lang="en-US" sz="1400" dirty="0">
                <a:solidFill>
                  <a:schemeClr val="bg1"/>
                </a:solidFill>
              </a:rPr>
              <a:t>Hyperparameter tuning</a:t>
            </a:r>
            <a:endParaRPr lang="en-US" sz="1400" dirty="0"/>
          </a:p>
        </p:txBody>
      </p:sp>
      <p:sp>
        <p:nvSpPr>
          <p:cNvPr id="17" name="future Calibration &amp;amp; thresholds"/>
          <p:cNvSpPr/>
          <p:nvPr/>
        </p:nvSpPr>
        <p:spPr>
          <a:xfrm>
            <a:off x="8001000" y="3803904"/>
            <a:ext cx="3566160" cy="457200"/>
          </a:xfrm>
          <a:prstGeom prst="roundRect">
            <a:avLst>
              <a:gd name="adj" fmla="val 20000"/>
            </a:avLst>
          </a:prstGeom>
          <a:solidFill>
            <a:srgbClr val="134E5C"/>
          </a:solidFill>
          <a:ln>
            <a:solidFill>
              <a:srgbClr val="134E5C"/>
            </a:solidFill>
          </a:ln>
        </p:spPr>
        <p:txBody>
          <a:bodyPr wrap="square" lIns="127000" tIns="127000" rIns="127000" bIns="127000" rtlCol="0" anchor="ctr"/>
          <a:lstStyle/>
          <a:p>
            <a:pPr algn="l" indent="0" marL="0">
              <a:buNone/>
            </a:pPr>
            <a:r>
              <a:rPr lang="en-US" sz="1400" dirty="0">
                <a:solidFill>
                  <a:schemeClr val="bg1"/>
                </a:solidFill>
              </a:rPr>
              <a:t>Calibration &amp; thresholds</a:t>
            </a:r>
            <a:endParaRPr lang="en-US" sz="1400" dirty="0"/>
          </a:p>
        </p:txBody>
      </p:sp>
      <p:sp>
        <p:nvSpPr>
          <p:cNvPr id="18" name="future Drift monitoring"/>
          <p:cNvSpPr/>
          <p:nvPr/>
        </p:nvSpPr>
        <p:spPr>
          <a:xfrm>
            <a:off x="8001000" y="4370832"/>
            <a:ext cx="3566160" cy="457200"/>
          </a:xfrm>
          <a:prstGeom prst="roundRect">
            <a:avLst>
              <a:gd name="adj" fmla="val 20000"/>
            </a:avLst>
          </a:prstGeom>
          <a:solidFill>
            <a:srgbClr val="134E5C"/>
          </a:solidFill>
          <a:ln>
            <a:solidFill>
              <a:srgbClr val="134E5C"/>
            </a:solidFill>
          </a:ln>
        </p:spPr>
        <p:txBody>
          <a:bodyPr wrap="square" lIns="127000" tIns="127000" rIns="127000" bIns="127000" rtlCol="0" anchor="ctr"/>
          <a:lstStyle/>
          <a:p>
            <a:pPr algn="l" indent="0" marL="0">
              <a:buNone/>
            </a:pPr>
            <a:r>
              <a:rPr lang="en-US" sz="1400" dirty="0">
                <a:solidFill>
                  <a:schemeClr val="bg1"/>
                </a:solidFill>
              </a:rPr>
              <a:t>Drift monitoring</a:t>
            </a:r>
            <a:endParaRPr lang="en-US" sz="1400" dirty="0"/>
          </a:p>
        </p:txBody>
      </p:sp>
      <p:sp>
        <p:nvSpPr>
          <p:cNvPr id="19" name="Text 17"/>
          <p:cNvSpPr txBox="1"/>
          <p:nvPr/>
        </p:nvSpPr>
        <p:spPr>
          <a:xfrm>
            <a:off x="640080" y="5120640"/>
            <a:ext cx="6766560" cy="54864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Thank you. Questions?</a:t>
            </a:r>
            <a:endParaRPr lang="en-US" sz="2600" dirty="0"/>
          </a:p>
        </p:txBody>
      </p:sp>
      <p:sp>
        <p:nvSpPr>
          <p:cNvPr id="20" name="Button: Viva Q&amp;amp;A">
            <a:hlinkClick r:id="rId1" tooltip="Viva Q&amp;A" action="ppaction://hlinksldjump"/>
          </p:cNvPr>
          <p:cNvSpPr/>
          <p:nvPr/>
        </p:nvSpPr>
        <p:spPr>
          <a:xfrm>
            <a:off x="640080" y="5897880"/>
            <a:ext cx="1554480" cy="411480"/>
          </a:xfrm>
          <a:prstGeom prst="roundRect">
            <a:avLst>
              <a:gd name="adj" fmla="val 22222"/>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bg1"/>
                </a:solidFill>
              </a:rPr>
              <a:t>Viva Q&amp;A</a:t>
            </a:r>
            <a:endParaRPr lang="en-US" sz="1300" dirty="0"/>
          </a:p>
        </p:txBody>
      </p:sp>
      <p:sp>
        <p:nvSpPr>
          <p:cNvPr id="21" name="Button: GitHub repo">
            <a:hlinkClick r:id="rId2" tooltip="GitHub repo"/>
          </p:cNvPr>
          <p:cNvSpPr/>
          <p:nvPr/>
        </p:nvSpPr>
        <p:spPr>
          <a:xfrm>
            <a:off x="2331720" y="5897880"/>
            <a:ext cx="1554480" cy="411480"/>
          </a:xfrm>
          <a:prstGeom prst="roundRect">
            <a:avLst>
              <a:gd name="adj" fmla="val 22222"/>
            </a:avLst>
          </a:prstGeom>
          <a:solidFill>
            <a:schemeClr val="tx2"/>
          </a:solidFill>
          <a:ln w="15875">
            <a:solidFill>
              <a:srgbClr val="EAF3F4"/>
            </a:solidFill>
          </a:ln>
        </p:spPr>
        <p:txBody>
          <a:bodyPr wrap="square" lIns="0" tIns="0" rIns="0" bIns="0" rtlCol="0" anchor="ctr"/>
          <a:lstStyle/>
          <a:p>
            <a:pPr algn="ctr" indent="0" marL="0">
              <a:buNone/>
            </a:pPr>
            <a:r>
              <a:rPr lang="en-US" sz="1300" b="1" dirty="0">
                <a:solidFill>
                  <a:schemeClr val="bg1"/>
                </a:solidFill>
              </a:rPr>
              <a:t>GitHub repo</a:t>
            </a:r>
            <a:endParaRPr lang="en-US" sz="1300" dirty="0"/>
          </a:p>
        </p:txBody>
      </p:sp>
      <p:sp>
        <p:nvSpPr>
          <p:cNvPr id="22" name="Button: Open in Colab">
            <a:hlinkClick r:id="rId3" tooltip="Open in Colab"/>
          </p:cNvPr>
          <p:cNvSpPr/>
          <p:nvPr/>
        </p:nvSpPr>
        <p:spPr>
          <a:xfrm>
            <a:off x="4023360" y="5897880"/>
            <a:ext cx="1554480" cy="411480"/>
          </a:xfrm>
          <a:prstGeom prst="roundRect">
            <a:avLst>
              <a:gd name="adj" fmla="val 22222"/>
            </a:avLst>
          </a:prstGeom>
          <a:solidFill>
            <a:schemeClr val="tx2"/>
          </a:solidFill>
          <a:ln w="15875">
            <a:solidFill>
              <a:srgbClr val="EAF3F4"/>
            </a:solidFill>
          </a:ln>
        </p:spPr>
        <p:txBody>
          <a:bodyPr wrap="square" lIns="0" tIns="0" rIns="0" bIns="0" rtlCol="0" anchor="ctr"/>
          <a:lstStyle/>
          <a:p>
            <a:pPr algn="ctr" indent="0" marL="0">
              <a:buNone/>
            </a:pPr>
            <a:r>
              <a:rPr lang="en-US" sz="1300" b="1" dirty="0">
                <a:solidFill>
                  <a:schemeClr val="bg1"/>
                </a:solidFill>
              </a:rPr>
              <a:t>Open in Colab</a:t>
            </a:r>
            <a:endParaRPr lang="en-US" sz="1300" dirty="0"/>
          </a:p>
        </p:txBody>
      </p:sp>
      <p:sp>
        <p:nvSpPr>
          <p:cNvPr id="23" name="Button: Agenda">
            <a:hlinkClick r:id="rId4" tooltip="Agenda" action="ppaction://hlinksldjump"/>
          </p:cNvPr>
          <p:cNvSpPr/>
          <p:nvPr/>
        </p:nvSpPr>
        <p:spPr>
          <a:xfrm>
            <a:off x="5715000" y="5897880"/>
            <a:ext cx="1554480" cy="411480"/>
          </a:xfrm>
          <a:prstGeom prst="roundRect">
            <a:avLst>
              <a:gd name="adj" fmla="val 22222"/>
            </a:avLst>
          </a:prstGeom>
          <a:solidFill>
            <a:schemeClr val="tx2"/>
          </a:solidFill>
          <a:ln w="15875">
            <a:solidFill>
              <a:srgbClr val="EAF3F4"/>
            </a:solidFill>
          </a:ln>
        </p:spPr>
        <p:txBody>
          <a:bodyPr wrap="square" lIns="0" tIns="0" rIns="0" bIns="0" rtlCol="0" anchor="ctr"/>
          <a:lstStyle/>
          <a:p>
            <a:pPr algn="ctr" indent="0" marL="0">
              <a:buNone/>
            </a:pPr>
            <a:r>
              <a:rPr lang="en-US" sz="1300" b="1" dirty="0">
                <a:solidFill>
                  <a:schemeClr val="bg1"/>
                </a:solidFill>
              </a:rPr>
              <a:t>Agenda</a:t>
            </a:r>
            <a:endParaRPr lang="en-US" sz="1300" dirty="0"/>
          </a:p>
        </p:txBody>
      </p:sp>
      <p:sp>
        <p:nvSpPr>
          <p:cNvPr id="24" name="Text 22"/>
          <p:cNvSpPr txBox="1"/>
          <p:nvPr/>
        </p:nvSpPr>
        <p:spPr>
          <a:xfrm>
            <a:off x="8001000" y="5120640"/>
            <a:ext cx="3566160" cy="548640"/>
          </a:xfrm>
          <a:prstGeom prst="rect">
            <a:avLst/>
          </a:prstGeom>
          <a:noFill/>
          <a:ln/>
        </p:spPr>
        <p:txBody>
          <a:bodyPr wrap="square" lIns="0" tIns="0" rIns="0" bIns="0" rtlCol="0" anchor="t"/>
          <a:lstStyle/>
          <a:p>
            <a:pPr indent="0" marL="0">
              <a:buNone/>
            </a:pPr>
            <a:r>
              <a:rPr lang="en-US" sz="1200" i="1" dirty="0">
                <a:solidFill>
                  <a:schemeClr val="accent5"/>
                </a:solidFill>
              </a:rPr>
              <a:t>Academic screening demonstration, not a diagnostic tool</a:t>
            </a:r>
            <a:endParaRPr lang="en-US" sz="12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accent5"/>
                </a:solidFill>
                <a:latin typeface="Cambria" pitchFamily="34" charset="0"/>
                <a:ea typeface="Cambria" pitchFamily="34" charset="-122"/>
                <a:cs typeface="Cambria" pitchFamily="34" charset="-120"/>
              </a:rPr>
              <a:t>Model Explorer  |  </a:t>
            </a:r>
            <a:pPr algn="l" indent="0" marL="0">
              <a:buNone/>
            </a:pPr>
            <a:r>
              <a:rPr lang="en-US" sz="3200" b="1" dirty="0">
                <a:solidFill>
                  <a:schemeClr val="tx2"/>
                </a:solidFill>
                <a:latin typeface="Cambria" pitchFamily="34" charset="0"/>
                <a:ea typeface="Cambria" pitchFamily="34" charset="-122"/>
                <a:cs typeface="Cambria" pitchFamily="34" charset="-120"/>
              </a:rPr>
              <a:t>Logistic Regression</a:t>
            </a:r>
            <a:endParaRPr lang="en-US" sz="3200" dirty="0"/>
          </a:p>
        </p:txBody>
      </p:sp>
      <p:sp>
        <p:nvSpPr>
          <p:cNvPr id="3" name="detail icon"/>
          <p:cNvSpPr/>
          <p:nvPr/>
        </p:nvSpPr>
        <p:spPr>
          <a:xfrm>
            <a:off x="548640" y="1280160"/>
            <a:ext cx="868680" cy="868680"/>
          </a:xfrm>
          <a:prstGeom prst="ellipse">
            <a:avLst/>
          </a:prstGeom>
          <a:solidFill>
            <a:srgbClr val="3A5A98"/>
          </a:solidFill>
          <a:ln w="12700">
            <a:solidFill>
              <a:srgbClr val="3A5A98"/>
            </a:solidFill>
            <a:prstDash val="solid"/>
          </a:ln>
        </p:spPr>
      </p:sp>
      <p:pic>
        <p:nvPicPr>
          <p:cNvPr id="4" name="detail icon glyph" descr="icon">    </p:cNvPr>
          <p:cNvPicPr>
            <a:picLocks noChangeAspect="1"/>
          </p:cNvPicPr>
          <p:nvPr/>
        </p:nvPicPr>
        <p:blipFill>
          <a:blip r:embed="rId1"/>
          <a:stretch>
            <a:fillRect/>
          </a:stretch>
        </p:blipFill>
        <p:spPr>
          <a:xfrm>
            <a:off x="757123" y="1488643"/>
            <a:ext cx="451714" cy="451714"/>
          </a:xfrm>
          <a:prstGeom prst="rect">
            <a:avLst/>
          </a:prstGeom>
        </p:spPr>
      </p:pic>
      <p:sp>
        <p:nvSpPr>
          <p:cNvPr id="5" name="Text 2"/>
          <p:cNvSpPr txBox="1"/>
          <p:nvPr/>
        </p:nvSpPr>
        <p:spPr>
          <a:xfrm>
            <a:off x="1600200" y="1325880"/>
            <a:ext cx="5029200" cy="777240"/>
          </a:xfrm>
          <a:prstGeom prst="rect">
            <a:avLst/>
          </a:prstGeom>
          <a:noFill/>
          <a:ln/>
        </p:spPr>
        <p:txBody>
          <a:bodyPr wrap="square" lIns="0" tIns="0" rIns="0" bIns="0" rtlCol="0" anchor="ctr"/>
          <a:lstStyle/>
          <a:p>
            <a:pPr indent="0" marL="0">
              <a:buNone/>
            </a:pPr>
            <a:r>
              <a:rPr lang="en-US" sz="1700" b="1" dirty="0">
                <a:solidFill>
                  <a:schemeClr val="tx2"/>
                </a:solidFill>
              </a:rPr>
              <a:t>Linear, interpretable baseline</a:t>
            </a:r>
            <a:endParaRPr lang="en-US" sz="1500" dirty="0"/>
          </a:p>
          <a:p>
            <a:pPr indent="0" marL="0">
              <a:buNone/>
            </a:pPr>
            <a:r>
              <a:rPr lang="en-US" sz="1400" i="1" dirty="0">
                <a:solidFill>
                  <a:schemeClr val="accent5"/>
                </a:solidFill>
              </a:rPr>
              <a:t>max_iter = 1000</a:t>
            </a:r>
            <a:endParaRPr lang="en-US" sz="1500" dirty="0"/>
          </a:p>
        </p:txBody>
      </p:sp>
      <p:sp>
        <p:nvSpPr>
          <p:cNvPr id="6" name="detail metric Accuracy"/>
          <p:cNvSpPr/>
          <p:nvPr/>
        </p:nvSpPr>
        <p:spPr>
          <a:xfrm>
            <a:off x="548640"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4"/>
          <p:cNvSpPr txBox="1"/>
          <p:nvPr/>
        </p:nvSpPr>
        <p:spPr>
          <a:xfrm>
            <a:off x="548640"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0.708</a:t>
            </a:r>
            <a:endParaRPr lang="en-US" sz="2200" dirty="0"/>
          </a:p>
        </p:txBody>
      </p:sp>
      <p:sp>
        <p:nvSpPr>
          <p:cNvPr id="8" name="Text 5"/>
          <p:cNvSpPr txBox="1"/>
          <p:nvPr/>
        </p:nvSpPr>
        <p:spPr>
          <a:xfrm>
            <a:off x="548640"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Accuracy</a:t>
            </a:r>
            <a:endParaRPr lang="en-US" sz="1200" dirty="0"/>
          </a:p>
        </p:txBody>
      </p:sp>
      <p:sp>
        <p:nvSpPr>
          <p:cNvPr id="9" name="detail metric Precision"/>
          <p:cNvSpPr/>
          <p:nvPr/>
        </p:nvSpPr>
        <p:spPr>
          <a:xfrm>
            <a:off x="1856232"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Text 7"/>
          <p:cNvSpPr txBox="1"/>
          <p:nvPr/>
        </p:nvSpPr>
        <p:spPr>
          <a:xfrm>
            <a:off x="1856232"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0.574</a:t>
            </a:r>
            <a:endParaRPr lang="en-US" sz="2200" dirty="0"/>
          </a:p>
        </p:txBody>
      </p:sp>
      <p:sp>
        <p:nvSpPr>
          <p:cNvPr id="11" name="Text 8"/>
          <p:cNvSpPr txBox="1"/>
          <p:nvPr/>
        </p:nvSpPr>
        <p:spPr>
          <a:xfrm>
            <a:off x="1856232"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Precision</a:t>
            </a:r>
            <a:endParaRPr lang="en-US" sz="1200" dirty="0"/>
          </a:p>
        </p:txBody>
      </p:sp>
      <p:sp>
        <p:nvSpPr>
          <p:cNvPr id="12" name="detail metric Recall"/>
          <p:cNvSpPr/>
          <p:nvPr/>
        </p:nvSpPr>
        <p:spPr>
          <a:xfrm>
            <a:off x="3163824" y="2377440"/>
            <a:ext cx="1188720" cy="1188720"/>
          </a:xfrm>
          <a:prstGeom prst="roundRect">
            <a:avLst>
              <a:gd name="adj" fmla="val 6154"/>
            </a:avLst>
          </a:prstGeom>
          <a:solidFill>
            <a:srgbClr val="FDE3E1"/>
          </a:solidFill>
          <a:ln w="12700">
            <a:solidFill>
              <a:srgbClr val="FDE3E1"/>
            </a:solidFill>
            <a:prstDash val="solid"/>
          </a:ln>
          <a:effectLst>
            <a:outerShdw sx="100000" sy="100000" kx="0" ky="0" algn="bl" rotWithShape="0" blurRad="76200" dist="25400" dir="5400000">
              <a:srgbClr val="000000">
                <a:alpha val="15000"/>
              </a:srgbClr>
            </a:outerShdw>
          </a:effectLst>
        </p:spPr>
      </p:sp>
      <p:sp>
        <p:nvSpPr>
          <p:cNvPr id="13" name="Text 10"/>
          <p:cNvSpPr txBox="1"/>
          <p:nvPr/>
        </p:nvSpPr>
        <p:spPr>
          <a:xfrm>
            <a:off x="3163824" y="2487168"/>
            <a:ext cx="1188720" cy="548640"/>
          </a:xfrm>
          <a:prstGeom prst="rect">
            <a:avLst/>
          </a:prstGeom>
          <a:noFill/>
          <a:ln/>
        </p:spPr>
        <p:txBody>
          <a:bodyPr wrap="square" lIns="0" tIns="0" rIns="0" bIns="0" rtlCol="0" anchor="ctr"/>
          <a:lstStyle/>
          <a:p>
            <a:pPr algn="ctr" indent="0" marL="0">
              <a:buNone/>
            </a:pPr>
            <a:r>
              <a:rPr lang="en-US" sz="2200" b="1" dirty="0">
                <a:solidFill>
                  <a:schemeClr val="accent2"/>
                </a:solidFill>
                <a:latin typeface="Cambria" pitchFamily="34" charset="0"/>
                <a:ea typeface="Cambria" pitchFamily="34" charset="-122"/>
                <a:cs typeface="Cambria" pitchFamily="34" charset="-120"/>
              </a:rPr>
              <a:t>0.648</a:t>
            </a:r>
            <a:endParaRPr lang="en-US" sz="2200" dirty="0"/>
          </a:p>
        </p:txBody>
      </p:sp>
      <p:sp>
        <p:nvSpPr>
          <p:cNvPr id="14" name="Text 11"/>
          <p:cNvSpPr txBox="1"/>
          <p:nvPr/>
        </p:nvSpPr>
        <p:spPr>
          <a:xfrm>
            <a:off x="3163824"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Recall</a:t>
            </a:r>
            <a:endParaRPr lang="en-US" sz="1200" dirty="0"/>
          </a:p>
        </p:txBody>
      </p:sp>
      <p:sp>
        <p:nvSpPr>
          <p:cNvPr id="15" name="detail metric F1"/>
          <p:cNvSpPr/>
          <p:nvPr/>
        </p:nvSpPr>
        <p:spPr>
          <a:xfrm>
            <a:off x="4471416"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Text 13"/>
          <p:cNvSpPr txBox="1"/>
          <p:nvPr/>
        </p:nvSpPr>
        <p:spPr>
          <a:xfrm>
            <a:off x="4471416"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0.609</a:t>
            </a:r>
            <a:endParaRPr lang="en-US" sz="2200" dirty="0"/>
          </a:p>
        </p:txBody>
      </p:sp>
      <p:sp>
        <p:nvSpPr>
          <p:cNvPr id="17" name="Text 14"/>
          <p:cNvSpPr txBox="1"/>
          <p:nvPr/>
        </p:nvSpPr>
        <p:spPr>
          <a:xfrm>
            <a:off x="4471416"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F1</a:t>
            </a:r>
            <a:endParaRPr lang="en-US" sz="1200" dirty="0"/>
          </a:p>
        </p:txBody>
      </p:sp>
      <p:sp>
        <p:nvSpPr>
          <p:cNvPr id="18" name="detail metric ROC-AUC"/>
          <p:cNvSpPr/>
          <p:nvPr/>
        </p:nvSpPr>
        <p:spPr>
          <a:xfrm>
            <a:off x="5779008"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Text 16"/>
          <p:cNvSpPr txBox="1"/>
          <p:nvPr/>
        </p:nvSpPr>
        <p:spPr>
          <a:xfrm>
            <a:off x="5779008"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0.811</a:t>
            </a:r>
            <a:endParaRPr lang="en-US" sz="2200" dirty="0"/>
          </a:p>
        </p:txBody>
      </p:sp>
      <p:sp>
        <p:nvSpPr>
          <p:cNvPr id="20" name="Text 17"/>
          <p:cNvSpPr txBox="1"/>
          <p:nvPr/>
        </p:nvSpPr>
        <p:spPr>
          <a:xfrm>
            <a:off x="5779008"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ROC-AUC</a:t>
            </a:r>
            <a:endParaRPr lang="en-US" sz="1200" dirty="0"/>
          </a:p>
        </p:txBody>
      </p:sp>
      <p:sp>
        <p:nvSpPr>
          <p:cNvPr id="21" name="Text 18"/>
          <p:cNvSpPr txBox="1"/>
          <p:nvPr/>
        </p:nvSpPr>
        <p:spPr>
          <a:xfrm>
            <a:off x="548640" y="3703320"/>
            <a:ext cx="6400800" cy="320040"/>
          </a:xfrm>
          <a:prstGeom prst="rect">
            <a:avLst/>
          </a:prstGeom>
          <a:noFill/>
          <a:ln/>
        </p:spPr>
        <p:txBody>
          <a:bodyPr wrap="square" lIns="0" tIns="0" rIns="0" bIns="0" rtlCol="0" anchor="t"/>
          <a:lstStyle/>
          <a:p>
            <a:pPr indent="0" marL="0">
              <a:buNone/>
            </a:pPr>
            <a:r>
              <a:rPr lang="en-US" sz="1200" i="1" dirty="0">
                <a:solidFill>
                  <a:schemeClr val="accent5"/>
                </a:solidFill>
              </a:rPr>
              <a:t>Test set (154 patients)  |  specificity 0.74  |  5-fold CV ROC-AUC 0.843 ± 0.020, CV recall 0.724</a:t>
            </a:r>
            <a:endParaRPr lang="en-US" sz="1200" dirty="0"/>
          </a:p>
        </p:txBody>
      </p:sp>
      <p:sp>
        <p:nvSpPr>
          <p:cNvPr id="22" name="Text 19"/>
          <p:cNvSpPr txBox="1"/>
          <p:nvPr/>
        </p:nvSpPr>
        <p:spPr>
          <a:xfrm>
            <a:off x="548640" y="4069080"/>
            <a:ext cx="3657600" cy="292608"/>
          </a:xfrm>
          <a:prstGeom prst="rect">
            <a:avLst/>
          </a:prstGeom>
          <a:noFill/>
          <a:ln/>
        </p:spPr>
        <p:txBody>
          <a:bodyPr wrap="square" lIns="0" tIns="0" rIns="0" bIns="0" rtlCol="0" anchor="t"/>
          <a:lstStyle/>
          <a:p>
            <a:pPr indent="0" marL="0">
              <a:buNone/>
            </a:pPr>
            <a:r>
              <a:rPr lang="en-US" sz="1400" b="1" dirty="0">
                <a:solidFill>
                  <a:schemeClr val="tx2"/>
                </a:solidFill>
              </a:rPr>
              <a:t>Confusion matrix (test)</a:t>
            </a:r>
            <a:endParaRPr lang="en-US" sz="1400" dirty="0"/>
          </a:p>
        </p:txBody>
      </p:sp>
      <p:sp>
        <p:nvSpPr>
          <p:cNvPr id="23" name="Text 20"/>
          <p:cNvSpPr txBox="1"/>
          <p:nvPr/>
        </p:nvSpPr>
        <p:spPr>
          <a:xfrm>
            <a:off x="141732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4" name="Text 21"/>
          <p:cNvSpPr txBox="1"/>
          <p:nvPr/>
        </p:nvSpPr>
        <p:spPr>
          <a:xfrm>
            <a:off x="283464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5" name="detail cm TN"/>
          <p:cNvSpPr/>
          <p:nvPr/>
        </p:nvSpPr>
        <p:spPr>
          <a:xfrm>
            <a:off x="141732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74</a:t>
            </a:r>
            <a:endParaRPr lang="en-US" sz="2000" dirty="0"/>
          </a:p>
          <a:p>
            <a:pPr algn="ctr" indent="0" marL="0">
              <a:buNone/>
            </a:pPr>
            <a:r>
              <a:rPr lang="en-US" sz="1100" dirty="0">
                <a:solidFill>
                  <a:schemeClr val="tx2"/>
                </a:solidFill>
              </a:rPr>
              <a:t>TN</a:t>
            </a:r>
            <a:endParaRPr lang="en-US" sz="2000" dirty="0"/>
          </a:p>
        </p:txBody>
      </p:sp>
      <p:sp>
        <p:nvSpPr>
          <p:cNvPr id="26" name="detail cm FP"/>
          <p:cNvSpPr/>
          <p:nvPr/>
        </p:nvSpPr>
        <p:spPr>
          <a:xfrm>
            <a:off x="283464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26</a:t>
            </a:r>
            <a:endParaRPr lang="en-US" sz="2000" dirty="0"/>
          </a:p>
          <a:p>
            <a:pPr algn="ctr" indent="0" marL="0">
              <a:buNone/>
            </a:pPr>
            <a:r>
              <a:rPr lang="en-US" sz="1100" dirty="0">
                <a:solidFill>
                  <a:schemeClr val="tx2"/>
                </a:solidFill>
              </a:rPr>
              <a:t>FP</a:t>
            </a:r>
            <a:endParaRPr lang="en-US" sz="2000" dirty="0"/>
          </a:p>
        </p:txBody>
      </p:sp>
      <p:sp>
        <p:nvSpPr>
          <p:cNvPr id="27" name="detail cm FN"/>
          <p:cNvSpPr/>
          <p:nvPr/>
        </p:nvSpPr>
        <p:spPr>
          <a:xfrm>
            <a:off x="1417320" y="5449824"/>
            <a:ext cx="1325880" cy="713232"/>
          </a:xfrm>
          <a:prstGeom prst="roundRect">
            <a:avLst>
              <a:gd name="adj" fmla="val 7692"/>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19</a:t>
            </a:r>
            <a:endParaRPr lang="en-US" sz="2000" dirty="0"/>
          </a:p>
          <a:p>
            <a:pPr algn="ctr" indent="0" marL="0">
              <a:buNone/>
            </a:pPr>
            <a:r>
              <a:rPr lang="en-US" sz="1100" dirty="0">
                <a:solidFill>
                  <a:schemeClr val="bg1"/>
                </a:solidFill>
              </a:rPr>
              <a:t>FN</a:t>
            </a:r>
            <a:endParaRPr lang="en-US" sz="2000" dirty="0"/>
          </a:p>
        </p:txBody>
      </p:sp>
      <p:sp>
        <p:nvSpPr>
          <p:cNvPr id="28" name="detail cm TP"/>
          <p:cNvSpPr/>
          <p:nvPr/>
        </p:nvSpPr>
        <p:spPr>
          <a:xfrm>
            <a:off x="2834640" y="5449824"/>
            <a:ext cx="1325880" cy="713232"/>
          </a:xfrm>
          <a:prstGeom prst="roundRect">
            <a:avLst>
              <a:gd name="adj" fmla="val 7692"/>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35</a:t>
            </a:r>
            <a:endParaRPr lang="en-US" sz="2000" dirty="0"/>
          </a:p>
          <a:p>
            <a:pPr algn="ctr" indent="0" marL="0">
              <a:buNone/>
            </a:pPr>
            <a:r>
              <a:rPr lang="en-US" sz="1100" dirty="0">
                <a:solidFill>
                  <a:schemeClr val="bg1"/>
                </a:solidFill>
              </a:rPr>
              <a:t>TP</a:t>
            </a:r>
            <a:endParaRPr lang="en-US" sz="2000" dirty="0"/>
          </a:p>
        </p:txBody>
      </p:sp>
      <p:sp>
        <p:nvSpPr>
          <p:cNvPr id="29" name="Text 26"/>
          <p:cNvSpPr txBox="1"/>
          <p:nvPr/>
        </p:nvSpPr>
        <p:spPr>
          <a:xfrm>
            <a:off x="548640" y="4663440"/>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0" name="Text 27"/>
          <p:cNvSpPr txBox="1"/>
          <p:nvPr/>
        </p:nvSpPr>
        <p:spPr>
          <a:xfrm>
            <a:off x="548640" y="5449824"/>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1" name="verdict card"/>
          <p:cNvSpPr/>
          <p:nvPr/>
        </p:nvSpPr>
        <p:spPr>
          <a:xfrm>
            <a:off x="7223760" y="1280160"/>
            <a:ext cx="4416552" cy="4754880"/>
          </a:xfrm>
          <a:prstGeom prst="roundRect">
            <a:avLst>
              <a:gd name="adj" fmla="val 16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2" name="verdict badge"/>
          <p:cNvSpPr/>
          <p:nvPr/>
        </p:nvSpPr>
        <p:spPr>
          <a:xfrm>
            <a:off x="7452360" y="1508760"/>
            <a:ext cx="3959352" cy="548640"/>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700" b="1" dirty="0">
                <a:solidFill>
                  <a:schemeClr val="bg1"/>
                </a:solidFill>
              </a:rPr>
              <a:t>Not selected</a:t>
            </a:r>
            <a:endParaRPr lang="en-US" sz="1700" dirty="0"/>
          </a:p>
        </p:txBody>
      </p:sp>
      <p:sp>
        <p:nvSpPr>
          <p:cNvPr id="33" name="Text 30"/>
          <p:cNvSpPr txBox="1"/>
          <p:nvPr/>
        </p:nvSpPr>
        <p:spPr>
          <a:xfrm>
            <a:off x="7452360" y="2286000"/>
            <a:ext cx="3959352" cy="23774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Best cross-validated ROC-AUC (0.843)</a:t>
            </a:r>
            <a:endParaRPr lang="en-US" sz="1500" dirty="0"/>
          </a:p>
          <a:p>
            <a:pPr marL="203200" indent="-203200">
              <a:spcAft>
                <a:spcPts val="600"/>
              </a:spcAft>
              <a:buSzPct val="100000"/>
              <a:buChar char="•"/>
            </a:pPr>
            <a:r>
              <a:rPr lang="en-US" sz="1500" dirty="0">
                <a:solidFill>
                  <a:schemeClr val="tx1"/>
                </a:solidFill>
              </a:rPr>
              <a:t>But the lowest test recall: missed 19 of 54 diabetic patients</a:t>
            </a:r>
            <a:endParaRPr lang="en-US" sz="1500" dirty="0"/>
          </a:p>
          <a:p>
            <a:pPr marL="203200" indent="-203200">
              <a:spcAft>
                <a:spcPts val="600"/>
              </a:spcAft>
              <a:buSzPct val="100000"/>
              <a:buChar char="•"/>
            </a:pPr>
            <a:r>
              <a:rPr lang="en-US" sz="1500" dirty="0">
                <a:solidFill>
                  <a:schemeClr val="tx1"/>
                </a:solidFill>
              </a:rPr>
              <a:t>Fails the recall ≥ 0.70 rule on the test set</a:t>
            </a:r>
            <a:endParaRPr lang="en-US" sz="1500" dirty="0"/>
          </a:p>
        </p:txBody>
      </p:sp>
      <p:sp>
        <p:nvSpPr>
          <p:cNvPr id="34" name="Text 31"/>
          <p:cNvSpPr txBox="1"/>
          <p:nvPr/>
        </p:nvSpPr>
        <p:spPr>
          <a:xfrm>
            <a:off x="7452360" y="4754880"/>
            <a:ext cx="3959352" cy="640080"/>
          </a:xfrm>
          <a:prstGeom prst="rect">
            <a:avLst/>
          </a:prstGeom>
          <a:noFill/>
          <a:ln/>
        </p:spPr>
        <p:txBody>
          <a:bodyPr wrap="square" lIns="0" tIns="0" rIns="0" bIns="0" rtlCol="0" anchor="t"/>
          <a:lstStyle/>
          <a:p>
            <a:pPr indent="0" marL="0">
              <a:buNone/>
            </a:pPr>
            <a:r>
              <a:rPr lang="en-US" sz="1300" b="1" dirty="0">
                <a:solidFill>
                  <a:schemeClr val="tx2"/>
                </a:solidFill>
              </a:rPr>
              <a:t>Overall score: </a:t>
            </a:r>
            <a:pPr indent="0" marL="0">
              <a:buNone/>
            </a:pPr>
            <a:r>
              <a:rPr lang="en-US" sz="1300" dirty="0">
                <a:solidFill>
                  <a:schemeClr val="tx2"/>
                </a:solidFill>
              </a:rPr>
              <a:t>0.7036  (mean of 5 metrics, CV + test)</a:t>
            </a:r>
            <a:endParaRPr lang="en-US" sz="1300" dirty="0"/>
          </a:p>
        </p:txBody>
      </p:sp>
      <p:sp>
        <p:nvSpPr>
          <p:cNvPr id="35" name="Button: KNN ›">
            <a:hlinkClick r:id="rId2" tooltip="KNN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KNN ›</a:t>
            </a:r>
            <a:endParaRPr lang="en-US" sz="1200" dirty="0"/>
          </a:p>
        </p:txBody>
      </p:sp>
      <p:sp>
        <p:nvSpPr>
          <p:cNvPr id="36" name="Button: Agenda">
            <a:hlinkClick r:id="rId3"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37" name="Button: ‹ XGB">
            <a:hlinkClick r:id="rId4" tooltip="‹ XGB"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XGB</a:t>
            </a:r>
            <a:endParaRPr lang="en-US" sz="1200" dirty="0"/>
          </a:p>
        </p:txBody>
      </p:sp>
      <p:sp>
        <p:nvSpPr>
          <p:cNvPr id="38" name="Button: ‹ Model Explorer">
            <a:hlinkClick r:id="rId5" tooltip="Back to the Model Explorer" action="ppaction://hlinksldjump"/>
          </p:cNvPr>
          <p:cNvSpPr/>
          <p:nvPr/>
        </p:nvSpPr>
        <p:spPr>
          <a:xfrm>
            <a:off x="6693408" y="6336792"/>
            <a:ext cx="1737360" cy="365760"/>
          </a:xfrm>
          <a:prstGeom prst="roundRect">
            <a:avLst>
              <a:gd name="adj" fmla="val 25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 Model Explorer</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accent5"/>
                </a:solidFill>
                <a:latin typeface="Cambria" pitchFamily="34" charset="0"/>
                <a:ea typeface="Cambria" pitchFamily="34" charset="-122"/>
                <a:cs typeface="Cambria" pitchFamily="34" charset="-120"/>
              </a:rPr>
              <a:t>Model Explorer  |  </a:t>
            </a:r>
            <a:pPr algn="l" indent="0" marL="0">
              <a:buNone/>
            </a:pPr>
            <a:r>
              <a:rPr lang="en-US" sz="3200" b="1" dirty="0">
                <a:solidFill>
                  <a:schemeClr val="tx2"/>
                </a:solidFill>
                <a:latin typeface="Cambria" pitchFamily="34" charset="0"/>
                <a:ea typeface="Cambria" pitchFamily="34" charset="-122"/>
                <a:cs typeface="Cambria" pitchFamily="34" charset="-120"/>
              </a:rPr>
              <a:t>K-Nearest Neighbors</a:t>
            </a:r>
            <a:endParaRPr lang="en-US" sz="3200" dirty="0"/>
          </a:p>
        </p:txBody>
      </p:sp>
      <p:sp>
        <p:nvSpPr>
          <p:cNvPr id="3" name="detail icon"/>
          <p:cNvSpPr/>
          <p:nvPr/>
        </p:nvSpPr>
        <p:spPr>
          <a:xfrm>
            <a:off x="548640" y="1280160"/>
            <a:ext cx="868680" cy="868680"/>
          </a:xfrm>
          <a:prstGeom prst="ellipse">
            <a:avLst/>
          </a:prstGeom>
          <a:solidFill>
            <a:srgbClr val="F4B942"/>
          </a:solidFill>
          <a:ln w="12700">
            <a:solidFill>
              <a:srgbClr val="F4B942"/>
            </a:solidFill>
            <a:prstDash val="solid"/>
          </a:ln>
        </p:spPr>
      </p:sp>
      <p:pic>
        <p:nvPicPr>
          <p:cNvPr id="4" name="detail icon glyph" descr="icon">    </p:cNvPr>
          <p:cNvPicPr>
            <a:picLocks noChangeAspect="1"/>
          </p:cNvPicPr>
          <p:nvPr/>
        </p:nvPicPr>
        <p:blipFill>
          <a:blip r:embed="rId1"/>
          <a:stretch>
            <a:fillRect/>
          </a:stretch>
        </p:blipFill>
        <p:spPr>
          <a:xfrm>
            <a:off x="757123" y="1488643"/>
            <a:ext cx="451714" cy="451714"/>
          </a:xfrm>
          <a:prstGeom prst="rect">
            <a:avLst/>
          </a:prstGeom>
        </p:spPr>
      </p:pic>
      <p:sp>
        <p:nvSpPr>
          <p:cNvPr id="5" name="Text 2"/>
          <p:cNvSpPr txBox="1"/>
          <p:nvPr/>
        </p:nvSpPr>
        <p:spPr>
          <a:xfrm>
            <a:off x="1600200" y="1325880"/>
            <a:ext cx="5029200" cy="777240"/>
          </a:xfrm>
          <a:prstGeom prst="rect">
            <a:avLst/>
          </a:prstGeom>
          <a:noFill/>
          <a:ln/>
        </p:spPr>
        <p:txBody>
          <a:bodyPr wrap="square" lIns="0" tIns="0" rIns="0" bIns="0" rtlCol="0" anchor="ctr"/>
          <a:lstStyle/>
          <a:p>
            <a:pPr indent="0" marL="0">
              <a:buNone/>
            </a:pPr>
            <a:r>
              <a:rPr lang="en-US" sz="1700" b="1" dirty="0">
                <a:solidFill>
                  <a:schemeClr val="tx2"/>
                </a:solidFill>
              </a:rPr>
              <a:t>Instance-based (distance)</a:t>
            </a:r>
            <a:endParaRPr lang="en-US" sz="1500" dirty="0"/>
          </a:p>
          <a:p>
            <a:pPr indent="0" marL="0">
              <a:buNone/>
            </a:pPr>
            <a:r>
              <a:rPr lang="en-US" sz="1400" i="1" dirty="0">
                <a:solidFill>
                  <a:schemeClr val="accent5"/>
                </a:solidFill>
              </a:rPr>
              <a:t>k = 15 neighbours</a:t>
            </a:r>
            <a:endParaRPr lang="en-US" sz="1500" dirty="0"/>
          </a:p>
        </p:txBody>
      </p:sp>
      <p:sp>
        <p:nvSpPr>
          <p:cNvPr id="6" name="detail metric Accuracy"/>
          <p:cNvSpPr/>
          <p:nvPr/>
        </p:nvSpPr>
        <p:spPr>
          <a:xfrm>
            <a:off x="548640"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4"/>
          <p:cNvSpPr txBox="1"/>
          <p:nvPr/>
        </p:nvSpPr>
        <p:spPr>
          <a:xfrm>
            <a:off x="548640"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0.695</a:t>
            </a:r>
            <a:endParaRPr lang="en-US" sz="2200" dirty="0"/>
          </a:p>
        </p:txBody>
      </p:sp>
      <p:sp>
        <p:nvSpPr>
          <p:cNvPr id="8" name="Text 5"/>
          <p:cNvSpPr txBox="1"/>
          <p:nvPr/>
        </p:nvSpPr>
        <p:spPr>
          <a:xfrm>
            <a:off x="548640"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Accuracy</a:t>
            </a:r>
            <a:endParaRPr lang="en-US" sz="1200" dirty="0"/>
          </a:p>
        </p:txBody>
      </p:sp>
      <p:sp>
        <p:nvSpPr>
          <p:cNvPr id="9" name="detail metric Precision"/>
          <p:cNvSpPr/>
          <p:nvPr/>
        </p:nvSpPr>
        <p:spPr>
          <a:xfrm>
            <a:off x="1856232"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Text 7"/>
          <p:cNvSpPr txBox="1"/>
          <p:nvPr/>
        </p:nvSpPr>
        <p:spPr>
          <a:xfrm>
            <a:off x="1856232"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0.545</a:t>
            </a:r>
            <a:endParaRPr lang="en-US" sz="2200" dirty="0"/>
          </a:p>
        </p:txBody>
      </p:sp>
      <p:sp>
        <p:nvSpPr>
          <p:cNvPr id="11" name="Text 8"/>
          <p:cNvSpPr txBox="1"/>
          <p:nvPr/>
        </p:nvSpPr>
        <p:spPr>
          <a:xfrm>
            <a:off x="1856232"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Precision</a:t>
            </a:r>
            <a:endParaRPr lang="en-US" sz="1200" dirty="0"/>
          </a:p>
        </p:txBody>
      </p:sp>
      <p:sp>
        <p:nvSpPr>
          <p:cNvPr id="12" name="detail metric Recall"/>
          <p:cNvSpPr/>
          <p:nvPr/>
        </p:nvSpPr>
        <p:spPr>
          <a:xfrm>
            <a:off x="3163824" y="2377440"/>
            <a:ext cx="1188720" cy="1188720"/>
          </a:xfrm>
          <a:prstGeom prst="roundRect">
            <a:avLst>
              <a:gd name="adj" fmla="val 6154"/>
            </a:avLst>
          </a:prstGeom>
          <a:solidFill>
            <a:srgbClr val="FDE3E1"/>
          </a:solidFill>
          <a:ln w="12700">
            <a:solidFill>
              <a:srgbClr val="FDE3E1"/>
            </a:solidFill>
            <a:prstDash val="solid"/>
          </a:ln>
          <a:effectLst>
            <a:outerShdw sx="100000" sy="100000" kx="0" ky="0" algn="bl" rotWithShape="0" blurRad="76200" dist="25400" dir="5400000">
              <a:srgbClr val="000000">
                <a:alpha val="15000"/>
              </a:srgbClr>
            </a:outerShdw>
          </a:effectLst>
        </p:spPr>
      </p:sp>
      <p:sp>
        <p:nvSpPr>
          <p:cNvPr id="13" name="Text 10"/>
          <p:cNvSpPr txBox="1"/>
          <p:nvPr/>
        </p:nvSpPr>
        <p:spPr>
          <a:xfrm>
            <a:off x="3163824" y="2487168"/>
            <a:ext cx="1188720" cy="548640"/>
          </a:xfrm>
          <a:prstGeom prst="rect">
            <a:avLst/>
          </a:prstGeom>
          <a:noFill/>
          <a:ln/>
        </p:spPr>
        <p:txBody>
          <a:bodyPr wrap="square" lIns="0" tIns="0" rIns="0" bIns="0" rtlCol="0" anchor="ctr"/>
          <a:lstStyle/>
          <a:p>
            <a:pPr algn="ctr" indent="0" marL="0">
              <a:buNone/>
            </a:pPr>
            <a:r>
              <a:rPr lang="en-US" sz="2200" b="1" dirty="0">
                <a:solidFill>
                  <a:schemeClr val="accent2"/>
                </a:solidFill>
                <a:latin typeface="Cambria" pitchFamily="34" charset="0"/>
                <a:ea typeface="Cambria" pitchFamily="34" charset="-122"/>
                <a:cs typeface="Cambria" pitchFamily="34" charset="-120"/>
              </a:rPr>
              <a:t>0.778</a:t>
            </a:r>
            <a:endParaRPr lang="en-US" sz="2200" dirty="0"/>
          </a:p>
        </p:txBody>
      </p:sp>
      <p:sp>
        <p:nvSpPr>
          <p:cNvPr id="14" name="Text 11"/>
          <p:cNvSpPr txBox="1"/>
          <p:nvPr/>
        </p:nvSpPr>
        <p:spPr>
          <a:xfrm>
            <a:off x="3163824"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Recall</a:t>
            </a:r>
            <a:endParaRPr lang="en-US" sz="1200" dirty="0"/>
          </a:p>
        </p:txBody>
      </p:sp>
      <p:sp>
        <p:nvSpPr>
          <p:cNvPr id="15" name="detail metric F1"/>
          <p:cNvSpPr/>
          <p:nvPr/>
        </p:nvSpPr>
        <p:spPr>
          <a:xfrm>
            <a:off x="4471416"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Text 13"/>
          <p:cNvSpPr txBox="1"/>
          <p:nvPr/>
        </p:nvSpPr>
        <p:spPr>
          <a:xfrm>
            <a:off x="4471416"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0.641</a:t>
            </a:r>
            <a:endParaRPr lang="en-US" sz="2200" dirty="0"/>
          </a:p>
        </p:txBody>
      </p:sp>
      <p:sp>
        <p:nvSpPr>
          <p:cNvPr id="17" name="Text 14"/>
          <p:cNvSpPr txBox="1"/>
          <p:nvPr/>
        </p:nvSpPr>
        <p:spPr>
          <a:xfrm>
            <a:off x="4471416"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F1</a:t>
            </a:r>
            <a:endParaRPr lang="en-US" sz="1200" dirty="0"/>
          </a:p>
        </p:txBody>
      </p:sp>
      <p:sp>
        <p:nvSpPr>
          <p:cNvPr id="18" name="detail metric ROC-AUC"/>
          <p:cNvSpPr/>
          <p:nvPr/>
        </p:nvSpPr>
        <p:spPr>
          <a:xfrm>
            <a:off x="5779008"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Text 16"/>
          <p:cNvSpPr txBox="1"/>
          <p:nvPr/>
        </p:nvSpPr>
        <p:spPr>
          <a:xfrm>
            <a:off x="5779008"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0.797</a:t>
            </a:r>
            <a:endParaRPr lang="en-US" sz="2200" dirty="0"/>
          </a:p>
        </p:txBody>
      </p:sp>
      <p:sp>
        <p:nvSpPr>
          <p:cNvPr id="20" name="Text 17"/>
          <p:cNvSpPr txBox="1"/>
          <p:nvPr/>
        </p:nvSpPr>
        <p:spPr>
          <a:xfrm>
            <a:off x="5779008"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ROC-AUC</a:t>
            </a:r>
            <a:endParaRPr lang="en-US" sz="1200" dirty="0"/>
          </a:p>
        </p:txBody>
      </p:sp>
      <p:sp>
        <p:nvSpPr>
          <p:cNvPr id="21" name="Text 18"/>
          <p:cNvSpPr txBox="1"/>
          <p:nvPr/>
        </p:nvSpPr>
        <p:spPr>
          <a:xfrm>
            <a:off x="548640" y="3703320"/>
            <a:ext cx="6400800" cy="320040"/>
          </a:xfrm>
          <a:prstGeom prst="rect">
            <a:avLst/>
          </a:prstGeom>
          <a:noFill/>
          <a:ln/>
        </p:spPr>
        <p:txBody>
          <a:bodyPr wrap="square" lIns="0" tIns="0" rIns="0" bIns="0" rtlCol="0" anchor="t"/>
          <a:lstStyle/>
          <a:p>
            <a:pPr indent="0" marL="0">
              <a:buNone/>
            </a:pPr>
            <a:r>
              <a:rPr lang="en-US" sz="1200" i="1" dirty="0">
                <a:solidFill>
                  <a:schemeClr val="accent5"/>
                </a:solidFill>
              </a:rPr>
              <a:t>Test set (154 patients)  |  specificity 0.65  |  5-fold CV ROC-AUC 0.820 ± 0.045, CV recall 0.790</a:t>
            </a:r>
            <a:endParaRPr lang="en-US" sz="1200" dirty="0"/>
          </a:p>
        </p:txBody>
      </p:sp>
      <p:sp>
        <p:nvSpPr>
          <p:cNvPr id="22" name="Text 19"/>
          <p:cNvSpPr txBox="1"/>
          <p:nvPr/>
        </p:nvSpPr>
        <p:spPr>
          <a:xfrm>
            <a:off x="548640" y="4069080"/>
            <a:ext cx="3657600" cy="292608"/>
          </a:xfrm>
          <a:prstGeom prst="rect">
            <a:avLst/>
          </a:prstGeom>
          <a:noFill/>
          <a:ln/>
        </p:spPr>
        <p:txBody>
          <a:bodyPr wrap="square" lIns="0" tIns="0" rIns="0" bIns="0" rtlCol="0" anchor="t"/>
          <a:lstStyle/>
          <a:p>
            <a:pPr indent="0" marL="0">
              <a:buNone/>
            </a:pPr>
            <a:r>
              <a:rPr lang="en-US" sz="1400" b="1" dirty="0">
                <a:solidFill>
                  <a:schemeClr val="tx2"/>
                </a:solidFill>
              </a:rPr>
              <a:t>Confusion matrix (test)</a:t>
            </a:r>
            <a:endParaRPr lang="en-US" sz="1400" dirty="0"/>
          </a:p>
        </p:txBody>
      </p:sp>
      <p:sp>
        <p:nvSpPr>
          <p:cNvPr id="23" name="Text 20"/>
          <p:cNvSpPr txBox="1"/>
          <p:nvPr/>
        </p:nvSpPr>
        <p:spPr>
          <a:xfrm>
            <a:off x="141732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4" name="Text 21"/>
          <p:cNvSpPr txBox="1"/>
          <p:nvPr/>
        </p:nvSpPr>
        <p:spPr>
          <a:xfrm>
            <a:off x="283464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5" name="detail cm TN"/>
          <p:cNvSpPr/>
          <p:nvPr/>
        </p:nvSpPr>
        <p:spPr>
          <a:xfrm>
            <a:off x="141732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65</a:t>
            </a:r>
            <a:endParaRPr lang="en-US" sz="2000" dirty="0"/>
          </a:p>
          <a:p>
            <a:pPr algn="ctr" indent="0" marL="0">
              <a:buNone/>
            </a:pPr>
            <a:r>
              <a:rPr lang="en-US" sz="1100" dirty="0">
                <a:solidFill>
                  <a:schemeClr val="tx2"/>
                </a:solidFill>
              </a:rPr>
              <a:t>TN</a:t>
            </a:r>
            <a:endParaRPr lang="en-US" sz="2000" dirty="0"/>
          </a:p>
        </p:txBody>
      </p:sp>
      <p:sp>
        <p:nvSpPr>
          <p:cNvPr id="26" name="detail cm FP"/>
          <p:cNvSpPr/>
          <p:nvPr/>
        </p:nvSpPr>
        <p:spPr>
          <a:xfrm>
            <a:off x="283464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35</a:t>
            </a:r>
            <a:endParaRPr lang="en-US" sz="2000" dirty="0"/>
          </a:p>
          <a:p>
            <a:pPr algn="ctr" indent="0" marL="0">
              <a:buNone/>
            </a:pPr>
            <a:r>
              <a:rPr lang="en-US" sz="1100" dirty="0">
                <a:solidFill>
                  <a:schemeClr val="tx2"/>
                </a:solidFill>
              </a:rPr>
              <a:t>FP</a:t>
            </a:r>
            <a:endParaRPr lang="en-US" sz="2000" dirty="0"/>
          </a:p>
        </p:txBody>
      </p:sp>
      <p:sp>
        <p:nvSpPr>
          <p:cNvPr id="27" name="detail cm FN"/>
          <p:cNvSpPr/>
          <p:nvPr/>
        </p:nvSpPr>
        <p:spPr>
          <a:xfrm>
            <a:off x="1417320" y="5449824"/>
            <a:ext cx="1325880" cy="713232"/>
          </a:xfrm>
          <a:prstGeom prst="roundRect">
            <a:avLst>
              <a:gd name="adj" fmla="val 7692"/>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12</a:t>
            </a:r>
            <a:endParaRPr lang="en-US" sz="2000" dirty="0"/>
          </a:p>
          <a:p>
            <a:pPr algn="ctr" indent="0" marL="0">
              <a:buNone/>
            </a:pPr>
            <a:r>
              <a:rPr lang="en-US" sz="1100" dirty="0">
                <a:solidFill>
                  <a:schemeClr val="bg1"/>
                </a:solidFill>
              </a:rPr>
              <a:t>FN</a:t>
            </a:r>
            <a:endParaRPr lang="en-US" sz="2000" dirty="0"/>
          </a:p>
        </p:txBody>
      </p:sp>
      <p:sp>
        <p:nvSpPr>
          <p:cNvPr id="28" name="detail cm TP"/>
          <p:cNvSpPr/>
          <p:nvPr/>
        </p:nvSpPr>
        <p:spPr>
          <a:xfrm>
            <a:off x="2834640" y="5449824"/>
            <a:ext cx="1325880" cy="713232"/>
          </a:xfrm>
          <a:prstGeom prst="roundRect">
            <a:avLst>
              <a:gd name="adj" fmla="val 7692"/>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42</a:t>
            </a:r>
            <a:endParaRPr lang="en-US" sz="2000" dirty="0"/>
          </a:p>
          <a:p>
            <a:pPr algn="ctr" indent="0" marL="0">
              <a:buNone/>
            </a:pPr>
            <a:r>
              <a:rPr lang="en-US" sz="1100" dirty="0">
                <a:solidFill>
                  <a:schemeClr val="bg1"/>
                </a:solidFill>
              </a:rPr>
              <a:t>TP</a:t>
            </a:r>
            <a:endParaRPr lang="en-US" sz="2000" dirty="0"/>
          </a:p>
        </p:txBody>
      </p:sp>
      <p:sp>
        <p:nvSpPr>
          <p:cNvPr id="29" name="Text 26"/>
          <p:cNvSpPr txBox="1"/>
          <p:nvPr/>
        </p:nvSpPr>
        <p:spPr>
          <a:xfrm>
            <a:off x="548640" y="4663440"/>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0" name="Text 27"/>
          <p:cNvSpPr txBox="1"/>
          <p:nvPr/>
        </p:nvSpPr>
        <p:spPr>
          <a:xfrm>
            <a:off x="548640" y="5449824"/>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1" name="verdict card"/>
          <p:cNvSpPr/>
          <p:nvPr/>
        </p:nvSpPr>
        <p:spPr>
          <a:xfrm>
            <a:off x="7223760" y="1280160"/>
            <a:ext cx="4416552" cy="4754880"/>
          </a:xfrm>
          <a:prstGeom prst="roundRect">
            <a:avLst>
              <a:gd name="adj" fmla="val 16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2" name="verdict badge"/>
          <p:cNvSpPr/>
          <p:nvPr/>
        </p:nvSpPr>
        <p:spPr>
          <a:xfrm>
            <a:off x="7452360" y="1508760"/>
            <a:ext cx="3959352" cy="548640"/>
          </a:xfrm>
          <a:prstGeom prst="roundRect">
            <a:avLst>
              <a:gd name="adj" fmla="val 16667"/>
            </a:avLst>
          </a:prstGeom>
          <a:solidFill>
            <a:schemeClr val="accent3"/>
          </a:solidFill>
          <a:ln>
            <a:solidFill>
              <a:schemeClr val="accent3"/>
            </a:solidFill>
          </a:ln>
        </p:spPr>
        <p:txBody>
          <a:bodyPr wrap="square" lIns="0" tIns="0" rIns="0" bIns="0" rtlCol="0" anchor="ctr"/>
          <a:lstStyle/>
          <a:p>
            <a:pPr algn="ctr" indent="0" marL="0">
              <a:buNone/>
            </a:pPr>
            <a:r>
              <a:rPr lang="en-US" sz="1700" b="1" dirty="0">
                <a:solidFill>
                  <a:schemeClr val="bg1"/>
                </a:solidFill>
              </a:rPr>
              <a:t>Eligible, not selected</a:t>
            </a:r>
            <a:endParaRPr lang="en-US" sz="1700" dirty="0"/>
          </a:p>
        </p:txBody>
      </p:sp>
      <p:sp>
        <p:nvSpPr>
          <p:cNvPr id="33" name="Text 30"/>
          <p:cNvSpPr txBox="1"/>
          <p:nvPr/>
        </p:nvSpPr>
        <p:spPr>
          <a:xfrm>
            <a:off x="7452360" y="2286000"/>
            <a:ext cx="3959352" cy="23774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Highest recall: misses only 12 diabetic patients</a:t>
            </a:r>
            <a:endParaRPr lang="en-US" sz="1500" dirty="0"/>
          </a:p>
          <a:p>
            <a:pPr marL="203200" indent="-203200">
              <a:spcAft>
                <a:spcPts val="600"/>
              </a:spcAft>
              <a:buSzPct val="100000"/>
              <a:buChar char="•"/>
            </a:pPr>
            <a:r>
              <a:rPr lang="en-US" sz="1500" dirty="0">
                <a:solidFill>
                  <a:schemeClr val="tx1"/>
                </a:solidFill>
              </a:rPr>
              <a:t>But the most false alarms (35) and the lowest precision (0.55)</a:t>
            </a:r>
            <a:endParaRPr lang="en-US" sz="1500" dirty="0"/>
          </a:p>
          <a:p>
            <a:pPr marL="203200" indent="-203200">
              <a:spcAft>
                <a:spcPts val="600"/>
              </a:spcAft>
              <a:buSzPct val="100000"/>
              <a:buChar char="•"/>
            </a:pPr>
            <a:r>
              <a:rPr lang="en-US" sz="1500" dirty="0">
                <a:solidFill>
                  <a:schemeClr val="tx1"/>
                </a:solidFill>
              </a:rPr>
              <a:t>Lower overall score than Random Forest</a:t>
            </a:r>
            <a:endParaRPr lang="en-US" sz="1500" dirty="0"/>
          </a:p>
        </p:txBody>
      </p:sp>
      <p:sp>
        <p:nvSpPr>
          <p:cNvPr id="34" name="Text 31"/>
          <p:cNvSpPr txBox="1"/>
          <p:nvPr/>
        </p:nvSpPr>
        <p:spPr>
          <a:xfrm>
            <a:off x="7452360" y="4754880"/>
            <a:ext cx="3959352" cy="640080"/>
          </a:xfrm>
          <a:prstGeom prst="rect">
            <a:avLst/>
          </a:prstGeom>
          <a:noFill/>
          <a:ln/>
        </p:spPr>
        <p:txBody>
          <a:bodyPr wrap="square" lIns="0" tIns="0" rIns="0" bIns="0" rtlCol="0" anchor="t"/>
          <a:lstStyle/>
          <a:p>
            <a:pPr indent="0" marL="0">
              <a:buNone/>
            </a:pPr>
            <a:r>
              <a:rPr lang="en-US" sz="1300" b="1" dirty="0">
                <a:solidFill>
                  <a:schemeClr val="tx2"/>
                </a:solidFill>
              </a:rPr>
              <a:t>Overall score: </a:t>
            </a:r>
            <a:pPr indent="0" marL="0">
              <a:buNone/>
            </a:pPr>
            <a:r>
              <a:rPr lang="en-US" sz="1300" dirty="0">
                <a:solidFill>
                  <a:schemeClr val="tx2"/>
                </a:solidFill>
              </a:rPr>
              <a:t>0.7054  (mean of 5 metrics, CV + test)</a:t>
            </a:r>
            <a:endParaRPr lang="en-US" sz="1300" dirty="0"/>
          </a:p>
        </p:txBody>
      </p:sp>
      <p:sp>
        <p:nvSpPr>
          <p:cNvPr id="35" name="Button: DT ›">
            <a:hlinkClick r:id="rId2" tooltip="DT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DT ›</a:t>
            </a:r>
            <a:endParaRPr lang="en-US" sz="1200" dirty="0"/>
          </a:p>
        </p:txBody>
      </p:sp>
      <p:sp>
        <p:nvSpPr>
          <p:cNvPr id="36" name="Button: Agenda">
            <a:hlinkClick r:id="rId3"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37" name="Button: ‹ LR">
            <a:hlinkClick r:id="rId4" tooltip="‹ LR"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LR</a:t>
            </a:r>
            <a:endParaRPr lang="en-US" sz="1200" dirty="0"/>
          </a:p>
        </p:txBody>
      </p:sp>
      <p:sp>
        <p:nvSpPr>
          <p:cNvPr id="38" name="Button: ‹ Model Explorer">
            <a:hlinkClick r:id="rId5" tooltip="Back to the Model Explorer" action="ppaction://hlinksldjump"/>
          </p:cNvPr>
          <p:cNvSpPr/>
          <p:nvPr/>
        </p:nvSpPr>
        <p:spPr>
          <a:xfrm>
            <a:off x="6693408" y="6336792"/>
            <a:ext cx="1737360" cy="365760"/>
          </a:xfrm>
          <a:prstGeom prst="roundRect">
            <a:avLst>
              <a:gd name="adj" fmla="val 25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 Model Explorer</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accent5"/>
                </a:solidFill>
                <a:latin typeface="Cambria" pitchFamily="34" charset="0"/>
                <a:ea typeface="Cambria" pitchFamily="34" charset="-122"/>
                <a:cs typeface="Cambria" pitchFamily="34" charset="-120"/>
              </a:rPr>
              <a:t>Model Explorer  |  </a:t>
            </a:r>
            <a:pPr algn="l" indent="0" marL="0">
              <a:buNone/>
            </a:pPr>
            <a:r>
              <a:rPr lang="en-US" sz="3200" b="1" dirty="0">
                <a:solidFill>
                  <a:schemeClr val="tx2"/>
                </a:solidFill>
                <a:latin typeface="Cambria" pitchFamily="34" charset="0"/>
                <a:ea typeface="Cambria" pitchFamily="34" charset="-122"/>
                <a:cs typeface="Cambria" pitchFamily="34" charset="-120"/>
              </a:rPr>
              <a:t>Decision Tree</a:t>
            </a:r>
            <a:endParaRPr lang="en-US" sz="3200" dirty="0"/>
          </a:p>
        </p:txBody>
      </p:sp>
      <p:sp>
        <p:nvSpPr>
          <p:cNvPr id="3" name="detail icon"/>
          <p:cNvSpPr/>
          <p:nvPr/>
        </p:nvSpPr>
        <p:spPr>
          <a:xfrm>
            <a:off x="548640" y="1280160"/>
            <a:ext cx="868680" cy="868680"/>
          </a:xfrm>
          <a:prstGeom prst="ellipse">
            <a:avLst/>
          </a:prstGeom>
          <a:solidFill>
            <a:srgbClr val="7A8B94"/>
          </a:solidFill>
          <a:ln w="12700">
            <a:solidFill>
              <a:srgbClr val="7A8B94"/>
            </a:solidFill>
            <a:prstDash val="solid"/>
          </a:ln>
        </p:spPr>
      </p:sp>
      <p:pic>
        <p:nvPicPr>
          <p:cNvPr id="4" name="detail icon glyph" descr="icon">    </p:cNvPr>
          <p:cNvPicPr>
            <a:picLocks noChangeAspect="1"/>
          </p:cNvPicPr>
          <p:nvPr/>
        </p:nvPicPr>
        <p:blipFill>
          <a:blip r:embed="rId1"/>
          <a:stretch>
            <a:fillRect/>
          </a:stretch>
        </p:blipFill>
        <p:spPr>
          <a:xfrm>
            <a:off x="757123" y="1488643"/>
            <a:ext cx="451714" cy="451714"/>
          </a:xfrm>
          <a:prstGeom prst="rect">
            <a:avLst/>
          </a:prstGeom>
        </p:spPr>
      </p:pic>
      <p:sp>
        <p:nvSpPr>
          <p:cNvPr id="5" name="Text 2"/>
          <p:cNvSpPr txBox="1"/>
          <p:nvPr/>
        </p:nvSpPr>
        <p:spPr>
          <a:xfrm>
            <a:off x="1600200" y="1325880"/>
            <a:ext cx="5029200" cy="777240"/>
          </a:xfrm>
          <a:prstGeom prst="rect">
            <a:avLst/>
          </a:prstGeom>
          <a:noFill/>
          <a:ln/>
        </p:spPr>
        <p:txBody>
          <a:bodyPr wrap="square" lIns="0" tIns="0" rIns="0" bIns="0" rtlCol="0" anchor="ctr"/>
          <a:lstStyle/>
          <a:p>
            <a:pPr indent="0" marL="0">
              <a:buNone/>
            </a:pPr>
            <a:r>
              <a:rPr lang="en-US" sz="1700" b="1" dirty="0">
                <a:solidFill>
                  <a:schemeClr val="tx2"/>
                </a:solidFill>
              </a:rPr>
              <a:t>Rule-based tree</a:t>
            </a:r>
            <a:endParaRPr lang="en-US" sz="1500" dirty="0"/>
          </a:p>
          <a:p>
            <a:pPr indent="0" marL="0">
              <a:buNone/>
            </a:pPr>
            <a:r>
              <a:rPr lang="en-US" sz="1400" i="1" dirty="0">
                <a:solidFill>
                  <a:schemeClr val="accent5"/>
                </a:solidFill>
              </a:rPr>
              <a:t>max_depth = 5, min_samples_leaf = 5</a:t>
            </a:r>
            <a:endParaRPr lang="en-US" sz="1500" dirty="0"/>
          </a:p>
        </p:txBody>
      </p:sp>
      <p:sp>
        <p:nvSpPr>
          <p:cNvPr id="6" name="detail metric Accuracy"/>
          <p:cNvSpPr/>
          <p:nvPr/>
        </p:nvSpPr>
        <p:spPr>
          <a:xfrm>
            <a:off x="548640"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4"/>
          <p:cNvSpPr txBox="1"/>
          <p:nvPr/>
        </p:nvSpPr>
        <p:spPr>
          <a:xfrm>
            <a:off x="548640"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0.727</a:t>
            </a:r>
            <a:endParaRPr lang="en-US" sz="2200" dirty="0"/>
          </a:p>
        </p:txBody>
      </p:sp>
      <p:sp>
        <p:nvSpPr>
          <p:cNvPr id="8" name="Text 5"/>
          <p:cNvSpPr txBox="1"/>
          <p:nvPr/>
        </p:nvSpPr>
        <p:spPr>
          <a:xfrm>
            <a:off x="548640"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Accuracy</a:t>
            </a:r>
            <a:endParaRPr lang="en-US" sz="1200" dirty="0"/>
          </a:p>
        </p:txBody>
      </p:sp>
      <p:sp>
        <p:nvSpPr>
          <p:cNvPr id="9" name="detail metric Precision"/>
          <p:cNvSpPr/>
          <p:nvPr/>
        </p:nvSpPr>
        <p:spPr>
          <a:xfrm>
            <a:off x="1856232"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Text 7"/>
          <p:cNvSpPr txBox="1"/>
          <p:nvPr/>
        </p:nvSpPr>
        <p:spPr>
          <a:xfrm>
            <a:off x="1856232"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0.583</a:t>
            </a:r>
            <a:endParaRPr lang="en-US" sz="2200" dirty="0"/>
          </a:p>
        </p:txBody>
      </p:sp>
      <p:sp>
        <p:nvSpPr>
          <p:cNvPr id="11" name="Text 8"/>
          <p:cNvSpPr txBox="1"/>
          <p:nvPr/>
        </p:nvSpPr>
        <p:spPr>
          <a:xfrm>
            <a:off x="1856232"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Precision</a:t>
            </a:r>
            <a:endParaRPr lang="en-US" sz="1200" dirty="0"/>
          </a:p>
        </p:txBody>
      </p:sp>
      <p:sp>
        <p:nvSpPr>
          <p:cNvPr id="12" name="detail metric Recall"/>
          <p:cNvSpPr/>
          <p:nvPr/>
        </p:nvSpPr>
        <p:spPr>
          <a:xfrm>
            <a:off x="3163824" y="2377440"/>
            <a:ext cx="1188720" cy="1188720"/>
          </a:xfrm>
          <a:prstGeom prst="roundRect">
            <a:avLst>
              <a:gd name="adj" fmla="val 6154"/>
            </a:avLst>
          </a:prstGeom>
          <a:solidFill>
            <a:srgbClr val="FDE3E1"/>
          </a:solidFill>
          <a:ln w="12700">
            <a:solidFill>
              <a:srgbClr val="FDE3E1"/>
            </a:solidFill>
            <a:prstDash val="solid"/>
          </a:ln>
          <a:effectLst>
            <a:outerShdw sx="100000" sy="100000" kx="0" ky="0" algn="bl" rotWithShape="0" blurRad="76200" dist="25400" dir="5400000">
              <a:srgbClr val="000000">
                <a:alpha val="15000"/>
              </a:srgbClr>
            </a:outerShdw>
          </a:effectLst>
        </p:spPr>
      </p:sp>
      <p:sp>
        <p:nvSpPr>
          <p:cNvPr id="13" name="Text 10"/>
          <p:cNvSpPr txBox="1"/>
          <p:nvPr/>
        </p:nvSpPr>
        <p:spPr>
          <a:xfrm>
            <a:off x="3163824" y="2487168"/>
            <a:ext cx="1188720" cy="548640"/>
          </a:xfrm>
          <a:prstGeom prst="rect">
            <a:avLst/>
          </a:prstGeom>
          <a:noFill/>
          <a:ln/>
        </p:spPr>
        <p:txBody>
          <a:bodyPr wrap="square" lIns="0" tIns="0" rIns="0" bIns="0" rtlCol="0" anchor="ctr"/>
          <a:lstStyle/>
          <a:p>
            <a:pPr algn="ctr" indent="0" marL="0">
              <a:buNone/>
            </a:pPr>
            <a:r>
              <a:rPr lang="en-US" sz="2200" b="1" dirty="0">
                <a:solidFill>
                  <a:schemeClr val="accent2"/>
                </a:solidFill>
                <a:latin typeface="Cambria" pitchFamily="34" charset="0"/>
                <a:ea typeface="Cambria" pitchFamily="34" charset="-122"/>
                <a:cs typeface="Cambria" pitchFamily="34" charset="-120"/>
              </a:rPr>
              <a:t>0.778</a:t>
            </a:r>
            <a:endParaRPr lang="en-US" sz="2200" dirty="0"/>
          </a:p>
        </p:txBody>
      </p:sp>
      <p:sp>
        <p:nvSpPr>
          <p:cNvPr id="14" name="Text 11"/>
          <p:cNvSpPr txBox="1"/>
          <p:nvPr/>
        </p:nvSpPr>
        <p:spPr>
          <a:xfrm>
            <a:off x="3163824"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Recall</a:t>
            </a:r>
            <a:endParaRPr lang="en-US" sz="1200" dirty="0"/>
          </a:p>
        </p:txBody>
      </p:sp>
      <p:sp>
        <p:nvSpPr>
          <p:cNvPr id="15" name="detail metric F1"/>
          <p:cNvSpPr/>
          <p:nvPr/>
        </p:nvSpPr>
        <p:spPr>
          <a:xfrm>
            <a:off x="4471416"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Text 13"/>
          <p:cNvSpPr txBox="1"/>
          <p:nvPr/>
        </p:nvSpPr>
        <p:spPr>
          <a:xfrm>
            <a:off x="4471416"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0.667</a:t>
            </a:r>
            <a:endParaRPr lang="en-US" sz="2200" dirty="0"/>
          </a:p>
        </p:txBody>
      </p:sp>
      <p:sp>
        <p:nvSpPr>
          <p:cNvPr id="17" name="Text 14"/>
          <p:cNvSpPr txBox="1"/>
          <p:nvPr/>
        </p:nvSpPr>
        <p:spPr>
          <a:xfrm>
            <a:off x="4471416"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F1</a:t>
            </a:r>
            <a:endParaRPr lang="en-US" sz="1200" dirty="0"/>
          </a:p>
        </p:txBody>
      </p:sp>
      <p:sp>
        <p:nvSpPr>
          <p:cNvPr id="18" name="detail metric ROC-AUC"/>
          <p:cNvSpPr/>
          <p:nvPr/>
        </p:nvSpPr>
        <p:spPr>
          <a:xfrm>
            <a:off x="5779008"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Text 16"/>
          <p:cNvSpPr txBox="1"/>
          <p:nvPr/>
        </p:nvSpPr>
        <p:spPr>
          <a:xfrm>
            <a:off x="5779008"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0.762</a:t>
            </a:r>
            <a:endParaRPr lang="en-US" sz="2200" dirty="0"/>
          </a:p>
        </p:txBody>
      </p:sp>
      <p:sp>
        <p:nvSpPr>
          <p:cNvPr id="20" name="Text 17"/>
          <p:cNvSpPr txBox="1"/>
          <p:nvPr/>
        </p:nvSpPr>
        <p:spPr>
          <a:xfrm>
            <a:off x="5779008"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ROC-AUC</a:t>
            </a:r>
            <a:endParaRPr lang="en-US" sz="1200" dirty="0"/>
          </a:p>
        </p:txBody>
      </p:sp>
      <p:sp>
        <p:nvSpPr>
          <p:cNvPr id="21" name="Text 18"/>
          <p:cNvSpPr txBox="1"/>
          <p:nvPr/>
        </p:nvSpPr>
        <p:spPr>
          <a:xfrm>
            <a:off x="548640" y="3703320"/>
            <a:ext cx="6400800" cy="320040"/>
          </a:xfrm>
          <a:prstGeom prst="rect">
            <a:avLst/>
          </a:prstGeom>
          <a:noFill/>
          <a:ln/>
        </p:spPr>
        <p:txBody>
          <a:bodyPr wrap="square" lIns="0" tIns="0" rIns="0" bIns="0" rtlCol="0" anchor="t"/>
          <a:lstStyle/>
          <a:p>
            <a:pPr indent="0" marL="0">
              <a:buNone/>
            </a:pPr>
            <a:r>
              <a:rPr lang="en-US" sz="1200" i="1" dirty="0">
                <a:solidFill>
                  <a:schemeClr val="accent5"/>
                </a:solidFill>
              </a:rPr>
              <a:t>Test set (154 patients)  |  specificity 0.70  |  5-fold CV ROC-AUC 0.762 ± 0.013, CV recall 0.687</a:t>
            </a:r>
            <a:endParaRPr lang="en-US" sz="1200" dirty="0"/>
          </a:p>
        </p:txBody>
      </p:sp>
      <p:sp>
        <p:nvSpPr>
          <p:cNvPr id="22" name="Text 19"/>
          <p:cNvSpPr txBox="1"/>
          <p:nvPr/>
        </p:nvSpPr>
        <p:spPr>
          <a:xfrm>
            <a:off x="548640" y="4069080"/>
            <a:ext cx="3657600" cy="292608"/>
          </a:xfrm>
          <a:prstGeom prst="rect">
            <a:avLst/>
          </a:prstGeom>
          <a:noFill/>
          <a:ln/>
        </p:spPr>
        <p:txBody>
          <a:bodyPr wrap="square" lIns="0" tIns="0" rIns="0" bIns="0" rtlCol="0" anchor="t"/>
          <a:lstStyle/>
          <a:p>
            <a:pPr indent="0" marL="0">
              <a:buNone/>
            </a:pPr>
            <a:r>
              <a:rPr lang="en-US" sz="1400" b="1" dirty="0">
                <a:solidFill>
                  <a:schemeClr val="tx2"/>
                </a:solidFill>
              </a:rPr>
              <a:t>Confusion matrix (test)</a:t>
            </a:r>
            <a:endParaRPr lang="en-US" sz="1400" dirty="0"/>
          </a:p>
        </p:txBody>
      </p:sp>
      <p:sp>
        <p:nvSpPr>
          <p:cNvPr id="23" name="Text 20"/>
          <p:cNvSpPr txBox="1"/>
          <p:nvPr/>
        </p:nvSpPr>
        <p:spPr>
          <a:xfrm>
            <a:off x="141732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4" name="Text 21"/>
          <p:cNvSpPr txBox="1"/>
          <p:nvPr/>
        </p:nvSpPr>
        <p:spPr>
          <a:xfrm>
            <a:off x="283464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5" name="detail cm TN"/>
          <p:cNvSpPr/>
          <p:nvPr/>
        </p:nvSpPr>
        <p:spPr>
          <a:xfrm>
            <a:off x="141732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70</a:t>
            </a:r>
            <a:endParaRPr lang="en-US" sz="2000" dirty="0"/>
          </a:p>
          <a:p>
            <a:pPr algn="ctr" indent="0" marL="0">
              <a:buNone/>
            </a:pPr>
            <a:r>
              <a:rPr lang="en-US" sz="1100" dirty="0">
                <a:solidFill>
                  <a:schemeClr val="tx2"/>
                </a:solidFill>
              </a:rPr>
              <a:t>TN</a:t>
            </a:r>
            <a:endParaRPr lang="en-US" sz="2000" dirty="0"/>
          </a:p>
        </p:txBody>
      </p:sp>
      <p:sp>
        <p:nvSpPr>
          <p:cNvPr id="26" name="detail cm FP"/>
          <p:cNvSpPr/>
          <p:nvPr/>
        </p:nvSpPr>
        <p:spPr>
          <a:xfrm>
            <a:off x="283464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30</a:t>
            </a:r>
            <a:endParaRPr lang="en-US" sz="2000" dirty="0"/>
          </a:p>
          <a:p>
            <a:pPr algn="ctr" indent="0" marL="0">
              <a:buNone/>
            </a:pPr>
            <a:r>
              <a:rPr lang="en-US" sz="1100" dirty="0">
                <a:solidFill>
                  <a:schemeClr val="tx2"/>
                </a:solidFill>
              </a:rPr>
              <a:t>FP</a:t>
            </a:r>
            <a:endParaRPr lang="en-US" sz="2000" dirty="0"/>
          </a:p>
        </p:txBody>
      </p:sp>
      <p:sp>
        <p:nvSpPr>
          <p:cNvPr id="27" name="detail cm FN"/>
          <p:cNvSpPr/>
          <p:nvPr/>
        </p:nvSpPr>
        <p:spPr>
          <a:xfrm>
            <a:off x="1417320" y="5449824"/>
            <a:ext cx="1325880" cy="713232"/>
          </a:xfrm>
          <a:prstGeom prst="roundRect">
            <a:avLst>
              <a:gd name="adj" fmla="val 7692"/>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12</a:t>
            </a:r>
            <a:endParaRPr lang="en-US" sz="2000" dirty="0"/>
          </a:p>
          <a:p>
            <a:pPr algn="ctr" indent="0" marL="0">
              <a:buNone/>
            </a:pPr>
            <a:r>
              <a:rPr lang="en-US" sz="1100" dirty="0">
                <a:solidFill>
                  <a:schemeClr val="bg1"/>
                </a:solidFill>
              </a:rPr>
              <a:t>FN</a:t>
            </a:r>
            <a:endParaRPr lang="en-US" sz="2000" dirty="0"/>
          </a:p>
        </p:txBody>
      </p:sp>
      <p:sp>
        <p:nvSpPr>
          <p:cNvPr id="28" name="detail cm TP"/>
          <p:cNvSpPr/>
          <p:nvPr/>
        </p:nvSpPr>
        <p:spPr>
          <a:xfrm>
            <a:off x="2834640" y="5449824"/>
            <a:ext cx="1325880" cy="713232"/>
          </a:xfrm>
          <a:prstGeom prst="roundRect">
            <a:avLst>
              <a:gd name="adj" fmla="val 7692"/>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42</a:t>
            </a:r>
            <a:endParaRPr lang="en-US" sz="2000" dirty="0"/>
          </a:p>
          <a:p>
            <a:pPr algn="ctr" indent="0" marL="0">
              <a:buNone/>
            </a:pPr>
            <a:r>
              <a:rPr lang="en-US" sz="1100" dirty="0">
                <a:solidFill>
                  <a:schemeClr val="bg1"/>
                </a:solidFill>
              </a:rPr>
              <a:t>TP</a:t>
            </a:r>
            <a:endParaRPr lang="en-US" sz="2000" dirty="0"/>
          </a:p>
        </p:txBody>
      </p:sp>
      <p:sp>
        <p:nvSpPr>
          <p:cNvPr id="29" name="Text 26"/>
          <p:cNvSpPr txBox="1"/>
          <p:nvPr/>
        </p:nvSpPr>
        <p:spPr>
          <a:xfrm>
            <a:off x="548640" y="4663440"/>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0" name="Text 27"/>
          <p:cNvSpPr txBox="1"/>
          <p:nvPr/>
        </p:nvSpPr>
        <p:spPr>
          <a:xfrm>
            <a:off x="548640" y="5449824"/>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1" name="verdict card"/>
          <p:cNvSpPr/>
          <p:nvPr/>
        </p:nvSpPr>
        <p:spPr>
          <a:xfrm>
            <a:off x="7223760" y="1280160"/>
            <a:ext cx="4416552" cy="4754880"/>
          </a:xfrm>
          <a:prstGeom prst="roundRect">
            <a:avLst>
              <a:gd name="adj" fmla="val 16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2" name="verdict badge"/>
          <p:cNvSpPr/>
          <p:nvPr/>
        </p:nvSpPr>
        <p:spPr>
          <a:xfrm>
            <a:off x="7452360" y="1508760"/>
            <a:ext cx="3959352" cy="548640"/>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700" b="1" dirty="0">
                <a:solidFill>
                  <a:schemeClr val="bg1"/>
                </a:solidFill>
              </a:rPr>
              <a:t>Not selected</a:t>
            </a:r>
            <a:endParaRPr lang="en-US" sz="1700" dirty="0"/>
          </a:p>
        </p:txBody>
      </p:sp>
      <p:sp>
        <p:nvSpPr>
          <p:cNvPr id="33" name="Text 30"/>
          <p:cNvSpPr txBox="1"/>
          <p:nvPr/>
        </p:nvSpPr>
        <p:spPr>
          <a:xfrm>
            <a:off x="7452360" y="2286000"/>
            <a:ext cx="3959352" cy="23774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Readable if/else rules and high test recall</a:t>
            </a:r>
            <a:endParaRPr lang="en-US" sz="1500" dirty="0"/>
          </a:p>
          <a:p>
            <a:pPr marL="203200" indent="-203200">
              <a:spcAft>
                <a:spcPts val="600"/>
              </a:spcAft>
              <a:buSzPct val="100000"/>
              <a:buChar char="•"/>
            </a:pPr>
            <a:r>
              <a:rPr lang="en-US" sz="1500" dirty="0">
                <a:solidFill>
                  <a:schemeClr val="tx1"/>
                </a:solidFill>
              </a:rPr>
              <a:t>Lowest ROC-AUC: a shallow tree gives only a few distinct probabilities</a:t>
            </a:r>
            <a:endParaRPr lang="en-US" sz="1500" dirty="0"/>
          </a:p>
          <a:p>
            <a:pPr marL="203200" indent="-203200">
              <a:spcAft>
                <a:spcPts val="600"/>
              </a:spcAft>
              <a:buSzPct val="100000"/>
              <a:buChar char="•"/>
            </a:pPr>
            <a:r>
              <a:rPr lang="en-US" sz="1500" dirty="0">
                <a:solidFill>
                  <a:schemeClr val="tx1"/>
                </a:solidFill>
              </a:rPr>
              <a:t>Cross-validated recall 0.687 fails the 0.70 rule</a:t>
            </a:r>
            <a:endParaRPr lang="en-US" sz="1500" dirty="0"/>
          </a:p>
        </p:txBody>
      </p:sp>
      <p:sp>
        <p:nvSpPr>
          <p:cNvPr id="34" name="Text 31"/>
          <p:cNvSpPr txBox="1"/>
          <p:nvPr/>
        </p:nvSpPr>
        <p:spPr>
          <a:xfrm>
            <a:off x="7452360" y="4754880"/>
            <a:ext cx="3959352" cy="640080"/>
          </a:xfrm>
          <a:prstGeom prst="rect">
            <a:avLst/>
          </a:prstGeom>
          <a:noFill/>
          <a:ln/>
        </p:spPr>
        <p:txBody>
          <a:bodyPr wrap="square" lIns="0" tIns="0" rIns="0" bIns="0" rtlCol="0" anchor="t"/>
          <a:lstStyle/>
          <a:p>
            <a:pPr indent="0" marL="0">
              <a:buNone/>
            </a:pPr>
            <a:r>
              <a:rPr lang="en-US" sz="1300" b="1" dirty="0">
                <a:solidFill>
                  <a:schemeClr val="tx2"/>
                </a:solidFill>
              </a:rPr>
              <a:t>Overall score: </a:t>
            </a:r>
            <a:pPr indent="0" marL="0">
              <a:buNone/>
            </a:pPr>
            <a:r>
              <a:rPr lang="en-US" sz="1300" dirty="0">
                <a:solidFill>
                  <a:schemeClr val="tx2"/>
                </a:solidFill>
              </a:rPr>
              <a:t>0.6835  (mean of 5 metrics, CV + test)</a:t>
            </a:r>
            <a:endParaRPr lang="en-US" sz="1300" dirty="0"/>
          </a:p>
        </p:txBody>
      </p:sp>
      <p:sp>
        <p:nvSpPr>
          <p:cNvPr id="35" name="Button: RF ›">
            <a:hlinkClick r:id="rId2" tooltip="RF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RF ›</a:t>
            </a:r>
            <a:endParaRPr lang="en-US" sz="1200" dirty="0"/>
          </a:p>
        </p:txBody>
      </p:sp>
      <p:sp>
        <p:nvSpPr>
          <p:cNvPr id="36" name="Button: Agenda">
            <a:hlinkClick r:id="rId3"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37" name="Button: ‹ KNN">
            <a:hlinkClick r:id="rId4" tooltip="‹ KNN"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KNN</a:t>
            </a:r>
            <a:endParaRPr lang="en-US" sz="1200" dirty="0"/>
          </a:p>
        </p:txBody>
      </p:sp>
      <p:sp>
        <p:nvSpPr>
          <p:cNvPr id="38" name="Button: ‹ Model Explorer">
            <a:hlinkClick r:id="rId5" tooltip="Back to the Model Explorer" action="ppaction://hlinksldjump"/>
          </p:cNvPr>
          <p:cNvSpPr/>
          <p:nvPr/>
        </p:nvSpPr>
        <p:spPr>
          <a:xfrm>
            <a:off x="6693408" y="6336792"/>
            <a:ext cx="1737360" cy="365760"/>
          </a:xfrm>
          <a:prstGeom prst="roundRect">
            <a:avLst>
              <a:gd name="adj" fmla="val 25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 Model Explorer</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accent5"/>
                </a:solidFill>
                <a:latin typeface="Cambria" pitchFamily="34" charset="0"/>
                <a:ea typeface="Cambria" pitchFamily="34" charset="-122"/>
                <a:cs typeface="Cambria" pitchFamily="34" charset="-120"/>
              </a:rPr>
              <a:t>Model Explorer  |  </a:t>
            </a:r>
            <a:pPr algn="l" indent="0" marL="0">
              <a:buNone/>
            </a:pPr>
            <a:r>
              <a:rPr lang="en-US" sz="3200" b="1" dirty="0">
                <a:solidFill>
                  <a:schemeClr val="tx2"/>
                </a:solidFill>
                <a:latin typeface="Cambria" pitchFamily="34" charset="0"/>
                <a:ea typeface="Cambria" pitchFamily="34" charset="-122"/>
                <a:cs typeface="Cambria" pitchFamily="34" charset="-120"/>
              </a:rPr>
              <a:t>Random Forest</a:t>
            </a:r>
            <a:endParaRPr lang="en-US" sz="3200" dirty="0"/>
          </a:p>
        </p:txBody>
      </p:sp>
      <p:sp>
        <p:nvSpPr>
          <p:cNvPr id="3" name="detail icon"/>
          <p:cNvSpPr/>
          <p:nvPr/>
        </p:nvSpPr>
        <p:spPr>
          <a:xfrm>
            <a:off x="548640" y="1280160"/>
            <a:ext cx="868680" cy="868680"/>
          </a:xfrm>
          <a:prstGeom prst="ellipse">
            <a:avLst/>
          </a:prstGeom>
          <a:solidFill>
            <a:srgbClr val="0E7C86"/>
          </a:solidFill>
          <a:ln w="12700">
            <a:solidFill>
              <a:srgbClr val="0E7C86"/>
            </a:solidFill>
            <a:prstDash val="solid"/>
          </a:ln>
        </p:spPr>
      </p:sp>
      <p:pic>
        <p:nvPicPr>
          <p:cNvPr id="4" name="detail icon glyph" descr="icon">    </p:cNvPr>
          <p:cNvPicPr>
            <a:picLocks noChangeAspect="1"/>
          </p:cNvPicPr>
          <p:nvPr/>
        </p:nvPicPr>
        <p:blipFill>
          <a:blip r:embed="rId1"/>
          <a:stretch>
            <a:fillRect/>
          </a:stretch>
        </p:blipFill>
        <p:spPr>
          <a:xfrm>
            <a:off x="757123" y="1488643"/>
            <a:ext cx="451714" cy="451714"/>
          </a:xfrm>
          <a:prstGeom prst="rect">
            <a:avLst/>
          </a:prstGeom>
        </p:spPr>
      </p:pic>
      <p:sp>
        <p:nvSpPr>
          <p:cNvPr id="5" name="Text 2"/>
          <p:cNvSpPr txBox="1"/>
          <p:nvPr/>
        </p:nvSpPr>
        <p:spPr>
          <a:xfrm>
            <a:off x="1600200" y="1325880"/>
            <a:ext cx="5029200" cy="777240"/>
          </a:xfrm>
          <a:prstGeom prst="rect">
            <a:avLst/>
          </a:prstGeom>
          <a:noFill/>
          <a:ln/>
        </p:spPr>
        <p:txBody>
          <a:bodyPr wrap="square" lIns="0" tIns="0" rIns="0" bIns="0" rtlCol="0" anchor="ctr"/>
          <a:lstStyle/>
          <a:p>
            <a:pPr indent="0" marL="0">
              <a:buNone/>
            </a:pPr>
            <a:r>
              <a:rPr lang="en-US" sz="1700" b="1" dirty="0">
                <a:solidFill>
                  <a:schemeClr val="tx2"/>
                </a:solidFill>
              </a:rPr>
              <a:t>Bagging ensemble</a:t>
            </a:r>
            <a:endParaRPr lang="en-US" sz="1500" dirty="0"/>
          </a:p>
          <a:p>
            <a:pPr indent="0" marL="0">
              <a:buNone/>
            </a:pPr>
            <a:r>
              <a:rPr lang="en-US" sz="1400" i="1" dirty="0">
                <a:solidFill>
                  <a:schemeClr val="accent5"/>
                </a:solidFill>
              </a:rPr>
              <a:t>300 trees, min_samples_leaf = 2</a:t>
            </a:r>
            <a:endParaRPr lang="en-US" sz="1500" dirty="0"/>
          </a:p>
        </p:txBody>
      </p:sp>
      <p:sp>
        <p:nvSpPr>
          <p:cNvPr id="6" name="detail metric Accuracy"/>
          <p:cNvSpPr/>
          <p:nvPr/>
        </p:nvSpPr>
        <p:spPr>
          <a:xfrm>
            <a:off x="548640"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4"/>
          <p:cNvSpPr txBox="1"/>
          <p:nvPr/>
        </p:nvSpPr>
        <p:spPr>
          <a:xfrm>
            <a:off x="548640"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0.747</a:t>
            </a:r>
            <a:endParaRPr lang="en-US" sz="2200" dirty="0"/>
          </a:p>
        </p:txBody>
      </p:sp>
      <p:sp>
        <p:nvSpPr>
          <p:cNvPr id="8" name="Text 5"/>
          <p:cNvSpPr txBox="1"/>
          <p:nvPr/>
        </p:nvSpPr>
        <p:spPr>
          <a:xfrm>
            <a:off x="548640"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Accuracy</a:t>
            </a:r>
            <a:endParaRPr lang="en-US" sz="1200" dirty="0"/>
          </a:p>
        </p:txBody>
      </p:sp>
      <p:sp>
        <p:nvSpPr>
          <p:cNvPr id="9" name="detail metric Precision"/>
          <p:cNvSpPr/>
          <p:nvPr/>
        </p:nvSpPr>
        <p:spPr>
          <a:xfrm>
            <a:off x="1856232"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Text 7"/>
          <p:cNvSpPr txBox="1"/>
          <p:nvPr/>
        </p:nvSpPr>
        <p:spPr>
          <a:xfrm>
            <a:off x="1856232"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0.615</a:t>
            </a:r>
            <a:endParaRPr lang="en-US" sz="2200" dirty="0"/>
          </a:p>
        </p:txBody>
      </p:sp>
      <p:sp>
        <p:nvSpPr>
          <p:cNvPr id="11" name="Text 8"/>
          <p:cNvSpPr txBox="1"/>
          <p:nvPr/>
        </p:nvSpPr>
        <p:spPr>
          <a:xfrm>
            <a:off x="1856232"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Precision</a:t>
            </a:r>
            <a:endParaRPr lang="en-US" sz="1200" dirty="0"/>
          </a:p>
        </p:txBody>
      </p:sp>
      <p:sp>
        <p:nvSpPr>
          <p:cNvPr id="12" name="detail metric Recall"/>
          <p:cNvSpPr/>
          <p:nvPr/>
        </p:nvSpPr>
        <p:spPr>
          <a:xfrm>
            <a:off x="3163824" y="2377440"/>
            <a:ext cx="1188720" cy="1188720"/>
          </a:xfrm>
          <a:prstGeom prst="roundRect">
            <a:avLst>
              <a:gd name="adj" fmla="val 6154"/>
            </a:avLst>
          </a:prstGeom>
          <a:solidFill>
            <a:srgbClr val="FDE3E1"/>
          </a:solidFill>
          <a:ln w="12700">
            <a:solidFill>
              <a:srgbClr val="FDE3E1"/>
            </a:solidFill>
            <a:prstDash val="solid"/>
          </a:ln>
          <a:effectLst>
            <a:outerShdw sx="100000" sy="100000" kx="0" ky="0" algn="bl" rotWithShape="0" blurRad="76200" dist="25400" dir="5400000">
              <a:srgbClr val="000000">
                <a:alpha val="15000"/>
              </a:srgbClr>
            </a:outerShdw>
          </a:effectLst>
        </p:spPr>
      </p:sp>
      <p:sp>
        <p:nvSpPr>
          <p:cNvPr id="13" name="Text 10"/>
          <p:cNvSpPr txBox="1"/>
          <p:nvPr/>
        </p:nvSpPr>
        <p:spPr>
          <a:xfrm>
            <a:off x="3163824" y="2487168"/>
            <a:ext cx="1188720" cy="548640"/>
          </a:xfrm>
          <a:prstGeom prst="rect">
            <a:avLst/>
          </a:prstGeom>
          <a:noFill/>
          <a:ln/>
        </p:spPr>
        <p:txBody>
          <a:bodyPr wrap="square" lIns="0" tIns="0" rIns="0" bIns="0" rtlCol="0" anchor="ctr"/>
          <a:lstStyle/>
          <a:p>
            <a:pPr algn="ctr" indent="0" marL="0">
              <a:buNone/>
            </a:pPr>
            <a:r>
              <a:rPr lang="en-US" sz="2200" b="1" dirty="0">
                <a:solidFill>
                  <a:schemeClr val="accent2"/>
                </a:solidFill>
                <a:latin typeface="Cambria" pitchFamily="34" charset="0"/>
                <a:ea typeface="Cambria" pitchFamily="34" charset="-122"/>
                <a:cs typeface="Cambria" pitchFamily="34" charset="-120"/>
              </a:rPr>
              <a:t>0.741</a:t>
            </a:r>
            <a:endParaRPr lang="en-US" sz="2200" dirty="0"/>
          </a:p>
        </p:txBody>
      </p:sp>
      <p:sp>
        <p:nvSpPr>
          <p:cNvPr id="14" name="Text 11"/>
          <p:cNvSpPr txBox="1"/>
          <p:nvPr/>
        </p:nvSpPr>
        <p:spPr>
          <a:xfrm>
            <a:off x="3163824"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Recall</a:t>
            </a:r>
            <a:endParaRPr lang="en-US" sz="1200" dirty="0"/>
          </a:p>
        </p:txBody>
      </p:sp>
      <p:sp>
        <p:nvSpPr>
          <p:cNvPr id="15" name="detail metric F1"/>
          <p:cNvSpPr/>
          <p:nvPr/>
        </p:nvSpPr>
        <p:spPr>
          <a:xfrm>
            <a:off x="4471416"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Text 13"/>
          <p:cNvSpPr txBox="1"/>
          <p:nvPr/>
        </p:nvSpPr>
        <p:spPr>
          <a:xfrm>
            <a:off x="4471416"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0.672</a:t>
            </a:r>
            <a:endParaRPr lang="en-US" sz="2200" dirty="0"/>
          </a:p>
        </p:txBody>
      </p:sp>
      <p:sp>
        <p:nvSpPr>
          <p:cNvPr id="17" name="Text 14"/>
          <p:cNvSpPr txBox="1"/>
          <p:nvPr/>
        </p:nvSpPr>
        <p:spPr>
          <a:xfrm>
            <a:off x="4471416"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F1</a:t>
            </a:r>
            <a:endParaRPr lang="en-US" sz="1200" dirty="0"/>
          </a:p>
        </p:txBody>
      </p:sp>
      <p:sp>
        <p:nvSpPr>
          <p:cNvPr id="18" name="detail metric ROC-AUC"/>
          <p:cNvSpPr/>
          <p:nvPr/>
        </p:nvSpPr>
        <p:spPr>
          <a:xfrm>
            <a:off x="5779008"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Text 16"/>
          <p:cNvSpPr txBox="1"/>
          <p:nvPr/>
        </p:nvSpPr>
        <p:spPr>
          <a:xfrm>
            <a:off x="5779008"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0.809</a:t>
            </a:r>
            <a:endParaRPr lang="en-US" sz="2200" dirty="0"/>
          </a:p>
        </p:txBody>
      </p:sp>
      <p:sp>
        <p:nvSpPr>
          <p:cNvPr id="20" name="Text 17"/>
          <p:cNvSpPr txBox="1"/>
          <p:nvPr/>
        </p:nvSpPr>
        <p:spPr>
          <a:xfrm>
            <a:off x="5779008"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ROC-AUC</a:t>
            </a:r>
            <a:endParaRPr lang="en-US" sz="1200" dirty="0"/>
          </a:p>
        </p:txBody>
      </p:sp>
      <p:sp>
        <p:nvSpPr>
          <p:cNvPr id="21" name="Text 18"/>
          <p:cNvSpPr txBox="1"/>
          <p:nvPr/>
        </p:nvSpPr>
        <p:spPr>
          <a:xfrm>
            <a:off x="548640" y="3703320"/>
            <a:ext cx="6400800" cy="320040"/>
          </a:xfrm>
          <a:prstGeom prst="rect">
            <a:avLst/>
          </a:prstGeom>
          <a:noFill/>
          <a:ln/>
        </p:spPr>
        <p:txBody>
          <a:bodyPr wrap="square" lIns="0" tIns="0" rIns="0" bIns="0" rtlCol="0" anchor="t"/>
          <a:lstStyle/>
          <a:p>
            <a:pPr indent="0" marL="0">
              <a:buNone/>
            </a:pPr>
            <a:r>
              <a:rPr lang="en-US" sz="1200" i="1" dirty="0">
                <a:solidFill>
                  <a:schemeClr val="accent5"/>
                </a:solidFill>
              </a:rPr>
              <a:t>Test set (154 patients)  |  specificity 0.75  |  5-fold CV ROC-AUC 0.829 ± 0.025, CV recall 0.715</a:t>
            </a:r>
            <a:endParaRPr lang="en-US" sz="1200" dirty="0"/>
          </a:p>
        </p:txBody>
      </p:sp>
      <p:sp>
        <p:nvSpPr>
          <p:cNvPr id="22" name="Text 19"/>
          <p:cNvSpPr txBox="1"/>
          <p:nvPr/>
        </p:nvSpPr>
        <p:spPr>
          <a:xfrm>
            <a:off x="548640" y="4069080"/>
            <a:ext cx="3657600" cy="292608"/>
          </a:xfrm>
          <a:prstGeom prst="rect">
            <a:avLst/>
          </a:prstGeom>
          <a:noFill/>
          <a:ln/>
        </p:spPr>
        <p:txBody>
          <a:bodyPr wrap="square" lIns="0" tIns="0" rIns="0" bIns="0" rtlCol="0" anchor="t"/>
          <a:lstStyle/>
          <a:p>
            <a:pPr indent="0" marL="0">
              <a:buNone/>
            </a:pPr>
            <a:r>
              <a:rPr lang="en-US" sz="1400" b="1" dirty="0">
                <a:solidFill>
                  <a:schemeClr val="tx2"/>
                </a:solidFill>
              </a:rPr>
              <a:t>Confusion matrix (test)</a:t>
            </a:r>
            <a:endParaRPr lang="en-US" sz="1400" dirty="0"/>
          </a:p>
        </p:txBody>
      </p:sp>
      <p:sp>
        <p:nvSpPr>
          <p:cNvPr id="23" name="Text 20"/>
          <p:cNvSpPr txBox="1"/>
          <p:nvPr/>
        </p:nvSpPr>
        <p:spPr>
          <a:xfrm>
            <a:off x="141732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4" name="Text 21"/>
          <p:cNvSpPr txBox="1"/>
          <p:nvPr/>
        </p:nvSpPr>
        <p:spPr>
          <a:xfrm>
            <a:off x="283464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5" name="detail cm TN"/>
          <p:cNvSpPr/>
          <p:nvPr/>
        </p:nvSpPr>
        <p:spPr>
          <a:xfrm>
            <a:off x="141732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75</a:t>
            </a:r>
            <a:endParaRPr lang="en-US" sz="2000" dirty="0"/>
          </a:p>
          <a:p>
            <a:pPr algn="ctr" indent="0" marL="0">
              <a:buNone/>
            </a:pPr>
            <a:r>
              <a:rPr lang="en-US" sz="1100" dirty="0">
                <a:solidFill>
                  <a:schemeClr val="tx2"/>
                </a:solidFill>
              </a:rPr>
              <a:t>TN</a:t>
            </a:r>
            <a:endParaRPr lang="en-US" sz="2000" dirty="0"/>
          </a:p>
        </p:txBody>
      </p:sp>
      <p:sp>
        <p:nvSpPr>
          <p:cNvPr id="26" name="detail cm FP"/>
          <p:cNvSpPr/>
          <p:nvPr/>
        </p:nvSpPr>
        <p:spPr>
          <a:xfrm>
            <a:off x="283464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25</a:t>
            </a:r>
            <a:endParaRPr lang="en-US" sz="2000" dirty="0"/>
          </a:p>
          <a:p>
            <a:pPr algn="ctr" indent="0" marL="0">
              <a:buNone/>
            </a:pPr>
            <a:r>
              <a:rPr lang="en-US" sz="1100" dirty="0">
                <a:solidFill>
                  <a:schemeClr val="tx2"/>
                </a:solidFill>
              </a:rPr>
              <a:t>FP</a:t>
            </a:r>
            <a:endParaRPr lang="en-US" sz="2000" dirty="0"/>
          </a:p>
        </p:txBody>
      </p:sp>
      <p:sp>
        <p:nvSpPr>
          <p:cNvPr id="27" name="detail cm FN"/>
          <p:cNvSpPr/>
          <p:nvPr/>
        </p:nvSpPr>
        <p:spPr>
          <a:xfrm>
            <a:off x="1417320" y="5449824"/>
            <a:ext cx="1325880" cy="713232"/>
          </a:xfrm>
          <a:prstGeom prst="roundRect">
            <a:avLst>
              <a:gd name="adj" fmla="val 7692"/>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14</a:t>
            </a:r>
            <a:endParaRPr lang="en-US" sz="2000" dirty="0"/>
          </a:p>
          <a:p>
            <a:pPr algn="ctr" indent="0" marL="0">
              <a:buNone/>
            </a:pPr>
            <a:r>
              <a:rPr lang="en-US" sz="1100" dirty="0">
                <a:solidFill>
                  <a:schemeClr val="bg1"/>
                </a:solidFill>
              </a:rPr>
              <a:t>FN</a:t>
            </a:r>
            <a:endParaRPr lang="en-US" sz="2000" dirty="0"/>
          </a:p>
        </p:txBody>
      </p:sp>
      <p:sp>
        <p:nvSpPr>
          <p:cNvPr id="28" name="detail cm TP"/>
          <p:cNvSpPr/>
          <p:nvPr/>
        </p:nvSpPr>
        <p:spPr>
          <a:xfrm>
            <a:off x="2834640" y="5449824"/>
            <a:ext cx="1325880" cy="713232"/>
          </a:xfrm>
          <a:prstGeom prst="roundRect">
            <a:avLst>
              <a:gd name="adj" fmla="val 7692"/>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40</a:t>
            </a:r>
            <a:endParaRPr lang="en-US" sz="2000" dirty="0"/>
          </a:p>
          <a:p>
            <a:pPr algn="ctr" indent="0" marL="0">
              <a:buNone/>
            </a:pPr>
            <a:r>
              <a:rPr lang="en-US" sz="1100" dirty="0">
                <a:solidFill>
                  <a:schemeClr val="bg1"/>
                </a:solidFill>
              </a:rPr>
              <a:t>TP</a:t>
            </a:r>
            <a:endParaRPr lang="en-US" sz="2000" dirty="0"/>
          </a:p>
        </p:txBody>
      </p:sp>
      <p:sp>
        <p:nvSpPr>
          <p:cNvPr id="29" name="Text 26"/>
          <p:cNvSpPr txBox="1"/>
          <p:nvPr/>
        </p:nvSpPr>
        <p:spPr>
          <a:xfrm>
            <a:off x="548640" y="4663440"/>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0" name="Text 27"/>
          <p:cNvSpPr txBox="1"/>
          <p:nvPr/>
        </p:nvSpPr>
        <p:spPr>
          <a:xfrm>
            <a:off x="548640" y="5449824"/>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1" name="verdict card"/>
          <p:cNvSpPr/>
          <p:nvPr/>
        </p:nvSpPr>
        <p:spPr>
          <a:xfrm>
            <a:off x="7223760" y="1280160"/>
            <a:ext cx="4416552" cy="4754880"/>
          </a:xfrm>
          <a:prstGeom prst="roundRect">
            <a:avLst>
              <a:gd name="adj" fmla="val 16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2" name="verdict badge"/>
          <p:cNvSpPr/>
          <p:nvPr/>
        </p:nvSpPr>
        <p:spPr>
          <a:xfrm>
            <a:off x="7452360" y="1508760"/>
            <a:ext cx="3959352" cy="548640"/>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SELECTED final model</a:t>
            </a:r>
            <a:endParaRPr lang="en-US" sz="1700" dirty="0"/>
          </a:p>
        </p:txBody>
      </p:sp>
      <p:sp>
        <p:nvSpPr>
          <p:cNvPr id="33" name="Text 30"/>
          <p:cNvSpPr txBox="1"/>
          <p:nvPr/>
        </p:nvSpPr>
        <p:spPr>
          <a:xfrm>
            <a:off x="7452360" y="2286000"/>
            <a:ext cx="3959352" cy="23774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Recall ≥ 0.70 in both cross-validation (0.715) and test (0.741)</a:t>
            </a:r>
            <a:endParaRPr lang="en-US" sz="1500" dirty="0"/>
          </a:p>
          <a:p>
            <a:pPr marL="203200" indent="-203200">
              <a:spcAft>
                <a:spcPts val="600"/>
              </a:spcAft>
              <a:buSzPct val="100000"/>
              <a:buChar char="•"/>
            </a:pPr>
            <a:r>
              <a:rPr lang="en-US" sz="1500" dirty="0">
                <a:solidFill>
                  <a:schemeClr val="tx1"/>
                </a:solidFill>
              </a:rPr>
              <a:t>First or second on most metrics in both evaluations</a:t>
            </a:r>
            <a:endParaRPr lang="en-US" sz="1500" dirty="0"/>
          </a:p>
          <a:p>
            <a:pPr marL="203200" indent="-203200">
              <a:spcAft>
                <a:spcPts val="600"/>
              </a:spcAft>
              <a:buSzPct val="100000"/>
              <a:buChar char="•"/>
            </a:pPr>
            <a:r>
              <a:rPr lang="en-US" sz="1500" dirty="0">
                <a:solidFill>
                  <a:schemeClr val="tx1"/>
                </a:solidFill>
              </a:rPr>
              <a:t>Highest overall score (0.727): balanced and stable</a:t>
            </a:r>
            <a:endParaRPr lang="en-US" sz="1500" dirty="0"/>
          </a:p>
        </p:txBody>
      </p:sp>
      <p:sp>
        <p:nvSpPr>
          <p:cNvPr id="34" name="Text 31"/>
          <p:cNvSpPr txBox="1"/>
          <p:nvPr/>
        </p:nvSpPr>
        <p:spPr>
          <a:xfrm>
            <a:off x="7452360" y="4754880"/>
            <a:ext cx="3959352" cy="640080"/>
          </a:xfrm>
          <a:prstGeom prst="rect">
            <a:avLst/>
          </a:prstGeom>
          <a:noFill/>
          <a:ln/>
        </p:spPr>
        <p:txBody>
          <a:bodyPr wrap="square" lIns="0" tIns="0" rIns="0" bIns="0" rtlCol="0" anchor="t"/>
          <a:lstStyle/>
          <a:p>
            <a:pPr indent="0" marL="0">
              <a:buNone/>
            </a:pPr>
            <a:r>
              <a:rPr lang="en-US" sz="1300" b="1" dirty="0">
                <a:solidFill>
                  <a:schemeClr val="tx2"/>
                </a:solidFill>
              </a:rPr>
              <a:t>Overall score: </a:t>
            </a:r>
            <a:pPr indent="0" marL="0">
              <a:buNone/>
            </a:pPr>
            <a:r>
              <a:rPr lang="en-US" sz="1300" dirty="0">
                <a:solidFill>
                  <a:schemeClr val="tx2"/>
                </a:solidFill>
              </a:rPr>
              <a:t>0.7272  (mean of 5 metrics, CV + test)</a:t>
            </a:r>
            <a:endParaRPr lang="en-US" sz="1300" dirty="0"/>
          </a:p>
        </p:txBody>
      </p:sp>
      <p:sp>
        <p:nvSpPr>
          <p:cNvPr id="35" name="Button: XGB ›">
            <a:hlinkClick r:id="rId2" tooltip="XGB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XGB ›</a:t>
            </a:r>
            <a:endParaRPr lang="en-US" sz="1200" dirty="0"/>
          </a:p>
        </p:txBody>
      </p:sp>
      <p:sp>
        <p:nvSpPr>
          <p:cNvPr id="36" name="Button: Agenda">
            <a:hlinkClick r:id="rId3"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37" name="Button: ‹ DT">
            <a:hlinkClick r:id="rId4" tooltip="‹ DT"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DT</a:t>
            </a:r>
            <a:endParaRPr lang="en-US" sz="1200" dirty="0"/>
          </a:p>
        </p:txBody>
      </p:sp>
      <p:sp>
        <p:nvSpPr>
          <p:cNvPr id="38" name="Button: ‹ Model Explorer">
            <a:hlinkClick r:id="rId5" tooltip="Back to the Model Explorer" action="ppaction://hlinksldjump"/>
          </p:cNvPr>
          <p:cNvSpPr/>
          <p:nvPr/>
        </p:nvSpPr>
        <p:spPr>
          <a:xfrm>
            <a:off x="6693408" y="6336792"/>
            <a:ext cx="1737360" cy="365760"/>
          </a:xfrm>
          <a:prstGeom prst="roundRect">
            <a:avLst>
              <a:gd name="adj" fmla="val 25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 Model Explorer</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show="0">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accent5"/>
                </a:solidFill>
                <a:latin typeface="Cambria" pitchFamily="34" charset="0"/>
                <a:ea typeface="Cambria" pitchFamily="34" charset="-122"/>
                <a:cs typeface="Cambria" pitchFamily="34" charset="-120"/>
              </a:rPr>
              <a:t>Model Explorer  |  </a:t>
            </a:r>
            <a:pPr algn="l" indent="0" marL="0">
              <a:buNone/>
            </a:pPr>
            <a:r>
              <a:rPr lang="en-US" sz="3200" b="1" dirty="0">
                <a:solidFill>
                  <a:schemeClr val="tx2"/>
                </a:solidFill>
                <a:latin typeface="Cambria" pitchFamily="34" charset="0"/>
                <a:ea typeface="Cambria" pitchFamily="34" charset="-122"/>
                <a:cs typeface="Cambria" pitchFamily="34" charset="-120"/>
              </a:rPr>
              <a:t>XGBoost</a:t>
            </a:r>
            <a:endParaRPr lang="en-US" sz="3200" dirty="0"/>
          </a:p>
        </p:txBody>
      </p:sp>
      <p:sp>
        <p:nvSpPr>
          <p:cNvPr id="3" name="detail icon"/>
          <p:cNvSpPr/>
          <p:nvPr/>
        </p:nvSpPr>
        <p:spPr>
          <a:xfrm>
            <a:off x="548640" y="1280160"/>
            <a:ext cx="868680" cy="868680"/>
          </a:xfrm>
          <a:prstGeom prst="ellipse">
            <a:avLst/>
          </a:prstGeom>
          <a:solidFill>
            <a:srgbClr val="6B4E9B"/>
          </a:solidFill>
          <a:ln w="12700">
            <a:solidFill>
              <a:srgbClr val="6B4E9B"/>
            </a:solidFill>
            <a:prstDash val="solid"/>
          </a:ln>
        </p:spPr>
      </p:sp>
      <p:pic>
        <p:nvPicPr>
          <p:cNvPr id="4" name="detail icon glyph" descr="icon">    </p:cNvPr>
          <p:cNvPicPr>
            <a:picLocks noChangeAspect="1"/>
          </p:cNvPicPr>
          <p:nvPr/>
        </p:nvPicPr>
        <p:blipFill>
          <a:blip r:embed="rId1"/>
          <a:stretch>
            <a:fillRect/>
          </a:stretch>
        </p:blipFill>
        <p:spPr>
          <a:xfrm>
            <a:off x="757123" y="1488643"/>
            <a:ext cx="451714" cy="451714"/>
          </a:xfrm>
          <a:prstGeom prst="rect">
            <a:avLst/>
          </a:prstGeom>
        </p:spPr>
      </p:pic>
      <p:sp>
        <p:nvSpPr>
          <p:cNvPr id="5" name="Text 2"/>
          <p:cNvSpPr txBox="1"/>
          <p:nvPr/>
        </p:nvSpPr>
        <p:spPr>
          <a:xfrm>
            <a:off x="1600200" y="1325880"/>
            <a:ext cx="5029200" cy="777240"/>
          </a:xfrm>
          <a:prstGeom prst="rect">
            <a:avLst/>
          </a:prstGeom>
          <a:noFill/>
          <a:ln/>
        </p:spPr>
        <p:txBody>
          <a:bodyPr wrap="square" lIns="0" tIns="0" rIns="0" bIns="0" rtlCol="0" anchor="ctr"/>
          <a:lstStyle/>
          <a:p>
            <a:pPr indent="0" marL="0">
              <a:buNone/>
            </a:pPr>
            <a:r>
              <a:rPr lang="en-US" sz="1700" b="1" dirty="0">
                <a:solidFill>
                  <a:schemeClr val="tx2"/>
                </a:solidFill>
              </a:rPr>
              <a:t>Gradient-boosting ensemble</a:t>
            </a:r>
            <a:endParaRPr lang="en-US" sz="1500" dirty="0"/>
          </a:p>
          <a:p>
            <a:pPr indent="0" marL="0">
              <a:buNone/>
            </a:pPr>
            <a:r>
              <a:rPr lang="en-US" sz="1400" i="1" dirty="0">
                <a:solidFill>
                  <a:schemeClr val="accent5"/>
                </a:solidFill>
              </a:rPr>
              <a:t>200 trees, depth 3, lr 0.05</a:t>
            </a:r>
            <a:endParaRPr lang="en-US" sz="1500" dirty="0"/>
          </a:p>
        </p:txBody>
      </p:sp>
      <p:sp>
        <p:nvSpPr>
          <p:cNvPr id="6" name="detail metric Accuracy"/>
          <p:cNvSpPr/>
          <p:nvPr/>
        </p:nvSpPr>
        <p:spPr>
          <a:xfrm>
            <a:off x="548640"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4"/>
          <p:cNvSpPr txBox="1"/>
          <p:nvPr/>
        </p:nvSpPr>
        <p:spPr>
          <a:xfrm>
            <a:off x="548640"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0.753</a:t>
            </a:r>
            <a:endParaRPr lang="en-US" sz="2200" dirty="0"/>
          </a:p>
        </p:txBody>
      </p:sp>
      <p:sp>
        <p:nvSpPr>
          <p:cNvPr id="8" name="Text 5"/>
          <p:cNvSpPr txBox="1"/>
          <p:nvPr/>
        </p:nvSpPr>
        <p:spPr>
          <a:xfrm>
            <a:off x="548640"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Accuracy</a:t>
            </a:r>
            <a:endParaRPr lang="en-US" sz="1200" dirty="0"/>
          </a:p>
        </p:txBody>
      </p:sp>
      <p:sp>
        <p:nvSpPr>
          <p:cNvPr id="9" name="detail metric Precision"/>
          <p:cNvSpPr/>
          <p:nvPr/>
        </p:nvSpPr>
        <p:spPr>
          <a:xfrm>
            <a:off x="1856232"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Text 7"/>
          <p:cNvSpPr txBox="1"/>
          <p:nvPr/>
        </p:nvSpPr>
        <p:spPr>
          <a:xfrm>
            <a:off x="1856232"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0.625</a:t>
            </a:r>
            <a:endParaRPr lang="en-US" sz="2200" dirty="0"/>
          </a:p>
        </p:txBody>
      </p:sp>
      <p:sp>
        <p:nvSpPr>
          <p:cNvPr id="11" name="Text 8"/>
          <p:cNvSpPr txBox="1"/>
          <p:nvPr/>
        </p:nvSpPr>
        <p:spPr>
          <a:xfrm>
            <a:off x="1856232"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Precision</a:t>
            </a:r>
            <a:endParaRPr lang="en-US" sz="1200" dirty="0"/>
          </a:p>
        </p:txBody>
      </p:sp>
      <p:sp>
        <p:nvSpPr>
          <p:cNvPr id="12" name="detail metric Recall"/>
          <p:cNvSpPr/>
          <p:nvPr/>
        </p:nvSpPr>
        <p:spPr>
          <a:xfrm>
            <a:off x="3163824" y="2377440"/>
            <a:ext cx="1188720" cy="1188720"/>
          </a:xfrm>
          <a:prstGeom prst="roundRect">
            <a:avLst>
              <a:gd name="adj" fmla="val 6154"/>
            </a:avLst>
          </a:prstGeom>
          <a:solidFill>
            <a:srgbClr val="FDE3E1"/>
          </a:solidFill>
          <a:ln w="12700">
            <a:solidFill>
              <a:srgbClr val="FDE3E1"/>
            </a:solidFill>
            <a:prstDash val="solid"/>
          </a:ln>
          <a:effectLst>
            <a:outerShdw sx="100000" sy="100000" kx="0" ky="0" algn="bl" rotWithShape="0" blurRad="76200" dist="25400" dir="5400000">
              <a:srgbClr val="000000">
                <a:alpha val="15000"/>
              </a:srgbClr>
            </a:outerShdw>
          </a:effectLst>
        </p:spPr>
      </p:sp>
      <p:sp>
        <p:nvSpPr>
          <p:cNvPr id="13" name="Text 10"/>
          <p:cNvSpPr txBox="1"/>
          <p:nvPr/>
        </p:nvSpPr>
        <p:spPr>
          <a:xfrm>
            <a:off x="3163824" y="2487168"/>
            <a:ext cx="1188720" cy="548640"/>
          </a:xfrm>
          <a:prstGeom prst="rect">
            <a:avLst/>
          </a:prstGeom>
          <a:noFill/>
          <a:ln/>
        </p:spPr>
        <p:txBody>
          <a:bodyPr wrap="square" lIns="0" tIns="0" rIns="0" bIns="0" rtlCol="0" anchor="ctr"/>
          <a:lstStyle/>
          <a:p>
            <a:pPr algn="ctr" indent="0" marL="0">
              <a:buNone/>
            </a:pPr>
            <a:r>
              <a:rPr lang="en-US" sz="2200" b="1" dirty="0">
                <a:solidFill>
                  <a:schemeClr val="accent2"/>
                </a:solidFill>
                <a:latin typeface="Cambria" pitchFamily="34" charset="0"/>
                <a:ea typeface="Cambria" pitchFamily="34" charset="-122"/>
                <a:cs typeface="Cambria" pitchFamily="34" charset="-120"/>
              </a:rPr>
              <a:t>0.741</a:t>
            </a:r>
            <a:endParaRPr lang="en-US" sz="2200" dirty="0"/>
          </a:p>
        </p:txBody>
      </p:sp>
      <p:sp>
        <p:nvSpPr>
          <p:cNvPr id="14" name="Text 11"/>
          <p:cNvSpPr txBox="1"/>
          <p:nvPr/>
        </p:nvSpPr>
        <p:spPr>
          <a:xfrm>
            <a:off x="3163824"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Recall</a:t>
            </a:r>
            <a:endParaRPr lang="en-US" sz="1200" dirty="0"/>
          </a:p>
        </p:txBody>
      </p:sp>
      <p:sp>
        <p:nvSpPr>
          <p:cNvPr id="15" name="detail metric F1"/>
          <p:cNvSpPr/>
          <p:nvPr/>
        </p:nvSpPr>
        <p:spPr>
          <a:xfrm>
            <a:off x="4471416"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Text 13"/>
          <p:cNvSpPr txBox="1"/>
          <p:nvPr/>
        </p:nvSpPr>
        <p:spPr>
          <a:xfrm>
            <a:off x="4471416"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0.678</a:t>
            </a:r>
            <a:endParaRPr lang="en-US" sz="2200" dirty="0"/>
          </a:p>
        </p:txBody>
      </p:sp>
      <p:sp>
        <p:nvSpPr>
          <p:cNvPr id="17" name="Text 14"/>
          <p:cNvSpPr txBox="1"/>
          <p:nvPr/>
        </p:nvSpPr>
        <p:spPr>
          <a:xfrm>
            <a:off x="4471416"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F1</a:t>
            </a:r>
            <a:endParaRPr lang="en-US" sz="1200" dirty="0"/>
          </a:p>
        </p:txBody>
      </p:sp>
      <p:sp>
        <p:nvSpPr>
          <p:cNvPr id="18" name="detail metric ROC-AUC"/>
          <p:cNvSpPr/>
          <p:nvPr/>
        </p:nvSpPr>
        <p:spPr>
          <a:xfrm>
            <a:off x="5779008" y="2377440"/>
            <a:ext cx="118872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9" name="Text 16"/>
          <p:cNvSpPr txBox="1"/>
          <p:nvPr/>
        </p:nvSpPr>
        <p:spPr>
          <a:xfrm>
            <a:off x="5779008" y="2487168"/>
            <a:ext cx="1188720" cy="54864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0.826</a:t>
            </a:r>
            <a:endParaRPr lang="en-US" sz="2200" dirty="0"/>
          </a:p>
        </p:txBody>
      </p:sp>
      <p:sp>
        <p:nvSpPr>
          <p:cNvPr id="20" name="Text 17"/>
          <p:cNvSpPr txBox="1"/>
          <p:nvPr/>
        </p:nvSpPr>
        <p:spPr>
          <a:xfrm>
            <a:off x="5779008" y="3063240"/>
            <a:ext cx="1188720" cy="365760"/>
          </a:xfrm>
          <a:prstGeom prst="rect">
            <a:avLst/>
          </a:prstGeom>
          <a:noFill/>
          <a:ln/>
        </p:spPr>
        <p:txBody>
          <a:bodyPr wrap="square" lIns="0" tIns="0" rIns="0" bIns="0" rtlCol="0" anchor="t"/>
          <a:lstStyle/>
          <a:p>
            <a:pPr algn="ctr" indent="0" marL="0">
              <a:buNone/>
            </a:pPr>
            <a:r>
              <a:rPr lang="en-US" sz="1200" dirty="0">
                <a:solidFill>
                  <a:schemeClr val="tx1"/>
                </a:solidFill>
              </a:rPr>
              <a:t>ROC-AUC</a:t>
            </a:r>
            <a:endParaRPr lang="en-US" sz="1200" dirty="0"/>
          </a:p>
        </p:txBody>
      </p:sp>
      <p:sp>
        <p:nvSpPr>
          <p:cNvPr id="21" name="Text 18"/>
          <p:cNvSpPr txBox="1"/>
          <p:nvPr/>
        </p:nvSpPr>
        <p:spPr>
          <a:xfrm>
            <a:off x="548640" y="3703320"/>
            <a:ext cx="6400800" cy="320040"/>
          </a:xfrm>
          <a:prstGeom prst="rect">
            <a:avLst/>
          </a:prstGeom>
          <a:noFill/>
          <a:ln/>
        </p:spPr>
        <p:txBody>
          <a:bodyPr wrap="square" lIns="0" tIns="0" rIns="0" bIns="0" rtlCol="0" anchor="t"/>
          <a:lstStyle/>
          <a:p>
            <a:pPr indent="0" marL="0">
              <a:buNone/>
            </a:pPr>
            <a:r>
              <a:rPr lang="en-US" sz="1200" i="1" dirty="0">
                <a:solidFill>
                  <a:schemeClr val="accent5"/>
                </a:solidFill>
              </a:rPr>
              <a:t>Test set (154 patients)  |  specificity 0.76  |  5-fold CV ROC-AUC 0.822 ± 0.030, CV recall 0.687</a:t>
            </a:r>
            <a:endParaRPr lang="en-US" sz="1200" dirty="0"/>
          </a:p>
        </p:txBody>
      </p:sp>
      <p:sp>
        <p:nvSpPr>
          <p:cNvPr id="22" name="Text 19"/>
          <p:cNvSpPr txBox="1"/>
          <p:nvPr/>
        </p:nvSpPr>
        <p:spPr>
          <a:xfrm>
            <a:off x="548640" y="4069080"/>
            <a:ext cx="3657600" cy="292608"/>
          </a:xfrm>
          <a:prstGeom prst="rect">
            <a:avLst/>
          </a:prstGeom>
          <a:noFill/>
          <a:ln/>
        </p:spPr>
        <p:txBody>
          <a:bodyPr wrap="square" lIns="0" tIns="0" rIns="0" bIns="0" rtlCol="0" anchor="t"/>
          <a:lstStyle/>
          <a:p>
            <a:pPr indent="0" marL="0">
              <a:buNone/>
            </a:pPr>
            <a:r>
              <a:rPr lang="en-US" sz="1400" b="1" dirty="0">
                <a:solidFill>
                  <a:schemeClr val="tx2"/>
                </a:solidFill>
              </a:rPr>
              <a:t>Confusion matrix (test)</a:t>
            </a:r>
            <a:endParaRPr lang="en-US" sz="1400" dirty="0"/>
          </a:p>
        </p:txBody>
      </p:sp>
      <p:sp>
        <p:nvSpPr>
          <p:cNvPr id="23" name="Text 20"/>
          <p:cNvSpPr txBox="1"/>
          <p:nvPr/>
        </p:nvSpPr>
        <p:spPr>
          <a:xfrm>
            <a:off x="141732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4" name="Text 21"/>
          <p:cNvSpPr txBox="1"/>
          <p:nvPr/>
        </p:nvSpPr>
        <p:spPr>
          <a:xfrm>
            <a:off x="2834640" y="4389120"/>
            <a:ext cx="1325880" cy="237744"/>
          </a:xfrm>
          <a:prstGeom prst="rect">
            <a:avLst/>
          </a:prstGeom>
          <a:noFill/>
          <a:ln/>
        </p:spPr>
        <p:txBody>
          <a:bodyPr wrap="square" lIns="0" tIns="0" rIns="0" bIns="0" rtlCol="0" anchor="t"/>
          <a:lstStyle/>
          <a:p>
            <a:pPr algn="ctr" indent="0" marL="0">
              <a:buNone/>
            </a:pPr>
            <a:r>
              <a:rPr lang="en-US" sz="1100" dirty="0">
                <a:solidFill>
                  <a:schemeClr val="accent5"/>
                </a:solidFill>
              </a:rPr>
              <a:t>Predicted +</a:t>
            </a:r>
            <a:endParaRPr lang="en-US" sz="1100" dirty="0"/>
          </a:p>
        </p:txBody>
      </p:sp>
      <p:sp>
        <p:nvSpPr>
          <p:cNvPr id="25" name="detail cm TN"/>
          <p:cNvSpPr/>
          <p:nvPr/>
        </p:nvSpPr>
        <p:spPr>
          <a:xfrm>
            <a:off x="141732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76</a:t>
            </a:r>
            <a:endParaRPr lang="en-US" sz="2000" dirty="0"/>
          </a:p>
          <a:p>
            <a:pPr algn="ctr" indent="0" marL="0">
              <a:buNone/>
            </a:pPr>
            <a:r>
              <a:rPr lang="en-US" sz="1100" dirty="0">
                <a:solidFill>
                  <a:schemeClr val="tx2"/>
                </a:solidFill>
              </a:rPr>
              <a:t>TN</a:t>
            </a:r>
            <a:endParaRPr lang="en-US" sz="2000" dirty="0"/>
          </a:p>
        </p:txBody>
      </p:sp>
      <p:sp>
        <p:nvSpPr>
          <p:cNvPr id="26" name="detail cm FP"/>
          <p:cNvSpPr/>
          <p:nvPr/>
        </p:nvSpPr>
        <p:spPr>
          <a:xfrm>
            <a:off x="2834640" y="4663440"/>
            <a:ext cx="1325880" cy="713232"/>
          </a:xfrm>
          <a:prstGeom prst="roundRect">
            <a:avLst>
              <a:gd name="adj" fmla="val 7692"/>
            </a:avLst>
          </a:prstGeom>
          <a:solidFill>
            <a:schemeClr val="bg2"/>
          </a:solidFill>
          <a:ln>
            <a:solidFill>
              <a:schemeClr val="bg2"/>
            </a:solidFill>
          </a:ln>
        </p:spPr>
        <p:txBody>
          <a:bodyPr wrap="square" lIns="0" tIns="0" rIns="0" bIns="0" rtlCol="0" anchor="ctr"/>
          <a:lstStyle/>
          <a:p>
            <a:pPr algn="ctr" indent="0" marL="0">
              <a:buNone/>
            </a:pPr>
            <a:r>
              <a:rPr lang="en-US" sz="2000" b="1" dirty="0">
                <a:solidFill>
                  <a:schemeClr val="tx2"/>
                </a:solidFill>
              </a:rPr>
              <a:t>24</a:t>
            </a:r>
            <a:endParaRPr lang="en-US" sz="2000" dirty="0"/>
          </a:p>
          <a:p>
            <a:pPr algn="ctr" indent="0" marL="0">
              <a:buNone/>
            </a:pPr>
            <a:r>
              <a:rPr lang="en-US" sz="1100" dirty="0">
                <a:solidFill>
                  <a:schemeClr val="tx2"/>
                </a:solidFill>
              </a:rPr>
              <a:t>FP</a:t>
            </a:r>
            <a:endParaRPr lang="en-US" sz="2000" dirty="0"/>
          </a:p>
        </p:txBody>
      </p:sp>
      <p:sp>
        <p:nvSpPr>
          <p:cNvPr id="27" name="detail cm FN"/>
          <p:cNvSpPr/>
          <p:nvPr/>
        </p:nvSpPr>
        <p:spPr>
          <a:xfrm>
            <a:off x="1417320" y="5449824"/>
            <a:ext cx="1325880" cy="713232"/>
          </a:xfrm>
          <a:prstGeom prst="roundRect">
            <a:avLst>
              <a:gd name="adj" fmla="val 7692"/>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14</a:t>
            </a:r>
            <a:endParaRPr lang="en-US" sz="2000" dirty="0"/>
          </a:p>
          <a:p>
            <a:pPr algn="ctr" indent="0" marL="0">
              <a:buNone/>
            </a:pPr>
            <a:r>
              <a:rPr lang="en-US" sz="1100" dirty="0">
                <a:solidFill>
                  <a:schemeClr val="bg1"/>
                </a:solidFill>
              </a:rPr>
              <a:t>FN</a:t>
            </a:r>
            <a:endParaRPr lang="en-US" sz="2000" dirty="0"/>
          </a:p>
        </p:txBody>
      </p:sp>
      <p:sp>
        <p:nvSpPr>
          <p:cNvPr id="28" name="detail cm TP"/>
          <p:cNvSpPr/>
          <p:nvPr/>
        </p:nvSpPr>
        <p:spPr>
          <a:xfrm>
            <a:off x="2834640" y="5449824"/>
            <a:ext cx="1325880" cy="713232"/>
          </a:xfrm>
          <a:prstGeom prst="roundRect">
            <a:avLst>
              <a:gd name="adj" fmla="val 7692"/>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40</a:t>
            </a:r>
            <a:endParaRPr lang="en-US" sz="2000" dirty="0"/>
          </a:p>
          <a:p>
            <a:pPr algn="ctr" indent="0" marL="0">
              <a:buNone/>
            </a:pPr>
            <a:r>
              <a:rPr lang="en-US" sz="1100" dirty="0">
                <a:solidFill>
                  <a:schemeClr val="bg1"/>
                </a:solidFill>
              </a:rPr>
              <a:t>TP</a:t>
            </a:r>
            <a:endParaRPr lang="en-US" sz="2000" dirty="0"/>
          </a:p>
        </p:txBody>
      </p:sp>
      <p:sp>
        <p:nvSpPr>
          <p:cNvPr id="29" name="Text 26"/>
          <p:cNvSpPr txBox="1"/>
          <p:nvPr/>
        </p:nvSpPr>
        <p:spPr>
          <a:xfrm>
            <a:off x="548640" y="4663440"/>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0" name="Text 27"/>
          <p:cNvSpPr txBox="1"/>
          <p:nvPr/>
        </p:nvSpPr>
        <p:spPr>
          <a:xfrm>
            <a:off x="548640" y="5449824"/>
            <a:ext cx="822960" cy="713232"/>
          </a:xfrm>
          <a:prstGeom prst="rect">
            <a:avLst/>
          </a:prstGeom>
          <a:noFill/>
          <a:ln/>
        </p:spPr>
        <p:txBody>
          <a:bodyPr wrap="square" lIns="0" tIns="0" rIns="0" bIns="0" rtlCol="0" anchor="ctr"/>
          <a:lstStyle/>
          <a:p>
            <a:pPr indent="0" marL="0">
              <a:buNone/>
            </a:pPr>
            <a:r>
              <a:rPr lang="en-US" sz="1100" dirty="0">
                <a:solidFill>
                  <a:schemeClr val="accent5"/>
                </a:solidFill>
              </a:rPr>
              <a:t>Actual +</a:t>
            </a:r>
            <a:endParaRPr lang="en-US" sz="1100" dirty="0"/>
          </a:p>
        </p:txBody>
      </p:sp>
      <p:sp>
        <p:nvSpPr>
          <p:cNvPr id="31" name="verdict card"/>
          <p:cNvSpPr/>
          <p:nvPr/>
        </p:nvSpPr>
        <p:spPr>
          <a:xfrm>
            <a:off x="7223760" y="1280160"/>
            <a:ext cx="4416552" cy="4754880"/>
          </a:xfrm>
          <a:prstGeom prst="roundRect">
            <a:avLst>
              <a:gd name="adj" fmla="val 165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2" name="verdict badge"/>
          <p:cNvSpPr/>
          <p:nvPr/>
        </p:nvSpPr>
        <p:spPr>
          <a:xfrm>
            <a:off x="7452360" y="1508760"/>
            <a:ext cx="3959352" cy="548640"/>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700" b="1" dirty="0">
                <a:solidFill>
                  <a:schemeClr val="bg1"/>
                </a:solidFill>
              </a:rPr>
              <a:t>Not selected</a:t>
            </a:r>
            <a:endParaRPr lang="en-US" sz="1700" dirty="0"/>
          </a:p>
        </p:txBody>
      </p:sp>
      <p:sp>
        <p:nvSpPr>
          <p:cNvPr id="33" name="Text 30"/>
          <p:cNvSpPr txBox="1"/>
          <p:nvPr/>
        </p:nvSpPr>
        <p:spPr>
          <a:xfrm>
            <a:off x="7452360" y="2286000"/>
            <a:ext cx="3959352" cy="23774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Best test accuracy, precision, F1 and ROC-AUC</a:t>
            </a:r>
            <a:endParaRPr lang="en-US" sz="1500" dirty="0"/>
          </a:p>
          <a:p>
            <a:pPr marL="203200" indent="-203200">
              <a:spcAft>
                <a:spcPts val="600"/>
              </a:spcAft>
              <a:buSzPct val="100000"/>
              <a:buChar char="•"/>
            </a:pPr>
            <a:r>
              <a:rPr lang="en-US" sz="1500" dirty="0">
                <a:solidFill>
                  <a:schemeClr val="tx1"/>
                </a:solidFill>
              </a:rPr>
              <a:t>But cross-validated recall 0.687 is below the 0.70 rule</a:t>
            </a:r>
            <a:endParaRPr lang="en-US" sz="1500" dirty="0"/>
          </a:p>
          <a:p>
            <a:pPr marL="203200" indent="-203200">
              <a:spcAft>
                <a:spcPts val="600"/>
              </a:spcAft>
              <a:buSzPct val="100000"/>
              <a:buChar char="•"/>
            </a:pPr>
            <a:r>
              <a:rPr lang="en-US" sz="1500" dirty="0">
                <a:solidFill>
                  <a:schemeClr val="tx1"/>
                </a:solidFill>
              </a:rPr>
              <a:t>Strong on one split, less consistent across folds</a:t>
            </a:r>
            <a:endParaRPr lang="en-US" sz="1500" dirty="0"/>
          </a:p>
        </p:txBody>
      </p:sp>
      <p:sp>
        <p:nvSpPr>
          <p:cNvPr id="34" name="Text 31"/>
          <p:cNvSpPr txBox="1"/>
          <p:nvPr/>
        </p:nvSpPr>
        <p:spPr>
          <a:xfrm>
            <a:off x="7452360" y="4754880"/>
            <a:ext cx="3959352" cy="640080"/>
          </a:xfrm>
          <a:prstGeom prst="rect">
            <a:avLst/>
          </a:prstGeom>
          <a:noFill/>
          <a:ln/>
        </p:spPr>
        <p:txBody>
          <a:bodyPr wrap="square" lIns="0" tIns="0" rIns="0" bIns="0" rtlCol="0" anchor="t"/>
          <a:lstStyle/>
          <a:p>
            <a:pPr indent="0" marL="0">
              <a:buNone/>
            </a:pPr>
            <a:r>
              <a:rPr lang="en-US" sz="1300" b="1" dirty="0">
                <a:solidFill>
                  <a:schemeClr val="tx2"/>
                </a:solidFill>
              </a:rPr>
              <a:t>Overall score: </a:t>
            </a:r>
            <a:pPr indent="0" marL="0">
              <a:buNone/>
            </a:pPr>
            <a:r>
              <a:rPr lang="en-US" sz="1300" dirty="0">
                <a:solidFill>
                  <a:schemeClr val="tx2"/>
                </a:solidFill>
              </a:rPr>
              <a:t>0.7171  (mean of 5 metrics, CV + test)</a:t>
            </a:r>
            <a:endParaRPr lang="en-US" sz="1300" dirty="0"/>
          </a:p>
        </p:txBody>
      </p:sp>
      <p:sp>
        <p:nvSpPr>
          <p:cNvPr id="35" name="Button: LR ›">
            <a:hlinkClick r:id="rId2" tooltip="LR ›" action="ppaction://hlinksldjump"/>
          </p:cNvPr>
          <p:cNvSpPr/>
          <p:nvPr/>
        </p:nvSpPr>
        <p:spPr>
          <a:xfrm>
            <a:off x="10680192" y="6336792"/>
            <a:ext cx="960120" cy="365760"/>
          </a:xfrm>
          <a:prstGeom prst="roundRect">
            <a:avLst>
              <a:gd name="adj" fmla="val 25000"/>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LR ›</a:t>
            </a:r>
            <a:endParaRPr lang="en-US" sz="1200" dirty="0"/>
          </a:p>
        </p:txBody>
      </p:sp>
      <p:sp>
        <p:nvSpPr>
          <p:cNvPr id="36" name="Button: Agenda">
            <a:hlinkClick r:id="rId3" tooltip="Back to the agenda" action="ppaction://hlinksldjump"/>
          </p:cNvPr>
          <p:cNvSpPr/>
          <p:nvPr/>
        </p:nvSpPr>
        <p:spPr>
          <a:xfrm>
            <a:off x="9610344"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37" name="Button: ‹ RF">
            <a:hlinkClick r:id="rId4" tooltip="‹ RF" action="ppaction://hlinksldjump"/>
          </p:cNvPr>
          <p:cNvSpPr/>
          <p:nvPr/>
        </p:nvSpPr>
        <p:spPr>
          <a:xfrm>
            <a:off x="8540496"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 RF</a:t>
            </a:r>
            <a:endParaRPr lang="en-US" sz="1200" dirty="0"/>
          </a:p>
        </p:txBody>
      </p:sp>
      <p:sp>
        <p:nvSpPr>
          <p:cNvPr id="38" name="Button: ‹ Model Explorer">
            <a:hlinkClick r:id="rId5" tooltip="Back to the Model Explorer" action="ppaction://hlinksldjump"/>
          </p:cNvPr>
          <p:cNvSpPr/>
          <p:nvPr/>
        </p:nvSpPr>
        <p:spPr>
          <a:xfrm>
            <a:off x="6693408" y="6336792"/>
            <a:ext cx="1737360" cy="365760"/>
          </a:xfrm>
          <a:prstGeom prst="roundRect">
            <a:avLst>
              <a:gd name="adj" fmla="val 25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 Model Explorer</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Drill-down: Correlation Heatmap</a:t>
            </a:r>
            <a:endParaRPr lang="en-US" sz="3200" dirty="0"/>
          </a:p>
        </p:txBody>
      </p:sp>
      <p:pic>
        <p:nvPicPr>
          <p:cNvPr id="3" name="heatmap figure" descr="Correlation heatmap of features and outcome">    </p:cNvPr>
          <p:cNvPicPr>
            <a:picLocks noChangeAspect="1"/>
          </p:cNvPicPr>
          <p:nvPr/>
        </p:nvPicPr>
        <p:blipFill>
          <a:blip r:embed="rId1"/>
          <a:stretch>
            <a:fillRect/>
          </a:stretch>
        </p:blipFill>
        <p:spPr>
          <a:xfrm>
            <a:off x="548640" y="1188720"/>
            <a:ext cx="5718200" cy="5029200"/>
          </a:xfrm>
          <a:prstGeom prst="rect">
            <a:avLst/>
          </a:prstGeom>
        </p:spPr>
      </p:pic>
      <p:sp>
        <p:nvSpPr>
          <p:cNvPr id="4" name="Text 1"/>
          <p:cNvSpPr txBox="1"/>
          <p:nvPr/>
        </p:nvSpPr>
        <p:spPr>
          <a:xfrm>
            <a:off x="6629400" y="1371600"/>
            <a:ext cx="4983480" cy="420624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chemeClr val="tx1"/>
                </a:solidFill>
              </a:rPr>
              <a:t>Glucose </a:t>
            </a:r>
            <a:pPr indent="0" marL="0">
              <a:spcAft>
                <a:spcPts val="600"/>
              </a:spcAft>
              <a:buNone/>
            </a:pPr>
            <a:r>
              <a:rPr lang="en-US" sz="1500" dirty="0">
                <a:solidFill>
                  <a:schemeClr val="tx1"/>
                </a:solidFill>
              </a:rPr>
              <a:t>has the strongest link with Outcome (0.49)</a:t>
            </a:r>
            <a:endParaRPr lang="en-US" sz="1500" dirty="0"/>
          </a:p>
          <a:p>
            <a:pPr marL="203200" indent="-203200">
              <a:spcAft>
                <a:spcPts val="600"/>
              </a:spcAft>
              <a:buSzPct val="100000"/>
              <a:buChar char="•"/>
            </a:pPr>
            <a:r>
              <a:rPr lang="en-US" sz="1500" b="1" dirty="0">
                <a:solidFill>
                  <a:schemeClr val="tx1"/>
                </a:solidFill>
              </a:rPr>
              <a:t>BMI 0.31, Insulin 0.30, </a:t>
            </a:r>
            <a:pPr indent="0" marL="0">
              <a:spcAft>
                <a:spcPts val="600"/>
              </a:spcAft>
              <a:buNone/>
            </a:pPr>
            <a:r>
              <a:rPr lang="en-US" sz="1500" dirty="0">
                <a:solidFill>
                  <a:schemeClr val="tx1"/>
                </a:solidFill>
              </a:rPr>
              <a:t>SkinThickness 0.26, Age 0.24</a:t>
            </a:r>
            <a:endParaRPr lang="en-US" sz="1500" dirty="0"/>
          </a:p>
          <a:p>
            <a:pPr marL="203200" indent="-203200">
              <a:spcAft>
                <a:spcPts val="600"/>
              </a:spcAft>
              <a:buSzPct val="100000"/>
              <a:buChar char="•"/>
            </a:pPr>
            <a:r>
              <a:rPr lang="en-US" sz="1500" b="1" dirty="0">
                <a:solidFill>
                  <a:schemeClr val="tx1"/>
                </a:solidFill>
              </a:rPr>
              <a:t>Strongest feature pairs: </a:t>
            </a:r>
            <a:pPr indent="0" marL="0">
              <a:spcAft>
                <a:spcPts val="600"/>
              </a:spcAft>
              <a:buNone/>
            </a:pPr>
            <a:r>
              <a:rPr lang="en-US" sz="1500" dirty="0">
                <a:solidFill>
                  <a:schemeClr val="tx1"/>
                </a:solidFill>
              </a:rPr>
              <a:t>SkinThickness–BMI 0.65, Glucose–Insulin 0.58, Pregnancies–Age 0.54</a:t>
            </a:r>
            <a:endParaRPr lang="en-US" sz="1500" dirty="0"/>
          </a:p>
          <a:p>
            <a:pPr marL="203200" indent="-203200">
              <a:spcAft>
                <a:spcPts val="600"/>
              </a:spcAft>
              <a:buSzPct val="100000"/>
              <a:buChar char="•"/>
            </a:pPr>
            <a:r>
              <a:rPr lang="en-US" sz="1500" dirty="0">
                <a:solidFill>
                  <a:schemeClr val="tx1"/>
                </a:solidFill>
              </a:rPr>
              <a:t>Moderate, so no feature was removed for multicollinearity</a:t>
            </a:r>
            <a:endParaRPr lang="en-US" sz="1500" dirty="0"/>
          </a:p>
          <a:p>
            <a:pPr marL="203200" indent="-203200">
              <a:spcAft>
                <a:spcPts val="600"/>
              </a:spcAft>
              <a:buSzPct val="100000"/>
              <a:buChar char="•"/>
            </a:pPr>
            <a:r>
              <a:rPr lang="en-US" sz="1500" dirty="0">
                <a:solidFill>
                  <a:schemeClr val="tx1"/>
                </a:solidFill>
              </a:rPr>
              <a:t>Pairwise-complete correlations after zeros → NaN</a:t>
            </a:r>
            <a:endParaRPr lang="en-US" sz="1500" dirty="0"/>
          </a:p>
        </p:txBody>
      </p:sp>
      <p:sp>
        <p:nvSpPr>
          <p:cNvPr id="5" name="Button: Agenda">
            <a:hlinkClick r:id="rId2" tooltip="Back to the agenda" action="ppaction://hlinksldjump"/>
          </p:cNvPr>
          <p:cNvSpPr/>
          <p:nvPr/>
        </p:nvSpPr>
        <p:spPr>
          <a:xfrm>
            <a:off x="10680192"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6" name="Button: ‹ Back to EDA">
            <a:hlinkClick r:id="rId3" tooltip="‹ Back to EDA" action="ppaction://hlinksldjump"/>
          </p:cNvPr>
          <p:cNvSpPr/>
          <p:nvPr/>
        </p:nvSpPr>
        <p:spPr>
          <a:xfrm>
            <a:off x="8833104" y="6336792"/>
            <a:ext cx="1737360" cy="365760"/>
          </a:xfrm>
          <a:prstGeom prst="roundRect">
            <a:avLst>
              <a:gd name="adj" fmla="val 25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 Back to EDA</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show="0">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Drill-down: Feature Importance in Every Model</a:t>
            </a:r>
            <a:endParaRPr lang="en-US" sz="3200" dirty="0"/>
          </a:p>
        </p:txBody>
      </p:sp>
      <p:pic>
        <p:nvPicPr>
          <p:cNvPr id="3" name="feature importance figure" descr="Feature importance of Decision Tree, Random Forest, XGBoost and Logistic Regression">    </p:cNvPr>
          <p:cNvPicPr>
            <a:picLocks noChangeAspect="1"/>
          </p:cNvPicPr>
          <p:nvPr/>
        </p:nvPicPr>
        <p:blipFill>
          <a:blip r:embed="rId1"/>
          <a:stretch>
            <a:fillRect/>
          </a:stretch>
        </p:blipFill>
        <p:spPr>
          <a:xfrm>
            <a:off x="548640" y="1234440"/>
            <a:ext cx="11064240" cy="2729216"/>
          </a:xfrm>
          <a:prstGeom prst="rect">
            <a:avLst/>
          </a:prstGeom>
        </p:spPr>
      </p:pic>
      <p:sp>
        <p:nvSpPr>
          <p:cNvPr id="4" name="fi card 0"/>
          <p:cNvSpPr/>
          <p:nvPr/>
        </p:nvSpPr>
        <p:spPr>
          <a:xfrm>
            <a:off x="548640" y="4206240"/>
            <a:ext cx="356616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731520" y="4343400"/>
            <a:ext cx="3200400" cy="1508760"/>
          </a:xfrm>
          <a:prstGeom prst="rect">
            <a:avLst/>
          </a:prstGeom>
          <a:noFill/>
          <a:ln/>
        </p:spPr>
        <p:txBody>
          <a:bodyPr wrap="square" lIns="0" tIns="0" rIns="0" bIns="0" rtlCol="0" anchor="t"/>
          <a:lstStyle/>
          <a:p>
            <a:pPr indent="0" marL="0">
              <a:buNone/>
            </a:pPr>
            <a:r>
              <a:rPr lang="en-US" sz="1600" b="1" dirty="0">
                <a:solidFill>
                  <a:schemeClr val="tx2"/>
                </a:solidFill>
              </a:rPr>
              <a:t>Glucose is #1 in all four models</a:t>
            </a:r>
            <a:endParaRPr lang="en-US" sz="1500" dirty="0"/>
          </a:p>
          <a:p>
            <a:pPr indent="0" marL="0">
              <a:buNone/>
            </a:pPr>
            <a:r>
              <a:rPr lang="en-US" sz="1300" dirty="0">
                <a:solidFill>
                  <a:schemeClr val="tx1"/>
                </a:solidFill>
              </a:rPr>
              <a:t>DT 0.551  |  RF 0.276  |  XGB 0.299  |  LR |coef| 1.258</a:t>
            </a:r>
            <a:endParaRPr lang="en-US" sz="1500" dirty="0"/>
          </a:p>
        </p:txBody>
      </p:sp>
      <p:sp>
        <p:nvSpPr>
          <p:cNvPr id="6" name="fi card 1"/>
          <p:cNvSpPr/>
          <p:nvPr/>
        </p:nvSpPr>
        <p:spPr>
          <a:xfrm>
            <a:off x="4297680" y="4206240"/>
            <a:ext cx="356616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7" name="Text 4"/>
          <p:cNvSpPr txBox="1"/>
          <p:nvPr/>
        </p:nvSpPr>
        <p:spPr>
          <a:xfrm>
            <a:off x="4480560" y="4343400"/>
            <a:ext cx="3200400" cy="1508760"/>
          </a:xfrm>
          <a:prstGeom prst="rect">
            <a:avLst/>
          </a:prstGeom>
          <a:noFill/>
          <a:ln/>
        </p:spPr>
        <p:txBody>
          <a:bodyPr wrap="square" lIns="0" tIns="0" rIns="0" bIns="0" rtlCol="0" anchor="t"/>
          <a:lstStyle/>
          <a:p>
            <a:pPr indent="0" marL="0">
              <a:buNone/>
            </a:pPr>
            <a:r>
              <a:rPr lang="en-US" sz="1600" b="1" dirty="0">
                <a:solidFill>
                  <a:schemeClr val="tx2"/>
                </a:solidFill>
              </a:rPr>
              <a:t>BMI is consistently #2</a:t>
            </a:r>
            <a:endParaRPr lang="en-US" sz="1500" dirty="0"/>
          </a:p>
          <a:p>
            <a:pPr indent="0" marL="0">
              <a:buNone/>
            </a:pPr>
            <a:r>
              <a:rPr lang="en-US" sz="1300" dirty="0">
                <a:solidFill>
                  <a:schemeClr val="tx1"/>
                </a:solidFill>
              </a:rPr>
              <a:t>RF 0.175  |  XGB 0.172  |  LR |coef| 0.768</a:t>
            </a:r>
            <a:endParaRPr lang="en-US" sz="1500" dirty="0"/>
          </a:p>
        </p:txBody>
      </p:sp>
      <p:sp>
        <p:nvSpPr>
          <p:cNvPr id="8" name="fi card 2"/>
          <p:cNvSpPr/>
          <p:nvPr/>
        </p:nvSpPr>
        <p:spPr>
          <a:xfrm>
            <a:off x="8046720" y="4206240"/>
            <a:ext cx="356616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Text 6"/>
          <p:cNvSpPr txBox="1"/>
          <p:nvPr/>
        </p:nvSpPr>
        <p:spPr>
          <a:xfrm>
            <a:off x="8229600" y="4343400"/>
            <a:ext cx="3200400" cy="1508760"/>
          </a:xfrm>
          <a:prstGeom prst="rect">
            <a:avLst/>
          </a:prstGeom>
          <a:noFill/>
          <a:ln/>
        </p:spPr>
        <p:txBody>
          <a:bodyPr wrap="square" lIns="0" tIns="0" rIns="0" bIns="0" rtlCol="0" anchor="t"/>
          <a:lstStyle/>
          <a:p>
            <a:pPr indent="0" marL="0">
              <a:buNone/>
            </a:pPr>
            <a:r>
              <a:rPr lang="en-US" sz="1600" b="1" dirty="0">
                <a:solidFill>
                  <a:schemeClr val="accent2"/>
                </a:solidFill>
              </a:rPr>
              <a:t>Importance ≠ causation</a:t>
            </a:r>
            <a:endParaRPr lang="en-US" sz="1500" dirty="0"/>
          </a:p>
          <a:p>
            <a:pPr indent="0" marL="0">
              <a:buNone/>
            </a:pPr>
            <a:r>
              <a:rPr lang="en-US" sz="1300" dirty="0">
                <a:solidFill>
                  <a:schemeClr val="tx1"/>
                </a:solidFill>
              </a:rPr>
              <a:t>Impurity importance favours continuous features and is shared between correlated ones</a:t>
            </a:r>
            <a:endParaRPr lang="en-US" sz="1500" dirty="0"/>
          </a:p>
        </p:txBody>
      </p:sp>
      <p:sp>
        <p:nvSpPr>
          <p:cNvPr id="10" name="Button: Agenda">
            <a:hlinkClick r:id="rId2" tooltip="Back to the agenda" action="ppaction://hlinksldjump"/>
          </p:cNvPr>
          <p:cNvSpPr/>
          <p:nvPr/>
        </p:nvSpPr>
        <p:spPr>
          <a:xfrm>
            <a:off x="10680192"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11" name="Button: ‹ Back to Interpretation">
            <a:hlinkClick r:id="rId3" tooltip="‹ Back to Interpretation" action="ppaction://hlinksldjump"/>
          </p:cNvPr>
          <p:cNvSpPr/>
          <p:nvPr/>
        </p:nvSpPr>
        <p:spPr>
          <a:xfrm>
            <a:off x="8284464" y="6336792"/>
            <a:ext cx="2286000" cy="365760"/>
          </a:xfrm>
          <a:prstGeom prst="roundRect">
            <a:avLst>
              <a:gd name="adj" fmla="val 25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 Back to Interpretation</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Viva Q&amp;A: Prepared Answers</a:t>
            </a:r>
            <a:endParaRPr lang="en-US" sz="3200" dirty="0"/>
          </a:p>
        </p:txBody>
      </p:sp>
      <p:sp>
        <p:nvSpPr>
          <p:cNvPr id="3" name="qa card 1"/>
          <p:cNvSpPr/>
          <p:nvPr/>
        </p:nvSpPr>
        <p:spPr>
          <a:xfrm>
            <a:off x="548640" y="1234440"/>
            <a:ext cx="5458968" cy="1115568"/>
          </a:xfrm>
          <a:prstGeom prst="roundRect">
            <a:avLst>
              <a:gd name="adj" fmla="val 65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713232" y="1325880"/>
            <a:ext cx="5120640" cy="932688"/>
          </a:xfrm>
          <a:prstGeom prst="rect">
            <a:avLst/>
          </a:prstGeom>
          <a:noFill/>
          <a:ln/>
        </p:spPr>
        <p:txBody>
          <a:bodyPr wrap="square" lIns="0" tIns="0" rIns="0" bIns="0" rtlCol="0" anchor="ctr"/>
          <a:lstStyle/>
          <a:p>
            <a:pPr indent="0" marL="0">
              <a:buNone/>
            </a:pPr>
            <a:r>
              <a:rPr lang="en-US" sz="1400" b="1" dirty="0">
                <a:solidFill>
                  <a:schemeClr val="tx2"/>
                </a:solidFill>
              </a:rPr>
              <a:t>Q: Why not drop rows with zeros?</a:t>
            </a:r>
            <a:endParaRPr lang="en-US" sz="1500" dirty="0"/>
          </a:p>
          <a:p>
            <a:pPr indent="0" marL="0">
              <a:buNone/>
            </a:pPr>
            <a:r>
              <a:rPr lang="en-US" sz="1300" dirty="0">
                <a:solidFill>
                  <a:schemeClr val="tx1"/>
                </a:solidFill>
              </a:rPr>
              <a:t>It would remove about half the data (Insulin is 48.7 % missing); median imputation keeps all 768 rows.</a:t>
            </a:r>
            <a:endParaRPr lang="en-US" sz="1500" dirty="0"/>
          </a:p>
        </p:txBody>
      </p:sp>
      <p:sp>
        <p:nvSpPr>
          <p:cNvPr id="5" name="qa card 2"/>
          <p:cNvSpPr/>
          <p:nvPr/>
        </p:nvSpPr>
        <p:spPr>
          <a:xfrm>
            <a:off x="6153912" y="1234440"/>
            <a:ext cx="5458968" cy="1115568"/>
          </a:xfrm>
          <a:prstGeom prst="roundRect">
            <a:avLst>
              <a:gd name="adj" fmla="val 65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6" name="Text 4"/>
          <p:cNvSpPr txBox="1"/>
          <p:nvPr/>
        </p:nvSpPr>
        <p:spPr>
          <a:xfrm>
            <a:off x="6318504" y="1325880"/>
            <a:ext cx="5120640" cy="932688"/>
          </a:xfrm>
          <a:prstGeom prst="rect">
            <a:avLst/>
          </a:prstGeom>
          <a:noFill/>
          <a:ln/>
        </p:spPr>
        <p:txBody>
          <a:bodyPr wrap="square" lIns="0" tIns="0" rIns="0" bIns="0" rtlCol="0" anchor="ctr"/>
          <a:lstStyle/>
          <a:p>
            <a:pPr indent="0" marL="0">
              <a:buNone/>
            </a:pPr>
            <a:r>
              <a:rPr lang="en-US" sz="1400" b="1" dirty="0">
                <a:solidFill>
                  <a:schemeClr val="tx2"/>
                </a:solidFill>
              </a:rPr>
              <a:t>Q: Why the median, not the mean?</a:t>
            </a:r>
            <a:endParaRPr lang="en-US" sz="1500" dirty="0"/>
          </a:p>
          <a:p>
            <a:pPr indent="0" marL="0">
              <a:buNone/>
            </a:pPr>
            <a:r>
              <a:rPr lang="en-US" sz="1300" dirty="0">
                <a:solidFill>
                  <a:schemeClr val="tx1"/>
                </a:solidFill>
              </a:rPr>
              <a:t>Insulin and SkinThickness are right-skewed; the median is robust to outliers.</a:t>
            </a:r>
            <a:endParaRPr lang="en-US" sz="1500" dirty="0"/>
          </a:p>
        </p:txBody>
      </p:sp>
      <p:sp>
        <p:nvSpPr>
          <p:cNvPr id="7" name="qa card 3"/>
          <p:cNvSpPr/>
          <p:nvPr/>
        </p:nvSpPr>
        <p:spPr>
          <a:xfrm>
            <a:off x="548640" y="2487168"/>
            <a:ext cx="5458968" cy="1115568"/>
          </a:xfrm>
          <a:prstGeom prst="roundRect">
            <a:avLst>
              <a:gd name="adj" fmla="val 65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Text 6"/>
          <p:cNvSpPr txBox="1"/>
          <p:nvPr/>
        </p:nvSpPr>
        <p:spPr>
          <a:xfrm>
            <a:off x="713232" y="2578608"/>
            <a:ext cx="5120640" cy="932688"/>
          </a:xfrm>
          <a:prstGeom prst="rect">
            <a:avLst/>
          </a:prstGeom>
          <a:noFill/>
          <a:ln/>
        </p:spPr>
        <p:txBody>
          <a:bodyPr wrap="square" lIns="0" tIns="0" rIns="0" bIns="0" rtlCol="0" anchor="ctr"/>
          <a:lstStyle/>
          <a:p>
            <a:pPr indent="0" marL="0">
              <a:buNone/>
            </a:pPr>
            <a:r>
              <a:rPr lang="en-US" sz="1400" b="1" dirty="0">
                <a:solidFill>
                  <a:schemeClr val="tx2"/>
                </a:solidFill>
              </a:rPr>
              <a:t>Q: Why split before imputation and SMOTE?</a:t>
            </a:r>
            <a:endParaRPr lang="en-US" sz="1500" dirty="0"/>
          </a:p>
          <a:p>
            <a:pPr indent="0" marL="0">
              <a:buNone/>
            </a:pPr>
            <a:r>
              <a:rPr lang="en-US" sz="1300" dirty="0">
                <a:solidFill>
                  <a:schemeClr val="tx1"/>
                </a:solidFill>
              </a:rPr>
              <a:t>Otherwise test information leaks into training and scores become optimistic.</a:t>
            </a:r>
            <a:endParaRPr lang="en-US" sz="1500" dirty="0"/>
          </a:p>
        </p:txBody>
      </p:sp>
      <p:sp>
        <p:nvSpPr>
          <p:cNvPr id="9" name="qa card 4"/>
          <p:cNvSpPr/>
          <p:nvPr/>
        </p:nvSpPr>
        <p:spPr>
          <a:xfrm>
            <a:off x="6153912" y="2487168"/>
            <a:ext cx="5458968" cy="1115568"/>
          </a:xfrm>
          <a:prstGeom prst="roundRect">
            <a:avLst>
              <a:gd name="adj" fmla="val 65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Text 8"/>
          <p:cNvSpPr txBox="1"/>
          <p:nvPr/>
        </p:nvSpPr>
        <p:spPr>
          <a:xfrm>
            <a:off x="6318504" y="2578608"/>
            <a:ext cx="5120640" cy="932688"/>
          </a:xfrm>
          <a:prstGeom prst="rect">
            <a:avLst/>
          </a:prstGeom>
          <a:noFill/>
          <a:ln/>
        </p:spPr>
        <p:txBody>
          <a:bodyPr wrap="square" lIns="0" tIns="0" rIns="0" bIns="0" rtlCol="0" anchor="ctr"/>
          <a:lstStyle/>
          <a:p>
            <a:pPr indent="0" marL="0">
              <a:buNone/>
            </a:pPr>
            <a:r>
              <a:rPr lang="en-US" sz="1400" b="1" dirty="0">
                <a:solidFill>
                  <a:schemeClr val="tx2"/>
                </a:solidFill>
              </a:rPr>
              <a:t>Q: Why is the test set not resampled?</a:t>
            </a:r>
            <a:endParaRPr lang="en-US" sz="1500" dirty="0"/>
          </a:p>
          <a:p>
            <a:pPr indent="0" marL="0">
              <a:buNone/>
            </a:pPr>
            <a:r>
              <a:rPr lang="en-US" sz="1300" dirty="0">
                <a:solidFill>
                  <a:schemeClr val="tx1"/>
                </a:solidFill>
              </a:rPr>
              <a:t>It must reflect the real class distribution of future patients.</a:t>
            </a:r>
            <a:endParaRPr lang="en-US" sz="1500" dirty="0"/>
          </a:p>
        </p:txBody>
      </p:sp>
      <p:sp>
        <p:nvSpPr>
          <p:cNvPr id="11" name="qa card 5"/>
          <p:cNvSpPr/>
          <p:nvPr/>
        </p:nvSpPr>
        <p:spPr>
          <a:xfrm>
            <a:off x="548640" y="3739896"/>
            <a:ext cx="5458968" cy="1115568"/>
          </a:xfrm>
          <a:prstGeom prst="roundRect">
            <a:avLst>
              <a:gd name="adj" fmla="val 65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2" name="Text 10"/>
          <p:cNvSpPr txBox="1"/>
          <p:nvPr/>
        </p:nvSpPr>
        <p:spPr>
          <a:xfrm>
            <a:off x="713232" y="3831336"/>
            <a:ext cx="5120640" cy="932688"/>
          </a:xfrm>
          <a:prstGeom prst="rect">
            <a:avLst/>
          </a:prstGeom>
          <a:noFill/>
          <a:ln/>
        </p:spPr>
        <p:txBody>
          <a:bodyPr wrap="square" lIns="0" tIns="0" rIns="0" bIns="0" rtlCol="0" anchor="ctr"/>
          <a:lstStyle/>
          <a:p>
            <a:pPr indent="0" marL="0">
              <a:buNone/>
            </a:pPr>
            <a:r>
              <a:rPr lang="en-US" sz="1400" b="1" dirty="0">
                <a:solidFill>
                  <a:schemeClr val="tx2"/>
                </a:solidFill>
              </a:rPr>
              <a:t>Q: Why scale tree models?</a:t>
            </a:r>
            <a:endParaRPr lang="en-US" sz="1500" dirty="0"/>
          </a:p>
          <a:p>
            <a:pPr indent="0" marL="0">
              <a:buNone/>
            </a:pPr>
            <a:r>
              <a:rPr lang="en-US" sz="1300" dirty="0">
                <a:solidFill>
                  <a:schemeClr val="tx1"/>
                </a:solidFill>
              </a:rPr>
              <a:t>Not needed for trees, but it keeps one pipeline and gives SMOTE comparable distances.</a:t>
            </a:r>
            <a:endParaRPr lang="en-US" sz="1500" dirty="0"/>
          </a:p>
        </p:txBody>
      </p:sp>
      <p:sp>
        <p:nvSpPr>
          <p:cNvPr id="13" name="qa card 6"/>
          <p:cNvSpPr/>
          <p:nvPr/>
        </p:nvSpPr>
        <p:spPr>
          <a:xfrm>
            <a:off x="6153912" y="3739896"/>
            <a:ext cx="5458968" cy="1115568"/>
          </a:xfrm>
          <a:prstGeom prst="roundRect">
            <a:avLst>
              <a:gd name="adj" fmla="val 65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Text 12"/>
          <p:cNvSpPr txBox="1"/>
          <p:nvPr/>
        </p:nvSpPr>
        <p:spPr>
          <a:xfrm>
            <a:off x="6318504" y="3831336"/>
            <a:ext cx="5120640" cy="932688"/>
          </a:xfrm>
          <a:prstGeom prst="rect">
            <a:avLst/>
          </a:prstGeom>
          <a:noFill/>
          <a:ln/>
        </p:spPr>
        <p:txBody>
          <a:bodyPr wrap="square" lIns="0" tIns="0" rIns="0" bIns="0" rtlCol="0" anchor="ctr"/>
          <a:lstStyle/>
          <a:p>
            <a:pPr indent="0" marL="0">
              <a:buNone/>
            </a:pPr>
            <a:r>
              <a:rPr lang="en-US" sz="1400" b="1" dirty="0">
                <a:solidFill>
                  <a:schemeClr val="tx2"/>
                </a:solidFill>
              </a:rPr>
              <a:t>Q: Why not XGBoost (best test AUC)?</a:t>
            </a:r>
            <a:endParaRPr lang="en-US" sz="1500" dirty="0"/>
          </a:p>
          <a:p>
            <a:pPr indent="0" marL="0">
              <a:buNone/>
            </a:pPr>
            <a:r>
              <a:rPr lang="en-US" sz="1300" dirty="0">
                <a:solidFill>
                  <a:schemeClr val="tx1"/>
                </a:solidFill>
              </a:rPr>
              <a:t>Its cross-validated recall (0.687) failed the screening rule; RF was consistent.</a:t>
            </a:r>
            <a:endParaRPr lang="en-US" sz="1500" dirty="0"/>
          </a:p>
        </p:txBody>
      </p:sp>
      <p:sp>
        <p:nvSpPr>
          <p:cNvPr id="15" name="qa card 7"/>
          <p:cNvSpPr/>
          <p:nvPr/>
        </p:nvSpPr>
        <p:spPr>
          <a:xfrm>
            <a:off x="548640" y="4992624"/>
            <a:ext cx="5458968" cy="1115568"/>
          </a:xfrm>
          <a:prstGeom prst="roundRect">
            <a:avLst>
              <a:gd name="adj" fmla="val 65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6" name="Text 14"/>
          <p:cNvSpPr txBox="1"/>
          <p:nvPr/>
        </p:nvSpPr>
        <p:spPr>
          <a:xfrm>
            <a:off x="713232" y="5084064"/>
            <a:ext cx="5120640" cy="932688"/>
          </a:xfrm>
          <a:prstGeom prst="rect">
            <a:avLst/>
          </a:prstGeom>
          <a:noFill/>
          <a:ln/>
        </p:spPr>
        <p:txBody>
          <a:bodyPr wrap="square" lIns="0" tIns="0" rIns="0" bIns="0" rtlCol="0" anchor="ctr"/>
          <a:lstStyle/>
          <a:p>
            <a:pPr indent="0" marL="0">
              <a:buNone/>
            </a:pPr>
            <a:r>
              <a:rPr lang="en-US" sz="1400" b="1" dirty="0">
                <a:solidFill>
                  <a:schemeClr val="tx2"/>
                </a:solidFill>
              </a:rPr>
              <a:t>Q: What does ROC-AUC 0.809 mean?</a:t>
            </a:r>
            <a:endParaRPr lang="en-US" sz="1500" dirty="0"/>
          </a:p>
          <a:p>
            <a:pPr indent="0" marL="0">
              <a:buNone/>
            </a:pPr>
            <a:r>
              <a:rPr lang="en-US" sz="1300" dirty="0">
                <a:solidFill>
                  <a:schemeClr val="tx1"/>
                </a:solidFill>
              </a:rPr>
              <a:t>An 80.9 % chance a random diabetic patient is ranked above a random non-diabetic one.</a:t>
            </a:r>
            <a:endParaRPr lang="en-US" sz="1500" dirty="0"/>
          </a:p>
        </p:txBody>
      </p:sp>
      <p:sp>
        <p:nvSpPr>
          <p:cNvPr id="17" name="qa card 8"/>
          <p:cNvSpPr/>
          <p:nvPr/>
        </p:nvSpPr>
        <p:spPr>
          <a:xfrm>
            <a:off x="6153912" y="4992624"/>
            <a:ext cx="5458968" cy="1115568"/>
          </a:xfrm>
          <a:prstGeom prst="roundRect">
            <a:avLst>
              <a:gd name="adj" fmla="val 65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8" name="Text 16"/>
          <p:cNvSpPr txBox="1"/>
          <p:nvPr/>
        </p:nvSpPr>
        <p:spPr>
          <a:xfrm>
            <a:off x="6318504" y="5084064"/>
            <a:ext cx="5120640" cy="932688"/>
          </a:xfrm>
          <a:prstGeom prst="rect">
            <a:avLst/>
          </a:prstGeom>
          <a:noFill/>
          <a:ln/>
        </p:spPr>
        <p:txBody>
          <a:bodyPr wrap="square" lIns="0" tIns="0" rIns="0" bIns="0" rtlCol="0" anchor="ctr"/>
          <a:lstStyle/>
          <a:p>
            <a:pPr indent="0" marL="0">
              <a:buNone/>
            </a:pPr>
            <a:r>
              <a:rPr lang="en-US" sz="1400" b="1" dirty="0">
                <a:solidFill>
                  <a:schemeClr val="tx2"/>
                </a:solidFill>
              </a:rPr>
              <a:t>Q: Does SHAP prove glucose causes diabetes?</a:t>
            </a:r>
            <a:endParaRPr lang="en-US" sz="1500" dirty="0"/>
          </a:p>
          <a:p>
            <a:pPr indent="0" marL="0">
              <a:buNone/>
            </a:pPr>
            <a:r>
              <a:rPr lang="en-US" sz="1300" dirty="0">
                <a:solidFill>
                  <a:schemeClr val="tx1"/>
                </a:solidFill>
              </a:rPr>
              <a:t>No. It explains how the model uses features, which reflects associations.</a:t>
            </a:r>
            <a:endParaRPr lang="en-US" sz="1500" dirty="0"/>
          </a:p>
        </p:txBody>
      </p:sp>
      <p:sp>
        <p:nvSpPr>
          <p:cNvPr id="19" name="Button: Agenda">
            <a:hlinkClick r:id="rId1" tooltip="Back to the agenda" action="ppaction://hlinksldjump"/>
          </p:cNvPr>
          <p:cNvSpPr/>
          <p:nvPr/>
        </p:nvSpPr>
        <p:spPr>
          <a:xfrm>
            <a:off x="10680192" y="6336792"/>
            <a:ext cx="960120" cy="36576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Agenda</a:t>
            </a:r>
            <a:endParaRPr lang="en-US" sz="1200" dirty="0"/>
          </a:p>
        </p:txBody>
      </p:sp>
      <p:sp>
        <p:nvSpPr>
          <p:cNvPr id="20" name="Button: ‹ Back to Conclusion">
            <a:hlinkClick r:id="rId2" tooltip="‹ Back to Conclusion" action="ppaction://hlinksldjump"/>
          </p:cNvPr>
          <p:cNvSpPr/>
          <p:nvPr/>
        </p:nvSpPr>
        <p:spPr>
          <a:xfrm>
            <a:off x="8467344" y="6336792"/>
            <a:ext cx="2103120" cy="365760"/>
          </a:xfrm>
          <a:prstGeom prst="roundRect">
            <a:avLst>
              <a:gd name="adj" fmla="val 25000"/>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bg1"/>
                </a:solidFill>
              </a:rPr>
              <a:t>‹ Back to Conclusion</a:t>
            </a:r>
            <a:endParaRPr lang="en-US" sz="1200" dirty="0"/>
          </a:p>
        </p:txBody>
      </p:sp>
      <p:sp>
        <p:nvSpPr>
          <p:cNvPr id="25" name="Slide Number Placeholder 0"/>
          <p:cNvSpPr>
            <a:spLocks noGrp="1"/>
          </p:cNvSpPr>
          <p:nvPr>
            <p:ph type="sldNum" sz="quarter" idx="4294967295"/>
          </p:nvPr>
        </p:nvSpPr>
        <p:spPr>
          <a:xfrm>
            <a:off x="8732520" y="6382512"/>
            <a:ext cx="50292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theme/theme1.xml><?xml version="1.0" encoding="utf-8"?>
<a:theme xmlns:a="http://schemas.openxmlformats.org/drawingml/2006/main" name="Glucose Teal">
  <a:themeElements>
    <a:clrScheme name="Glucose Teal">
      <a:dk1>
        <a:srgbClr val="1B2A33"/>
      </a:dk1>
      <a:lt1>
        <a:srgbClr val="FFFFFF"/>
      </a:lt1>
      <a:dk2>
        <a:srgbClr val="0B3C49"/>
      </a:dk2>
      <a:lt2>
        <a:srgbClr val="EAF3F4"/>
      </a:lt2>
      <a:accent1>
        <a:srgbClr val="0E7C86"/>
      </a:accent1>
      <a:accent2>
        <a:srgbClr val="F25C54"/>
      </a:accent2>
      <a:accent3>
        <a:srgbClr val="F4B942"/>
      </a:accent3>
      <a:accent4>
        <a:srgbClr val="3A5A98"/>
      </a:accent4>
      <a:accent5>
        <a:srgbClr val="7A8B94"/>
      </a:accent5>
      <a:accent6>
        <a:srgbClr val="6B4E9B"/>
      </a:accent6>
      <a:hlink>
        <a:srgbClr val="0E7C86"/>
      </a:hlink>
      <a:folHlink>
        <a:srgbClr val="6B4E9B"/>
      </a:folHlink>
    </a:clrScheme>
    <a:fontScheme name="Glucose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Diabetes Onset Prediction Using Machine Learning</dc:title>
  <dc:subject>Predictive Analytics (CA-3) - individual presentation</dc:subject>
  <dc:creator>Hardik Jain</dc:creator>
  <cp:lastModifiedBy>Hardik Jain</cp:lastModifiedBy>
  <cp:revision>1</cp:revision>
  <dcterms:created xsi:type="dcterms:W3CDTF">2026-10-10T17:18:33Z</dcterms:created>
  <dcterms:modified xsi:type="dcterms:W3CDTF">2026-10-10T17:18:33Z</dcterms:modified>
</cp:coreProperties>
</file>