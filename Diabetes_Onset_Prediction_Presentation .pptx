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9" r:id="rId8"/>
    <p:sldId id="260" r:id="rId9"/>
    <p:sldId id="261" r:id="rId10"/>
    <p:sldId id="262" r:id="rId11"/>
    <p:sldId id="263" r:id="rId12"/>
    <p:sldId id="264" r:id="rId13"/>
    <p:sldId id="266" r:id="rId15"/>
    <p:sldId id="267" r:id="rId16"/>
    <p:sldId id="265" r:id="rId14"/>
    <p:sldId id="268" r:id="rId17"/>
    <p:sldId id="269" r:id="rId18"/>
    <p:sldId id="277" r:id="rId2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hnkAhqlffMvE9I3/Y5k610MW/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11.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2.xml"/><Relationship Id="rId18" Type="http://schemas.openxmlformats.org/officeDocument/2006/relationships/slide" Target="slides/slide13.xml"/><Relationship Id="rId26" Type="http://schemas.openxmlformats.org/officeDocument/2006/relationships/slide" Target="slides/slide14.xml"/><Relationship Id="rId27"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solidFill>
                  <a:srgbClr val="0B3C49"/>
                </a:solidFill>
                <a:latin typeface="Calibri"/>
              </a:rPr>
              <a:t>Pima: class balance (Outcome)</a:t>
            </a:r>
          </a:p>
        </c:rich>
      </c:tx>
      <c:layout/>
      <c:overlay val="0"/>
    </c:title>
    <c:autoTitleDeleted val="0"/>
    <c:plotArea>
      <c:layout/>
      <c:doughnutChart>
        <c:varyColors val="1"/>
        <c:ser>
          <c:idx val="0"/>
          <c:order val="0"/>
          <c:tx>
            <c:strRef>
              <c:f>Sheet1!$B$1</c:f>
              <c:strCache>
                <c:ptCount val="1"/>
                <c:pt idx="0">
                  <c:v>Outcome</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dPt>
          <c:dPt>
            <c:idx val="1"/>
            <c:bubble3D val="0"/>
            <c:spPr>
              <a:solidFill>
                <a:srgbClr val="F25C54"/>
              </a:solidFill>
              <a:effectLst/>
            </c:spPr>
          </c:dPt>
          <c:dLbls>
            <c:dLbl>
              <c:idx val="0"/>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No diabetes (500)</c:v>
                </c:pt>
                <c:pt idx="1">
                  <c:v>Diabetes (268)</c:v>
                </c:pt>
              </c:strCache>
            </c:strRef>
          </c:cat>
          <c:val>
            <c:numRef>
              <c:f>Sheet1!$B$2:$B$3</c:f>
              <c:numCache>
                <c:ptCount val="2"/>
                <c:pt idx="0">
                  <c:v>500</c:v>
                </c:pt>
                <c:pt idx="1">
                  <c:v>268</c:v>
                </c:pt>
              </c:numCache>
            </c:numRef>
          </c:val>
        </c:ser>
        <c:firstSliceAng val="0"/>
        <c:holeSize val="55"/>
      </c:doughnutChart>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solidFill>
                  <a:srgbClr val="0B3C49"/>
                </a:solidFill>
                <a:latin typeface="Calibri"/>
              </a:rPr>
              <a:t>Hidden data-quality problems (% of rows)</a:t>
            </a:r>
          </a:p>
        </c:rich>
      </c:tx>
      <c:layout/>
      <c:overlay val="0"/>
    </c:title>
    <c:autoTitleDeleted val="0"/>
    <c:plotArea>
      <c:layout/>
      <c:barChart>
        <c:barDir val="bar"/>
        <c:grouping val="clustered"/>
        <c:varyColors val="0"/>
        <c:ser>
          <c:idx val="0"/>
          <c:order val="0"/>
          <c:tx>
            <c:strRef>
              <c:f>Sheet1!$B$1</c:f>
              <c:strCache>
                <c:ptCount val="1"/>
                <c:pt idx="0">
                  <c:v>% of rows</c:v>
                </c:pt>
              </c:strCache>
            </c:strRef>
          </c:tx>
          <c:spPr>
            <a:solidFill>
              <a:srgbClr val="F25C54"/>
            </a:solidFill>
            <a:effectLst/>
          </c:spPr>
          <c:invertIfNegative val="0"/>
          <c:dLbls>
            <c:numFmt formatCode="0.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strRef>
              <c:f>Sheet1!$A$2:$A$4</c:f>
              <c:strCache>
                <c:ptCount val="3"/>
                <c:pt idx="0">
                  <c:v>Pima: SkinThickness zeros</c:v>
                </c:pt>
                <c:pt idx="1">
                  <c:v>Pima: Insulin zeros</c:v>
                </c:pt>
                <c:pt idx="2">
                  <c:v>Early Stage: duplicate rows</c:v>
                </c:pt>
              </c:strCache>
            </c:strRef>
          </c:cat>
          <c:val>
            <c:numRef>
              <c:f>Sheet1!$B$2:$B$4</c:f>
              <c:numCache>
                <c:formatCode>General</c:formatCode>
                <c:ptCount val="3"/>
                <c:pt idx="0">
                  <c:v>29.56</c:v>
                </c:pt>
                <c:pt idx="1">
                  <c:v>48.7</c:v>
                </c:pt>
                <c:pt idx="2">
                  <c:v>51.73</c:v>
                </c:pt>
              </c:numCache>
            </c:numRef>
          </c:val>
        </c:ser>
        <c:dLbls>
          <c:numFmt formatCode="0.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b"/>
        <c:majorGridlines>
          <c:spPr>
            <a:ln w="6350" cap="flat">
              <a:solidFill>
                <a:srgbClr val="DCE3E5"/>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8B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solidFill>
                  <a:srgbClr val="0B3C49"/>
                </a:solidFill>
                <a:latin typeface="Calibri"/>
              </a:rPr>
              <a:t>Pima training set: class counts before / after SMOTE</a:t>
            </a:r>
          </a:p>
        </c:rich>
      </c:tx>
      <c:layout/>
      <c:overlay val="0"/>
    </c:title>
    <c:autoTitleDeleted val="0"/>
    <c:plotArea>
      <c:layout/>
      <c:barChart>
        <c:barDir val="col"/>
        <c:grouping val="clustered"/>
        <c:varyColors val="0"/>
        <c:ser>
          <c:idx val="0"/>
          <c:order val="0"/>
          <c:tx>
            <c:strRef>
              <c:f>Sheet1!$B$1</c:f>
              <c:strCache>
                <c:ptCount val="1"/>
                <c:pt idx="0">
                  <c:v>No diabetes</c:v>
                </c:pt>
              </c:strCache>
            </c:strRef>
          </c:tx>
          <c:spPr>
            <a:solidFill>
              <a:srgbClr val="0E7C86"/>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Sheet1!$A$2:$A$3</c:f>
              <c:multiLvlStrCache>
                <c:ptCount val="2"/>
                <c:lvl>
                  <c:pt idx="0">
                    <c:v>Before SMOTE</c:v>
                  </c:pt>
                  <c:pt idx="1">
                    <c:v>After SMOTE</c:v>
                  </c:pt>
                </c:lvl>
              </c:multiLvlStrCache>
            </c:multiLvlStrRef>
          </c:cat>
          <c:val>
            <c:numRef>
              <c:f>Sheet1!$B$2:$B$3</c:f>
              <c:numCache>
                <c:formatCode>General</c:formatCode>
                <c:ptCount val="2"/>
                <c:pt idx="0">
                  <c:v>400</c:v>
                </c:pt>
                <c:pt idx="1">
                  <c:v>400</c:v>
                </c:pt>
              </c:numCache>
            </c:numRef>
          </c:val>
        </c:ser>
        <c:ser>
          <c:idx val="1"/>
          <c:order val="1"/>
          <c:tx>
            <c:strRef>
              <c:f>Sheet1!$C$1</c:f>
              <c:strCache>
                <c:ptCount val="1"/>
                <c:pt idx="0">
                  <c:v>Diabetes</c:v>
                </c:pt>
              </c:strCache>
            </c:strRef>
          </c:tx>
          <c:spPr>
            <a:solidFill>
              <a:srgbClr val="F25C54"/>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Sheet1!$A$2:$A$3</c:f>
              <c:multiLvlStrCache>
                <c:ptCount val="2"/>
                <c:lvl>
                  <c:pt idx="0">
                    <c:v>Before SMOTE</c:v>
                  </c:pt>
                  <c:pt idx="1">
                    <c:v>After SMOTE</c:v>
                  </c:pt>
                </c:lvl>
              </c:multiLvlStrCache>
            </c:multiLvlStrRef>
          </c:cat>
          <c:val>
            <c:numRef>
              <c:f>Sheet1!$C$2:$C$3</c:f>
              <c:numCache>
                <c:formatCode>General</c:formatCode>
                <c:ptCount val="2"/>
                <c:pt idx="0">
                  <c:v>214</c:v>
                </c:pt>
                <c:pt idx="1">
                  <c:v>400</c:v>
                </c:pt>
              </c:numCache>
            </c:numRef>
          </c:val>
        </c:ser>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480"/>
          <c:min val="0"/>
        </c:scaling>
        <c:delete val="0"/>
        <c:axPos val="l"/>
        <c:majorGridlines>
          <c:spPr>
            <a:ln w="6350" cap="flat">
              <a:solidFill>
                <a:srgbClr val="DCE3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B9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154 held-out patients (hover the bars in PowerPoint for exact values)</a:t>
            </a:r>
          </a:p>
        </c:rich>
      </c:tx>
      <c:layout/>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3A5A98"/>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Sheet1!$B$2:$B$6</c:f>
              <c:numCache>
                <c:formatCode>General</c:formatCode>
                <c:ptCount val="5"/>
                <c:pt idx="0">
                  <c:v>0.7078</c:v>
                </c:pt>
                <c:pt idx="1">
                  <c:v>0.5738</c:v>
                </c:pt>
                <c:pt idx="2">
                  <c:v>0.6481</c:v>
                </c:pt>
                <c:pt idx="3">
                  <c:v>0.6087</c:v>
                </c:pt>
                <c:pt idx="4">
                  <c:v>0.8113</c:v>
                </c:pt>
              </c:numCache>
            </c:numRef>
          </c:val>
        </c:ser>
        <c:ser>
          <c:idx val="1"/>
          <c:order val="1"/>
          <c:tx>
            <c:strRef>
              <c:f>Sheet1!$C$1</c:f>
              <c:strCache>
                <c:ptCount val="1"/>
                <c:pt idx="0">
                  <c:v>K-Nearest Neighbors</c:v>
                </c:pt>
              </c:strCache>
            </c:strRef>
          </c:tx>
          <c:spPr>
            <a:solidFill>
              <a:srgbClr val="F4B942"/>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Sheet1!$C$2:$C$6</c:f>
              <c:numCache>
                <c:formatCode>General</c:formatCode>
                <c:ptCount val="5"/>
                <c:pt idx="0">
                  <c:v>0.6948</c:v>
                </c:pt>
                <c:pt idx="1">
                  <c:v>0.5455</c:v>
                </c:pt>
                <c:pt idx="2">
                  <c:v>0.7778</c:v>
                </c:pt>
                <c:pt idx="3">
                  <c:v>0.6412</c:v>
                </c:pt>
                <c:pt idx="4">
                  <c:v>0.7974</c:v>
                </c:pt>
              </c:numCache>
            </c:numRef>
          </c:val>
        </c:ser>
        <c:ser>
          <c:idx val="2"/>
          <c:order val="2"/>
          <c:tx>
            <c:strRef>
              <c:f>Sheet1!$D$1</c:f>
              <c:strCache>
                <c:ptCount val="1"/>
                <c:pt idx="0">
                  <c:v>Decision Tree</c:v>
                </c:pt>
              </c:strCache>
            </c:strRef>
          </c:tx>
          <c:spPr>
            <a:solidFill>
              <a:srgbClr val="7A8B94"/>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Sheet1!$D$2:$D$6</c:f>
              <c:numCache>
                <c:formatCode>General</c:formatCode>
                <c:ptCount val="5"/>
                <c:pt idx="0">
                  <c:v>0.7273</c:v>
                </c:pt>
                <c:pt idx="1">
                  <c:v>0.5833</c:v>
                </c:pt>
                <c:pt idx="2">
                  <c:v>0.7778</c:v>
                </c:pt>
                <c:pt idx="3">
                  <c:v>0.6667</c:v>
                </c:pt>
                <c:pt idx="4">
                  <c:v>0.7616</c:v>
                </c:pt>
              </c:numCache>
            </c:numRef>
          </c:val>
        </c:ser>
        <c:ser>
          <c:idx val="3"/>
          <c:order val="3"/>
          <c:tx>
            <c:strRef>
              <c:f>Sheet1!$E$1</c:f>
              <c:strCache>
                <c:ptCount val="1"/>
                <c:pt idx="0">
                  <c:v>Random Forest</c:v>
                </c:pt>
              </c:strCache>
            </c:strRef>
          </c:tx>
          <c:spPr>
            <a:solidFill>
              <a:srgbClr val="0E7C86"/>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Sheet1!$E$2:$E$6</c:f>
              <c:numCache>
                <c:formatCode>General</c:formatCode>
                <c:ptCount val="5"/>
                <c:pt idx="0">
                  <c:v>0.7468</c:v>
                </c:pt>
                <c:pt idx="1">
                  <c:v>0.6154</c:v>
                </c:pt>
                <c:pt idx="2">
                  <c:v>0.7407</c:v>
                </c:pt>
                <c:pt idx="3">
                  <c:v>0.6723</c:v>
                </c:pt>
                <c:pt idx="4">
                  <c:v>0.8094</c:v>
                </c:pt>
              </c:numCache>
            </c:numRef>
          </c:val>
        </c:ser>
        <c:ser>
          <c:idx val="4"/>
          <c:order val="4"/>
          <c:tx>
            <c:strRef>
              <c:f>Sheet1!$F$1</c:f>
              <c:strCache>
                <c:ptCount val="1"/>
                <c:pt idx="0">
                  <c:v>XGBoost</c:v>
                </c:pt>
              </c:strCache>
            </c:strRef>
          </c:tx>
          <c:spPr>
            <a:solidFill>
              <a:srgbClr val="6B4E9B"/>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Sheet1!$F$2:$F$6</c:f>
              <c:numCache>
                <c:formatCode>General</c:formatCode>
                <c:ptCount val="5"/>
                <c:pt idx="0">
                  <c:v>0.7532</c:v>
                </c:pt>
                <c:pt idx="1">
                  <c:v>0.625</c:v>
                </c:pt>
                <c:pt idx="2">
                  <c:v>0.7407</c:v>
                </c:pt>
                <c:pt idx="3">
                  <c:v>0.678</c:v>
                </c:pt>
                <c:pt idx="4">
                  <c:v>0.8263</c:v>
                </c:pt>
              </c:numCache>
            </c:numRef>
          </c:val>
        </c:ser>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0.9"/>
          <c:min val="0.4"/>
        </c:scaling>
        <c:delete val="0"/>
        <c:axPos val="l"/>
        <c:majorGridlines>
          <c:spPr>
            <a:ln w="6350" cap="flat">
              <a:solidFill>
                <a:srgbClr val="DCE3E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B94"/>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200" b="1">
                <a:solidFill>
                  <a:srgbClr val="0B3C49"/>
                </a:solidFill>
                <a:latin typeface="Calibri"/>
              </a:rPr>
              <a:t>Dataset 2 – Early Stage: mean |SHAP| (Random Forest)</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0E7C86"/>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strRef>
              <c:f>Sheet1!$A$2:$A$9</c:f>
              <c:strCache>
                <c:ptCount val="8"/>
                <c:pt idx="0">
                  <c:v>Age</c:v>
                </c:pt>
                <c:pt idx="1">
                  <c:v>Alopecia</c:v>
                </c:pt>
                <c:pt idx="2">
                  <c:v>Irritability</c:v>
                </c:pt>
                <c:pt idx="3">
                  <c:v>Polyphagia</c:v>
                </c:pt>
                <c:pt idx="4">
                  <c:v>Sudden weight loss</c:v>
                </c:pt>
                <c:pt idx="5">
                  <c:v>Gender = Male</c:v>
                </c:pt>
                <c:pt idx="6">
                  <c:v>Polydipsia</c:v>
                </c:pt>
                <c:pt idx="7">
                  <c:v>Polyuria</c:v>
                </c:pt>
              </c:strCache>
            </c:strRef>
          </c:cat>
          <c:val>
            <c:numRef>
              <c:f>Sheet1!$B$2:$B$9</c:f>
              <c:numCache>
                <c:formatCode>General</c:formatCode>
                <c:ptCount val="8"/>
                <c:pt idx="0">
                  <c:v>0.017</c:v>
                </c:pt>
                <c:pt idx="1">
                  <c:v>0.023</c:v>
                </c:pt>
                <c:pt idx="2">
                  <c:v>0.029</c:v>
                </c:pt>
                <c:pt idx="3">
                  <c:v>0.032</c:v>
                </c:pt>
                <c:pt idx="4">
                  <c:v>0.051</c:v>
                </c:pt>
                <c:pt idx="5">
                  <c:v>0.052</c:v>
                </c:pt>
                <c:pt idx="6">
                  <c:v>0.123</c:v>
                </c:pt>
                <c:pt idx="7">
                  <c:v>0.149</c:v>
                </c:pt>
              </c:numCache>
            </c:numRef>
          </c:val>
        </c:ser>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8B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49"/>
                </a:solidFill>
                <a:latin typeface="Calibri"/>
              </a:rPr>
              <a:t>Test ROC-AUC by model</a:t>
            </a:r>
          </a:p>
        </c:rich>
      </c:tx>
      <c:layout/>
      <c:overlay val="0"/>
    </c:title>
    <c:autoTitleDeleted val="0"/>
    <c:plotArea>
      <c:barChart>
        <c:barDir val="col"/>
        <c:grouping val="clustered"/>
        <c:ser>
          <c:idx val="0"/>
          <c:order val="0"/>
          <c:tx>
            <c:strRef>
              <c:f>Sheet1!$B$1</c:f>
              <c:strCache>
                <c:ptCount val="1"/>
                <c:pt idx="0">
                  <c:v>Dataset 1 – Pima</c:v>
                </c:pt>
              </c:strCache>
            </c:strRef>
          </c:tx>
          <c:spPr>
            <a:solidFill>
              <a:srgbClr val="3A5A98"/>
            </a:solidFill>
          </c:spPr>
          <c:cat>
            <c:strRef>
              <c:f>Sheet1!$A$2:$A$6</c:f>
              <c:strCache>
                <c:ptCount val="5"/>
                <c:pt idx="0">
                  <c:v>LR</c:v>
                </c:pt>
                <c:pt idx="1">
                  <c:v>KNN</c:v>
                </c:pt>
                <c:pt idx="2">
                  <c:v>DT</c:v>
                </c:pt>
                <c:pt idx="3">
                  <c:v>RF</c:v>
                </c:pt>
                <c:pt idx="4">
                  <c:v>XGB</c:v>
                </c:pt>
              </c:strCache>
            </c:strRef>
          </c:cat>
          <c:val>
            <c:numRef>
              <c:f>Sheet1!$B$2:$B$6</c:f>
              <c:numCache>
                <c:formatCode>General</c:formatCode>
                <c:ptCount val="5"/>
                <c:pt idx="0">
                  <c:v>0.811</c:v>
                </c:pt>
                <c:pt idx="1">
                  <c:v>0.797</c:v>
                </c:pt>
                <c:pt idx="2">
                  <c:v>0.762</c:v>
                </c:pt>
                <c:pt idx="3">
                  <c:v>0.809</c:v>
                </c:pt>
                <c:pt idx="4">
                  <c:v>0.826</c:v>
                </c:pt>
              </c:numCache>
            </c:numRef>
          </c:val>
        </c:ser>
        <c:ser>
          <c:idx val="1"/>
          <c:order val="1"/>
          <c:tx>
            <c:strRef>
              <c:f>Sheet1!$C$1</c:f>
              <c:strCache>
                <c:ptCount val="1"/>
                <c:pt idx="0">
                  <c:v>Dataset 2 – Early Stage</c:v>
                </c:pt>
              </c:strCache>
            </c:strRef>
          </c:tx>
          <c:spPr>
            <a:solidFill>
              <a:srgbClr val="0E7C86"/>
            </a:solidFill>
          </c:spPr>
          <c:cat>
            <c:strRef>
              <c:f>Sheet1!$A$2:$A$6</c:f>
              <c:strCache>
                <c:ptCount val="5"/>
                <c:pt idx="0">
                  <c:v>LR</c:v>
                </c:pt>
                <c:pt idx="1">
                  <c:v>KNN</c:v>
                </c:pt>
                <c:pt idx="2">
                  <c:v>DT</c:v>
                </c:pt>
                <c:pt idx="3">
                  <c:v>RF</c:v>
                </c:pt>
                <c:pt idx="4">
                  <c:v>XGB</c:v>
                </c:pt>
              </c:strCache>
            </c:strRef>
          </c:cat>
          <c:val>
            <c:numRef>
              <c:f>Sheet1!$C$2:$C$6</c:f>
              <c:numCache>
                <c:formatCode>General</c:formatCode>
                <c:ptCount val="5"/>
                <c:pt idx="0">
                  <c:v>0.925</c:v>
                </c:pt>
                <c:pt idx="1">
                  <c:v>0.926</c:v>
                </c:pt>
                <c:pt idx="2">
                  <c:v>0.956</c:v>
                </c:pt>
                <c:pt idx="3">
                  <c:v>0.964</c:v>
                </c:pt>
                <c:pt idx="4">
                  <c:v>0.946</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0"/>
          <c:min val="0.5"/>
        </c:scaling>
        <c:delete val="0"/>
        <c:axPos val="l"/>
        <c:majorGridlines>
          <c:spPr>
            <a:ln>
              <a:solidFill>
                <a:srgbClr val="DCE3E5"/>
              </a:solidFill>
            </a:ln>
          </c:spPr>
        </c:majorGridlines>
        <c:numFmt formatCode="0.0" sourceLinked="0"/>
        <c:majorTickMark val="out"/>
        <c:minorTickMark val="none"/>
        <c:tickLblPos val="nextTo"/>
        <c:txPr>
          <a:bodyPr/>
          <a:lstStyle/>
          <a:p>
            <a:pPr>
              <a:defRPr sz="1000"/>
            </a:pPr>
          </a:p>
        </c:txPr>
        <c:crossAx val="-2068027336"/>
        <c:crosses val="autoZero"/>
        <c:majorUnit val="0.1"/>
      </c:valAx>
    </c:plotArea>
    <c:legend>
      <c:legendPos val="b"/>
      <c:overlay val="0"/>
      <c:txPr>
        <a:bodyPr/>
        <a:lstStyle/>
        <a:p>
          <a:pPr>
            <a:defRPr sz="1100">
              <a:latin typeface="Calibri"/>
            </a:defRPr>
          </a:pPr>
        </a:p>
      </c:txPr>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49"/>
                </a:solidFill>
                <a:latin typeface="Calibri"/>
              </a:rPr>
              <a:t>Test Recall by model</a:t>
            </a:r>
          </a:p>
        </c:rich>
      </c:tx>
      <c:layout/>
      <c:overlay val="0"/>
    </c:title>
    <c:autoTitleDeleted val="0"/>
    <c:plotArea>
      <c:barChart>
        <c:barDir val="col"/>
        <c:grouping val="clustered"/>
        <c:ser>
          <c:idx val="0"/>
          <c:order val="0"/>
          <c:tx>
            <c:strRef>
              <c:f>Sheet1!$B$1</c:f>
              <c:strCache>
                <c:ptCount val="1"/>
                <c:pt idx="0">
                  <c:v>Dataset 1 – Pima</c:v>
                </c:pt>
              </c:strCache>
            </c:strRef>
          </c:tx>
          <c:spPr>
            <a:solidFill>
              <a:srgbClr val="3A5A98"/>
            </a:solidFill>
          </c:spPr>
          <c:cat>
            <c:strRef>
              <c:f>Sheet1!$A$2:$A$6</c:f>
              <c:strCache>
                <c:ptCount val="5"/>
                <c:pt idx="0">
                  <c:v>LR</c:v>
                </c:pt>
                <c:pt idx="1">
                  <c:v>KNN</c:v>
                </c:pt>
                <c:pt idx="2">
                  <c:v>DT</c:v>
                </c:pt>
                <c:pt idx="3">
                  <c:v>RF</c:v>
                </c:pt>
                <c:pt idx="4">
                  <c:v>XGB</c:v>
                </c:pt>
              </c:strCache>
            </c:strRef>
          </c:cat>
          <c:val>
            <c:numRef>
              <c:f>Sheet1!$B$2:$B$6</c:f>
              <c:numCache>
                <c:formatCode>General</c:formatCode>
                <c:ptCount val="5"/>
                <c:pt idx="0">
                  <c:v>0.648</c:v>
                </c:pt>
                <c:pt idx="1">
                  <c:v>0.778</c:v>
                </c:pt>
                <c:pt idx="2">
                  <c:v>0.778</c:v>
                </c:pt>
                <c:pt idx="3">
                  <c:v>0.741</c:v>
                </c:pt>
                <c:pt idx="4">
                  <c:v>0.741</c:v>
                </c:pt>
              </c:numCache>
            </c:numRef>
          </c:val>
        </c:ser>
        <c:ser>
          <c:idx val="1"/>
          <c:order val="1"/>
          <c:tx>
            <c:strRef>
              <c:f>Sheet1!$C$1</c:f>
              <c:strCache>
                <c:ptCount val="1"/>
                <c:pt idx="0">
                  <c:v>Dataset 2 – Early Stage</c:v>
                </c:pt>
              </c:strCache>
            </c:strRef>
          </c:tx>
          <c:spPr>
            <a:solidFill>
              <a:srgbClr val="0E7C86"/>
            </a:solidFill>
          </c:spPr>
          <c:cat>
            <c:strRef>
              <c:f>Sheet1!$A$2:$A$6</c:f>
              <c:strCache>
                <c:ptCount val="5"/>
                <c:pt idx="0">
                  <c:v>LR</c:v>
                </c:pt>
                <c:pt idx="1">
                  <c:v>KNN</c:v>
                </c:pt>
                <c:pt idx="2">
                  <c:v>DT</c:v>
                </c:pt>
                <c:pt idx="3">
                  <c:v>RF</c:v>
                </c:pt>
                <c:pt idx="4">
                  <c:v>XGB</c:v>
                </c:pt>
              </c:strCache>
            </c:strRef>
          </c:cat>
          <c:val>
            <c:numRef>
              <c:f>Sheet1!$C$2:$C$6</c:f>
              <c:numCache>
                <c:formatCode>General</c:formatCode>
                <c:ptCount val="5"/>
                <c:pt idx="0">
                  <c:v>0.8</c:v>
                </c:pt>
                <c:pt idx="1">
                  <c:v>0.686</c:v>
                </c:pt>
                <c:pt idx="2">
                  <c:v>0.857</c:v>
                </c:pt>
                <c:pt idx="3">
                  <c:v>0.914</c:v>
                </c:pt>
                <c:pt idx="4">
                  <c:v>0.829</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0"/>
          <c:min val="0.5"/>
        </c:scaling>
        <c:delete val="0"/>
        <c:axPos val="l"/>
        <c:majorGridlines>
          <c:spPr>
            <a:ln>
              <a:solidFill>
                <a:srgbClr val="DCE3E5"/>
              </a:solidFill>
            </a:ln>
          </c:spPr>
        </c:majorGridlines>
        <c:numFmt formatCode="0.0" sourceLinked="0"/>
        <c:majorTickMark val="out"/>
        <c:minorTickMark val="none"/>
        <c:tickLblPos val="nextTo"/>
        <c:txPr>
          <a:bodyPr/>
          <a:lstStyle/>
          <a:p>
            <a:pPr>
              <a:defRPr sz="1000"/>
            </a:pPr>
          </a:p>
        </c:txPr>
        <c:crossAx val="-2068027336"/>
        <c:crosses val="autoZero"/>
        <c:majorUnit val="0.1"/>
      </c:valAx>
    </c:plotArea>
    <c:legend>
      <c:legendPos val="b"/>
      <c:overlay val="0"/>
      <c:txPr>
        <a:bodyPr/>
        <a:lstStyle/>
        <a:p>
          <a:pPr>
            <a:defRPr sz="11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Good morning. My project predicts whether a person is likely to have diabetes. I followed the complete KDD process on two independent datasets: the Pima Indians dataset with clinical measurements, and the UCI Early Stage dataset with self-reported symptoms. Because their features are different, they are not merged: each is modelled separately and only the results are compared. These are academic screening models, not diagnostic tools.</a:t>
            </a: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is the navigation hub. Each tile jumps straight to that part of the talk. In a normal run I simply press Next; during questions I can jump to any topic, for example the comparison of the two datasets (tile 9).</a:t>
            </a: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Formally, for each dataset the input is a vector of features and the output is a class label plus a probability. I framed it as a screening problem: missing a diabetic person is worse than a false alarm, so recall gets special attention. The faculty asked for a second dataset; I chose the UCI Early Stage dataset because it uses a different kind of information (symptoms instead of lab values). The objectives are the same for both datasets, and the last step compares them.</a:t>
            </a:r>
          </a:p>
        </p:txBody>
      </p:sp>
      <p:sp>
        <p:nvSpPr>
          <p:cNvPr id="137" name="Google Shape;13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Dataset 1 is the Pima Indians dataset: 768 women, eight clinical measurements, 35 % diabetic. Its hidden problem is impossible zeros, which are really missing values: almost half of the insulin values. Dataset 2 is the UCI Early Stage Diabetes Risk dataset from a hospital in Bangladesh: 520 questionnaire records with age, gender and 14 yes/no symptoms. Its hidden problem is that 269 rows, more than half, are exact duplicates. I removed them before splitting, leaving 251 unique records, 69 % diabetic. The datasets have different features and populations, so they are analysed separately and never merged.</a:t>
            </a:r>
          </a:p>
        </p:txBody>
      </p:sp>
      <p:sp>
        <p:nvSpPr>
          <p:cNvPr id="173" name="Google Shape;17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diagram is the backbone of the project; I followed it once for each dataset. Data cleaning means the zero-to-NaN step for Pima and duplicate removal for the Early Stage data; transformation is imputation, scaling, encoding and, for Pima, SMOTE; interpretation is feature importance and SHAP.</a:t>
            </a:r>
          </a:p>
        </p:txBody>
      </p:sp>
      <p:sp>
        <p:nvSpPr>
          <p:cNvPr id="197" name="Google Shape;19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For Pima, glucose separates the classes best: median 140 versus 107, correlation 0.49, but the distributions overlap. For the Early Stage data, I used the unique records; the classic symptoms polyuria and polydipsia, excessive urination and thirst, are reported by about 70 % of diabetic people but only 5 to 6 % of non-diabetic people. Several symptoms separate the classes strongly, so this dataset should be easier to predict. These are associations, not causes.</a:t>
            </a:r>
          </a:p>
        </p:txBody>
      </p:sp>
      <p:sp>
        <p:nvSpPr>
          <p:cNvPr id="208" name="Google Shape;20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key idea is leakage prevention. For both datasets I split first; every step that learns from data, such as medians, scaling, one-hot encoding and SMOTE, is fitted inside a pipeline on the training split only. For Pima, SMOTE balanced the training data and raised logistic regression's cross-validated recall from 0.57 to 0.72. For the Early Stage data I did not use SMOTE, because it would create impossible values like 0.37 for a yes/no answer. I tested class weights with cross-validation on the training data, and they lowered recall (0.878 vs 0.907) because there the minority class is the non-diabetic class, so I used no re-weighting.</a:t>
            </a:r>
          </a:p>
        </p:txBody>
      </p:sp>
      <p:sp>
        <p:nvSpPr>
          <p:cNvPr id="233" name="Google Shape;23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I compared five models from different families, from simple to complex, with the same settings on both datasets: logistic regression, KNN with k = 15, a depth-5 decision tree, a 300-tree random forest and a 200-tree XGBoost. Every model is evaluated with accuracy, precision, recall, F1 and ROC-AUC, using 5-fold cross-validation on the training data and one evaluation on the untouched test set. Recall matters most for screening because a false negative is a missed diabetic person. The final model is chosen with one rule: recall at least 0.70 in both cross-validation and the test set, then the best average of the five metrics.</a:t>
            </a:r>
          </a:p>
        </p:txBody>
      </p:sp>
      <p:sp>
        <p:nvSpPr>
          <p:cNvPr id="265" name="Google Shape;26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Here are the same five models on both datasets. The Early Stage dataset is clearly easier: average test ROC-AUC 0.94 versus 0.80, because its symptoms are strongly tied to the class, while Pima's clinical measurements overlap more. The models behave consistently: the same rule selects Random Forest on both, the ensembles and logistic regression lead in cross-validated ROC-AUC on both, and the single decision tree is last on both. KNN is the least consistent. If I had kept the duplicates, accuracy would have looked like 97 % instead of 90 %. The datasets differ in population, country, period and features, so this compares model behaviour, not which data source is better.</a:t>
            </a:r>
          </a:p>
        </p:txBody>
      </p:sp>
      <p:sp>
        <p:nvSpPr>
          <p:cNvPr id="301" name="Google Shape;3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For Pima, no model wins every metric. XGBoost has the best test AUC, but its cross-validated recall is below 0.70. Logistic Regression is best in cross-validation but worst on test recall. Random Forest is consistently first or second in both evaluations and meets the recall rule: it catches 40 of 54 diabetic patients, recall 0.741, ROC-AUC 0.809, cross-validated 0.829. The chart is a native PowerPoint chart, so values can be read on hover.</a:t>
            </a:r>
          </a:p>
        </p:txBody>
      </p:sp>
      <p:sp>
        <p:nvSpPr>
          <p:cNvPr id="341" name="Google Shape;34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On the Early Stage dataset all five models reach a ROC-AUC above 0.92. With the same selection rule, Random Forest is selected again: it catches 32 of 35 diabetic records (recall 0.914) with only 2 false alarms, ROC-AUC 0.964, cross-validated 0.977. XGBoost is a close second; KNN fails the recall rule. The test set has only 51 records, so one record changes recall by almost 3 points.</a:t>
            </a:r>
          </a:p>
        </p:txBody>
      </p:sp>
      <p:sp>
        <p:nvSpPr>
          <p:cNvPr id="359" name="Google Shape;35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In the Pima SHAP plot each dot is a test patient; red means a high value and dots on the right push toward diabetes. High glucose raises the predicted risk by up to about 30 points, followed by BMI and age. For the Early Stage model, polyuria and polydipsia have by far the largest SHAP values, and male gender pushes toward no diabetes in this sample. In both datasets the strongest predictors are the ones most directly linked to high blood sugar. SHAP explains how the model uses the data, not medical causation.</a:t>
            </a:r>
          </a:p>
        </p:txBody>
      </p:sp>
      <p:sp>
        <p:nvSpPr>
          <p:cNvPr id="395" name="Google Shape;39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To conclude: on both datasets routine information carries real predictive signal, and Random Forest gave the best balance of catching diabetic people and avoiding false alarms: ROC-AUC 0.809 on Pima and 0.964 on the Early Stage data. The symptom dataset is easier, but it is small, hospital-based and self-reported, and Pima is historical with many imputed values; neither model is externally validated. Before any real use, the models would need external validation, calibration and a carefully chosen threshold. Thank you, I'm happy to take questions.</a:t>
            </a:r>
          </a:p>
        </p:txBody>
      </p:sp>
      <p:sp>
        <p:nvSpPr>
          <p:cNvPr id="409" name="Google Shape;40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These are the main references: the original Pima study, the paper that introduced the Early Stage dataset and its UCI record, a recent SHAP study on the same symptom data, and the methods and libraries I used. The complete list is in the report.</a:t>
            </a:r>
          </a:p>
        </p:txBody>
      </p:sp>
      <p:sp>
        <p:nvSpPr>
          <p:cNvPr id="679" name="Google Shape;67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chemeClr val="dk2"/>
        </a:solidFill>
      </p:bgPr>
    </p:bg>
    <p:spTree>
      <p:nvGrpSpPr>
        <p:cNvPr id="11" name="Shape 11"/>
        <p:cNvGrpSpPr/>
        <p:nvPr/>
      </p:nvGrpSpPr>
      <p:grpSpPr>
        <a:xfrm>
          <a:off x="0" y="0"/>
          <a:ext cx="0" cy="0"/>
          <a:chOff x="0" y="0"/>
          <a:chExt cx="0" cy="0"/>
        </a:xfrm>
      </p:grpSpPr>
      <p:sp>
        <p:nvSpPr>
          <p:cNvPr id="12" name="Google Shape;12;p24"/>
          <p:cNvSpPr txBox="1"/>
          <p:nvPr>
            <p:ph type="title"/>
          </p:nvPr>
        </p:nvSpPr>
        <p:spPr>
          <a:xfrm>
            <a:off x="640080" y="548640"/>
            <a:ext cx="7315200" cy="1737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000"/>
              <a:buFont typeface="Cambria"/>
              <a:buNone/>
              <a:defRPr b="1" i="0" sz="40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3" name="Shape 13"/>
        <p:cNvGrpSpPr/>
        <p:nvPr/>
      </p:nvGrpSpPr>
      <p:grpSpPr>
        <a:xfrm>
          <a:off x="0" y="0"/>
          <a:ext cx="0" cy="0"/>
          <a:chOff x="0" y="0"/>
          <a:chExt cx="0" cy="0"/>
        </a:xfrm>
      </p:grpSpPr>
      <p:sp>
        <p:nvSpPr>
          <p:cNvPr id="14" name="Google Shape;14;p25"/>
          <p:cNvSpPr/>
          <p:nvPr/>
        </p:nvSpPr>
        <p:spPr>
          <a:xfrm>
            <a:off x="548640" y="6382512"/>
            <a:ext cx="4206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Diabetes Onset Prediction  |  Hardik Jain (PRN: 23070521056)</a:t>
            </a:r>
            <a:endParaRPr b="0" i="0" sz="1000" u="none" cap="none" strike="noStrike">
              <a:solidFill>
                <a:schemeClr val="dk1"/>
              </a:solidFill>
              <a:latin typeface="Calibri"/>
              <a:ea typeface="Calibri"/>
              <a:cs typeface="Calibri"/>
              <a:sym typeface="Calibri"/>
            </a:endParaRPr>
          </a:p>
        </p:txBody>
      </p:sp>
      <p:sp>
        <p:nvSpPr>
          <p:cNvPr id="15" name="Google Shape;15;p25"/>
          <p:cNvSpPr txBox="1"/>
          <p:nvPr>
            <p:ph type="title"/>
          </p:nvPr>
        </p:nvSpPr>
        <p:spPr>
          <a:xfrm>
            <a:off x="548640" y="347472"/>
            <a:ext cx="11064240" cy="731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200"/>
              <a:buFont typeface="Cambria"/>
              <a:buNone/>
              <a:defRPr b="1" i="0" sz="32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25"/>
          <p:cNvSpPr txBox="1"/>
          <p:nvPr>
            <p:ph idx="12" type="sldNum"/>
          </p:nvPr>
        </p:nvSpPr>
        <p:spPr>
          <a:xfrm>
            <a:off x="8732520" y="6382512"/>
            <a:ext cx="502920" cy="292608"/>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5"/>
                </a:solidFill>
                <a:latin typeface="Calibri"/>
                <a:ea typeface="Calibri"/>
                <a:cs typeface="Calibri"/>
                <a:sym typeface="Calibri"/>
              </a:defRPr>
            </a:lvl1pPr>
            <a:lvl2pPr indent="0" lvl="1" marL="0" marR="0" algn="r">
              <a:spcBef>
                <a:spcPts val="0"/>
              </a:spcBef>
              <a:buNone/>
              <a:defRPr b="0" i="0" sz="1000" u="none" cap="none" strike="noStrike">
                <a:solidFill>
                  <a:schemeClr val="accent5"/>
                </a:solidFill>
                <a:latin typeface="Calibri"/>
                <a:ea typeface="Calibri"/>
                <a:cs typeface="Calibri"/>
                <a:sym typeface="Calibri"/>
              </a:defRPr>
            </a:lvl2pPr>
            <a:lvl3pPr indent="0" lvl="2" marL="0" marR="0" algn="r">
              <a:spcBef>
                <a:spcPts val="0"/>
              </a:spcBef>
              <a:buNone/>
              <a:defRPr b="0" i="0" sz="1000" u="none" cap="none" strike="noStrike">
                <a:solidFill>
                  <a:schemeClr val="accent5"/>
                </a:solidFill>
                <a:latin typeface="Calibri"/>
                <a:ea typeface="Calibri"/>
                <a:cs typeface="Calibri"/>
                <a:sym typeface="Calibri"/>
              </a:defRPr>
            </a:lvl3pPr>
            <a:lvl4pPr indent="0" lvl="3" marL="0" marR="0" algn="r">
              <a:spcBef>
                <a:spcPts val="0"/>
              </a:spcBef>
              <a:buNone/>
              <a:defRPr b="0" i="0" sz="1000" u="none" cap="none" strike="noStrike">
                <a:solidFill>
                  <a:schemeClr val="accent5"/>
                </a:solidFill>
                <a:latin typeface="Calibri"/>
                <a:ea typeface="Calibri"/>
                <a:cs typeface="Calibri"/>
                <a:sym typeface="Calibri"/>
              </a:defRPr>
            </a:lvl4pPr>
            <a:lvl5pPr indent="0" lvl="4" marL="0" marR="0" algn="r">
              <a:spcBef>
                <a:spcPts val="0"/>
              </a:spcBef>
              <a:buNone/>
              <a:defRPr b="0" i="0" sz="1000" u="none" cap="none" strike="noStrike">
                <a:solidFill>
                  <a:schemeClr val="accent5"/>
                </a:solidFill>
                <a:latin typeface="Calibri"/>
                <a:ea typeface="Calibri"/>
                <a:cs typeface="Calibri"/>
                <a:sym typeface="Calibri"/>
              </a:defRPr>
            </a:lvl5pPr>
            <a:lvl6pPr indent="0" lvl="5" marL="0" marR="0" algn="r">
              <a:spcBef>
                <a:spcPts val="0"/>
              </a:spcBef>
              <a:buNone/>
              <a:defRPr b="0" i="0" sz="1000" u="none" cap="none" strike="noStrike">
                <a:solidFill>
                  <a:schemeClr val="accent5"/>
                </a:solidFill>
                <a:latin typeface="Calibri"/>
                <a:ea typeface="Calibri"/>
                <a:cs typeface="Calibri"/>
                <a:sym typeface="Calibri"/>
              </a:defRPr>
            </a:lvl6pPr>
            <a:lvl7pPr indent="0" lvl="6" marL="0" marR="0" algn="r">
              <a:spcBef>
                <a:spcPts val="0"/>
              </a:spcBef>
              <a:buNone/>
              <a:defRPr b="0" i="0" sz="1000" u="none" cap="none" strike="noStrike">
                <a:solidFill>
                  <a:schemeClr val="accent5"/>
                </a:solidFill>
                <a:latin typeface="Calibri"/>
                <a:ea typeface="Calibri"/>
                <a:cs typeface="Calibri"/>
                <a:sym typeface="Calibri"/>
              </a:defRPr>
            </a:lvl7pPr>
            <a:lvl8pPr indent="0" lvl="7" marL="0" marR="0" algn="r">
              <a:spcBef>
                <a:spcPts val="0"/>
              </a:spcBef>
              <a:buNone/>
              <a:defRPr b="0" i="0" sz="1000" u="none" cap="none" strike="noStrike">
                <a:solidFill>
                  <a:schemeClr val="accent5"/>
                </a:solidFill>
                <a:latin typeface="Calibri"/>
                <a:ea typeface="Calibri"/>
                <a:cs typeface="Calibri"/>
                <a:sym typeface="Calibri"/>
              </a:defRPr>
            </a:lvl8pPr>
            <a:lvl9pPr indent="0" lvl="8" marL="0" marR="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23"/>
          <p:cNvSpPr txBox="1"/>
          <p:nvPr>
            <p:ph idx="12" type="sldNum"/>
          </p:nvPr>
        </p:nvSpPr>
        <p:spPr>
          <a:xfrm>
            <a:off x="8732520" y="6382512"/>
            <a:ext cx="502920" cy="29260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5"/>
                </a:solidFill>
                <a:latin typeface="Calibri"/>
                <a:ea typeface="Calibri"/>
                <a:cs typeface="Calibri"/>
                <a:sym typeface="Calibri"/>
              </a:defRPr>
            </a:lvl1pPr>
            <a:lvl2pPr indent="0" lvl="1" marL="0" marR="0" rtl="0" algn="r">
              <a:spcBef>
                <a:spcPts val="0"/>
              </a:spcBef>
              <a:buNone/>
              <a:defRPr b="0" i="0" sz="1000" u="none" cap="none" strike="noStrike">
                <a:solidFill>
                  <a:schemeClr val="accent5"/>
                </a:solidFill>
                <a:latin typeface="Calibri"/>
                <a:ea typeface="Calibri"/>
                <a:cs typeface="Calibri"/>
                <a:sym typeface="Calibri"/>
              </a:defRPr>
            </a:lvl2pPr>
            <a:lvl3pPr indent="0" lvl="2" marL="0" marR="0" rtl="0" algn="r">
              <a:spcBef>
                <a:spcPts val="0"/>
              </a:spcBef>
              <a:buNone/>
              <a:defRPr b="0" i="0" sz="1000" u="none" cap="none" strike="noStrike">
                <a:solidFill>
                  <a:schemeClr val="accent5"/>
                </a:solidFill>
                <a:latin typeface="Calibri"/>
                <a:ea typeface="Calibri"/>
                <a:cs typeface="Calibri"/>
                <a:sym typeface="Calibri"/>
              </a:defRPr>
            </a:lvl3pPr>
            <a:lvl4pPr indent="0" lvl="3" marL="0" marR="0" rtl="0" algn="r">
              <a:spcBef>
                <a:spcPts val="0"/>
              </a:spcBef>
              <a:buNone/>
              <a:defRPr b="0" i="0" sz="1000" u="none" cap="none" strike="noStrike">
                <a:solidFill>
                  <a:schemeClr val="accent5"/>
                </a:solidFill>
                <a:latin typeface="Calibri"/>
                <a:ea typeface="Calibri"/>
                <a:cs typeface="Calibri"/>
                <a:sym typeface="Calibri"/>
              </a:defRPr>
            </a:lvl4pPr>
            <a:lvl5pPr indent="0" lvl="4" marL="0" marR="0" rtl="0" algn="r">
              <a:spcBef>
                <a:spcPts val="0"/>
              </a:spcBef>
              <a:buNone/>
              <a:defRPr b="0" i="0" sz="1000" u="none" cap="none" strike="noStrike">
                <a:solidFill>
                  <a:schemeClr val="accent5"/>
                </a:solidFill>
                <a:latin typeface="Calibri"/>
                <a:ea typeface="Calibri"/>
                <a:cs typeface="Calibri"/>
                <a:sym typeface="Calibri"/>
              </a:defRPr>
            </a:lvl5pPr>
            <a:lvl6pPr indent="0" lvl="5" marL="0" marR="0" rtl="0" algn="r">
              <a:spcBef>
                <a:spcPts val="0"/>
              </a:spcBef>
              <a:buNone/>
              <a:defRPr b="0" i="0" sz="1000" u="none" cap="none" strike="noStrike">
                <a:solidFill>
                  <a:schemeClr val="accent5"/>
                </a:solidFill>
                <a:latin typeface="Calibri"/>
                <a:ea typeface="Calibri"/>
                <a:cs typeface="Calibri"/>
                <a:sym typeface="Calibri"/>
              </a:defRPr>
            </a:lvl6pPr>
            <a:lvl7pPr indent="0" lvl="6" marL="0" marR="0" rtl="0" algn="r">
              <a:spcBef>
                <a:spcPts val="0"/>
              </a:spcBef>
              <a:buNone/>
              <a:defRPr b="0" i="0" sz="1000" u="none" cap="none" strike="noStrike">
                <a:solidFill>
                  <a:schemeClr val="accent5"/>
                </a:solidFill>
                <a:latin typeface="Calibri"/>
                <a:ea typeface="Calibri"/>
                <a:cs typeface="Calibri"/>
                <a:sym typeface="Calibri"/>
              </a:defRPr>
            </a:lvl7pPr>
            <a:lvl8pPr indent="0" lvl="7" marL="0" marR="0" rtl="0" algn="r">
              <a:spcBef>
                <a:spcPts val="0"/>
              </a:spcBef>
              <a:buNone/>
              <a:defRPr b="0" i="0" sz="1000" u="none" cap="none" strike="noStrike">
                <a:solidFill>
                  <a:schemeClr val="accent5"/>
                </a:solidFill>
                <a:latin typeface="Calibri"/>
                <a:ea typeface="Calibri"/>
                <a:cs typeface="Calibri"/>
                <a:sym typeface="Calibri"/>
              </a:defRPr>
            </a:lvl8pPr>
            <a:lvl9pPr indent="0" lvl="8" marL="0" marR="0" rtl="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7"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6" Type="http://schemas.openxmlformats.org/officeDocument/2006/relationships/image" Target="../media/image7.png"/><Relationship Id="rId9" Type="http://schemas.openxmlformats.org/officeDocument/2006/relationships/slide" Target="slide3.xml"/><Relationship Id="rId11" Type="http://schemas.openxmlformats.org/officeDocument/2006/relationships/image" Target="../media/image6.png"/><Relationship Id="rId13" Type="http://schemas.openxmlformats.org/officeDocument/2006/relationships/slide" Target="slide4.xml"/><Relationship Id="rId16" Type="http://schemas.openxmlformats.org/officeDocument/2006/relationships/image" Target="../media/image8.png"/><Relationship Id="rId20" Type="http://schemas.openxmlformats.org/officeDocument/2006/relationships/slide" Target="slide5.xml"/><Relationship Id="rId21" Type="http://schemas.openxmlformats.org/officeDocument/2006/relationships/image" Target="../media/image12.png"/><Relationship Id="rId24" Type="http://schemas.openxmlformats.org/officeDocument/2006/relationships/slide" Target="slide6.xml"/><Relationship Id="rId26" Type="http://schemas.openxmlformats.org/officeDocument/2006/relationships/image" Target="../media/image11.png"/><Relationship Id="rId30" Type="http://schemas.openxmlformats.org/officeDocument/2006/relationships/slide" Target="slide7.xml"/><Relationship Id="rId31" Type="http://schemas.openxmlformats.org/officeDocument/2006/relationships/image" Target="../media/image3.png"/><Relationship Id="rId33" Type="http://schemas.openxmlformats.org/officeDocument/2006/relationships/slide" Target="slide8.xml"/><Relationship Id="rId36" Type="http://schemas.openxmlformats.org/officeDocument/2006/relationships/image" Target="../media/image1.png"/><Relationship Id="rId41" Type="http://schemas.openxmlformats.org/officeDocument/2006/relationships/image" Target="../media/image15.png"/><Relationship Id="rId42" Type="http://schemas.openxmlformats.org/officeDocument/2006/relationships/slide" Target="slide11.xml"/><Relationship Id="rId44" Type="http://schemas.openxmlformats.org/officeDocument/2006/relationships/slide" Target="slide9.xml"/><Relationship Id="rId46" Type="http://schemas.openxmlformats.org/officeDocument/2006/relationships/image" Target="../media/image2.png"/><Relationship Id="rId48" Type="http://schemas.openxmlformats.org/officeDocument/2006/relationships/slide" Target="slide10.xml"/><Relationship Id="rId51" Type="http://schemas.openxmlformats.org/officeDocument/2006/relationships/image" Target="../media/image4.png"/><Relationship Id="rId53" Type="http://schemas.openxmlformats.org/officeDocument/2006/relationships/slide" Target="slide12.xml"/><Relationship Id="rId56" Type="http://schemas.openxmlformats.org/officeDocument/2006/relationships/image" Target="../media/image5.png"/><Relationship Id="rId61" Type="http://schemas.openxmlformats.org/officeDocument/2006/relationships/image" Target="../media/image9.png"/><Relationship Id="rId62" Type="http://schemas.openxmlformats.org/officeDocument/2006/relationships/slide" Target="slide13.xml"/><Relationship Id="rId66" Type="http://schemas.openxmlformats.org/officeDocument/2006/relationships/slide" Target="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 Id="rId7"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23.png"/><Relationship Id="rId7" Type="http://schemas.openxmlformats.org/officeDocument/2006/relationships/image" Target="../media/image17.png"/><Relationship Id="rId12"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6" Type="http://schemas.openxmlformats.org/officeDocument/2006/relationships/image" Target="../media/image25.png"/><Relationship Id="rId11" Type="http://schemas.openxmlformats.org/officeDocument/2006/relationships/image" Target="../media/image24.png"/><Relationship Id="rId16" Type="http://schemas.openxmlformats.org/officeDocument/2006/relationships/image" Target="../media/image28.png"/><Relationship Id="rId21" Type="http://schemas.openxmlformats.org/officeDocument/2006/relationships/image" Target="../media/image26.png"/><Relationship Id="rId26"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chart" Target="../charts/chart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5.png"/><Relationship Id="rId7" Type="http://schemas.openxmlformats.org/officeDocument/2006/relationships/image" Target="../media/image25.png"/><Relationship Id="rId13" Type="http://schemas.openxmlformats.org/officeDocument/2006/relationships/image" Target="../media/image24.png"/><Relationship Id="rId19" Type="http://schemas.openxmlformats.org/officeDocument/2006/relationships/image" Target="../media/image28.png"/><Relationship Id="rId25" Type="http://schemas.openxmlformats.org/officeDocument/2006/relationships/image" Target="../media/image26.png"/><Relationship Id="rId31" Type="http://schemas.openxmlformats.org/officeDocument/2006/relationships/image" Target="../media/image27.png"/><Relationship Id="rId37"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6" Type="http://schemas.openxmlformats.org/officeDocument/2006/relationships/chart" Target="../charts/chart6.xml"/><Relationship Id="rId7" Type="http://schemas.openxmlformats.org/officeDocument/2006/relationships/chart" Target="../charts/char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8.png"/><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640080" y="548640"/>
            <a:ext cx="7315200" cy="1737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4000"/>
              <a:buFont typeface="Cambria"/>
              <a:buNone/>
            </a:pPr>
            <a:r>
              <a:rPr b="1" lang="en-US" sz="4000">
                <a:solidFill>
                  <a:schemeClr val="lt1"/>
                </a:solidFill>
                <a:latin typeface="Cambria"/>
                <a:ea typeface="Cambria"/>
                <a:cs typeface="Cambria"/>
                <a:sym typeface="Cambria"/>
              </a:rPr>
              <a:t>Diabetes Onset Prediction</a:t>
            </a:r>
            <a:endParaRPr sz="4000"/>
          </a:p>
          <a:p>
            <a:pPr indent="0" lvl="0" marL="0" rtl="0" algn="l">
              <a:spcBef>
                <a:spcPts val="0"/>
              </a:spcBef>
              <a:spcAft>
                <a:spcPts val="0"/>
              </a:spcAft>
              <a:buClr>
                <a:schemeClr val="accent3"/>
              </a:buClr>
              <a:buSzPts val="4000"/>
              <a:buFont typeface="Cambria"/>
              <a:buNone/>
            </a:pPr>
            <a:r>
              <a:rPr b="1" lang="en-US" sz="4000">
                <a:solidFill>
                  <a:schemeClr val="accent3"/>
                </a:solidFill>
                <a:latin typeface="Cambria"/>
                <a:ea typeface="Cambria"/>
                <a:cs typeface="Cambria"/>
                <a:sym typeface="Cambria"/>
              </a:rPr>
              <a:t>Using Machine Learning</a:t>
            </a:r>
            <a:endParaRPr sz="4000"/>
          </a:p>
        </p:txBody>
      </p:sp>
      <p:sp>
        <p:nvSpPr>
          <p:cNvPr id="24" name="Google Shape;24;p1"/>
          <p:cNvSpPr txBox="1"/>
          <p:nvPr/>
        </p:nvSpPr>
        <p:spPr>
          <a:xfrm>
            <a:off x="640080" y="2377440"/>
            <a:ext cx="69494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800"/>
              <a:buFont typeface="Calibri"/>
              <a:buNone/>
            </a:pPr>
            <a:r>
              <a:rPr b="0" i="1" lang="en-US" sz="1800" u="none" cap="none" strike="noStrike">
                <a:solidFill>
                  <a:schemeClr val="lt2"/>
                </a:solidFill>
                <a:latin typeface="Calibri"/>
                <a:ea typeface="Calibri"/>
                <a:cs typeface="Calibri"/>
                <a:sym typeface="Calibri"/>
              </a:rPr>
              <a:t>An end-to-end Predictive Analytics / KDD project on two independent diabetes datasets: Pima Indians (clinical measurements) and UCI Early Stage (symptoms)</a:t>
            </a:r>
            <a:endParaRPr b="0" i="0" sz="1800" u="none" cap="none" strike="noStrike">
              <a:solidFill>
                <a:schemeClr val="dk1"/>
              </a:solidFill>
              <a:latin typeface="Calibri"/>
              <a:ea typeface="Calibri"/>
              <a:cs typeface="Calibri"/>
              <a:sym typeface="Calibri"/>
            </a:endParaRPr>
          </a:p>
        </p:txBody>
      </p:sp>
      <p:sp>
        <p:nvSpPr>
          <p:cNvPr id="25" name="Google Shape;25;p1"/>
          <p:cNvSpPr txBox="1"/>
          <p:nvPr/>
        </p:nvSpPr>
        <p:spPr>
          <a:xfrm>
            <a:off x="640080" y="3337560"/>
            <a:ext cx="69494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Hardik Jain</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PRN:</a:t>
            </a:r>
            <a:r>
              <a:rPr b="0" i="0" lang="en-US" sz="1600" u="none" cap="none" strike="noStrike">
                <a:solidFill>
                  <a:schemeClr val="lt1"/>
                </a:solidFill>
                <a:latin typeface="Calibri"/>
                <a:ea typeface="Calibri"/>
                <a:cs typeface="Calibri"/>
                <a:sym typeface="Calibri"/>
              </a:rPr>
              <a:t> 23070521056  |  Predictive Analytics (CA-3)</a:t>
            </a:r>
            <a:endParaRPr b="0" i="0" sz="1600" u="none" cap="none" strike="noStrike">
              <a:solidFill>
                <a:schemeClr val="dk1"/>
              </a:solidFill>
              <a:latin typeface="Calibri"/>
              <a:ea typeface="Calibri"/>
              <a:cs typeface="Calibri"/>
              <a:sym typeface="Calibri"/>
            </a:endParaRPr>
          </a:p>
        </p:txBody>
      </p:sp>
      <p:sp>
        <p:nvSpPr>
          <p:cNvPr id="30" name="Google Shape;30;p1"/>
          <p:cNvSpPr txBox="1"/>
          <p:nvPr/>
        </p:nvSpPr>
        <p:spPr>
          <a:xfrm>
            <a:off x="640080" y="6172200"/>
            <a:ext cx="7315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1" lang="en-US" sz="1100" u="none" cap="none" strike="noStrike">
                <a:solidFill>
                  <a:schemeClr val="accent5"/>
                </a:solidFill>
                <a:latin typeface="Calibri"/>
                <a:ea typeface="Calibri"/>
                <a:cs typeface="Calibri"/>
                <a:sym typeface="Calibri"/>
              </a:rPr>
              <a:t>Academic project: a screening-support model, not a medical diagnostic tool.</a:t>
            </a:r>
            <a:endParaRPr b="0" i="0" sz="1100" u="none" cap="none" strike="noStrike">
              <a:solidFill>
                <a:schemeClr val="dk1"/>
              </a:solidFill>
              <a:latin typeface="Calibri"/>
              <a:ea typeface="Calibri"/>
              <a:cs typeface="Calibri"/>
              <a:sym typeface="Calibri"/>
            </a:endParaRPr>
          </a:p>
        </p:txBody>
      </p:sp>
      <p:sp>
        <p:nvSpPr>
          <p:cNvPr id="31" name="Google Shape;31;p1"/>
          <p:cNvSpPr/>
          <p:nvPr/>
        </p:nvSpPr>
        <p:spPr>
          <a:xfrm>
            <a:off x="8732520" y="822960"/>
            <a:ext cx="2377440" cy="237744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32" name="Google Shape;32;p1"/>
          <p:cNvPicPr preferRelativeResize="0"/>
          <p:nvPr/>
        </p:nvPicPr>
        <p:blipFill rotWithShape="1">
          <a:blip r:embed="rId7">
            <a:alphaModFix/>
          </a:blip>
          <a:srcRect b="0" l="0" r="0" t="0"/>
          <a:stretch/>
        </p:blipFill>
        <p:spPr>
          <a:xfrm>
            <a:off x="9303106" y="1393546"/>
            <a:ext cx="1236269" cy="1236269"/>
          </a:xfrm>
          <a:prstGeom prst="rect">
            <a:avLst/>
          </a:prstGeom>
          <a:noFill/>
          <a:ln>
            <a:noFill/>
          </a:ln>
        </p:spPr>
      </p:pic>
      <p:sp>
        <p:nvSpPr>
          <p:cNvPr id="33" name="Google Shape;33;p1"/>
          <p:cNvSpPr/>
          <p:nvPr/>
        </p:nvSpPr>
        <p:spPr>
          <a:xfrm>
            <a:off x="8366760" y="3611880"/>
            <a:ext cx="3108960" cy="731520"/>
          </a:xfrm>
          <a:prstGeom prst="roundRect">
            <a:avLst>
              <a:gd fmla="val 10000" name="adj"/>
            </a:avLst>
          </a:prstGeom>
          <a:solidFill>
            <a:srgbClr val="134E5C"/>
          </a:solidFill>
          <a:ln cap="flat" cmpd="sng" w="12700">
            <a:solidFill>
              <a:srgbClr val="134E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txBox="1"/>
          <p:nvPr/>
        </p:nvSpPr>
        <p:spPr>
          <a:xfrm>
            <a:off x="8549640" y="3703320"/>
            <a:ext cx="1234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2600"/>
              <a:buFont typeface="Cambria"/>
              <a:buNone/>
            </a:pPr>
            <a:r>
              <a:rPr b="1" i="0" lang="en-US" sz="2600" u="none" cap="none" strike="noStrike">
                <a:solidFill>
                  <a:schemeClr val="accent3"/>
                </a:solidFill>
                <a:latin typeface="Cambria"/>
                <a:ea typeface="Cambria"/>
                <a:cs typeface="Cambria"/>
                <a:sym typeface="Cambria"/>
              </a:rPr>
              <a:t>2</a:t>
            </a:r>
            <a:endParaRPr b="0" i="0" sz="2600" u="none" cap="none" strike="noStrike">
              <a:solidFill>
                <a:schemeClr val="dk1"/>
              </a:solidFill>
              <a:latin typeface="Calibri"/>
              <a:ea typeface="Calibri"/>
              <a:cs typeface="Calibri"/>
              <a:sym typeface="Calibri"/>
            </a:endParaRPr>
          </a:p>
        </p:txBody>
      </p:sp>
      <p:sp>
        <p:nvSpPr>
          <p:cNvPr id="35" name="Google Shape;35;p1"/>
          <p:cNvSpPr txBox="1"/>
          <p:nvPr/>
        </p:nvSpPr>
        <p:spPr>
          <a:xfrm>
            <a:off x="9829800" y="3703320"/>
            <a:ext cx="1554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datasets, modelled separately</a:t>
            </a:r>
            <a:endParaRPr b="0" i="0" sz="1400" u="none" cap="none" strike="noStrike">
              <a:solidFill>
                <a:schemeClr val="dk1"/>
              </a:solidFill>
              <a:latin typeface="Calibri"/>
              <a:ea typeface="Calibri"/>
              <a:cs typeface="Calibri"/>
              <a:sym typeface="Calibri"/>
            </a:endParaRPr>
          </a:p>
        </p:txBody>
      </p:sp>
      <p:sp>
        <p:nvSpPr>
          <p:cNvPr id="36" name="Google Shape;36;p1"/>
          <p:cNvSpPr/>
          <p:nvPr/>
        </p:nvSpPr>
        <p:spPr>
          <a:xfrm>
            <a:off x="8366760" y="4480560"/>
            <a:ext cx="3108960" cy="731520"/>
          </a:xfrm>
          <a:prstGeom prst="roundRect">
            <a:avLst>
              <a:gd fmla="val 10000" name="adj"/>
            </a:avLst>
          </a:prstGeom>
          <a:solidFill>
            <a:srgbClr val="134E5C"/>
          </a:solidFill>
          <a:ln cap="flat" cmpd="sng" w="12700">
            <a:solidFill>
              <a:srgbClr val="134E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txBox="1"/>
          <p:nvPr/>
        </p:nvSpPr>
        <p:spPr>
          <a:xfrm>
            <a:off x="8549640" y="4572000"/>
            <a:ext cx="1234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2600"/>
              <a:buFont typeface="Cambria"/>
              <a:buNone/>
            </a:pPr>
            <a:r>
              <a:rPr b="1" i="0" lang="en-US" sz="2600" u="none" cap="none" strike="noStrike">
                <a:solidFill>
                  <a:schemeClr val="accent3"/>
                </a:solidFill>
                <a:latin typeface="Cambria"/>
                <a:ea typeface="Cambria"/>
                <a:cs typeface="Cambria"/>
                <a:sym typeface="Cambria"/>
              </a:rPr>
              <a:t>5</a:t>
            </a:r>
            <a:endParaRPr b="0" i="0" sz="2600" u="none" cap="none" strike="noStrike">
              <a:solidFill>
                <a:schemeClr val="dk1"/>
              </a:solidFill>
              <a:latin typeface="Calibri"/>
              <a:ea typeface="Calibri"/>
              <a:cs typeface="Calibri"/>
              <a:sym typeface="Calibri"/>
            </a:endParaRPr>
          </a:p>
        </p:txBody>
      </p:sp>
      <p:sp>
        <p:nvSpPr>
          <p:cNvPr id="38" name="Google Shape;38;p1"/>
          <p:cNvSpPr txBox="1"/>
          <p:nvPr/>
        </p:nvSpPr>
        <p:spPr>
          <a:xfrm>
            <a:off x="9829800" y="4572000"/>
            <a:ext cx="1554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models compared</a:t>
            </a:r>
            <a:endParaRPr b="0" i="0" sz="1400" u="none" cap="none" strike="noStrike">
              <a:solidFill>
                <a:schemeClr val="dk1"/>
              </a:solidFill>
              <a:latin typeface="Calibri"/>
              <a:ea typeface="Calibri"/>
              <a:cs typeface="Calibri"/>
              <a:sym typeface="Calibri"/>
            </a:endParaRPr>
          </a:p>
        </p:txBody>
      </p:sp>
      <p:sp>
        <p:nvSpPr>
          <p:cNvPr id="39" name="Google Shape;39;p1"/>
          <p:cNvSpPr/>
          <p:nvPr/>
        </p:nvSpPr>
        <p:spPr>
          <a:xfrm>
            <a:off x="8366760" y="5349240"/>
            <a:ext cx="3108960" cy="731520"/>
          </a:xfrm>
          <a:prstGeom prst="roundRect">
            <a:avLst>
              <a:gd fmla="val 10000" name="adj"/>
            </a:avLst>
          </a:prstGeom>
          <a:solidFill>
            <a:srgbClr val="134E5C"/>
          </a:solidFill>
          <a:ln cap="flat" cmpd="sng" w="12700">
            <a:solidFill>
              <a:srgbClr val="134E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txBox="1"/>
          <p:nvPr/>
        </p:nvSpPr>
        <p:spPr>
          <a:xfrm>
            <a:off x="8549640" y="5440680"/>
            <a:ext cx="1234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2600"/>
              <a:buFont typeface="Cambria"/>
              <a:buNone/>
            </a:pPr>
            <a:r>
              <a:rPr b="1" i="0" lang="en-US" sz="2600" u="none" cap="none" strike="noStrike">
                <a:solidFill>
                  <a:schemeClr val="accent3"/>
                </a:solidFill>
                <a:latin typeface="Cambria"/>
                <a:ea typeface="Cambria"/>
                <a:cs typeface="Cambria"/>
                <a:sym typeface="Cambria"/>
              </a:rPr>
              <a:t>RF</a:t>
            </a:r>
            <a:endParaRPr b="0" i="0" sz="2600" u="none" cap="none" strike="noStrike">
              <a:solidFill>
                <a:schemeClr val="dk1"/>
              </a:solidFill>
              <a:latin typeface="Calibri"/>
              <a:ea typeface="Calibri"/>
              <a:cs typeface="Calibri"/>
              <a:sym typeface="Calibri"/>
            </a:endParaRPr>
          </a:p>
        </p:txBody>
      </p:sp>
      <p:sp>
        <p:nvSpPr>
          <p:cNvPr id="41" name="Google Shape;41;p1"/>
          <p:cNvSpPr txBox="1"/>
          <p:nvPr/>
        </p:nvSpPr>
        <p:spPr>
          <a:xfrm>
            <a:off x="9829800" y="5440680"/>
            <a:ext cx="1554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selected on both</a:t>
            </a:r>
            <a:endParaRPr b="0" i="0" sz="14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2"/>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Interactive Agenda: click any topic</a:t>
            </a:r>
            <a:endParaRPr sz="3200"/>
          </a:p>
        </p:txBody>
      </p:sp>
      <p:sp>
        <p:nvSpPr>
          <p:cNvPr id="48" name="Google Shape;48;p2">
            <a:hlinkClick action="ppaction://hlinksldjump" r:id="rId9"/>
          </p:cNvPr>
          <p:cNvSpPr/>
          <p:nvPr/>
        </p:nvSpPr>
        <p:spPr>
          <a:xfrm>
            <a:off x="548640" y="13258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a:hlinkClick action="ppaction://hlinksldjump" r:id="rId9"/>
          </p:cNvPr>
          <p:cNvSpPr/>
          <p:nvPr/>
        </p:nvSpPr>
        <p:spPr>
          <a:xfrm>
            <a:off x="731520" y="16002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50" name="Google Shape;50;p2">
            <a:hlinkClick action="ppaction://hlinksldjump" r:id="rId9"/>
          </p:cNvPr>
          <p:cNvPicPr preferRelativeResize="0"/>
          <p:nvPr/>
        </p:nvPicPr>
        <p:blipFill rotWithShape="1">
          <a:blip r:embed="rId6">
            <a:alphaModFix/>
          </a:blip>
          <a:srcRect b="0" l="0" r="0" t="0"/>
          <a:stretch/>
        </p:blipFill>
        <p:spPr>
          <a:xfrm>
            <a:off x="874166" y="1742846"/>
            <a:ext cx="309067" cy="309067"/>
          </a:xfrm>
          <a:prstGeom prst="rect">
            <a:avLst/>
          </a:prstGeom>
          <a:noFill/>
          <a:ln>
            <a:noFill/>
          </a:ln>
        </p:spPr>
      </p:pic>
      <p:sp>
        <p:nvSpPr>
          <p:cNvPr id="51" name="Google Shape;51;p2">
            <a:hlinkClick action="ppaction://hlinksldjump" r:id="rId9"/>
          </p:cNvPr>
          <p:cNvSpPr/>
          <p:nvPr/>
        </p:nvSpPr>
        <p:spPr>
          <a:xfrm>
            <a:off x="1463040" y="14630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Problem &amp; Objectives</a:t>
            </a:r>
            <a:endParaRPr b="0" i="0" sz="1100" u="none" cap="none" strike="noStrike">
              <a:solidFill>
                <a:schemeClr val="dk1"/>
              </a:solidFill>
              <a:latin typeface="Calibri"/>
              <a:ea typeface="Calibri"/>
              <a:cs typeface="Calibri"/>
              <a:sym typeface="Calibri"/>
            </a:endParaRPr>
          </a:p>
        </p:txBody>
      </p:sp>
      <p:sp>
        <p:nvSpPr>
          <p:cNvPr id="52" name="Google Shape;52;p2">
            <a:hlinkClick action="ppaction://hlinksldjump" r:id="rId13"/>
          </p:cNvPr>
          <p:cNvSpPr/>
          <p:nvPr/>
        </p:nvSpPr>
        <p:spPr>
          <a:xfrm>
            <a:off x="3360420" y="13258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a:hlinkClick action="ppaction://hlinksldjump" r:id="rId13"/>
          </p:cNvPr>
          <p:cNvSpPr/>
          <p:nvPr/>
        </p:nvSpPr>
        <p:spPr>
          <a:xfrm>
            <a:off x="3543300" y="16002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54" name="Google Shape;54;p2">
            <a:hlinkClick action="ppaction://hlinksldjump" r:id="rId13"/>
          </p:cNvPr>
          <p:cNvPicPr preferRelativeResize="0"/>
          <p:nvPr/>
        </p:nvPicPr>
        <p:blipFill rotWithShape="1">
          <a:blip r:embed="rId16">
            <a:alphaModFix/>
          </a:blip>
          <a:srcRect b="0" l="0" r="0" t="0"/>
          <a:stretch/>
        </p:blipFill>
        <p:spPr>
          <a:xfrm>
            <a:off x="3685946" y="1742846"/>
            <a:ext cx="309067" cy="309067"/>
          </a:xfrm>
          <a:prstGeom prst="rect">
            <a:avLst/>
          </a:prstGeom>
          <a:noFill/>
          <a:ln>
            <a:noFill/>
          </a:ln>
        </p:spPr>
      </p:pic>
      <p:sp>
        <p:nvSpPr>
          <p:cNvPr id="55" name="Google Shape;55;p2">
            <a:hlinkClick action="ppaction://hlinksldjump" r:id="rId13"/>
          </p:cNvPr>
          <p:cNvSpPr/>
          <p:nvPr/>
        </p:nvSpPr>
        <p:spPr>
          <a:xfrm>
            <a:off x="4274820" y="14630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Two Datasets</a:t>
            </a:r>
            <a:endParaRPr b="0" i="0" sz="1100" u="none" cap="none" strike="noStrike">
              <a:solidFill>
                <a:schemeClr val="dk1"/>
              </a:solidFill>
              <a:latin typeface="Calibri"/>
              <a:ea typeface="Calibri"/>
              <a:cs typeface="Calibri"/>
              <a:sym typeface="Calibri"/>
            </a:endParaRPr>
          </a:p>
        </p:txBody>
      </p:sp>
      <p:sp>
        <p:nvSpPr>
          <p:cNvPr id="56" name="Google Shape;56;p2">
            <a:hlinkClick action="ppaction://hlinksldjump" r:id="rId20"/>
          </p:cNvPr>
          <p:cNvSpPr/>
          <p:nvPr/>
        </p:nvSpPr>
        <p:spPr>
          <a:xfrm>
            <a:off x="6172200" y="13258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a:hlinkClick action="ppaction://hlinksldjump" r:id="rId20"/>
          </p:cNvPr>
          <p:cNvSpPr/>
          <p:nvPr/>
        </p:nvSpPr>
        <p:spPr>
          <a:xfrm>
            <a:off x="6355080" y="16002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58" name="Google Shape;58;p2">
            <a:hlinkClick action="ppaction://hlinksldjump" r:id="rId20"/>
          </p:cNvPr>
          <p:cNvPicPr preferRelativeResize="0"/>
          <p:nvPr/>
        </p:nvPicPr>
        <p:blipFill rotWithShape="1">
          <a:blip r:embed="rId21">
            <a:alphaModFix/>
          </a:blip>
          <a:srcRect b="0" l="0" r="0" t="0"/>
          <a:stretch/>
        </p:blipFill>
        <p:spPr>
          <a:xfrm>
            <a:off x="6497726" y="1742846"/>
            <a:ext cx="309067" cy="309067"/>
          </a:xfrm>
          <a:prstGeom prst="rect">
            <a:avLst/>
          </a:prstGeom>
          <a:noFill/>
          <a:ln>
            <a:noFill/>
          </a:ln>
        </p:spPr>
      </p:pic>
      <p:sp>
        <p:nvSpPr>
          <p:cNvPr id="59" name="Google Shape;59;p2">
            <a:hlinkClick action="ppaction://hlinksldjump" r:id="rId20"/>
          </p:cNvPr>
          <p:cNvSpPr/>
          <p:nvPr/>
        </p:nvSpPr>
        <p:spPr>
          <a:xfrm>
            <a:off x="7086600" y="14630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03</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KDD Workflow</a:t>
            </a:r>
            <a:endParaRPr b="0" i="0" sz="1100" u="none" cap="none" strike="noStrike">
              <a:solidFill>
                <a:schemeClr val="dk1"/>
              </a:solidFill>
              <a:latin typeface="Calibri"/>
              <a:ea typeface="Calibri"/>
              <a:cs typeface="Calibri"/>
              <a:sym typeface="Calibri"/>
            </a:endParaRPr>
          </a:p>
        </p:txBody>
      </p:sp>
      <p:sp>
        <p:nvSpPr>
          <p:cNvPr id="60" name="Google Shape;60;p2">
            <a:hlinkClick action="ppaction://hlinksldjump" r:id="rId24"/>
          </p:cNvPr>
          <p:cNvSpPr/>
          <p:nvPr/>
        </p:nvSpPr>
        <p:spPr>
          <a:xfrm>
            <a:off x="8983980" y="13258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a:hlinkClick action="ppaction://hlinksldjump" r:id="rId24"/>
          </p:cNvPr>
          <p:cNvSpPr/>
          <p:nvPr/>
        </p:nvSpPr>
        <p:spPr>
          <a:xfrm>
            <a:off x="9166860" y="16002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62" name="Google Shape;62;p2">
            <a:hlinkClick action="ppaction://hlinksldjump" r:id="rId24"/>
          </p:cNvPr>
          <p:cNvPicPr preferRelativeResize="0"/>
          <p:nvPr/>
        </p:nvPicPr>
        <p:blipFill rotWithShape="1">
          <a:blip r:embed="rId26">
            <a:alphaModFix/>
          </a:blip>
          <a:srcRect b="0" l="0" r="0" t="0"/>
          <a:stretch/>
        </p:blipFill>
        <p:spPr>
          <a:xfrm>
            <a:off x="9309506" y="1742846"/>
            <a:ext cx="309067" cy="309067"/>
          </a:xfrm>
          <a:prstGeom prst="rect">
            <a:avLst/>
          </a:prstGeom>
          <a:noFill/>
          <a:ln>
            <a:noFill/>
          </a:ln>
        </p:spPr>
      </p:pic>
      <p:sp>
        <p:nvSpPr>
          <p:cNvPr id="63" name="Google Shape;63;p2">
            <a:hlinkClick action="ppaction://hlinksldjump" r:id="rId24"/>
          </p:cNvPr>
          <p:cNvSpPr/>
          <p:nvPr/>
        </p:nvSpPr>
        <p:spPr>
          <a:xfrm>
            <a:off x="9898380" y="14630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04</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Data Understanding &amp; EDA</a:t>
            </a:r>
            <a:endParaRPr b="0" i="0" sz="1100" u="none" cap="none" strike="noStrike">
              <a:solidFill>
                <a:schemeClr val="dk1"/>
              </a:solidFill>
              <a:latin typeface="Calibri"/>
              <a:ea typeface="Calibri"/>
              <a:cs typeface="Calibri"/>
              <a:sym typeface="Calibri"/>
            </a:endParaRPr>
          </a:p>
        </p:txBody>
      </p:sp>
      <p:sp>
        <p:nvSpPr>
          <p:cNvPr id="64" name="Google Shape;64;p2">
            <a:hlinkClick action="ppaction://hlinksldjump" r:id="rId30"/>
          </p:cNvPr>
          <p:cNvSpPr/>
          <p:nvPr/>
        </p:nvSpPr>
        <p:spPr>
          <a:xfrm>
            <a:off x="548640" y="26974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a:hlinkClick action="ppaction://hlinksldjump" r:id="rId30"/>
          </p:cNvPr>
          <p:cNvSpPr/>
          <p:nvPr/>
        </p:nvSpPr>
        <p:spPr>
          <a:xfrm>
            <a:off x="731520" y="29718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66" name="Google Shape;66;p2">
            <a:hlinkClick action="ppaction://hlinksldjump" r:id="rId30"/>
          </p:cNvPr>
          <p:cNvPicPr preferRelativeResize="0"/>
          <p:nvPr/>
        </p:nvPicPr>
        <p:blipFill rotWithShape="1">
          <a:blip r:embed="rId31">
            <a:alphaModFix/>
          </a:blip>
          <a:srcRect b="0" l="0" r="0" t="0"/>
          <a:stretch/>
        </p:blipFill>
        <p:spPr>
          <a:xfrm>
            <a:off x="874166" y="3114446"/>
            <a:ext cx="309067" cy="309067"/>
          </a:xfrm>
          <a:prstGeom prst="rect">
            <a:avLst/>
          </a:prstGeom>
          <a:noFill/>
          <a:ln>
            <a:noFill/>
          </a:ln>
        </p:spPr>
      </p:pic>
      <p:sp>
        <p:nvSpPr>
          <p:cNvPr id="67" name="Google Shape;67;p2">
            <a:hlinkClick action="ppaction://hlinksldjump" r:id="rId30"/>
          </p:cNvPr>
          <p:cNvSpPr/>
          <p:nvPr/>
        </p:nvSpPr>
        <p:spPr>
          <a:xfrm>
            <a:off x="1463040" y="28346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05</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Preprocessing</a:t>
            </a:r>
            <a:endParaRPr b="0" i="0" sz="1100" u="none" cap="none" strike="noStrike">
              <a:solidFill>
                <a:schemeClr val="dk1"/>
              </a:solidFill>
              <a:latin typeface="Calibri"/>
              <a:ea typeface="Calibri"/>
              <a:cs typeface="Calibri"/>
              <a:sym typeface="Calibri"/>
            </a:endParaRPr>
          </a:p>
        </p:txBody>
      </p:sp>
      <p:sp>
        <p:nvSpPr>
          <p:cNvPr id="68" name="Google Shape;68;p2">
            <a:hlinkClick action="ppaction://hlinksldjump" r:id="rId33"/>
          </p:cNvPr>
          <p:cNvSpPr/>
          <p:nvPr/>
        </p:nvSpPr>
        <p:spPr>
          <a:xfrm>
            <a:off x="3360420" y="26974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a:hlinkClick action="ppaction://hlinksldjump" r:id="rId33"/>
          </p:cNvPr>
          <p:cNvSpPr/>
          <p:nvPr/>
        </p:nvSpPr>
        <p:spPr>
          <a:xfrm>
            <a:off x="3543300" y="29718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70" name="Google Shape;70;p2">
            <a:hlinkClick action="ppaction://hlinksldjump" r:id="rId33"/>
          </p:cNvPr>
          <p:cNvPicPr preferRelativeResize="0"/>
          <p:nvPr/>
        </p:nvPicPr>
        <p:blipFill rotWithShape="1">
          <a:blip r:embed="rId36">
            <a:alphaModFix/>
          </a:blip>
          <a:srcRect b="0" l="0" r="0" t="0"/>
          <a:stretch/>
        </p:blipFill>
        <p:spPr>
          <a:xfrm>
            <a:off x="3685946" y="3114446"/>
            <a:ext cx="309067" cy="309067"/>
          </a:xfrm>
          <a:prstGeom prst="rect">
            <a:avLst/>
          </a:prstGeom>
          <a:noFill/>
          <a:ln>
            <a:noFill/>
          </a:ln>
        </p:spPr>
      </p:pic>
      <p:sp>
        <p:nvSpPr>
          <p:cNvPr id="71" name="Google Shape;71;p2">
            <a:hlinkClick action="ppaction://hlinksldjump" r:id="rId33"/>
          </p:cNvPr>
          <p:cNvSpPr/>
          <p:nvPr/>
        </p:nvSpPr>
        <p:spPr>
          <a:xfrm>
            <a:off x="4274820" y="28346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06</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Models &amp; Metrics</a:t>
            </a:r>
            <a:endParaRPr b="0" i="0" sz="1100" u="none" cap="none" strike="noStrike">
              <a:solidFill>
                <a:schemeClr val="dk1"/>
              </a:solidFill>
              <a:latin typeface="Calibri"/>
              <a:ea typeface="Calibri"/>
              <a:cs typeface="Calibri"/>
              <a:sym typeface="Calibri"/>
            </a:endParaRPr>
          </a:p>
        </p:txBody>
      </p:sp>
      <p:sp>
        <p:nvSpPr>
          <p:cNvPr id="72" name="Google Shape;72;p2">
            <a:hlinkClick action="ppaction://hlinksldjump" r:id="rId44"/>
          </p:cNvPr>
          <p:cNvSpPr/>
          <p:nvPr/>
        </p:nvSpPr>
        <p:spPr>
          <a:xfrm>
            <a:off x="6172200" y="26974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a:hlinkClick action="ppaction://hlinksldjump" r:id="rId44"/>
          </p:cNvPr>
          <p:cNvSpPr/>
          <p:nvPr/>
        </p:nvSpPr>
        <p:spPr>
          <a:xfrm>
            <a:off x="6355080" y="29718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74" name="Google Shape;74;p2">
            <a:hlinkClick action="ppaction://hlinksldjump" r:id="rId44"/>
          </p:cNvPr>
          <p:cNvPicPr preferRelativeResize="0"/>
          <p:nvPr/>
        </p:nvPicPr>
        <p:blipFill rotWithShape="1">
          <a:blip r:embed="rId46">
            <a:alphaModFix/>
          </a:blip>
          <a:srcRect b="0" l="0" r="0" t="0"/>
          <a:stretch/>
        </p:blipFill>
        <p:spPr>
          <a:xfrm>
            <a:off x="6497726" y="3114446"/>
            <a:ext cx="309067" cy="309067"/>
          </a:xfrm>
          <a:prstGeom prst="rect">
            <a:avLst/>
          </a:prstGeom>
          <a:noFill/>
          <a:ln>
            <a:noFill/>
          </a:ln>
        </p:spPr>
      </p:pic>
      <p:sp>
        <p:nvSpPr>
          <p:cNvPr id="75" name="Google Shape;75;p2">
            <a:hlinkClick action="ppaction://hlinksldjump" r:id="rId44"/>
          </p:cNvPr>
          <p:cNvSpPr/>
          <p:nvPr/>
        </p:nvSpPr>
        <p:spPr>
          <a:xfrm>
            <a:off x="7086600" y="28346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07</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Dataset 1 Results</a:t>
            </a:r>
            <a:endParaRPr b="0" i="0" sz="1100" u="none" cap="none" strike="noStrike">
              <a:solidFill>
                <a:schemeClr val="dk1"/>
              </a:solidFill>
              <a:latin typeface="Calibri"/>
              <a:ea typeface="Calibri"/>
              <a:cs typeface="Calibri"/>
              <a:sym typeface="Calibri"/>
            </a:endParaRPr>
          </a:p>
        </p:txBody>
      </p:sp>
      <p:sp>
        <p:nvSpPr>
          <p:cNvPr id="76" name="Google Shape;76;p2">
            <a:hlinkClick action="ppaction://hlinksldjump" r:id="rId48"/>
          </p:cNvPr>
          <p:cNvSpPr/>
          <p:nvPr/>
        </p:nvSpPr>
        <p:spPr>
          <a:xfrm>
            <a:off x="8983980" y="26974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a:hlinkClick action="ppaction://hlinksldjump" r:id="rId48"/>
          </p:cNvPr>
          <p:cNvSpPr/>
          <p:nvPr/>
        </p:nvSpPr>
        <p:spPr>
          <a:xfrm>
            <a:off x="9166860" y="29718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78" name="Google Shape;78;p2">
            <a:hlinkClick action="ppaction://hlinksldjump" r:id="rId48"/>
          </p:cNvPr>
          <p:cNvPicPr preferRelativeResize="0"/>
          <p:nvPr/>
        </p:nvPicPr>
        <p:blipFill rotWithShape="1">
          <a:blip r:embed="rId46">
            <a:alphaModFix/>
          </a:blip>
          <a:srcRect b="0" l="0" r="0" t="0"/>
          <a:stretch/>
        </p:blipFill>
        <p:spPr>
          <a:xfrm>
            <a:off x="9309506" y="3114446"/>
            <a:ext cx="309067" cy="309067"/>
          </a:xfrm>
          <a:prstGeom prst="rect">
            <a:avLst/>
          </a:prstGeom>
          <a:noFill/>
          <a:ln>
            <a:noFill/>
          </a:ln>
        </p:spPr>
      </p:pic>
      <p:sp>
        <p:nvSpPr>
          <p:cNvPr id="79" name="Google Shape;79;p2">
            <a:hlinkClick action="ppaction://hlinksldjump" r:id="rId48"/>
          </p:cNvPr>
          <p:cNvSpPr/>
          <p:nvPr/>
        </p:nvSpPr>
        <p:spPr>
          <a:xfrm>
            <a:off x="9898380" y="28346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08</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Dataset 2 Results</a:t>
            </a:r>
            <a:endParaRPr b="0" i="0" sz="1100" u="none" cap="none" strike="noStrike">
              <a:solidFill>
                <a:schemeClr val="dk1"/>
              </a:solidFill>
              <a:latin typeface="Calibri"/>
              <a:ea typeface="Calibri"/>
              <a:cs typeface="Calibri"/>
              <a:sym typeface="Calibri"/>
            </a:endParaRPr>
          </a:p>
        </p:txBody>
      </p:sp>
      <p:sp>
        <p:nvSpPr>
          <p:cNvPr id="80" name="Google Shape;80;p2">
            <a:hlinkClick action="ppaction://hlinksldjump" r:id="rId42"/>
          </p:cNvPr>
          <p:cNvSpPr/>
          <p:nvPr/>
        </p:nvSpPr>
        <p:spPr>
          <a:xfrm>
            <a:off x="548640" y="40690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a:hlinkClick action="ppaction://hlinksldjump" r:id="rId42"/>
          </p:cNvPr>
          <p:cNvSpPr/>
          <p:nvPr/>
        </p:nvSpPr>
        <p:spPr>
          <a:xfrm>
            <a:off x="731520" y="4343400"/>
            <a:ext cx="594360" cy="594360"/>
          </a:xfrm>
          <a:prstGeom prst="ellipse">
            <a:avLst/>
          </a:prstGeom>
          <a:solidFill>
            <a:schemeClr val="accent2"/>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82" name="Google Shape;82;p2">
            <a:hlinkClick action="ppaction://hlinksldjump" r:id="rId42"/>
          </p:cNvPr>
          <p:cNvPicPr preferRelativeResize="0"/>
          <p:nvPr/>
        </p:nvPicPr>
        <p:blipFill rotWithShape="1">
          <a:blip r:embed="rId51">
            <a:alphaModFix/>
          </a:blip>
          <a:srcRect b="0" l="0" r="0" t="0"/>
          <a:stretch/>
        </p:blipFill>
        <p:spPr>
          <a:xfrm>
            <a:off x="874166" y="4486046"/>
            <a:ext cx="309067" cy="309067"/>
          </a:xfrm>
          <a:prstGeom prst="rect">
            <a:avLst/>
          </a:prstGeom>
          <a:noFill/>
          <a:ln>
            <a:noFill/>
          </a:ln>
        </p:spPr>
      </p:pic>
      <p:sp>
        <p:nvSpPr>
          <p:cNvPr id="83" name="Google Shape;83;p2">
            <a:hlinkClick action="ppaction://hlinksldjump" r:id="rId42"/>
          </p:cNvPr>
          <p:cNvSpPr/>
          <p:nvPr/>
        </p:nvSpPr>
        <p:spPr>
          <a:xfrm>
            <a:off x="1463040" y="42062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09</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Comparison of Results</a:t>
            </a:r>
            <a:endParaRPr b="0" i="0" sz="1100" u="none" cap="none" strike="noStrike">
              <a:solidFill>
                <a:schemeClr val="dk1"/>
              </a:solidFill>
              <a:latin typeface="Calibri"/>
              <a:ea typeface="Calibri"/>
              <a:cs typeface="Calibri"/>
              <a:sym typeface="Calibri"/>
            </a:endParaRPr>
          </a:p>
        </p:txBody>
      </p:sp>
      <p:sp>
        <p:nvSpPr>
          <p:cNvPr id="84" name="Google Shape;84;p2">
            <a:hlinkClick action="ppaction://hlinksldjump" r:id="rId53"/>
          </p:cNvPr>
          <p:cNvSpPr/>
          <p:nvPr/>
        </p:nvSpPr>
        <p:spPr>
          <a:xfrm>
            <a:off x="3360420" y="40690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a:hlinkClick action="ppaction://hlinksldjump" r:id="rId53"/>
          </p:cNvPr>
          <p:cNvSpPr/>
          <p:nvPr/>
        </p:nvSpPr>
        <p:spPr>
          <a:xfrm>
            <a:off x="3543300" y="4343400"/>
            <a:ext cx="594360" cy="594360"/>
          </a:xfrm>
          <a:prstGeom prst="ellipse">
            <a:avLst/>
          </a:prstGeom>
          <a:solidFill>
            <a:schemeClr val="accent1"/>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86" name="Google Shape;86;p2">
            <a:hlinkClick action="ppaction://hlinksldjump" r:id="rId53"/>
          </p:cNvPr>
          <p:cNvPicPr preferRelativeResize="0"/>
          <p:nvPr/>
        </p:nvPicPr>
        <p:blipFill rotWithShape="1">
          <a:blip r:embed="rId56">
            <a:alphaModFix/>
          </a:blip>
          <a:srcRect b="0" l="0" r="0" t="0"/>
          <a:stretch/>
        </p:blipFill>
        <p:spPr>
          <a:xfrm>
            <a:off x="3685946" y="4486046"/>
            <a:ext cx="309067" cy="309067"/>
          </a:xfrm>
          <a:prstGeom prst="rect">
            <a:avLst/>
          </a:prstGeom>
          <a:noFill/>
          <a:ln>
            <a:noFill/>
          </a:ln>
        </p:spPr>
      </p:pic>
      <p:sp>
        <p:nvSpPr>
          <p:cNvPr id="87" name="Google Shape;87;p2">
            <a:hlinkClick action="ppaction://hlinksldjump" r:id="rId53"/>
          </p:cNvPr>
          <p:cNvSpPr/>
          <p:nvPr/>
        </p:nvSpPr>
        <p:spPr>
          <a:xfrm>
            <a:off x="4274820" y="42062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Interpretation (SHAP)</a:t>
            </a:r>
            <a:endParaRPr b="0" i="0" sz="1100" u="none" cap="none" strike="noStrike">
              <a:solidFill>
                <a:schemeClr val="dk1"/>
              </a:solidFill>
              <a:latin typeface="Calibri"/>
              <a:ea typeface="Calibri"/>
              <a:cs typeface="Calibri"/>
              <a:sym typeface="Calibri"/>
            </a:endParaRPr>
          </a:p>
        </p:txBody>
      </p:sp>
      <p:sp>
        <p:nvSpPr>
          <p:cNvPr id="88" name="Google Shape;88;p2">
            <a:hlinkClick action="ppaction://hlinksldjump" r:id="rId62"/>
          </p:cNvPr>
          <p:cNvSpPr/>
          <p:nvPr/>
        </p:nvSpPr>
        <p:spPr>
          <a:xfrm>
            <a:off x="6172200" y="40690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a:hlinkClick action="ppaction://hlinksldjump" r:id="rId62"/>
          </p:cNvPr>
          <p:cNvSpPr/>
          <p:nvPr/>
        </p:nvSpPr>
        <p:spPr>
          <a:xfrm>
            <a:off x="6355080" y="43434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90" name="Google Shape;90;p2">
            <a:hlinkClick action="ppaction://hlinksldjump" r:id="rId62"/>
          </p:cNvPr>
          <p:cNvPicPr preferRelativeResize="0"/>
          <p:nvPr/>
        </p:nvPicPr>
        <p:blipFill rotWithShape="1">
          <a:blip r:embed="rId61">
            <a:alphaModFix/>
          </a:blip>
          <a:srcRect b="0" l="0" r="0" t="0"/>
          <a:stretch/>
        </p:blipFill>
        <p:spPr>
          <a:xfrm>
            <a:off x="6497726" y="4486046"/>
            <a:ext cx="309067" cy="309067"/>
          </a:xfrm>
          <a:prstGeom prst="rect">
            <a:avLst/>
          </a:prstGeom>
          <a:noFill/>
          <a:ln>
            <a:noFill/>
          </a:ln>
        </p:spPr>
      </p:pic>
      <p:sp>
        <p:nvSpPr>
          <p:cNvPr id="91" name="Google Shape;91;p2">
            <a:hlinkClick action="ppaction://hlinksldjump" r:id="rId62"/>
          </p:cNvPr>
          <p:cNvSpPr/>
          <p:nvPr/>
        </p:nvSpPr>
        <p:spPr>
          <a:xfrm>
            <a:off x="7086600" y="42062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Conclusion &amp; Future Scope</a:t>
            </a:r>
            <a:endParaRPr b="0" i="0" sz="1100" u="none" cap="none" strike="noStrike">
              <a:solidFill>
                <a:schemeClr val="dk1"/>
              </a:solidFill>
              <a:latin typeface="Calibri"/>
              <a:ea typeface="Calibri"/>
              <a:cs typeface="Calibri"/>
              <a:sym typeface="Calibri"/>
            </a:endParaRPr>
          </a:p>
        </p:txBody>
      </p:sp>
      <p:sp>
        <p:nvSpPr>
          <p:cNvPr id="92" name="Google Shape;92;p2">
            <a:hlinkClick action="ppaction://hlinksldjump" r:id="rId66"/>
          </p:cNvPr>
          <p:cNvSpPr/>
          <p:nvPr/>
        </p:nvSpPr>
        <p:spPr>
          <a:xfrm>
            <a:off x="8983980" y="4069080"/>
            <a:ext cx="260604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a:hlinkClick action="ppaction://hlinksldjump" r:id="rId66"/>
          </p:cNvPr>
          <p:cNvSpPr/>
          <p:nvPr/>
        </p:nvSpPr>
        <p:spPr>
          <a:xfrm>
            <a:off x="9166860" y="4343400"/>
            <a:ext cx="594360" cy="5943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94" name="Google Shape;94;p2">
            <a:hlinkClick action="ppaction://hlinksldjump" r:id="rId66"/>
          </p:cNvPr>
          <p:cNvPicPr preferRelativeResize="0"/>
          <p:nvPr/>
        </p:nvPicPr>
        <p:blipFill rotWithShape="1">
          <a:blip r:embed="rId11">
            <a:alphaModFix/>
          </a:blip>
          <a:srcRect b="0" l="0" r="0" t="0"/>
          <a:stretch/>
        </p:blipFill>
        <p:spPr>
          <a:xfrm>
            <a:off x="9309506" y="4486046"/>
            <a:ext cx="309067" cy="309067"/>
          </a:xfrm>
          <a:prstGeom prst="rect">
            <a:avLst/>
          </a:prstGeom>
          <a:noFill/>
          <a:ln>
            <a:noFill/>
          </a:ln>
        </p:spPr>
      </p:pic>
      <p:sp>
        <p:nvSpPr>
          <p:cNvPr id="95" name="Google Shape;95;p2">
            <a:hlinkClick action="ppaction://hlinksldjump" r:id="rId66"/>
          </p:cNvPr>
          <p:cNvSpPr/>
          <p:nvPr/>
        </p:nvSpPr>
        <p:spPr>
          <a:xfrm>
            <a:off x="9898380" y="4206240"/>
            <a:ext cx="1554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12</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References</a:t>
            </a:r>
            <a:endParaRPr b="0" i="0" sz="1100" u="none" cap="none" strike="noStrike">
              <a:solidFill>
                <a:schemeClr val="dk1"/>
              </a:solidFill>
              <a:latin typeface="Calibri"/>
              <a:ea typeface="Calibri"/>
              <a:cs typeface="Calibri"/>
              <a:sym typeface="Calibri"/>
            </a:endParaRPr>
          </a:p>
        </p:txBody>
      </p:sp>
      <p:sp>
        <p:nvSpPr>
          <p:cNvPr id="103" name="Google Shape;103;p2"/>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Problem, Motivation &amp; Objectives</a:t>
            </a:r>
            <a:endParaRPr sz="3200"/>
          </a:p>
        </p:txBody>
      </p:sp>
      <p:sp>
        <p:nvSpPr>
          <p:cNvPr id="140" name="Google Shape;140;p4"/>
          <p:cNvSpPr txBox="1"/>
          <p:nvPr/>
        </p:nvSpPr>
        <p:spPr>
          <a:xfrm>
            <a:off x="548640" y="1325880"/>
            <a:ext cx="5120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Cambria"/>
              <a:buNone/>
            </a:pPr>
            <a:r>
              <a:rPr b="1" i="0" lang="en-US" sz="2000" u="none" cap="none" strike="noStrike">
                <a:solidFill>
                  <a:schemeClr val="dk2"/>
                </a:solidFill>
                <a:latin typeface="Cambria"/>
                <a:ea typeface="Cambria"/>
                <a:cs typeface="Cambria"/>
                <a:sym typeface="Cambria"/>
              </a:rPr>
              <a:t>Problem &amp; motivation</a:t>
            </a:r>
            <a:endParaRPr b="0" i="0" sz="2000" u="none" cap="none" strike="noStrike">
              <a:solidFill>
                <a:schemeClr val="dk1"/>
              </a:solidFill>
              <a:latin typeface="Calibri"/>
              <a:ea typeface="Calibri"/>
              <a:cs typeface="Calibri"/>
              <a:sym typeface="Calibri"/>
            </a:endParaRPr>
          </a:p>
        </p:txBody>
      </p:sp>
      <p:sp>
        <p:nvSpPr>
          <p:cNvPr id="141" name="Google Shape;141;p4"/>
          <p:cNvSpPr/>
          <p:nvPr/>
        </p:nvSpPr>
        <p:spPr>
          <a:xfrm>
            <a:off x="548640" y="1874520"/>
            <a:ext cx="731520" cy="7315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142" name="Google Shape;142;p4"/>
          <p:cNvPicPr preferRelativeResize="0"/>
          <p:nvPr/>
        </p:nvPicPr>
        <p:blipFill rotWithShape="1">
          <a:blip r:embed="rId3">
            <a:alphaModFix/>
          </a:blip>
          <a:srcRect b="0" l="0" r="0" t="0"/>
          <a:stretch/>
        </p:blipFill>
        <p:spPr>
          <a:xfrm>
            <a:off x="724205" y="2050085"/>
            <a:ext cx="380390" cy="380390"/>
          </a:xfrm>
          <a:prstGeom prst="rect">
            <a:avLst/>
          </a:prstGeom>
          <a:noFill/>
          <a:ln>
            <a:noFill/>
          </a:ln>
        </p:spPr>
      </p:pic>
      <p:sp>
        <p:nvSpPr>
          <p:cNvPr id="143" name="Google Shape;143;p4"/>
          <p:cNvSpPr txBox="1"/>
          <p:nvPr/>
        </p:nvSpPr>
        <p:spPr>
          <a:xfrm>
            <a:off x="1463040" y="1856232"/>
            <a:ext cx="4206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Predict diabetes (yes / no + probability)</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to flag people for clinical testing: a screening aid, not a diagnosis</a:t>
            </a:r>
            <a:endParaRPr b="0" i="0" sz="1500" u="none" cap="none" strike="noStrike">
              <a:solidFill>
                <a:schemeClr val="dk1"/>
              </a:solidFill>
              <a:latin typeface="Calibri"/>
              <a:ea typeface="Calibri"/>
              <a:cs typeface="Calibri"/>
              <a:sym typeface="Calibri"/>
            </a:endParaRPr>
          </a:p>
        </p:txBody>
      </p:sp>
      <p:sp>
        <p:nvSpPr>
          <p:cNvPr id="144" name="Google Shape;144;p4"/>
          <p:cNvSpPr/>
          <p:nvPr/>
        </p:nvSpPr>
        <p:spPr>
          <a:xfrm>
            <a:off x="548640" y="3200400"/>
            <a:ext cx="731520" cy="7315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145" name="Google Shape;145;p4"/>
          <p:cNvPicPr preferRelativeResize="0"/>
          <p:nvPr/>
        </p:nvPicPr>
        <p:blipFill rotWithShape="1">
          <a:blip r:embed="rId4">
            <a:alphaModFix/>
          </a:blip>
          <a:srcRect b="0" l="0" r="0" t="0"/>
          <a:stretch/>
        </p:blipFill>
        <p:spPr>
          <a:xfrm>
            <a:off x="724205" y="3375965"/>
            <a:ext cx="380390" cy="380390"/>
          </a:xfrm>
          <a:prstGeom prst="rect">
            <a:avLst/>
          </a:prstGeom>
          <a:noFill/>
          <a:ln>
            <a:noFill/>
          </a:ln>
        </p:spPr>
      </p:pic>
      <p:sp>
        <p:nvSpPr>
          <p:cNvPr id="146" name="Google Shape;146;p4"/>
          <p:cNvSpPr txBox="1"/>
          <p:nvPr/>
        </p:nvSpPr>
        <p:spPr>
          <a:xfrm>
            <a:off x="1463040" y="3182112"/>
            <a:ext cx="4206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Two independent datasets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clinical measurements (Pima) and symptoms (UCI Early Stage), not merged</a:t>
            </a:r>
            <a:endParaRPr b="0" i="0" sz="1500" u="none" cap="none" strike="noStrike">
              <a:solidFill>
                <a:schemeClr val="dk1"/>
              </a:solidFill>
              <a:latin typeface="Calibri"/>
              <a:ea typeface="Calibri"/>
              <a:cs typeface="Calibri"/>
              <a:sym typeface="Calibri"/>
            </a:endParaRPr>
          </a:p>
        </p:txBody>
      </p:sp>
      <p:sp>
        <p:nvSpPr>
          <p:cNvPr id="147" name="Google Shape;147;p4"/>
          <p:cNvSpPr/>
          <p:nvPr/>
        </p:nvSpPr>
        <p:spPr>
          <a:xfrm>
            <a:off x="548640" y="4526280"/>
            <a:ext cx="731520" cy="7315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148" name="Google Shape;148;p4"/>
          <p:cNvPicPr preferRelativeResize="0"/>
          <p:nvPr/>
        </p:nvPicPr>
        <p:blipFill rotWithShape="1">
          <a:blip r:embed="rId5">
            <a:alphaModFix/>
          </a:blip>
          <a:srcRect b="0" l="0" r="0" t="0"/>
          <a:stretch/>
        </p:blipFill>
        <p:spPr>
          <a:xfrm>
            <a:off x="724205" y="4701845"/>
            <a:ext cx="380390" cy="380390"/>
          </a:xfrm>
          <a:prstGeom prst="rect">
            <a:avLst/>
          </a:prstGeom>
          <a:noFill/>
          <a:ln>
            <a:noFill/>
          </a:ln>
        </p:spPr>
      </p:pic>
      <p:sp>
        <p:nvSpPr>
          <p:cNvPr id="149" name="Google Shape;149;p4"/>
          <p:cNvSpPr txBox="1"/>
          <p:nvPr/>
        </p:nvSpPr>
        <p:spPr>
          <a:xfrm>
            <a:off x="1463040" y="4507992"/>
            <a:ext cx="4206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Realistic data problems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invalid zeros (Pima) and duplicate records (Early Stage)</a:t>
            </a:r>
            <a:endParaRPr b="0" i="0" sz="1500" u="none" cap="none" strike="noStrike">
              <a:solidFill>
                <a:schemeClr val="dk1"/>
              </a:solidFill>
              <a:latin typeface="Calibri"/>
              <a:ea typeface="Calibri"/>
              <a:cs typeface="Calibri"/>
              <a:sym typeface="Calibri"/>
            </a:endParaRPr>
          </a:p>
        </p:txBody>
      </p:sp>
      <p:sp>
        <p:nvSpPr>
          <p:cNvPr id="150" name="Google Shape;150;p4"/>
          <p:cNvSpPr txBox="1"/>
          <p:nvPr/>
        </p:nvSpPr>
        <p:spPr>
          <a:xfrm>
            <a:off x="6309360" y="1325880"/>
            <a:ext cx="53035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Cambria"/>
              <a:buNone/>
            </a:pPr>
            <a:r>
              <a:rPr b="1" i="0" lang="en-US" sz="2000" u="none" cap="none" strike="noStrike">
                <a:solidFill>
                  <a:schemeClr val="dk2"/>
                </a:solidFill>
                <a:latin typeface="Cambria"/>
                <a:ea typeface="Cambria"/>
                <a:cs typeface="Cambria"/>
                <a:sym typeface="Cambria"/>
              </a:rPr>
              <a:t>Objectives</a:t>
            </a:r>
            <a:endParaRPr b="0" i="0" sz="2000" u="none" cap="none" strike="noStrike">
              <a:solidFill>
                <a:schemeClr val="dk1"/>
              </a:solidFill>
              <a:latin typeface="Calibri"/>
              <a:ea typeface="Calibri"/>
              <a:cs typeface="Calibri"/>
              <a:sym typeface="Calibri"/>
            </a:endParaRPr>
          </a:p>
        </p:txBody>
      </p:sp>
      <p:sp>
        <p:nvSpPr>
          <p:cNvPr id="151" name="Google Shape;151;p4"/>
          <p:cNvSpPr/>
          <p:nvPr/>
        </p:nvSpPr>
        <p:spPr>
          <a:xfrm>
            <a:off x="6309360" y="1874520"/>
            <a:ext cx="5330952" cy="685800"/>
          </a:xfrm>
          <a:prstGeom prst="roundRect">
            <a:avLst>
              <a:gd fmla="val 1066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6446520" y="2002536"/>
            <a:ext cx="429768" cy="429768"/>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153" name="Google Shape;153;p4"/>
          <p:cNvSpPr txBox="1"/>
          <p:nvPr/>
        </p:nvSpPr>
        <p:spPr>
          <a:xfrm>
            <a:off x="7040880" y="1920240"/>
            <a:ext cx="4480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Clean both datasets: invalid zeros and duplicates</a:t>
            </a:r>
            <a:endParaRPr b="0" i="0" sz="1500" u="none" cap="none" strike="noStrike">
              <a:solidFill>
                <a:schemeClr val="dk1"/>
              </a:solidFill>
              <a:latin typeface="Calibri"/>
              <a:ea typeface="Calibri"/>
              <a:cs typeface="Calibri"/>
              <a:sym typeface="Calibri"/>
            </a:endParaRPr>
          </a:p>
        </p:txBody>
      </p:sp>
      <p:sp>
        <p:nvSpPr>
          <p:cNvPr id="154" name="Google Shape;154;p4"/>
          <p:cNvSpPr/>
          <p:nvPr/>
        </p:nvSpPr>
        <p:spPr>
          <a:xfrm>
            <a:off x="6309360" y="2697480"/>
            <a:ext cx="5330952" cy="685800"/>
          </a:xfrm>
          <a:prstGeom prst="roundRect">
            <a:avLst>
              <a:gd fmla="val 1066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6446520" y="2825496"/>
            <a:ext cx="429768" cy="429768"/>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156" name="Google Shape;156;p4"/>
          <p:cNvSpPr txBox="1"/>
          <p:nvPr/>
        </p:nvSpPr>
        <p:spPr>
          <a:xfrm>
            <a:off x="7040880" y="2743200"/>
            <a:ext cx="4480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Explore how each feature relates to diabetes</a:t>
            </a:r>
            <a:endParaRPr b="0" i="0" sz="1500" u="none" cap="none" strike="noStrike">
              <a:solidFill>
                <a:schemeClr val="dk1"/>
              </a:solidFill>
              <a:latin typeface="Calibri"/>
              <a:ea typeface="Calibri"/>
              <a:cs typeface="Calibri"/>
              <a:sym typeface="Calibri"/>
            </a:endParaRPr>
          </a:p>
        </p:txBody>
      </p:sp>
      <p:sp>
        <p:nvSpPr>
          <p:cNvPr id="157" name="Google Shape;157;p4"/>
          <p:cNvSpPr/>
          <p:nvPr/>
        </p:nvSpPr>
        <p:spPr>
          <a:xfrm>
            <a:off x="6309360" y="3520440"/>
            <a:ext cx="5330952" cy="685800"/>
          </a:xfrm>
          <a:prstGeom prst="roundRect">
            <a:avLst>
              <a:gd fmla="val 1066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6446520" y="3648456"/>
            <a:ext cx="429768" cy="429768"/>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159" name="Google Shape;159;p4"/>
          <p:cNvSpPr txBox="1"/>
          <p:nvPr/>
        </p:nvSpPr>
        <p:spPr>
          <a:xfrm>
            <a:off x="7040880" y="3566160"/>
            <a:ext cx="4480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Build leak-free pipelines (fit on training data only)</a:t>
            </a:r>
            <a:endParaRPr b="0" i="0" sz="1500" u="none" cap="none" strike="noStrike">
              <a:solidFill>
                <a:schemeClr val="dk1"/>
              </a:solidFill>
              <a:latin typeface="Calibri"/>
              <a:ea typeface="Calibri"/>
              <a:cs typeface="Calibri"/>
              <a:sym typeface="Calibri"/>
            </a:endParaRPr>
          </a:p>
        </p:txBody>
      </p:sp>
      <p:sp>
        <p:nvSpPr>
          <p:cNvPr id="160" name="Google Shape;160;p4"/>
          <p:cNvSpPr/>
          <p:nvPr/>
        </p:nvSpPr>
        <p:spPr>
          <a:xfrm>
            <a:off x="6309360" y="4343400"/>
            <a:ext cx="5330952" cy="685800"/>
          </a:xfrm>
          <a:prstGeom prst="roundRect">
            <a:avLst>
              <a:gd fmla="val 1066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6446520" y="4471416"/>
            <a:ext cx="429768" cy="429768"/>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162" name="Google Shape;162;p4"/>
          <p:cNvSpPr txBox="1"/>
          <p:nvPr/>
        </p:nvSpPr>
        <p:spPr>
          <a:xfrm>
            <a:off x="7040880" y="4389120"/>
            <a:ext cx="4480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Compare 5 models on each dataset, same metrics</a:t>
            </a:r>
            <a:endParaRPr b="0" i="0" sz="1500" u="none" cap="none" strike="noStrike">
              <a:solidFill>
                <a:schemeClr val="dk1"/>
              </a:solidFill>
              <a:latin typeface="Calibri"/>
              <a:ea typeface="Calibri"/>
              <a:cs typeface="Calibri"/>
              <a:sym typeface="Calibri"/>
            </a:endParaRPr>
          </a:p>
        </p:txBody>
      </p:sp>
      <p:sp>
        <p:nvSpPr>
          <p:cNvPr id="163" name="Google Shape;163;p4"/>
          <p:cNvSpPr/>
          <p:nvPr/>
        </p:nvSpPr>
        <p:spPr>
          <a:xfrm>
            <a:off x="6309360" y="5166360"/>
            <a:ext cx="5330952" cy="685800"/>
          </a:xfrm>
          <a:prstGeom prst="roundRect">
            <a:avLst>
              <a:gd fmla="val 1066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6446520" y="5294376"/>
            <a:ext cx="429768" cy="429768"/>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165" name="Google Shape;165;p4"/>
          <p:cNvSpPr txBox="1"/>
          <p:nvPr/>
        </p:nvSpPr>
        <p:spPr>
          <a:xfrm>
            <a:off x="7040880" y="5212080"/>
            <a:ext cx="4480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Select with a recall-aware rule, explain with SHAP</a:t>
            </a:r>
            <a:endParaRPr b="0" i="0" sz="1500" u="none" cap="none" strike="noStrike">
              <a:solidFill>
                <a:schemeClr val="dk1"/>
              </a:solidFill>
              <a:latin typeface="Calibri"/>
              <a:ea typeface="Calibri"/>
              <a:cs typeface="Calibri"/>
              <a:sym typeface="Calibri"/>
            </a:endParaRPr>
          </a:p>
        </p:txBody>
      </p:sp>
      <p:sp>
        <p:nvSpPr>
          <p:cNvPr id="169" name="Google Shape;169;p4"/>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Two Datasets, Analysed Separately</a:t>
            </a:r>
            <a:endParaRPr sz="3200"/>
          </a:p>
        </p:txBody>
      </p:sp>
      <p:sp>
        <p:nvSpPr>
          <p:cNvPr id="176" name="Google Shape;176;p5"/>
          <p:cNvSpPr/>
          <p:nvPr/>
        </p:nvSpPr>
        <p:spPr>
          <a:xfrm>
            <a:off x="548640" y="1325880"/>
            <a:ext cx="260604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txBox="1"/>
          <p:nvPr/>
        </p:nvSpPr>
        <p:spPr>
          <a:xfrm>
            <a:off x="731520" y="1417320"/>
            <a:ext cx="22402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600"/>
              <a:buFont typeface="Cambria"/>
              <a:buNone/>
            </a:pPr>
            <a:r>
              <a:rPr b="1" i="0" lang="en-US" sz="3600" u="none" cap="none" strike="noStrike">
                <a:solidFill>
                  <a:schemeClr val="accent1"/>
                </a:solidFill>
                <a:latin typeface="Cambria"/>
                <a:ea typeface="Cambria"/>
                <a:cs typeface="Cambria"/>
                <a:sym typeface="Cambria"/>
              </a:rPr>
              <a:t>768</a:t>
            </a:r>
            <a:endParaRPr b="0" i="0" sz="3600" u="none" cap="none" strike="noStrike">
              <a:solidFill>
                <a:schemeClr val="dk1"/>
              </a:solidFill>
              <a:latin typeface="Calibri"/>
              <a:ea typeface="Calibri"/>
              <a:cs typeface="Calibri"/>
              <a:sym typeface="Calibri"/>
            </a:endParaRPr>
          </a:p>
        </p:txBody>
      </p:sp>
      <p:sp>
        <p:nvSpPr>
          <p:cNvPr id="178" name="Google Shape;178;p5"/>
          <p:cNvSpPr txBox="1"/>
          <p:nvPr/>
        </p:nvSpPr>
        <p:spPr>
          <a:xfrm>
            <a:off x="731520" y="2103120"/>
            <a:ext cx="2286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Pima patients · 8 clinical measurements · 35 % diabetic</a:t>
            </a:r>
            <a:endParaRPr b="0" i="0" sz="1300" u="none" cap="none" strike="noStrike">
              <a:solidFill>
                <a:schemeClr val="dk1"/>
              </a:solidFill>
              <a:latin typeface="Calibri"/>
              <a:ea typeface="Calibri"/>
              <a:cs typeface="Calibri"/>
              <a:sym typeface="Calibri"/>
            </a:endParaRPr>
          </a:p>
        </p:txBody>
      </p:sp>
      <p:sp>
        <p:nvSpPr>
          <p:cNvPr id="179" name="Google Shape;179;p5"/>
          <p:cNvSpPr/>
          <p:nvPr/>
        </p:nvSpPr>
        <p:spPr>
          <a:xfrm>
            <a:off x="3360420" y="1325880"/>
            <a:ext cx="260604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txBox="1"/>
          <p:nvPr/>
        </p:nvSpPr>
        <p:spPr>
          <a:xfrm>
            <a:off x="3543300" y="1417320"/>
            <a:ext cx="22402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600"/>
              <a:buFont typeface="Cambria"/>
              <a:buNone/>
            </a:pPr>
            <a:r>
              <a:rPr b="1" i="0" lang="en-US" sz="3600" u="none" cap="none" strike="noStrike">
                <a:solidFill>
                  <a:schemeClr val="accent1"/>
                </a:solidFill>
                <a:latin typeface="Cambria"/>
                <a:ea typeface="Cambria"/>
                <a:cs typeface="Cambria"/>
                <a:sym typeface="Cambria"/>
              </a:rPr>
              <a:t>251</a:t>
            </a:r>
            <a:endParaRPr b="0" i="0" sz="3600" u="none" cap="none" strike="noStrike">
              <a:solidFill>
                <a:schemeClr val="dk1"/>
              </a:solidFill>
              <a:latin typeface="Calibri"/>
              <a:ea typeface="Calibri"/>
              <a:cs typeface="Calibri"/>
              <a:sym typeface="Calibri"/>
            </a:endParaRPr>
          </a:p>
        </p:txBody>
      </p:sp>
      <p:sp>
        <p:nvSpPr>
          <p:cNvPr id="181" name="Google Shape;181;p5"/>
          <p:cNvSpPr txBox="1"/>
          <p:nvPr/>
        </p:nvSpPr>
        <p:spPr>
          <a:xfrm>
            <a:off x="3543300" y="2103120"/>
            <a:ext cx="2286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unique Early Stage records (of 520) · 16 symptom features · 69 % diabetic</a:t>
            </a:r>
            <a:endParaRPr b="0" i="0" sz="1300" u="none" cap="none" strike="noStrike">
              <a:solidFill>
                <a:schemeClr val="dk1"/>
              </a:solidFill>
              <a:latin typeface="Calibri"/>
              <a:ea typeface="Calibri"/>
              <a:cs typeface="Calibri"/>
              <a:sym typeface="Calibri"/>
            </a:endParaRPr>
          </a:p>
        </p:txBody>
      </p:sp>
      <p:sp>
        <p:nvSpPr>
          <p:cNvPr id="182" name="Google Shape;182;p5"/>
          <p:cNvSpPr/>
          <p:nvPr/>
        </p:nvSpPr>
        <p:spPr>
          <a:xfrm>
            <a:off x="6172200" y="1325880"/>
            <a:ext cx="260604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txBox="1"/>
          <p:nvPr/>
        </p:nvSpPr>
        <p:spPr>
          <a:xfrm>
            <a:off x="6355080" y="1417320"/>
            <a:ext cx="22402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600"/>
              <a:buFont typeface="Cambria"/>
              <a:buNone/>
            </a:pPr>
            <a:r>
              <a:rPr b="1" i="0" lang="en-US" sz="3600" u="none" cap="none" strike="noStrike">
                <a:solidFill>
                  <a:schemeClr val="accent2"/>
                </a:solidFill>
                <a:latin typeface="Cambria"/>
                <a:ea typeface="Cambria"/>
                <a:cs typeface="Cambria"/>
                <a:sym typeface="Cambria"/>
              </a:rPr>
              <a:t>48.7 %</a:t>
            </a:r>
            <a:endParaRPr b="0" i="0" sz="3600" u="none" cap="none" strike="noStrike">
              <a:solidFill>
                <a:schemeClr val="dk1"/>
              </a:solidFill>
              <a:latin typeface="Calibri"/>
              <a:ea typeface="Calibri"/>
              <a:cs typeface="Calibri"/>
              <a:sym typeface="Calibri"/>
            </a:endParaRPr>
          </a:p>
        </p:txBody>
      </p:sp>
      <p:sp>
        <p:nvSpPr>
          <p:cNvPr id="184" name="Google Shape;184;p5"/>
          <p:cNvSpPr txBox="1"/>
          <p:nvPr/>
        </p:nvSpPr>
        <p:spPr>
          <a:xfrm>
            <a:off x="6355080" y="2103120"/>
            <a:ext cx="2286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of Pima Insulin values missing (recorded as zeros)</a:t>
            </a:r>
            <a:endParaRPr b="0" i="0" sz="1300" u="none" cap="none" strike="noStrike">
              <a:solidFill>
                <a:schemeClr val="dk1"/>
              </a:solidFill>
              <a:latin typeface="Calibri"/>
              <a:ea typeface="Calibri"/>
              <a:cs typeface="Calibri"/>
              <a:sym typeface="Calibri"/>
            </a:endParaRPr>
          </a:p>
        </p:txBody>
      </p:sp>
      <p:sp>
        <p:nvSpPr>
          <p:cNvPr id="185" name="Google Shape;185;p5"/>
          <p:cNvSpPr/>
          <p:nvPr/>
        </p:nvSpPr>
        <p:spPr>
          <a:xfrm>
            <a:off x="8983980" y="1325880"/>
            <a:ext cx="260604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txBox="1"/>
          <p:nvPr/>
        </p:nvSpPr>
        <p:spPr>
          <a:xfrm>
            <a:off x="9166860" y="1417320"/>
            <a:ext cx="22402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3600"/>
              <a:buFont typeface="Cambria"/>
              <a:buNone/>
            </a:pPr>
            <a:r>
              <a:rPr b="1" i="0" lang="en-US" sz="3600" u="none" cap="none" strike="noStrike">
                <a:solidFill>
                  <a:schemeClr val="accent2"/>
                </a:solidFill>
                <a:latin typeface="Cambria"/>
                <a:ea typeface="Cambria"/>
                <a:cs typeface="Cambria"/>
                <a:sym typeface="Cambria"/>
              </a:rPr>
              <a:t>51.7 %</a:t>
            </a:r>
            <a:endParaRPr b="0" i="0" sz="3600" u="none" cap="none" strike="noStrike">
              <a:solidFill>
                <a:schemeClr val="dk1"/>
              </a:solidFill>
              <a:latin typeface="Calibri"/>
              <a:ea typeface="Calibri"/>
              <a:cs typeface="Calibri"/>
              <a:sym typeface="Calibri"/>
            </a:endParaRPr>
          </a:p>
        </p:txBody>
      </p:sp>
      <p:sp>
        <p:nvSpPr>
          <p:cNvPr id="187" name="Google Shape;187;p5"/>
          <p:cNvSpPr txBox="1"/>
          <p:nvPr/>
        </p:nvSpPr>
        <p:spPr>
          <a:xfrm>
            <a:off x="9166860" y="2103120"/>
            <a:ext cx="2286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of Early Stage rows are exact duplicates (removed)</a:t>
            </a:r>
            <a:endParaRPr b="0" i="0" sz="1300" u="none" cap="none" strike="noStrike">
              <a:solidFill>
                <a:schemeClr val="dk1"/>
              </a:solidFill>
              <a:latin typeface="Calibri"/>
              <a:ea typeface="Calibri"/>
              <a:cs typeface="Calibri"/>
              <a:sym typeface="Calibri"/>
            </a:endParaRPr>
          </a:p>
        </p:txBody>
      </p:sp>
      <p:graphicFrame>
        <p:nvGraphicFramePr>
          <p:cNvPr id="188" name="Google Shape;188;p5"/>
          <p:cNvGraphicFramePr/>
          <p:nvPr/>
        </p:nvGraphicFramePr>
        <p:xfrm>
          <a:off x="548640" y="3108960"/>
          <a:ext cx="4206240" cy="3063240"/>
        </p:xfrm>
        <a:graphic>
          <a:graphicData uri="http://schemas.openxmlformats.org/drawingml/2006/chart">
            <c:chart r:id="rId3"/>
          </a:graphicData>
        </a:graphic>
      </p:graphicFrame>
      <p:graphicFrame>
        <p:nvGraphicFramePr>
          <p:cNvPr id="189" name="Google Shape;189;p5"/>
          <p:cNvGraphicFramePr/>
          <p:nvPr/>
        </p:nvGraphicFramePr>
        <p:xfrm>
          <a:off x="5029200" y="3108960"/>
          <a:ext cx="6611112" cy="3063240"/>
        </p:xfrm>
        <a:graphic>
          <a:graphicData uri="http://schemas.openxmlformats.org/drawingml/2006/chart">
            <c:chart r:id="rId4"/>
          </a:graphicData>
        </a:graphic>
      </p:graphicFrame>
      <p:sp>
        <p:nvSpPr>
          <p:cNvPr id="193" name="Google Shape;193;p5"/>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
        <p:nvSpPr>
          <p:cNvPr id="247" name="Google Shape;247;p8"/>
          <p:cNvSpPr txBox="1"/>
          <p:nvPr/>
        </p:nvSpPr>
        <p:spPr>
          <a:xfrm>
            <a:off x="548640" y="2724912"/>
            <a:ext cx="110642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1" lang="en-US" sz="1300" u="none" cap="none" strike="noStrike">
                <a:solidFill>
                  <a:schemeClr val="accent5"/>
                </a:solidFill>
                <a:latin typeface="Calibri"/>
                <a:ea typeface="Calibri"/>
                <a:cs typeface="Calibri"/>
                <a:sym typeface="Calibri"/>
              </a:rPr>
              <a:t>Different features and populations, so the datasets are never merged: each is modelled separately and only the results are compared</a:t>
            </a:r>
            <a:endParaRPr b="0" i="0" sz="13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6"/>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KDD / Predictive Analytics Workflow</a:t>
            </a:r>
            <a:endParaRPr sz="3200"/>
          </a:p>
        </p:txBody>
      </p:sp>
      <p:sp>
        <p:nvSpPr>
          <p:cNvPr id="204" name="Google Shape;204;p6"/>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pic>
        <p:nvPicPr>
          <p:cNvPr id="205" name="Picture 204" descr="01_kdd_workflow.png"/>
          <p:cNvPicPr>
            <a:picLocks noChangeAspect="1"/>
          </p:cNvPicPr>
          <p:nvPr/>
        </p:nvPicPr>
        <p:blipFill>
          <a:blip r:embed="rId7"/>
          <a:stretch>
            <a:fillRect/>
          </a:stretch>
        </p:blipFill>
        <p:spPr>
          <a:xfrm>
            <a:off x="685800" y="1234440"/>
            <a:ext cx="10789920" cy="4504363"/>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7"/>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Data Understanding &amp; EDA</a:t>
            </a:r>
            <a:endParaRPr sz="3200"/>
          </a:p>
        </p:txBody>
      </p:sp>
      <p:pic>
        <p:nvPicPr>
          <p:cNvPr descr="Glucose distribution by outcome" id="211" name="Google Shape;211;p7"/>
          <p:cNvPicPr preferRelativeResize="0"/>
          <p:nvPr/>
        </p:nvPicPr>
        <p:blipFill rotWithShape="1">
          <a:blip r:embed="rId3">
            <a:alphaModFix/>
          </a:blip>
          <a:srcRect b="0" l="0" r="0" t="0"/>
          <a:stretch/>
        </p:blipFill>
        <p:spPr>
          <a:xfrm>
            <a:off x="548640" y="1280160"/>
            <a:ext cx="5486400" cy="3492298"/>
          </a:xfrm>
          <a:prstGeom prst="rect">
            <a:avLst/>
          </a:prstGeom>
          <a:noFill/>
          <a:ln>
            <a:noFill/>
          </a:ln>
        </p:spPr>
      </p:pic>
      <p:sp>
        <p:nvSpPr>
          <p:cNvPr id="225" name="Google Shape;225;p7"/>
          <p:cNvSpPr txBox="1"/>
          <p:nvPr/>
        </p:nvSpPr>
        <p:spPr>
          <a:xfrm>
            <a:off x="548640" y="5760720"/>
            <a:ext cx="64008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Associations in this sample, not causal effects</a:t>
            </a:r>
            <a:endParaRPr b="0" i="0" sz="1200" u="none" cap="none" strike="noStrike">
              <a:solidFill>
                <a:schemeClr val="dk1"/>
              </a:solidFill>
              <a:latin typeface="Calibri"/>
              <a:ea typeface="Calibri"/>
              <a:cs typeface="Calibri"/>
              <a:sym typeface="Calibri"/>
            </a:endParaRPr>
          </a:p>
        </p:txBody>
      </p:sp>
      <p:sp>
        <p:nvSpPr>
          <p:cNvPr id="229" name="Google Shape;229;p7"/>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
        <p:nvSpPr>
          <p:cNvPr id="214" name="Google Shape;214;p7"/>
          <p:cNvSpPr txBox="1"/>
          <p:nvPr/>
        </p:nvSpPr>
        <p:spPr>
          <a:xfrm>
            <a:off x="548640" y="4892040"/>
            <a:ext cx="5486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Pima: Glucose separates best</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median 140 vs 107 mg/dL (r = 0.49); BMI and age are also higher</a:t>
            </a:r>
            <a:endParaRPr b="0" i="0" sz="1500" u="none" cap="none" strike="noStrike">
              <a:solidFill>
                <a:schemeClr val="dk1"/>
              </a:solidFill>
              <a:latin typeface="Calibri"/>
              <a:ea typeface="Calibri"/>
              <a:cs typeface="Calibri"/>
              <a:sym typeface="Calibri"/>
            </a:endParaRPr>
          </a:p>
        </p:txBody>
      </p:sp>
      <p:pic>
        <p:nvPicPr>
          <p:cNvPr id="230" name="Picture 229" descr="21_es_symptom_prevalence.png"/>
          <p:cNvPicPr>
            <a:picLocks noChangeAspect="1"/>
          </p:cNvPicPr>
          <p:nvPr/>
        </p:nvPicPr>
        <p:blipFill>
          <a:blip r:embed="rId12"/>
          <a:stretch>
            <a:fillRect/>
          </a:stretch>
        </p:blipFill>
        <p:spPr>
          <a:xfrm>
            <a:off x="6309360" y="1280160"/>
            <a:ext cx="5349240" cy="3499294"/>
          </a:xfrm>
          <a:prstGeom prst="rect">
            <a:avLst/>
          </a:prstGeom>
        </p:spPr>
      </p:pic>
      <p:sp>
        <p:nvSpPr>
          <p:cNvPr id="214" name="Google Shape;214;p7"/>
          <p:cNvSpPr txBox="1"/>
          <p:nvPr/>
        </p:nvSpPr>
        <p:spPr>
          <a:xfrm>
            <a:off x="6309360" y="4892040"/>
            <a:ext cx="5349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Early Stage: Polyuria &amp; Polydipsia</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'Yes' in 73 % / 69 % of diabetic vs 6 % / 5 % of non-diabetic records</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8"/>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Preprocessing: Leak-Free Pipelines</a:t>
            </a:r>
            <a:endParaRPr sz="3200"/>
          </a:p>
        </p:txBody>
      </p:sp>
      <p:sp>
        <p:nvSpPr>
          <p:cNvPr id="236" name="Google Shape;236;p8"/>
          <p:cNvSpPr/>
          <p:nvPr/>
        </p:nvSpPr>
        <p:spPr>
          <a:xfrm>
            <a:off x="548640" y="1261872"/>
            <a:ext cx="1600200" cy="566928"/>
          </a:xfrm>
          <a:prstGeom prst="roundRect">
            <a:avLst>
              <a:gd fmla="val 9412" name="adj"/>
            </a:avLst>
          </a:prstGeom>
          <a:solidFill>
            <a:schemeClr val="accent5"/>
          </a:solidFill>
          <a:ln cap="flat" cmpd="sng" w="9525">
            <a:solidFill>
              <a:schemeClr val="accent5"/>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Pima: zeros → NaN</a:t>
            </a:r>
            <a:endParaRPr b="0" i="0" sz="1400" u="none" cap="none" strike="noStrike">
              <a:solidFill>
                <a:schemeClr val="dk1"/>
              </a:solidFill>
              <a:latin typeface="Calibri"/>
              <a:ea typeface="Calibri"/>
              <a:cs typeface="Calibri"/>
              <a:sym typeface="Calibri"/>
            </a:endParaRPr>
          </a:p>
        </p:txBody>
      </p:sp>
      <p:sp>
        <p:nvSpPr>
          <p:cNvPr id="237" name="Google Shape;237;p8"/>
          <p:cNvSpPr/>
          <p:nvPr/>
        </p:nvSpPr>
        <p:spPr>
          <a:xfrm>
            <a:off x="2176272" y="1408176"/>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2423160" y="1261872"/>
            <a:ext cx="1600200" cy="566928"/>
          </a:xfrm>
          <a:prstGeom prst="roundRect">
            <a:avLst>
              <a:gd fmla="val 9412" name="adj"/>
            </a:avLst>
          </a:prstGeom>
          <a:solidFill>
            <a:schemeClr val="dk2"/>
          </a:solidFill>
          <a:ln cap="flat" cmpd="sng" w="9525">
            <a:solidFill>
              <a:schemeClr val="dk2"/>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Stratified 80/20 split</a:t>
            </a:r>
            <a:endParaRPr b="0" i="0" sz="1400" u="none" cap="none" strike="noStrike">
              <a:solidFill>
                <a:schemeClr val="dk1"/>
              </a:solidFill>
              <a:latin typeface="Calibri"/>
              <a:ea typeface="Calibri"/>
              <a:cs typeface="Calibri"/>
              <a:sym typeface="Calibri"/>
            </a:endParaRPr>
          </a:p>
        </p:txBody>
      </p:sp>
      <p:sp>
        <p:nvSpPr>
          <p:cNvPr id="239" name="Google Shape;239;p8"/>
          <p:cNvSpPr/>
          <p:nvPr/>
        </p:nvSpPr>
        <p:spPr>
          <a:xfrm>
            <a:off x="4050792" y="1408176"/>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4297680" y="1261872"/>
            <a:ext cx="1600200" cy="566928"/>
          </a:xfrm>
          <a:prstGeom prst="roundRect">
            <a:avLst>
              <a:gd fmla="val 9412" name="adj"/>
            </a:avLst>
          </a:prstGeom>
          <a:solidFill>
            <a:schemeClr val="accent1"/>
          </a:solidFill>
          <a:ln cap="flat" cmpd="sng" w="9525">
            <a:solidFill>
              <a:schemeClr val="accent1"/>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Median imputation</a:t>
            </a:r>
            <a:endParaRPr b="0" i="0" sz="1400" u="none" cap="none" strike="noStrike">
              <a:solidFill>
                <a:schemeClr val="dk1"/>
              </a:solidFill>
              <a:latin typeface="Calibri"/>
              <a:ea typeface="Calibri"/>
              <a:cs typeface="Calibri"/>
              <a:sym typeface="Calibri"/>
            </a:endParaRPr>
          </a:p>
        </p:txBody>
      </p:sp>
      <p:sp>
        <p:nvSpPr>
          <p:cNvPr id="241" name="Google Shape;241;p8"/>
          <p:cNvSpPr/>
          <p:nvPr/>
        </p:nvSpPr>
        <p:spPr>
          <a:xfrm>
            <a:off x="5925312" y="1408176"/>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6172200" y="1261872"/>
            <a:ext cx="1600200" cy="566928"/>
          </a:xfrm>
          <a:prstGeom prst="roundRect">
            <a:avLst>
              <a:gd fmla="val 9412" name="adj"/>
            </a:avLst>
          </a:prstGeom>
          <a:solidFill>
            <a:schemeClr val="accent1"/>
          </a:solidFill>
          <a:ln cap="flat" cmpd="sng" w="9525">
            <a:solidFill>
              <a:schemeClr val="accent1"/>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Standard scaling</a:t>
            </a:r>
            <a:endParaRPr b="0" i="0" sz="1400" u="none" cap="none" strike="noStrike">
              <a:solidFill>
                <a:schemeClr val="dk1"/>
              </a:solidFill>
              <a:latin typeface="Calibri"/>
              <a:ea typeface="Calibri"/>
              <a:cs typeface="Calibri"/>
              <a:sym typeface="Calibri"/>
            </a:endParaRPr>
          </a:p>
        </p:txBody>
      </p:sp>
      <p:sp>
        <p:nvSpPr>
          <p:cNvPr id="243" name="Google Shape;243;p8"/>
          <p:cNvSpPr/>
          <p:nvPr/>
        </p:nvSpPr>
        <p:spPr>
          <a:xfrm>
            <a:off x="7799832" y="1408176"/>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8046720" y="1261872"/>
            <a:ext cx="1600200" cy="566928"/>
          </a:xfrm>
          <a:prstGeom prst="roundRect">
            <a:avLst>
              <a:gd fmla="val 9412" name="adj"/>
            </a:avLst>
          </a:prstGeom>
          <a:solidFill>
            <a:schemeClr val="accent2"/>
          </a:solidFill>
          <a:ln cap="flat" cmpd="sng" w="9525">
            <a:solidFill>
              <a:schemeClr val="accent2"/>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SMOTE (train only)</a:t>
            </a:r>
            <a:endParaRPr b="0" i="0" sz="1400" u="none" cap="none" strike="noStrike">
              <a:solidFill>
                <a:schemeClr val="dk1"/>
              </a:solidFill>
              <a:latin typeface="Calibri"/>
              <a:ea typeface="Calibri"/>
              <a:cs typeface="Calibri"/>
              <a:sym typeface="Calibri"/>
            </a:endParaRPr>
          </a:p>
        </p:txBody>
      </p:sp>
      <p:sp>
        <p:nvSpPr>
          <p:cNvPr id="245" name="Google Shape;245;p8"/>
          <p:cNvSpPr/>
          <p:nvPr/>
        </p:nvSpPr>
        <p:spPr>
          <a:xfrm>
            <a:off x="9674352" y="1408176"/>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9921240" y="1261872"/>
            <a:ext cx="1600200" cy="566928"/>
          </a:xfrm>
          <a:prstGeom prst="roundRect">
            <a:avLst>
              <a:gd fmla="val 9412" name="adj"/>
            </a:avLst>
          </a:prstGeom>
          <a:solidFill>
            <a:schemeClr val="accent4"/>
          </a:solidFill>
          <a:ln cap="flat" cmpd="sng" w="9525">
            <a:solidFill>
              <a:schemeClr val="accent4"/>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Classifier</a:t>
            </a:r>
            <a:endParaRPr b="0" i="0" sz="1400" u="none" cap="none" strike="noStrike">
              <a:solidFill>
                <a:schemeClr val="dk1"/>
              </a:solidFill>
              <a:latin typeface="Calibri"/>
              <a:ea typeface="Calibri"/>
              <a:cs typeface="Calibri"/>
              <a:sym typeface="Calibri"/>
            </a:endParaRPr>
          </a:p>
        </p:txBody>
      </p:sp>
      <p:sp>
        <p:nvSpPr>
          <p:cNvPr id="247" name="Google Shape;247;p8"/>
          <p:cNvSpPr txBox="1"/>
          <p:nvPr/>
        </p:nvSpPr>
        <p:spPr>
          <a:xfrm>
            <a:off x="548640" y="2615184"/>
            <a:ext cx="11064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1" lang="en-US" sz="1300" u="none" cap="none" strike="noStrike">
                <a:solidFill>
                  <a:schemeClr val="accent5"/>
                </a:solidFill>
                <a:latin typeface="Calibri"/>
                <a:ea typeface="Calibri"/>
                <a:cs typeface="Calibri"/>
                <a:sym typeface="Calibri"/>
              </a:rPr>
              <a:t>Imputation, scaling, encoding and SMOTE are learned from the training split only (614 Pima / 200 Early Stage rows), inside one pipeline</a:t>
            </a:r>
            <a:endParaRPr b="0" i="0" sz="1300" u="none" cap="none" strike="noStrike">
              <a:solidFill>
                <a:schemeClr val="dk1"/>
              </a:solidFill>
              <a:latin typeface="Calibri"/>
              <a:ea typeface="Calibri"/>
              <a:cs typeface="Calibri"/>
              <a:sym typeface="Calibri"/>
            </a:endParaRPr>
          </a:p>
        </p:txBody>
      </p:sp>
      <p:graphicFrame>
        <p:nvGraphicFramePr>
          <p:cNvPr id="248" name="Google Shape;248;p8"/>
          <p:cNvGraphicFramePr/>
          <p:nvPr/>
        </p:nvGraphicFramePr>
        <p:xfrm>
          <a:off x="548640" y="3017520"/>
          <a:ext cx="5394960" cy="3154680"/>
        </p:xfrm>
        <a:graphic>
          <a:graphicData uri="http://schemas.openxmlformats.org/drawingml/2006/chart">
            <c:chart r:id="rId3"/>
          </a:graphicData>
        </a:graphic>
      </p:graphicFrame>
      <p:sp>
        <p:nvSpPr>
          <p:cNvPr id="249" name="Google Shape;249;p8"/>
          <p:cNvSpPr/>
          <p:nvPr/>
        </p:nvSpPr>
        <p:spPr>
          <a:xfrm>
            <a:off x="6309360" y="3017520"/>
            <a:ext cx="5330952" cy="932688"/>
          </a:xfrm>
          <a:prstGeom prst="roundRect">
            <a:avLst>
              <a:gd fmla="val 7619"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txBox="1"/>
          <p:nvPr/>
        </p:nvSpPr>
        <p:spPr>
          <a:xfrm>
            <a:off x="6492240" y="3118103"/>
            <a:ext cx="21945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mbria"/>
              <a:buNone/>
            </a:pPr>
            <a:r>
              <a:rPr b="1" i="0" lang="en-US" sz="2400" u="none" cap="none" strike="noStrike">
                <a:solidFill>
                  <a:schemeClr val="accent1"/>
                </a:solidFill>
                <a:latin typeface="Cambria"/>
                <a:ea typeface="Cambria"/>
                <a:cs typeface="Cambria"/>
                <a:sym typeface="Cambria"/>
              </a:rPr>
              <a:t>614 / 154</a:t>
            </a:r>
            <a:endParaRPr b="0" i="0" sz="2400" u="none" cap="none" strike="noStrike">
              <a:solidFill>
                <a:schemeClr val="dk1"/>
              </a:solidFill>
              <a:latin typeface="Calibri"/>
              <a:ea typeface="Calibri"/>
              <a:cs typeface="Calibri"/>
              <a:sym typeface="Calibri"/>
            </a:endParaRPr>
          </a:p>
        </p:txBody>
      </p:sp>
      <p:sp>
        <p:nvSpPr>
          <p:cNvPr id="251" name="Google Shape;251;p8"/>
          <p:cNvSpPr txBox="1"/>
          <p:nvPr/>
        </p:nvSpPr>
        <p:spPr>
          <a:xfrm>
            <a:off x="8732520" y="3118103"/>
            <a:ext cx="2788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train / test rows for Pima (Early Stage: 200 / 51)</a:t>
            </a:r>
            <a:endParaRPr b="0" i="0" sz="1400" u="none" cap="none" strike="noStrike">
              <a:solidFill>
                <a:schemeClr val="dk1"/>
              </a:solidFill>
              <a:latin typeface="Calibri"/>
              <a:ea typeface="Calibri"/>
              <a:cs typeface="Calibri"/>
              <a:sym typeface="Calibri"/>
            </a:endParaRPr>
          </a:p>
        </p:txBody>
      </p:sp>
      <p:sp>
        <p:nvSpPr>
          <p:cNvPr id="252" name="Google Shape;252;p8"/>
          <p:cNvSpPr/>
          <p:nvPr/>
        </p:nvSpPr>
        <p:spPr>
          <a:xfrm>
            <a:off x="6309360" y="4087368"/>
            <a:ext cx="5330952" cy="932688"/>
          </a:xfrm>
          <a:prstGeom prst="roundRect">
            <a:avLst>
              <a:gd fmla="val 7619"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txBox="1"/>
          <p:nvPr/>
        </p:nvSpPr>
        <p:spPr>
          <a:xfrm>
            <a:off x="6492240" y="4187952"/>
            <a:ext cx="21945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mbria"/>
              <a:buNone/>
            </a:pPr>
            <a:r>
              <a:rPr b="1" i="0" lang="en-US" sz="2400" u="none" cap="none" strike="noStrike">
                <a:solidFill>
                  <a:schemeClr val="accent1"/>
                </a:solidFill>
                <a:latin typeface="Cambria"/>
                <a:ea typeface="Cambria"/>
                <a:cs typeface="Cambria"/>
                <a:sym typeface="Cambria"/>
              </a:rPr>
              <a:t>Never resampled</a:t>
            </a:r>
            <a:endParaRPr b="0" i="0" sz="2400" u="none" cap="none" strike="noStrike">
              <a:solidFill>
                <a:schemeClr val="dk1"/>
              </a:solidFill>
              <a:latin typeface="Calibri"/>
              <a:ea typeface="Calibri"/>
              <a:cs typeface="Calibri"/>
              <a:sym typeface="Calibri"/>
            </a:endParaRPr>
          </a:p>
        </p:txBody>
      </p:sp>
      <p:sp>
        <p:nvSpPr>
          <p:cNvPr id="254" name="Google Shape;254;p8"/>
          <p:cNvSpPr txBox="1"/>
          <p:nvPr/>
        </p:nvSpPr>
        <p:spPr>
          <a:xfrm>
            <a:off x="8732520" y="4187952"/>
            <a:ext cx="2788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both test sets keep their real class ratio</a:t>
            </a:r>
            <a:endParaRPr b="0" i="0" sz="1400" u="none" cap="none" strike="noStrike">
              <a:solidFill>
                <a:schemeClr val="dk1"/>
              </a:solidFill>
              <a:latin typeface="Calibri"/>
              <a:ea typeface="Calibri"/>
              <a:cs typeface="Calibri"/>
              <a:sym typeface="Calibri"/>
            </a:endParaRPr>
          </a:p>
        </p:txBody>
      </p:sp>
      <p:sp>
        <p:nvSpPr>
          <p:cNvPr id="255" name="Google Shape;255;p8"/>
          <p:cNvSpPr/>
          <p:nvPr/>
        </p:nvSpPr>
        <p:spPr>
          <a:xfrm>
            <a:off x="6309360" y="5157216"/>
            <a:ext cx="5330952" cy="932688"/>
          </a:xfrm>
          <a:prstGeom prst="roundRect">
            <a:avLst>
              <a:gd fmla="val 7619"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txBox="1"/>
          <p:nvPr/>
        </p:nvSpPr>
        <p:spPr>
          <a:xfrm>
            <a:off x="6492240" y="5257800"/>
            <a:ext cx="21945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400"/>
              <a:buFont typeface="Cambria"/>
              <a:buNone/>
            </a:pPr>
            <a:r>
              <a:rPr b="1" i="0" lang="en-US" sz="2400" u="none" cap="none" strike="noStrike">
                <a:solidFill>
                  <a:schemeClr val="accent2"/>
                </a:solidFill>
                <a:latin typeface="Cambria"/>
                <a:ea typeface="Cambria"/>
                <a:cs typeface="Cambria"/>
                <a:sym typeface="Cambria"/>
              </a:rPr>
              <a:t>0.57 → 0.72</a:t>
            </a:r>
            <a:endParaRPr b="0" i="0" sz="2400" u="none" cap="none" strike="noStrike">
              <a:solidFill>
                <a:schemeClr val="dk1"/>
              </a:solidFill>
              <a:latin typeface="Calibri"/>
              <a:ea typeface="Calibri"/>
              <a:cs typeface="Calibri"/>
              <a:sym typeface="Calibri"/>
            </a:endParaRPr>
          </a:p>
        </p:txBody>
      </p:sp>
      <p:sp>
        <p:nvSpPr>
          <p:cNvPr id="257" name="Google Shape;257;p8"/>
          <p:cNvSpPr txBox="1"/>
          <p:nvPr/>
        </p:nvSpPr>
        <p:spPr>
          <a:xfrm>
            <a:off x="8732520" y="5257800"/>
            <a:ext cx="2788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Pima LR recall with SMOTE; for Early Stage, class weights lowered recall</a:t>
            </a:r>
            <a:endParaRPr b="0" i="0" sz="1400" u="none" cap="none" strike="noStrike">
              <a:solidFill>
                <a:schemeClr val="dk1"/>
              </a:solidFill>
              <a:latin typeface="Calibri"/>
              <a:ea typeface="Calibri"/>
              <a:cs typeface="Calibri"/>
              <a:sym typeface="Calibri"/>
            </a:endParaRPr>
          </a:p>
        </p:txBody>
      </p:sp>
      <p:sp>
        <p:nvSpPr>
          <p:cNvPr id="261" name="Google Shape;261;p8"/>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
        <p:nvSpPr>
          <p:cNvPr id="236" name="Google Shape;236;p8"/>
          <p:cNvSpPr/>
          <p:nvPr/>
        </p:nvSpPr>
        <p:spPr>
          <a:xfrm>
            <a:off x="548640" y="1938528"/>
            <a:ext cx="1600200" cy="566928"/>
          </a:xfrm>
          <a:prstGeom prst="roundRect">
            <a:avLst>
              <a:gd fmla="val 9412" name="adj"/>
            </a:avLst>
          </a:prstGeom>
          <a:solidFill>
            <a:schemeClr val="accent5"/>
          </a:solidFill>
          <a:ln cap="flat" cmpd="sng" w="9525">
            <a:solidFill>
              <a:schemeClr val="accent5"/>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Early Stage: drop duplicates</a:t>
            </a:r>
            <a:endParaRPr b="0" i="0" sz="1400" u="none" cap="none" strike="noStrike">
              <a:solidFill>
                <a:schemeClr val="dk1"/>
              </a:solidFill>
              <a:latin typeface="Calibri"/>
              <a:ea typeface="Calibri"/>
              <a:cs typeface="Calibri"/>
              <a:sym typeface="Calibri"/>
            </a:endParaRPr>
          </a:p>
        </p:txBody>
      </p:sp>
      <p:sp>
        <p:nvSpPr>
          <p:cNvPr id="238" name="Google Shape;238;p8"/>
          <p:cNvSpPr/>
          <p:nvPr/>
        </p:nvSpPr>
        <p:spPr>
          <a:xfrm>
            <a:off x="2423160" y="1938528"/>
            <a:ext cx="1600200" cy="566928"/>
          </a:xfrm>
          <a:prstGeom prst="roundRect">
            <a:avLst>
              <a:gd fmla="val 9412" name="adj"/>
            </a:avLst>
          </a:prstGeom>
          <a:solidFill>
            <a:schemeClr val="dk2"/>
          </a:solidFill>
          <a:ln cap="flat" cmpd="sng" w="9525">
            <a:solidFill>
              <a:schemeClr val="dk2"/>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Stratified 80/20 split</a:t>
            </a:r>
            <a:endParaRPr b="0" i="0" sz="1400" u="none" cap="none" strike="noStrike">
              <a:solidFill>
                <a:schemeClr val="dk1"/>
              </a:solidFill>
              <a:latin typeface="Calibri"/>
              <a:ea typeface="Calibri"/>
              <a:cs typeface="Calibri"/>
              <a:sym typeface="Calibri"/>
            </a:endParaRPr>
          </a:p>
        </p:txBody>
      </p:sp>
      <p:sp>
        <p:nvSpPr>
          <p:cNvPr id="240" name="Google Shape;240;p8"/>
          <p:cNvSpPr/>
          <p:nvPr/>
        </p:nvSpPr>
        <p:spPr>
          <a:xfrm>
            <a:off x="4297680" y="1938528"/>
            <a:ext cx="1600200" cy="566928"/>
          </a:xfrm>
          <a:prstGeom prst="roundRect">
            <a:avLst>
              <a:gd fmla="val 9412" name="adj"/>
            </a:avLst>
          </a:prstGeom>
          <a:solidFill>
            <a:schemeClr val="accent1"/>
          </a:solidFill>
          <a:ln cap="flat" cmpd="sng" w="9525">
            <a:solidFill>
              <a:schemeClr val="accent1"/>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Impute + scale Age</a:t>
            </a:r>
            <a:endParaRPr b="0" i="0" sz="1400" u="none" cap="none" strike="noStrike">
              <a:solidFill>
                <a:schemeClr val="dk1"/>
              </a:solidFill>
              <a:latin typeface="Calibri"/>
              <a:ea typeface="Calibri"/>
              <a:cs typeface="Calibri"/>
              <a:sym typeface="Calibri"/>
            </a:endParaRPr>
          </a:p>
        </p:txBody>
      </p:sp>
      <p:sp>
        <p:nvSpPr>
          <p:cNvPr id="242" name="Google Shape;242;p8"/>
          <p:cNvSpPr/>
          <p:nvPr/>
        </p:nvSpPr>
        <p:spPr>
          <a:xfrm>
            <a:off x="6172200" y="1938528"/>
            <a:ext cx="1600200" cy="566928"/>
          </a:xfrm>
          <a:prstGeom prst="roundRect">
            <a:avLst>
              <a:gd fmla="val 9412" name="adj"/>
            </a:avLst>
          </a:prstGeom>
          <a:solidFill>
            <a:schemeClr val="accent1"/>
          </a:solidFill>
          <a:ln cap="flat" cmpd="sng" w="9525">
            <a:solidFill>
              <a:schemeClr val="accent1"/>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One-hot encode symptoms</a:t>
            </a:r>
            <a:endParaRPr b="0" i="0" sz="1400" u="none" cap="none" strike="noStrike">
              <a:solidFill>
                <a:schemeClr val="dk1"/>
              </a:solidFill>
              <a:latin typeface="Calibri"/>
              <a:ea typeface="Calibri"/>
              <a:cs typeface="Calibri"/>
              <a:sym typeface="Calibri"/>
            </a:endParaRPr>
          </a:p>
        </p:txBody>
      </p:sp>
      <p:sp>
        <p:nvSpPr>
          <p:cNvPr id="244" name="Google Shape;244;p8"/>
          <p:cNvSpPr/>
          <p:nvPr/>
        </p:nvSpPr>
        <p:spPr>
          <a:xfrm>
            <a:off x="8046720" y="1938528"/>
            <a:ext cx="1600200" cy="566928"/>
          </a:xfrm>
          <a:prstGeom prst="roundRect">
            <a:avLst>
              <a:gd fmla="val 9412" name="adj"/>
            </a:avLst>
          </a:prstGeom>
          <a:solidFill>
            <a:schemeClr val="accent2"/>
          </a:solidFill>
          <a:ln cap="flat" cmpd="sng" w="9525">
            <a:solidFill>
              <a:schemeClr val="accent2"/>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No SMOTE (0/1 answers)</a:t>
            </a:r>
            <a:endParaRPr b="0" i="0" sz="1400" u="none" cap="none" strike="noStrike">
              <a:solidFill>
                <a:schemeClr val="dk1"/>
              </a:solidFill>
              <a:latin typeface="Calibri"/>
              <a:ea typeface="Calibri"/>
              <a:cs typeface="Calibri"/>
              <a:sym typeface="Calibri"/>
            </a:endParaRPr>
          </a:p>
        </p:txBody>
      </p:sp>
      <p:sp>
        <p:nvSpPr>
          <p:cNvPr id="246" name="Google Shape;246;p8"/>
          <p:cNvSpPr/>
          <p:nvPr/>
        </p:nvSpPr>
        <p:spPr>
          <a:xfrm>
            <a:off x="9921240" y="1938528"/>
            <a:ext cx="1600200" cy="566928"/>
          </a:xfrm>
          <a:prstGeom prst="roundRect">
            <a:avLst>
              <a:gd fmla="val 9412" name="adj"/>
            </a:avLst>
          </a:prstGeom>
          <a:solidFill>
            <a:schemeClr val="accent4"/>
          </a:solidFill>
          <a:ln cap="flat" cmpd="sng" w="9525">
            <a:solidFill>
              <a:schemeClr val="accent4"/>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Classifier</a:t>
            </a:r>
            <a:endParaRPr b="0" i="0" sz="1400" u="none" cap="none" strike="noStrike">
              <a:solidFill>
                <a:schemeClr val="dk1"/>
              </a:solidFill>
              <a:latin typeface="Calibri"/>
              <a:ea typeface="Calibri"/>
              <a:cs typeface="Calibri"/>
              <a:sym typeface="Calibri"/>
            </a:endParaRPr>
          </a:p>
        </p:txBody>
      </p:sp>
      <p:sp>
        <p:nvSpPr>
          <p:cNvPr id="237" name="Google Shape;237;p8"/>
          <p:cNvSpPr/>
          <p:nvPr/>
        </p:nvSpPr>
        <p:spPr>
          <a:xfrm>
            <a:off x="2176272" y="2084831"/>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4050792" y="2084831"/>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5925312" y="2084831"/>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7799832" y="2084831"/>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9674352" y="2084831"/>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9"/>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Models &amp; Evaluation Metrics</a:t>
            </a:r>
            <a:endParaRPr sz="3200"/>
          </a:p>
        </p:txBody>
      </p:sp>
      <p:sp>
        <p:nvSpPr>
          <p:cNvPr id="268" name="Google Shape;268;p9"/>
          <p:cNvSpPr/>
          <p:nvPr/>
        </p:nvSpPr>
        <p:spPr>
          <a:xfrm>
            <a:off x="548640" y="1261872"/>
            <a:ext cx="2057400" cy="2487168"/>
          </a:xfrm>
          <a:prstGeom prst="roundRect">
            <a:avLst>
              <a:gd fmla="val 355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1234440" y="1371600"/>
            <a:ext cx="685800" cy="685800"/>
          </a:xfrm>
          <a:prstGeom prst="ellipse">
            <a:avLst/>
          </a:prstGeom>
          <a:solidFill>
            <a:srgbClr val="3A5A98"/>
          </a:solidFill>
          <a:ln cap="flat" cmpd="sng" w="12700">
            <a:solidFill>
              <a:srgbClr val="3A5A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270" name="Google Shape;270;p9"/>
          <p:cNvPicPr preferRelativeResize="0"/>
          <p:nvPr/>
        </p:nvPicPr>
        <p:blipFill rotWithShape="1">
          <a:blip r:embed="rId6">
            <a:alphaModFix/>
          </a:blip>
          <a:srcRect b="0" l="0" r="0" t="0"/>
          <a:stretch/>
        </p:blipFill>
        <p:spPr>
          <a:xfrm>
            <a:off x="1399032" y="1536192"/>
            <a:ext cx="356616" cy="356616"/>
          </a:xfrm>
          <a:prstGeom prst="rect">
            <a:avLst/>
          </a:prstGeom>
          <a:noFill/>
          <a:ln>
            <a:noFill/>
          </a:ln>
        </p:spPr>
      </p:pic>
      <p:sp>
        <p:nvSpPr>
          <p:cNvPr id="271" name="Google Shape;271;p9"/>
          <p:cNvSpPr/>
          <p:nvPr/>
        </p:nvSpPr>
        <p:spPr>
          <a:xfrm>
            <a:off x="685800" y="2148840"/>
            <a:ext cx="178308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Logistic Regression</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Linear, interpretable baseline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max_iter = 1000</a:t>
            </a:r>
            <a:endParaRPr b="0" i="0" sz="1600" u="none" cap="none" strike="noStrike">
              <a:solidFill>
                <a:schemeClr val="dk1"/>
              </a:solidFill>
              <a:latin typeface="Calibri"/>
              <a:ea typeface="Calibri"/>
              <a:cs typeface="Calibri"/>
              <a:sym typeface="Calibri"/>
            </a:endParaRPr>
          </a:p>
        </p:txBody>
      </p:sp>
      <p:sp>
        <p:nvSpPr>
          <p:cNvPr id="273" name="Google Shape;273;p9"/>
          <p:cNvSpPr/>
          <p:nvPr/>
        </p:nvSpPr>
        <p:spPr>
          <a:xfrm>
            <a:off x="2802636" y="1261872"/>
            <a:ext cx="2057400" cy="2487168"/>
          </a:xfrm>
          <a:prstGeom prst="roundRect">
            <a:avLst>
              <a:gd fmla="val 355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3488436" y="1371600"/>
            <a:ext cx="685800" cy="685800"/>
          </a:xfrm>
          <a:prstGeom prst="ellipse">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275" name="Google Shape;275;p9"/>
          <p:cNvPicPr preferRelativeResize="0"/>
          <p:nvPr/>
        </p:nvPicPr>
        <p:blipFill rotWithShape="1">
          <a:blip r:embed="rId11">
            <a:alphaModFix/>
          </a:blip>
          <a:srcRect b="0" l="0" r="0" t="0"/>
          <a:stretch/>
        </p:blipFill>
        <p:spPr>
          <a:xfrm>
            <a:off x="3653028" y="1536192"/>
            <a:ext cx="356616" cy="356616"/>
          </a:xfrm>
          <a:prstGeom prst="rect">
            <a:avLst/>
          </a:prstGeom>
          <a:noFill/>
          <a:ln>
            <a:noFill/>
          </a:ln>
        </p:spPr>
      </p:pic>
      <p:sp>
        <p:nvSpPr>
          <p:cNvPr id="276" name="Google Shape;276;p9"/>
          <p:cNvSpPr/>
          <p:nvPr/>
        </p:nvSpPr>
        <p:spPr>
          <a:xfrm>
            <a:off x="2939796" y="2148840"/>
            <a:ext cx="178308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K-Nearest Neighbors</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Instance-based (distance)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k = 15 neighbours</a:t>
            </a:r>
            <a:endParaRPr b="0" i="0" sz="1600" u="none" cap="none" strike="noStrike">
              <a:solidFill>
                <a:schemeClr val="dk1"/>
              </a:solidFill>
              <a:latin typeface="Calibri"/>
              <a:ea typeface="Calibri"/>
              <a:cs typeface="Calibri"/>
              <a:sym typeface="Calibri"/>
            </a:endParaRPr>
          </a:p>
        </p:txBody>
      </p:sp>
      <p:sp>
        <p:nvSpPr>
          <p:cNvPr id="278" name="Google Shape;278;p9"/>
          <p:cNvSpPr/>
          <p:nvPr/>
        </p:nvSpPr>
        <p:spPr>
          <a:xfrm>
            <a:off x="5056632" y="1261872"/>
            <a:ext cx="2057400" cy="2487168"/>
          </a:xfrm>
          <a:prstGeom prst="roundRect">
            <a:avLst>
              <a:gd fmla="val 355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5742432" y="1371600"/>
            <a:ext cx="685800" cy="685800"/>
          </a:xfrm>
          <a:prstGeom prst="ellipse">
            <a:avLst/>
          </a:prstGeom>
          <a:solidFill>
            <a:srgbClr val="7A8B94"/>
          </a:solidFill>
          <a:ln cap="flat" cmpd="sng" w="12700">
            <a:solidFill>
              <a:srgbClr val="7A8B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280" name="Google Shape;280;p9"/>
          <p:cNvPicPr preferRelativeResize="0"/>
          <p:nvPr/>
        </p:nvPicPr>
        <p:blipFill rotWithShape="1">
          <a:blip r:embed="rId16">
            <a:alphaModFix/>
          </a:blip>
          <a:srcRect b="0" l="0" r="0" t="0"/>
          <a:stretch/>
        </p:blipFill>
        <p:spPr>
          <a:xfrm>
            <a:off x="5907024" y="1536192"/>
            <a:ext cx="356616" cy="356616"/>
          </a:xfrm>
          <a:prstGeom prst="rect">
            <a:avLst/>
          </a:prstGeom>
          <a:noFill/>
          <a:ln>
            <a:noFill/>
          </a:ln>
        </p:spPr>
      </p:pic>
      <p:sp>
        <p:nvSpPr>
          <p:cNvPr id="281" name="Google Shape;281;p9"/>
          <p:cNvSpPr/>
          <p:nvPr/>
        </p:nvSpPr>
        <p:spPr>
          <a:xfrm>
            <a:off x="5193792" y="2148840"/>
            <a:ext cx="178308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Decision Tree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Rule-based tree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max_depth = 5, min_samples_leaf = 5</a:t>
            </a:r>
            <a:endParaRPr b="0" i="0" sz="1600" u="none" cap="none" strike="noStrike">
              <a:solidFill>
                <a:schemeClr val="dk1"/>
              </a:solidFill>
              <a:latin typeface="Calibri"/>
              <a:ea typeface="Calibri"/>
              <a:cs typeface="Calibri"/>
              <a:sym typeface="Calibri"/>
            </a:endParaRPr>
          </a:p>
        </p:txBody>
      </p:sp>
      <p:sp>
        <p:nvSpPr>
          <p:cNvPr id="283" name="Google Shape;283;p9"/>
          <p:cNvSpPr/>
          <p:nvPr/>
        </p:nvSpPr>
        <p:spPr>
          <a:xfrm>
            <a:off x="7310628" y="1261872"/>
            <a:ext cx="2057400" cy="2487168"/>
          </a:xfrm>
          <a:prstGeom prst="roundRect">
            <a:avLst>
              <a:gd fmla="val 355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7996428" y="1371600"/>
            <a:ext cx="685800" cy="685800"/>
          </a:xfrm>
          <a:prstGeom prst="ellipse">
            <a:avLst/>
          </a:prstGeom>
          <a:solidFill>
            <a:srgbClr val="0E7C86"/>
          </a:solidFill>
          <a:ln cap="flat" cmpd="sng" w="12700">
            <a:solidFill>
              <a:srgbClr val="0E7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285" name="Google Shape;285;p9"/>
          <p:cNvPicPr preferRelativeResize="0"/>
          <p:nvPr/>
        </p:nvPicPr>
        <p:blipFill rotWithShape="1">
          <a:blip r:embed="rId21">
            <a:alphaModFix/>
          </a:blip>
          <a:srcRect b="0" l="0" r="0" t="0"/>
          <a:stretch/>
        </p:blipFill>
        <p:spPr>
          <a:xfrm>
            <a:off x="8161020" y="1536192"/>
            <a:ext cx="356616" cy="356616"/>
          </a:xfrm>
          <a:prstGeom prst="rect">
            <a:avLst/>
          </a:prstGeom>
          <a:noFill/>
          <a:ln>
            <a:noFill/>
          </a:ln>
        </p:spPr>
      </p:pic>
      <p:sp>
        <p:nvSpPr>
          <p:cNvPr id="286" name="Google Shape;286;p9"/>
          <p:cNvSpPr/>
          <p:nvPr/>
        </p:nvSpPr>
        <p:spPr>
          <a:xfrm>
            <a:off x="7447788" y="2148840"/>
            <a:ext cx="178308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Random Forest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Bagging ensemble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300 trees, min_samples_leaf = 2</a:t>
            </a:r>
            <a:endParaRPr b="0" i="0" sz="1600" u="none" cap="none" strike="noStrike">
              <a:solidFill>
                <a:schemeClr val="dk1"/>
              </a:solidFill>
              <a:latin typeface="Calibri"/>
              <a:ea typeface="Calibri"/>
              <a:cs typeface="Calibri"/>
              <a:sym typeface="Calibri"/>
            </a:endParaRPr>
          </a:p>
        </p:txBody>
      </p:sp>
      <p:sp>
        <p:nvSpPr>
          <p:cNvPr id="288" name="Google Shape;288;p9"/>
          <p:cNvSpPr/>
          <p:nvPr/>
        </p:nvSpPr>
        <p:spPr>
          <a:xfrm>
            <a:off x="9564624" y="1261872"/>
            <a:ext cx="2057400" cy="2487168"/>
          </a:xfrm>
          <a:prstGeom prst="roundRect">
            <a:avLst>
              <a:gd fmla="val 355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10250424" y="1371600"/>
            <a:ext cx="685800" cy="685800"/>
          </a:xfrm>
          <a:prstGeom prst="ellipse">
            <a:avLst/>
          </a:prstGeom>
          <a:solidFill>
            <a:srgbClr val="6B4E9B"/>
          </a:solidFill>
          <a:ln cap="flat" cmpd="sng" w="12700">
            <a:solidFill>
              <a:srgbClr val="6B4E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290" name="Google Shape;290;p9"/>
          <p:cNvPicPr preferRelativeResize="0"/>
          <p:nvPr/>
        </p:nvPicPr>
        <p:blipFill rotWithShape="1">
          <a:blip r:embed="rId26">
            <a:alphaModFix/>
          </a:blip>
          <a:srcRect b="0" l="0" r="0" t="0"/>
          <a:stretch/>
        </p:blipFill>
        <p:spPr>
          <a:xfrm>
            <a:off x="10415016" y="1536192"/>
            <a:ext cx="356616" cy="356616"/>
          </a:xfrm>
          <a:prstGeom prst="rect">
            <a:avLst/>
          </a:prstGeom>
          <a:noFill/>
          <a:ln>
            <a:noFill/>
          </a:ln>
        </p:spPr>
      </p:pic>
      <p:sp>
        <p:nvSpPr>
          <p:cNvPr id="291" name="Google Shape;291;p9"/>
          <p:cNvSpPr/>
          <p:nvPr/>
        </p:nvSpPr>
        <p:spPr>
          <a:xfrm>
            <a:off x="9701784" y="2148840"/>
            <a:ext cx="178308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XGBoost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Gradient-boosting ensemble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200 trees, depth 3, lr 0.05</a:t>
            </a:r>
            <a:endParaRPr b="0" i="0" sz="1600" u="none" cap="none" strike="noStrike">
              <a:solidFill>
                <a:schemeClr val="dk1"/>
              </a:solidFill>
              <a:latin typeface="Calibri"/>
              <a:ea typeface="Calibri"/>
              <a:cs typeface="Calibri"/>
              <a:sym typeface="Calibri"/>
            </a:endParaRPr>
          </a:p>
        </p:txBody>
      </p:sp>
      <p:sp>
        <p:nvSpPr>
          <p:cNvPr id="293" name="Google Shape;293;p9"/>
          <p:cNvSpPr txBox="1"/>
          <p:nvPr/>
        </p:nvSpPr>
        <p:spPr>
          <a:xfrm>
            <a:off x="548640" y="5806440"/>
            <a:ext cx="1106424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300"/>
              <a:buFont typeface="Calibri"/>
              <a:buNone/>
            </a:pPr>
            <a:r>
              <a:rPr b="0" i="1" lang="en-US" sz="1300" u="none" cap="none" strike="noStrike">
                <a:solidFill>
                  <a:schemeClr val="accent5"/>
                </a:solidFill>
                <a:latin typeface="Calibri"/>
                <a:ea typeface="Calibri"/>
                <a:cs typeface="Calibri"/>
                <a:sym typeface="Calibri"/>
              </a:rPr>
              <a:t>Selection rule (both datasets): recall ≥ 0.70 in CV and test, then the highest mean of the 5 metrics over CV + test</a:t>
            </a:r>
            <a:endParaRPr b="0" i="0" sz="1300" u="none" cap="none" strike="noStrike">
              <a:solidFill>
                <a:schemeClr val="dk1"/>
              </a:solidFill>
              <a:latin typeface="Calibri"/>
              <a:ea typeface="Calibri"/>
              <a:cs typeface="Calibri"/>
              <a:sym typeface="Calibri"/>
            </a:endParaRPr>
          </a:p>
        </p:txBody>
      </p:sp>
      <p:sp>
        <p:nvSpPr>
          <p:cNvPr id="297" name="Google Shape;297;p9"/>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
        <p:nvSpPr>
          <p:cNvPr id="298" name="TextBox 297"/>
          <p:cNvSpPr txBox="1"/>
          <p:nvPr/>
        </p:nvSpPr>
        <p:spPr>
          <a:xfrm>
            <a:off x="548640" y="3904487"/>
            <a:ext cx="11064240" cy="320040"/>
          </a:xfrm>
          <a:prstGeom prst="rect">
            <a:avLst/>
          </a:prstGeom>
          <a:noFill/>
        </p:spPr>
        <p:txBody>
          <a:bodyPr wrap="square" anchor="t" lIns="0" rIns="0" tIns="0" bIns="0">
            <a:spAutoFit/>
          </a:bodyPr>
          <a:lstStyle/>
          <a:p>
            <a:pPr algn="l">
              <a:spcAft>
                <a:spcPts val="400"/>
              </a:spcAft>
            </a:pPr>
            <a:r>
              <a:rPr sz="1500" b="1">
                <a:solidFill>
                  <a:schemeClr val="dk2"/>
                </a:solidFill>
                <a:latin typeface="Calibri"/>
              </a:rPr>
              <a:t>Same five models, settings, metrics and selection rule for both datasets</a:t>
            </a:r>
          </a:p>
        </p:txBody>
      </p:sp>
      <p:sp>
        <p:nvSpPr>
          <p:cNvPr id="299" name="Rounded Rectangle 298"/>
          <p:cNvSpPr/>
          <p:nvPr/>
        </p:nvSpPr>
        <p:spPr>
          <a:xfrm>
            <a:off x="548640" y="4297680"/>
            <a:ext cx="2057400" cy="1325880"/>
          </a:xfrm>
          <a:prstGeom prst="roundRect">
            <a:avLst>
              <a:gd name="adj" fmla="val 8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676656" y="4389120"/>
            <a:ext cx="1801368" cy="1188720"/>
          </a:xfrm>
          <a:prstGeom prst="rect">
            <a:avLst/>
          </a:prstGeom>
          <a:noFill/>
        </p:spPr>
        <p:txBody>
          <a:bodyPr wrap="square" anchor="t" lIns="0" rIns="0" tIns="0" bIns="0">
            <a:spAutoFit/>
          </a:bodyPr>
          <a:lstStyle/>
          <a:p>
            <a:pPr algn="l">
              <a:spcAft>
                <a:spcPts val="400"/>
              </a:spcAft>
            </a:pPr>
            <a:r>
              <a:rPr sz="1600" b="1">
                <a:solidFill>
                  <a:schemeClr val="dk2"/>
                </a:solidFill>
                <a:latin typeface="Calibri"/>
              </a:rPr>
              <a:t>Accuracy</a:t>
            </a:r>
          </a:p>
          <a:p>
            <a:pPr algn="l">
              <a:spcAft>
                <a:spcPts val="400"/>
              </a:spcAft>
            </a:pPr>
            <a:r>
              <a:rPr sz="1200" b="0">
                <a:solidFill>
                  <a:schemeClr val="dk1"/>
                </a:solidFill>
                <a:latin typeface="Calibri"/>
              </a:rPr>
              <a:t>share of correct predictions</a:t>
            </a:r>
          </a:p>
          <a:p>
            <a:pPr algn="l">
              <a:spcAft>
                <a:spcPts val="400"/>
              </a:spcAft>
            </a:pPr>
            <a:r>
              <a:rPr sz="1100" b="0">
                <a:solidFill>
                  <a:srgbClr val="7A8B94"/>
                </a:solidFill>
                <a:latin typeface="Calibri"/>
              </a:rPr>
              <a:t>(TP + TN) / all</a:t>
            </a:r>
          </a:p>
        </p:txBody>
      </p:sp>
      <p:sp>
        <p:nvSpPr>
          <p:cNvPr id="301" name="Rounded Rectangle 300"/>
          <p:cNvSpPr/>
          <p:nvPr/>
        </p:nvSpPr>
        <p:spPr>
          <a:xfrm>
            <a:off x="2802636" y="4297680"/>
            <a:ext cx="2057400" cy="1325880"/>
          </a:xfrm>
          <a:prstGeom prst="roundRect">
            <a:avLst>
              <a:gd name="adj" fmla="val 8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2930652" y="4389120"/>
            <a:ext cx="1801368" cy="1188720"/>
          </a:xfrm>
          <a:prstGeom prst="rect">
            <a:avLst/>
          </a:prstGeom>
          <a:noFill/>
        </p:spPr>
        <p:txBody>
          <a:bodyPr wrap="square" anchor="t" lIns="0" rIns="0" tIns="0" bIns="0">
            <a:spAutoFit/>
          </a:bodyPr>
          <a:lstStyle/>
          <a:p>
            <a:pPr algn="l">
              <a:spcAft>
                <a:spcPts val="400"/>
              </a:spcAft>
            </a:pPr>
            <a:r>
              <a:rPr sz="1600" b="1">
                <a:solidFill>
                  <a:schemeClr val="dk2"/>
                </a:solidFill>
                <a:latin typeface="Calibri"/>
              </a:rPr>
              <a:t>Precision</a:t>
            </a:r>
          </a:p>
          <a:p>
            <a:pPr algn="l">
              <a:spcAft>
                <a:spcPts val="400"/>
              </a:spcAft>
            </a:pPr>
            <a:r>
              <a:rPr sz="1200" b="0">
                <a:solidFill>
                  <a:schemeClr val="dk1"/>
                </a:solidFill>
                <a:latin typeface="Calibri"/>
              </a:rPr>
              <a:t>flagged people who are diabetic</a:t>
            </a:r>
          </a:p>
          <a:p>
            <a:pPr algn="l">
              <a:spcAft>
                <a:spcPts val="400"/>
              </a:spcAft>
            </a:pPr>
            <a:r>
              <a:rPr sz="1100" b="0">
                <a:solidFill>
                  <a:srgbClr val="7A8B94"/>
                </a:solidFill>
                <a:latin typeface="Calibri"/>
              </a:rPr>
              <a:t>TP / (TP + FP)</a:t>
            </a:r>
          </a:p>
        </p:txBody>
      </p:sp>
      <p:sp>
        <p:nvSpPr>
          <p:cNvPr id="303" name="Rounded Rectangle 302"/>
          <p:cNvSpPr/>
          <p:nvPr/>
        </p:nvSpPr>
        <p:spPr>
          <a:xfrm>
            <a:off x="5056631" y="4297680"/>
            <a:ext cx="2057400" cy="1325880"/>
          </a:xfrm>
          <a:prstGeom prst="roundRect">
            <a:avLst>
              <a:gd name="adj" fmla="val 8000"/>
            </a:avLst>
          </a:prstGeom>
          <a:solidFill>
            <a:srgbClr val="FD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5184647" y="4389120"/>
            <a:ext cx="1801368" cy="1188720"/>
          </a:xfrm>
          <a:prstGeom prst="rect">
            <a:avLst/>
          </a:prstGeom>
          <a:noFill/>
        </p:spPr>
        <p:txBody>
          <a:bodyPr wrap="square" anchor="t" lIns="0" rIns="0" tIns="0" bIns="0">
            <a:spAutoFit/>
          </a:bodyPr>
          <a:lstStyle/>
          <a:p>
            <a:pPr algn="l">
              <a:spcAft>
                <a:spcPts val="400"/>
              </a:spcAft>
            </a:pPr>
            <a:r>
              <a:rPr sz="1600" b="1">
                <a:solidFill>
                  <a:srgbClr val="F25C54"/>
                </a:solidFill>
                <a:latin typeface="Calibri"/>
              </a:rPr>
              <a:t>Recall</a:t>
            </a:r>
          </a:p>
          <a:p>
            <a:pPr algn="l">
              <a:spcAft>
                <a:spcPts val="400"/>
              </a:spcAft>
            </a:pPr>
            <a:r>
              <a:rPr sz="1200" b="0">
                <a:solidFill>
                  <a:schemeClr val="dk1"/>
                </a:solidFill>
                <a:latin typeface="Calibri"/>
              </a:rPr>
              <a:t>diabetic people caught (key for screening)</a:t>
            </a:r>
          </a:p>
          <a:p>
            <a:pPr algn="l">
              <a:spcAft>
                <a:spcPts val="400"/>
              </a:spcAft>
            </a:pPr>
            <a:r>
              <a:rPr sz="1100" b="0">
                <a:solidFill>
                  <a:srgbClr val="7A8B94"/>
                </a:solidFill>
                <a:latin typeface="Calibri"/>
              </a:rPr>
              <a:t>TP / (TP + FN)</a:t>
            </a:r>
          </a:p>
        </p:txBody>
      </p:sp>
      <p:sp>
        <p:nvSpPr>
          <p:cNvPr id="305" name="Rounded Rectangle 304"/>
          <p:cNvSpPr/>
          <p:nvPr/>
        </p:nvSpPr>
        <p:spPr>
          <a:xfrm>
            <a:off x="7310627" y="4297680"/>
            <a:ext cx="2057400" cy="1325880"/>
          </a:xfrm>
          <a:prstGeom prst="roundRect">
            <a:avLst>
              <a:gd name="adj" fmla="val 8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7438644" y="4389120"/>
            <a:ext cx="1801368" cy="1188720"/>
          </a:xfrm>
          <a:prstGeom prst="rect">
            <a:avLst/>
          </a:prstGeom>
          <a:noFill/>
        </p:spPr>
        <p:txBody>
          <a:bodyPr wrap="square" anchor="t" lIns="0" rIns="0" tIns="0" bIns="0">
            <a:spAutoFit/>
          </a:bodyPr>
          <a:lstStyle/>
          <a:p>
            <a:pPr algn="l">
              <a:spcAft>
                <a:spcPts val="400"/>
              </a:spcAft>
            </a:pPr>
            <a:r>
              <a:rPr sz="1600" b="1">
                <a:solidFill>
                  <a:schemeClr val="dk2"/>
                </a:solidFill>
                <a:latin typeface="Calibri"/>
              </a:rPr>
              <a:t>F1</a:t>
            </a:r>
          </a:p>
          <a:p>
            <a:pPr algn="l">
              <a:spcAft>
                <a:spcPts val="400"/>
              </a:spcAft>
            </a:pPr>
            <a:r>
              <a:rPr sz="1200" b="0">
                <a:solidFill>
                  <a:schemeClr val="dk1"/>
                </a:solidFill>
                <a:latin typeface="Calibri"/>
              </a:rPr>
              <a:t>balance of precision and recall</a:t>
            </a:r>
          </a:p>
          <a:p>
            <a:pPr algn="l">
              <a:spcAft>
                <a:spcPts val="400"/>
              </a:spcAft>
            </a:pPr>
            <a:r>
              <a:rPr sz="1100" b="0">
                <a:solidFill>
                  <a:srgbClr val="7A8B94"/>
                </a:solidFill>
                <a:latin typeface="Calibri"/>
              </a:rPr>
              <a:t>2PR / (P + R)</a:t>
            </a:r>
          </a:p>
        </p:txBody>
      </p:sp>
      <p:sp>
        <p:nvSpPr>
          <p:cNvPr id="307" name="Rounded Rectangle 306"/>
          <p:cNvSpPr/>
          <p:nvPr/>
        </p:nvSpPr>
        <p:spPr>
          <a:xfrm>
            <a:off x="9564624" y="4297680"/>
            <a:ext cx="2057400" cy="1325880"/>
          </a:xfrm>
          <a:prstGeom prst="roundRect">
            <a:avLst>
              <a:gd name="adj" fmla="val 8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9692640" y="4389120"/>
            <a:ext cx="1801368" cy="1188720"/>
          </a:xfrm>
          <a:prstGeom prst="rect">
            <a:avLst/>
          </a:prstGeom>
          <a:noFill/>
        </p:spPr>
        <p:txBody>
          <a:bodyPr wrap="square" anchor="t" lIns="0" rIns="0" tIns="0" bIns="0">
            <a:spAutoFit/>
          </a:bodyPr>
          <a:lstStyle/>
          <a:p>
            <a:pPr algn="l">
              <a:spcAft>
                <a:spcPts val="400"/>
              </a:spcAft>
            </a:pPr>
            <a:r>
              <a:rPr sz="1600" b="1">
                <a:solidFill>
                  <a:schemeClr val="dk2"/>
                </a:solidFill>
                <a:latin typeface="Calibri"/>
              </a:rPr>
              <a:t>ROC-AUC</a:t>
            </a:r>
          </a:p>
          <a:p>
            <a:pPr algn="l">
              <a:spcAft>
                <a:spcPts val="400"/>
              </a:spcAft>
            </a:pPr>
            <a:r>
              <a:rPr sz="1200" b="0">
                <a:solidFill>
                  <a:schemeClr val="dk1"/>
                </a:solidFill>
                <a:latin typeface="Calibri"/>
              </a:rPr>
              <a:t>ranking quality, all thresholds</a:t>
            </a:r>
          </a:p>
          <a:p>
            <a:pPr algn="l">
              <a:spcAft>
                <a:spcPts val="400"/>
              </a:spcAft>
            </a:pPr>
            <a:r>
              <a:rPr sz="1100" b="0">
                <a:solidFill>
                  <a:srgbClr val="7A8B94"/>
                </a:solidFill>
                <a:latin typeface="Calibri"/>
              </a:rPr>
              <a:t>area under ROC</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1"/>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Results: Dataset 1 – Pima (Test Set)</a:t>
            </a:r>
            <a:endParaRPr sz="3200"/>
          </a:p>
        </p:txBody>
      </p:sp>
      <p:graphicFrame>
        <p:nvGraphicFramePr>
          <p:cNvPr id="344" name="Google Shape;344;p11"/>
          <p:cNvGraphicFramePr/>
          <p:nvPr/>
        </p:nvGraphicFramePr>
        <p:xfrm>
          <a:off x="457200" y="1234440"/>
          <a:ext cx="7040880" cy="4937760"/>
        </p:xfrm>
        <a:graphic>
          <a:graphicData uri="http://schemas.openxmlformats.org/drawingml/2006/chart">
            <c:chart r:id="rId3"/>
          </a:graphicData>
        </a:graphic>
      </p:graphicFrame>
      <p:sp>
        <p:nvSpPr>
          <p:cNvPr id="345" name="Google Shape;345;p11"/>
          <p:cNvSpPr/>
          <p:nvPr/>
        </p:nvSpPr>
        <p:spPr>
          <a:xfrm>
            <a:off x="7772400" y="1234440"/>
            <a:ext cx="3867912" cy="3337560"/>
          </a:xfrm>
          <a:prstGeom prst="roundRect">
            <a:avLst>
              <a:gd fmla="val 2192" name="adj"/>
            </a:avLst>
          </a:prstGeom>
          <a:solidFill>
            <a:schemeClr val="dk2"/>
          </a:solidFill>
          <a:ln cap="flat" cmpd="sng" w="12700">
            <a:solidFill>
              <a:schemeClr val="dk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8001000" y="1463040"/>
            <a:ext cx="685800" cy="68580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347" name="Google Shape;347;p11"/>
          <p:cNvPicPr preferRelativeResize="0"/>
          <p:nvPr/>
        </p:nvPicPr>
        <p:blipFill rotWithShape="1">
          <a:blip r:embed="rId4">
            <a:alphaModFix/>
          </a:blip>
          <a:srcRect b="0" l="0" r="0" t="0"/>
          <a:stretch/>
        </p:blipFill>
        <p:spPr>
          <a:xfrm>
            <a:off x="8165592" y="1627632"/>
            <a:ext cx="356616" cy="356616"/>
          </a:xfrm>
          <a:prstGeom prst="rect">
            <a:avLst/>
          </a:prstGeom>
          <a:noFill/>
          <a:ln>
            <a:noFill/>
          </a:ln>
        </p:spPr>
      </p:pic>
      <p:sp>
        <p:nvSpPr>
          <p:cNvPr id="348" name="Google Shape;348;p11"/>
          <p:cNvSpPr txBox="1"/>
          <p:nvPr/>
        </p:nvSpPr>
        <p:spPr>
          <a:xfrm>
            <a:off x="8823960" y="1463040"/>
            <a:ext cx="2743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300"/>
              <a:buFont typeface="Cambria"/>
              <a:buNone/>
            </a:pPr>
            <a:r>
              <a:rPr b="1" i="0" lang="en-US" sz="1300" u="none" cap="none" strike="noStrike">
                <a:solidFill>
                  <a:schemeClr val="accent3"/>
                </a:solidFill>
                <a:latin typeface="Cambria"/>
                <a:ea typeface="Cambria"/>
                <a:cs typeface="Cambria"/>
                <a:sym typeface="Cambria"/>
              </a:rPr>
              <a:t>Final model</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2200"/>
              <a:buFont typeface="Cambria"/>
              <a:buNone/>
            </a:pPr>
            <a:r>
              <a:rPr b="1" i="0" lang="en-US" sz="2200" u="none" cap="none" strike="noStrike">
                <a:solidFill>
                  <a:schemeClr val="lt1"/>
                </a:solidFill>
                <a:latin typeface="Cambria"/>
                <a:ea typeface="Cambria"/>
                <a:cs typeface="Cambria"/>
                <a:sym typeface="Cambria"/>
              </a:rPr>
              <a:t>Random Forest</a:t>
            </a:r>
            <a:endParaRPr b="0" i="0" sz="1500" u="none" cap="none" strike="noStrike">
              <a:solidFill>
                <a:schemeClr val="dk1"/>
              </a:solidFill>
              <a:latin typeface="Calibri"/>
              <a:ea typeface="Calibri"/>
              <a:cs typeface="Calibri"/>
              <a:sym typeface="Calibri"/>
            </a:endParaRPr>
          </a:p>
        </p:txBody>
      </p:sp>
      <p:sp>
        <p:nvSpPr>
          <p:cNvPr id="349" name="Google Shape;349;p11"/>
          <p:cNvSpPr txBox="1"/>
          <p:nvPr/>
        </p:nvSpPr>
        <p:spPr>
          <a:xfrm>
            <a:off x="8001000" y="2377440"/>
            <a:ext cx="352044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Recall 0.741 </a:t>
            </a:r>
            <a:r>
              <a:rPr b="0" i="0" lang="en-US" sz="1400" u="none" cap="none" strike="noStrike">
                <a:solidFill>
                  <a:schemeClr val="lt1"/>
                </a:solidFill>
                <a:latin typeface="Calibri"/>
                <a:ea typeface="Calibri"/>
                <a:cs typeface="Calibri"/>
                <a:sym typeface="Calibri"/>
              </a:rPr>
              <a:t>(40 of 54 caught)</a:t>
            </a:r>
            <a:endParaRPr b="0" i="0" sz="1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ROC-AUC 0.809 </a:t>
            </a:r>
            <a:r>
              <a:rPr b="0" i="0" lang="en-US" sz="1400" u="none" cap="none" strike="noStrike">
                <a:solidFill>
                  <a:schemeClr val="lt1"/>
                </a:solidFill>
                <a:latin typeface="Calibri"/>
                <a:ea typeface="Calibri"/>
                <a:cs typeface="Calibri"/>
                <a:sym typeface="Calibri"/>
              </a:rPr>
              <a:t>(CV 0.829)</a:t>
            </a:r>
            <a:endParaRPr b="0" i="0" sz="1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Precision 0.615, </a:t>
            </a:r>
            <a:r>
              <a:rPr b="0" i="0" lang="en-US" sz="1400" u="none" cap="none" strike="noStrike">
                <a:solidFill>
                  <a:schemeClr val="lt1"/>
                </a:solidFill>
                <a:latin typeface="Calibri"/>
                <a:ea typeface="Calibri"/>
                <a:cs typeface="Calibri"/>
                <a:sym typeface="Calibri"/>
              </a:rPr>
              <a:t>specificity 0.75</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lt1"/>
              </a:buClr>
              <a:buSzPts val="1400"/>
              <a:buFont typeface="Calibri"/>
              <a:buChar char="•"/>
            </a:pPr>
            <a:r>
              <a:rPr b="0" i="0" lang="en-US" sz="1400" u="none" cap="none" strike="noStrike">
                <a:solidFill>
                  <a:schemeClr val="lt1"/>
                </a:solidFill>
                <a:latin typeface="Calibri"/>
                <a:ea typeface="Calibri"/>
                <a:cs typeface="Calibri"/>
                <a:sym typeface="Calibri"/>
              </a:rPr>
              <a:t>Recall ≥ 0.70 in both CV and test, highest overall score</a:t>
            </a:r>
            <a:endParaRPr b="0" i="0" sz="1500" u="none" cap="none" strike="noStrike">
              <a:solidFill>
                <a:schemeClr val="dk1"/>
              </a:solidFill>
              <a:latin typeface="Calibri"/>
              <a:ea typeface="Calibri"/>
              <a:cs typeface="Calibri"/>
              <a:sym typeface="Calibri"/>
            </a:endParaRPr>
          </a:p>
        </p:txBody>
      </p:sp>
      <p:sp>
        <p:nvSpPr>
          <p:cNvPr id="350" name="Google Shape;350;p11"/>
          <p:cNvSpPr txBox="1"/>
          <p:nvPr/>
        </p:nvSpPr>
        <p:spPr>
          <a:xfrm>
            <a:off x="7772400" y="4709160"/>
            <a:ext cx="3867912"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0" i="1" lang="en-US" sz="1300" u="none" cap="none" strike="noStrike">
                <a:solidFill>
                  <a:schemeClr val="dk2"/>
                </a:solidFill>
                <a:latin typeface="Calibri"/>
                <a:ea typeface="Calibri"/>
                <a:cs typeface="Calibri"/>
                <a:sym typeface="Calibri"/>
              </a:rPr>
              <a:t>XGBoost had the best test scores, but its cross-validated recall (0.687) failed the 0.70 screening rule</a:t>
            </a:r>
            <a:endParaRPr b="0" i="0" sz="1300" u="none" cap="none" strike="noStrike">
              <a:solidFill>
                <a:schemeClr val="dk1"/>
              </a:solidFill>
              <a:latin typeface="Calibri"/>
              <a:ea typeface="Calibri"/>
              <a:cs typeface="Calibri"/>
              <a:sym typeface="Calibri"/>
            </a:endParaRPr>
          </a:p>
        </p:txBody>
      </p:sp>
      <p:sp>
        <p:nvSpPr>
          <p:cNvPr id="355" name="Google Shape;355;p11"/>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2"/>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Results: Dataset 2 – Early Stage (Test Set)</a:t>
            </a:r>
            <a:endParaRPr sz="3200"/>
          </a:p>
        </p:txBody>
      </p:sp>
      <p:sp>
        <p:nvSpPr>
          <p:cNvPr id="363" name="Google Shape;363;p12"/>
          <p:cNvSpPr/>
          <p:nvPr/>
        </p:nvSpPr>
        <p:spPr>
          <a:xfrm>
            <a:off x="5989320" y="1234440"/>
            <a:ext cx="5650992" cy="841248"/>
          </a:xfrm>
          <a:prstGeom prst="roundRect">
            <a:avLst>
              <a:gd fmla="val 869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6144768" y="1362456"/>
            <a:ext cx="585216" cy="585216"/>
          </a:xfrm>
          <a:prstGeom prst="ellipse">
            <a:avLst/>
          </a:prstGeom>
          <a:solidFill>
            <a:srgbClr val="3A5A98"/>
          </a:solidFill>
          <a:ln cap="flat" cmpd="sng" w="12700">
            <a:solidFill>
              <a:srgbClr val="3A5A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365" name="Google Shape;365;p12"/>
          <p:cNvPicPr preferRelativeResize="0"/>
          <p:nvPr/>
        </p:nvPicPr>
        <p:blipFill rotWithShape="1">
          <a:blip r:embed="rId7">
            <a:alphaModFix/>
          </a:blip>
          <a:srcRect b="0" l="0" r="0" t="0"/>
          <a:stretch/>
        </p:blipFill>
        <p:spPr>
          <a:xfrm>
            <a:off x="6285220" y="1502908"/>
            <a:ext cx="304312" cy="304312"/>
          </a:xfrm>
          <a:prstGeom prst="rect">
            <a:avLst/>
          </a:prstGeom>
          <a:noFill/>
          <a:ln>
            <a:noFill/>
          </a:ln>
        </p:spPr>
      </p:pic>
      <p:sp>
        <p:nvSpPr>
          <p:cNvPr id="366" name="Google Shape;366;p12"/>
          <p:cNvSpPr/>
          <p:nvPr/>
        </p:nvSpPr>
        <p:spPr>
          <a:xfrm>
            <a:off x="6858000" y="1307592"/>
            <a:ext cx="324612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Logistic Regression</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ROC-AUC 0.925   |   Recall 0.800   |   FN 7</a:t>
            </a:r>
            <a:endParaRPr b="0" i="0" sz="1600" u="none" cap="none" strike="noStrike">
              <a:solidFill>
                <a:schemeClr val="dk1"/>
              </a:solidFill>
              <a:latin typeface="Calibri"/>
              <a:ea typeface="Calibri"/>
              <a:cs typeface="Calibri"/>
              <a:sym typeface="Calibri"/>
            </a:endParaRPr>
          </a:p>
        </p:txBody>
      </p:sp>
      <p:sp>
        <p:nvSpPr>
          <p:cNvPr id="367" name="Google Shape;367;p12"/>
          <p:cNvSpPr/>
          <p:nvPr/>
        </p:nvSpPr>
        <p:spPr>
          <a:xfrm>
            <a:off x="10195560" y="1453896"/>
            <a:ext cx="1280160" cy="402336"/>
          </a:xfrm>
          <a:prstGeom prst="roundRect">
            <a:avLst>
              <a:gd fmla="val 22727" name="adj"/>
            </a:avLst>
          </a:prstGeom>
          <a:solidFill>
            <a:schemeClr val="accent3"/>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Eligible</a:t>
            </a:r>
            <a:endParaRPr b="0" i="0" sz="1200" u="none" cap="none" strike="noStrike">
              <a:solidFill>
                <a:schemeClr val="dk1"/>
              </a:solidFill>
              <a:latin typeface="Calibri"/>
              <a:ea typeface="Calibri"/>
              <a:cs typeface="Calibri"/>
              <a:sym typeface="Calibri"/>
            </a:endParaRPr>
          </a:p>
        </p:txBody>
      </p:sp>
      <p:sp>
        <p:nvSpPr>
          <p:cNvPr id="368" name="Google Shape;368;p12"/>
          <p:cNvSpPr/>
          <p:nvPr/>
        </p:nvSpPr>
        <p:spPr>
          <a:xfrm>
            <a:off x="5989320" y="2212848"/>
            <a:ext cx="5650992" cy="841248"/>
          </a:xfrm>
          <a:prstGeom prst="roundRect">
            <a:avLst>
              <a:gd fmla="val 869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6144768" y="2340864"/>
            <a:ext cx="585216" cy="585216"/>
          </a:xfrm>
          <a:prstGeom prst="ellipse">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370" name="Google Shape;370;p12"/>
          <p:cNvPicPr preferRelativeResize="0"/>
          <p:nvPr/>
        </p:nvPicPr>
        <p:blipFill rotWithShape="1">
          <a:blip r:embed="rId13">
            <a:alphaModFix/>
          </a:blip>
          <a:srcRect b="0" l="0" r="0" t="0"/>
          <a:stretch/>
        </p:blipFill>
        <p:spPr>
          <a:xfrm>
            <a:off x="6285220" y="2481316"/>
            <a:ext cx="304312" cy="304312"/>
          </a:xfrm>
          <a:prstGeom prst="rect">
            <a:avLst/>
          </a:prstGeom>
          <a:noFill/>
          <a:ln>
            <a:noFill/>
          </a:ln>
        </p:spPr>
      </p:pic>
      <p:sp>
        <p:nvSpPr>
          <p:cNvPr id="371" name="Google Shape;371;p12"/>
          <p:cNvSpPr/>
          <p:nvPr/>
        </p:nvSpPr>
        <p:spPr>
          <a:xfrm>
            <a:off x="6858000" y="2286000"/>
            <a:ext cx="324612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K-Nearest Neighbors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ROC-AUC 0.926   |   Recall 0.686   |   FN 11</a:t>
            </a:r>
            <a:endParaRPr b="0" i="0" sz="1600" u="none" cap="none" strike="noStrike">
              <a:solidFill>
                <a:schemeClr val="dk1"/>
              </a:solidFill>
              <a:latin typeface="Calibri"/>
              <a:ea typeface="Calibri"/>
              <a:cs typeface="Calibri"/>
              <a:sym typeface="Calibri"/>
            </a:endParaRPr>
          </a:p>
        </p:txBody>
      </p:sp>
      <p:sp>
        <p:nvSpPr>
          <p:cNvPr id="372" name="Google Shape;372;p12"/>
          <p:cNvSpPr/>
          <p:nvPr/>
        </p:nvSpPr>
        <p:spPr>
          <a:xfrm>
            <a:off x="10195560" y="2432304"/>
            <a:ext cx="1280160" cy="402336"/>
          </a:xfrm>
          <a:prstGeom prst="roundRect">
            <a:avLst>
              <a:gd fmla="val 22727" name="adj"/>
            </a:avLst>
          </a:prstGeom>
          <a:solidFill>
            <a:schemeClr val="accent5"/>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Rule failed</a:t>
            </a:r>
            <a:endParaRPr b="0" i="0" sz="1200" u="none" cap="none" strike="noStrike">
              <a:solidFill>
                <a:schemeClr val="dk1"/>
              </a:solidFill>
              <a:latin typeface="Calibri"/>
              <a:ea typeface="Calibri"/>
              <a:cs typeface="Calibri"/>
              <a:sym typeface="Calibri"/>
            </a:endParaRPr>
          </a:p>
        </p:txBody>
      </p:sp>
      <p:sp>
        <p:nvSpPr>
          <p:cNvPr id="373" name="Google Shape;373;p12"/>
          <p:cNvSpPr/>
          <p:nvPr/>
        </p:nvSpPr>
        <p:spPr>
          <a:xfrm>
            <a:off x="5989320" y="3191256"/>
            <a:ext cx="5650992" cy="841248"/>
          </a:xfrm>
          <a:prstGeom prst="roundRect">
            <a:avLst>
              <a:gd fmla="val 869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6144768" y="3319272"/>
            <a:ext cx="585216" cy="585216"/>
          </a:xfrm>
          <a:prstGeom prst="ellipse">
            <a:avLst/>
          </a:prstGeom>
          <a:solidFill>
            <a:srgbClr val="7A8B94"/>
          </a:solidFill>
          <a:ln cap="flat" cmpd="sng" w="12700">
            <a:solidFill>
              <a:srgbClr val="7A8B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375" name="Google Shape;375;p12"/>
          <p:cNvPicPr preferRelativeResize="0"/>
          <p:nvPr/>
        </p:nvPicPr>
        <p:blipFill rotWithShape="1">
          <a:blip r:embed="rId19">
            <a:alphaModFix/>
          </a:blip>
          <a:srcRect b="0" l="0" r="0" t="0"/>
          <a:stretch/>
        </p:blipFill>
        <p:spPr>
          <a:xfrm>
            <a:off x="6285220" y="3459724"/>
            <a:ext cx="304312" cy="304312"/>
          </a:xfrm>
          <a:prstGeom prst="rect">
            <a:avLst/>
          </a:prstGeom>
          <a:noFill/>
          <a:ln>
            <a:noFill/>
          </a:ln>
        </p:spPr>
      </p:pic>
      <p:sp>
        <p:nvSpPr>
          <p:cNvPr id="376" name="Google Shape;376;p12"/>
          <p:cNvSpPr/>
          <p:nvPr/>
        </p:nvSpPr>
        <p:spPr>
          <a:xfrm>
            <a:off x="6858000" y="3264408"/>
            <a:ext cx="324612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Decision Tree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ROC-AUC 0.956   |   Recall 0.857   |   FN 5</a:t>
            </a:r>
            <a:endParaRPr b="0" i="0" sz="1600" u="none" cap="none" strike="noStrike">
              <a:solidFill>
                <a:schemeClr val="dk1"/>
              </a:solidFill>
              <a:latin typeface="Calibri"/>
              <a:ea typeface="Calibri"/>
              <a:cs typeface="Calibri"/>
              <a:sym typeface="Calibri"/>
            </a:endParaRPr>
          </a:p>
        </p:txBody>
      </p:sp>
      <p:sp>
        <p:nvSpPr>
          <p:cNvPr id="377" name="Google Shape;377;p12"/>
          <p:cNvSpPr/>
          <p:nvPr/>
        </p:nvSpPr>
        <p:spPr>
          <a:xfrm>
            <a:off x="10195560" y="3410712"/>
            <a:ext cx="1280160" cy="402336"/>
          </a:xfrm>
          <a:prstGeom prst="roundRect">
            <a:avLst>
              <a:gd fmla="val 22727" name="adj"/>
            </a:avLst>
          </a:prstGeom>
          <a:solidFill>
            <a:schemeClr val="accent3"/>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Eligible</a:t>
            </a:r>
            <a:endParaRPr b="0" i="0" sz="1200" u="none" cap="none" strike="noStrike">
              <a:solidFill>
                <a:schemeClr val="dk1"/>
              </a:solidFill>
              <a:latin typeface="Calibri"/>
              <a:ea typeface="Calibri"/>
              <a:cs typeface="Calibri"/>
              <a:sym typeface="Calibri"/>
            </a:endParaRPr>
          </a:p>
        </p:txBody>
      </p:sp>
      <p:sp>
        <p:nvSpPr>
          <p:cNvPr id="378" name="Google Shape;378;p12"/>
          <p:cNvSpPr/>
          <p:nvPr/>
        </p:nvSpPr>
        <p:spPr>
          <a:xfrm>
            <a:off x="5989320" y="4169664"/>
            <a:ext cx="5650992" cy="841248"/>
          </a:xfrm>
          <a:prstGeom prst="roundRect">
            <a:avLst>
              <a:gd fmla="val 8696" name="adj"/>
            </a:avLst>
          </a:prstGeom>
          <a:solidFill>
            <a:srgbClr val="D8EFEF"/>
          </a:solidFill>
          <a:ln cap="flat" cmpd="sng" w="12700">
            <a:solidFill>
              <a:srgbClr val="D8EFEF"/>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2"/>
          <p:cNvSpPr/>
          <p:nvPr/>
        </p:nvSpPr>
        <p:spPr>
          <a:xfrm>
            <a:off x="6144768" y="4297680"/>
            <a:ext cx="585216" cy="585216"/>
          </a:xfrm>
          <a:prstGeom prst="ellipse">
            <a:avLst/>
          </a:prstGeom>
          <a:solidFill>
            <a:srgbClr val="0E7C86"/>
          </a:solidFill>
          <a:ln cap="flat" cmpd="sng" w="12700">
            <a:solidFill>
              <a:srgbClr val="0E7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380" name="Google Shape;380;p12"/>
          <p:cNvPicPr preferRelativeResize="0"/>
          <p:nvPr/>
        </p:nvPicPr>
        <p:blipFill rotWithShape="1">
          <a:blip r:embed="rId25">
            <a:alphaModFix/>
          </a:blip>
          <a:srcRect b="0" l="0" r="0" t="0"/>
          <a:stretch/>
        </p:blipFill>
        <p:spPr>
          <a:xfrm>
            <a:off x="6285220" y="4438132"/>
            <a:ext cx="304312" cy="304312"/>
          </a:xfrm>
          <a:prstGeom prst="rect">
            <a:avLst/>
          </a:prstGeom>
          <a:noFill/>
          <a:ln>
            <a:noFill/>
          </a:ln>
        </p:spPr>
      </p:pic>
      <p:sp>
        <p:nvSpPr>
          <p:cNvPr id="381" name="Google Shape;381;p12"/>
          <p:cNvSpPr/>
          <p:nvPr/>
        </p:nvSpPr>
        <p:spPr>
          <a:xfrm>
            <a:off x="6858000" y="4242816"/>
            <a:ext cx="324612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Random Forest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ROC-AUC 0.964   |   Recall 0.914   |   FN 3</a:t>
            </a:r>
            <a:endParaRPr b="0" i="0" sz="1600" u="none" cap="none" strike="noStrike">
              <a:solidFill>
                <a:schemeClr val="dk1"/>
              </a:solidFill>
              <a:latin typeface="Calibri"/>
              <a:ea typeface="Calibri"/>
              <a:cs typeface="Calibri"/>
              <a:sym typeface="Calibri"/>
            </a:endParaRPr>
          </a:p>
        </p:txBody>
      </p:sp>
      <p:sp>
        <p:nvSpPr>
          <p:cNvPr id="382" name="Google Shape;382;p12"/>
          <p:cNvSpPr/>
          <p:nvPr/>
        </p:nvSpPr>
        <p:spPr>
          <a:xfrm>
            <a:off x="10195560" y="4389120"/>
            <a:ext cx="1280160" cy="402336"/>
          </a:xfrm>
          <a:prstGeom prst="roundRect">
            <a:avLst>
              <a:gd fmla="val 22727"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Selected</a:t>
            </a:r>
            <a:endParaRPr b="0" i="0" sz="1200" u="none" cap="none" strike="noStrike">
              <a:solidFill>
                <a:schemeClr val="dk1"/>
              </a:solidFill>
              <a:latin typeface="Calibri"/>
              <a:ea typeface="Calibri"/>
              <a:cs typeface="Calibri"/>
              <a:sym typeface="Calibri"/>
            </a:endParaRPr>
          </a:p>
        </p:txBody>
      </p:sp>
      <p:sp>
        <p:nvSpPr>
          <p:cNvPr id="383" name="Google Shape;383;p12"/>
          <p:cNvSpPr/>
          <p:nvPr/>
        </p:nvSpPr>
        <p:spPr>
          <a:xfrm>
            <a:off x="5989320" y="5148072"/>
            <a:ext cx="5650992" cy="841248"/>
          </a:xfrm>
          <a:prstGeom prst="roundRect">
            <a:avLst>
              <a:gd fmla="val 8696" name="adj"/>
            </a:avLst>
          </a:prstGeom>
          <a:solidFill>
            <a:schemeClr val="lt2"/>
          </a:solidFill>
          <a:ln cap="flat" cmpd="sng" w="12700">
            <a:solidFill>
              <a:schemeClr val="lt2"/>
            </a:solidFill>
            <a:prstDash val="solid"/>
            <a:round/>
            <a:headEnd len="sm" w="sm" type="none"/>
            <a:tailEnd len="sm" w="sm" type="none"/>
          </a:ln>
          <a:effectLst>
            <a:outerShdw blurRad="76200" rotWithShape="0" algn="bl" dir="5400000" dist="25400">
              <a:srgbClr val="000000">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2"/>
          <p:cNvSpPr/>
          <p:nvPr/>
        </p:nvSpPr>
        <p:spPr>
          <a:xfrm>
            <a:off x="6144768" y="5276088"/>
            <a:ext cx="585216" cy="585216"/>
          </a:xfrm>
          <a:prstGeom prst="ellipse">
            <a:avLst/>
          </a:prstGeom>
          <a:solidFill>
            <a:srgbClr val="6B4E9B"/>
          </a:solidFill>
          <a:ln cap="flat" cmpd="sng" w="12700">
            <a:solidFill>
              <a:srgbClr val="6B4E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 id="385" name="Google Shape;385;p12"/>
          <p:cNvPicPr preferRelativeResize="0"/>
          <p:nvPr/>
        </p:nvPicPr>
        <p:blipFill rotWithShape="1">
          <a:blip r:embed="rId31">
            <a:alphaModFix/>
          </a:blip>
          <a:srcRect b="0" l="0" r="0" t="0"/>
          <a:stretch/>
        </p:blipFill>
        <p:spPr>
          <a:xfrm>
            <a:off x="6285220" y="5416540"/>
            <a:ext cx="304312" cy="304312"/>
          </a:xfrm>
          <a:prstGeom prst="rect">
            <a:avLst/>
          </a:prstGeom>
          <a:noFill/>
          <a:ln>
            <a:noFill/>
          </a:ln>
        </p:spPr>
      </p:pic>
      <p:sp>
        <p:nvSpPr>
          <p:cNvPr id="386" name="Google Shape;386;p12"/>
          <p:cNvSpPr/>
          <p:nvPr/>
        </p:nvSpPr>
        <p:spPr>
          <a:xfrm>
            <a:off x="6858000" y="5221224"/>
            <a:ext cx="324612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XGBoost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ROC-AUC 0.946   |   Recall 0.829   |   FN 6</a:t>
            </a:r>
            <a:endParaRPr b="0" i="0" sz="1600" u="none" cap="none" strike="noStrike">
              <a:solidFill>
                <a:schemeClr val="dk1"/>
              </a:solidFill>
              <a:latin typeface="Calibri"/>
              <a:ea typeface="Calibri"/>
              <a:cs typeface="Calibri"/>
              <a:sym typeface="Calibri"/>
            </a:endParaRPr>
          </a:p>
        </p:txBody>
      </p:sp>
      <p:sp>
        <p:nvSpPr>
          <p:cNvPr id="387" name="Google Shape;387;p12"/>
          <p:cNvSpPr/>
          <p:nvPr/>
        </p:nvSpPr>
        <p:spPr>
          <a:xfrm>
            <a:off x="10195560" y="5367528"/>
            <a:ext cx="1280160" cy="402336"/>
          </a:xfrm>
          <a:prstGeom prst="roundRect">
            <a:avLst>
              <a:gd fmla="val 22727" name="adj"/>
            </a:avLst>
          </a:prstGeom>
          <a:solidFill>
            <a:schemeClr val="accent3"/>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Eligible</a:t>
            </a:r>
            <a:endParaRPr b="0" i="0" sz="1200" u="none" cap="none" strike="noStrike">
              <a:solidFill>
                <a:schemeClr val="dk1"/>
              </a:solidFill>
              <a:latin typeface="Calibri"/>
              <a:ea typeface="Calibri"/>
              <a:cs typeface="Calibri"/>
              <a:sym typeface="Calibri"/>
            </a:endParaRPr>
          </a:p>
        </p:txBody>
      </p:sp>
      <p:sp>
        <p:nvSpPr>
          <p:cNvPr id="391" name="Google Shape;391;p12"/>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pic>
        <p:nvPicPr>
          <p:cNvPr id="392" name="Picture 391" descr="25_es_roc_curves.png"/>
          <p:cNvPicPr>
            <a:picLocks noChangeAspect="1"/>
          </p:cNvPicPr>
          <p:nvPr/>
        </p:nvPicPr>
        <p:blipFill>
          <a:blip r:embed="rId37"/>
          <a:stretch>
            <a:fillRect/>
          </a:stretch>
        </p:blipFill>
        <p:spPr>
          <a:xfrm>
            <a:off x="548640" y="1234440"/>
            <a:ext cx="4865337" cy="3931920"/>
          </a:xfrm>
          <a:prstGeom prst="rect">
            <a:avLst/>
          </a:prstGeom>
        </p:spPr>
      </p:pic>
      <p:sp>
        <p:nvSpPr>
          <p:cNvPr id="393" name="Rounded Rectangle 392"/>
          <p:cNvSpPr/>
          <p:nvPr/>
        </p:nvSpPr>
        <p:spPr>
          <a:xfrm>
            <a:off x="548640" y="5285232"/>
            <a:ext cx="5120640" cy="868680"/>
          </a:xfrm>
          <a:prstGeom prst="roundRect">
            <a:avLst>
              <a:gd name="adj" fmla="val 8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TextBox 393"/>
          <p:cNvSpPr txBox="1"/>
          <p:nvPr/>
        </p:nvSpPr>
        <p:spPr>
          <a:xfrm>
            <a:off x="685800" y="5340096"/>
            <a:ext cx="4846320" cy="777240"/>
          </a:xfrm>
          <a:prstGeom prst="rect">
            <a:avLst/>
          </a:prstGeom>
          <a:noFill/>
        </p:spPr>
        <p:txBody>
          <a:bodyPr wrap="square" anchor="ctr" lIns="0" rIns="0" tIns="0" bIns="0">
            <a:spAutoFit/>
          </a:bodyPr>
          <a:lstStyle/>
          <a:p>
            <a:pPr algn="l">
              <a:spcAft>
                <a:spcPts val="400"/>
              </a:spcAft>
            </a:pPr>
            <a:r>
              <a:rPr sz="1400" b="1">
                <a:solidFill>
                  <a:schemeClr val="dk2"/>
                </a:solidFill>
                <a:latin typeface="Calibri"/>
              </a:rPr>
              <a:t>Final model: Random Forest (same rule as Dataset 1)</a:t>
            </a:r>
          </a:p>
          <a:p>
            <a:pPr algn="l">
              <a:spcAft>
                <a:spcPts val="400"/>
              </a:spcAft>
            </a:pPr>
            <a:r>
              <a:rPr sz="1200" b="0">
                <a:solidFill>
                  <a:schemeClr val="dk1"/>
                </a:solidFill>
                <a:latin typeface="Calibri"/>
              </a:rPr>
              <a:t>accuracy 0.902 · precision 0.941 · recall 0.914 · F1 0.927 · CV ROC-AUC 0.977</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0"/>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Comparison of Results: Same Models, Two Datasets</a:t>
            </a:r>
            <a:endParaRPr sz="3200"/>
          </a:p>
        </p:txBody>
      </p:sp>
      <p:sp>
        <p:nvSpPr>
          <p:cNvPr id="337" name="Google Shape;337;p10"/>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graphicFrame>
        <p:nvGraphicFramePr>
          <p:cNvPr id="338" name="Chart 337"/>
          <p:cNvGraphicFramePr>
            <a:graphicFrameLocks noGrp="1"/>
          </p:cNvGraphicFramePr>
          <p:nvPr/>
        </p:nvGraphicFramePr>
        <p:xfrm>
          <a:off x="457200" y="1188720"/>
          <a:ext cx="5577840" cy="3246120"/>
        </p:xfrm>
        <a:graphic>
          <a:graphicData uri="http://schemas.openxmlformats.org/drawingml/2006/chart">
            <c:chart r:id="rId6"/>
          </a:graphicData>
        </a:graphic>
      </p:graphicFrame>
      <p:graphicFrame>
        <p:nvGraphicFramePr>
          <p:cNvPr id="339" name="Chart 338"/>
          <p:cNvGraphicFramePr>
            <a:graphicFrameLocks noGrp="1"/>
          </p:cNvGraphicFramePr>
          <p:nvPr/>
        </p:nvGraphicFramePr>
        <p:xfrm>
          <a:off x="6172200" y="1188720"/>
          <a:ext cx="5577840" cy="3246120"/>
        </p:xfrm>
        <a:graphic>
          <a:graphicData uri="http://schemas.openxmlformats.org/drawingml/2006/chart">
            <c:chart r:id="rId7"/>
          </a:graphicData>
        </a:graphic>
      </p:graphicFrame>
      <p:sp>
        <p:nvSpPr>
          <p:cNvPr id="340" name="Rounded Rectangle 339"/>
          <p:cNvSpPr/>
          <p:nvPr/>
        </p:nvSpPr>
        <p:spPr>
          <a:xfrm>
            <a:off x="548640" y="4617720"/>
            <a:ext cx="3566160" cy="1463040"/>
          </a:xfrm>
          <a:prstGeom prst="roundRect">
            <a:avLst>
              <a:gd name="adj" fmla="val 8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731520" y="4690872"/>
            <a:ext cx="3200400" cy="1325880"/>
          </a:xfrm>
          <a:prstGeom prst="rect">
            <a:avLst/>
          </a:prstGeom>
          <a:noFill/>
        </p:spPr>
        <p:txBody>
          <a:bodyPr wrap="square" anchor="t" lIns="0" rIns="0" tIns="0" bIns="0">
            <a:spAutoFit/>
          </a:bodyPr>
          <a:lstStyle/>
          <a:p>
            <a:pPr algn="l">
              <a:spcAft>
                <a:spcPts val="400"/>
              </a:spcAft>
            </a:pPr>
            <a:r>
              <a:rPr sz="2400" b="1">
                <a:solidFill>
                  <a:schemeClr val="accent1"/>
                </a:solidFill>
                <a:latin typeface="Calibri"/>
              </a:rPr>
              <a:t>0.80 vs 0.94</a:t>
            </a:r>
          </a:p>
          <a:p>
            <a:pPr algn="l">
              <a:spcAft>
                <a:spcPts val="400"/>
              </a:spcAft>
            </a:pPr>
            <a:r>
              <a:rPr sz="1300" b="0">
                <a:solidFill>
                  <a:schemeClr val="dk1"/>
                </a:solidFill>
                <a:latin typeface="Calibri"/>
              </a:rPr>
              <a:t>average test ROC-AUC (Pima vs Early Stage): the symptom data is easier to predict</a:t>
            </a:r>
          </a:p>
        </p:txBody>
      </p:sp>
      <p:sp>
        <p:nvSpPr>
          <p:cNvPr id="342" name="Rounded Rectangle 341"/>
          <p:cNvSpPr/>
          <p:nvPr/>
        </p:nvSpPr>
        <p:spPr>
          <a:xfrm>
            <a:off x="4297679" y="4617720"/>
            <a:ext cx="3566160" cy="1463040"/>
          </a:xfrm>
          <a:prstGeom prst="roundRect">
            <a:avLst>
              <a:gd name="adj" fmla="val 8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TextBox 342"/>
          <p:cNvSpPr txBox="1"/>
          <p:nvPr/>
        </p:nvSpPr>
        <p:spPr>
          <a:xfrm>
            <a:off x="4480559" y="4690872"/>
            <a:ext cx="3200400" cy="1325880"/>
          </a:xfrm>
          <a:prstGeom prst="rect">
            <a:avLst/>
          </a:prstGeom>
          <a:noFill/>
        </p:spPr>
        <p:txBody>
          <a:bodyPr wrap="square" anchor="t" lIns="0" rIns="0" tIns="0" bIns="0">
            <a:spAutoFit/>
          </a:bodyPr>
          <a:lstStyle/>
          <a:p>
            <a:pPr algn="l">
              <a:spcAft>
                <a:spcPts val="400"/>
              </a:spcAft>
            </a:pPr>
            <a:r>
              <a:rPr sz="2400" b="1">
                <a:solidFill>
                  <a:schemeClr val="accent1"/>
                </a:solidFill>
                <a:latin typeface="Calibri"/>
              </a:rPr>
              <a:t>RF on both</a:t>
            </a:r>
          </a:p>
          <a:p>
            <a:pPr algn="l">
              <a:spcAft>
                <a:spcPts val="400"/>
              </a:spcAft>
            </a:pPr>
            <a:r>
              <a:rPr sz="1300" b="0">
                <a:solidFill>
                  <a:schemeClr val="dk1"/>
                </a:solidFill>
                <a:latin typeface="Calibri"/>
              </a:rPr>
              <a:t>the same recall-aware rule selects Random Forest for both datasets</a:t>
            </a:r>
          </a:p>
        </p:txBody>
      </p:sp>
      <p:sp>
        <p:nvSpPr>
          <p:cNvPr id="344" name="Rounded Rectangle 343"/>
          <p:cNvSpPr/>
          <p:nvPr/>
        </p:nvSpPr>
        <p:spPr>
          <a:xfrm>
            <a:off x="8046719" y="4617720"/>
            <a:ext cx="3566160" cy="1463040"/>
          </a:xfrm>
          <a:prstGeom prst="roundRect">
            <a:avLst>
              <a:gd name="adj" fmla="val 8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TextBox 344"/>
          <p:cNvSpPr txBox="1"/>
          <p:nvPr/>
        </p:nvSpPr>
        <p:spPr>
          <a:xfrm>
            <a:off x="8229599" y="4690872"/>
            <a:ext cx="3200400" cy="1325880"/>
          </a:xfrm>
          <a:prstGeom prst="rect">
            <a:avLst/>
          </a:prstGeom>
          <a:noFill/>
        </p:spPr>
        <p:txBody>
          <a:bodyPr wrap="square" anchor="t" lIns="0" rIns="0" tIns="0" bIns="0">
            <a:spAutoFit/>
          </a:bodyPr>
          <a:lstStyle/>
          <a:p>
            <a:pPr algn="l">
              <a:spcAft>
                <a:spcPts val="400"/>
              </a:spcAft>
            </a:pPr>
            <a:r>
              <a:rPr sz="2400" b="1">
                <a:solidFill>
                  <a:srgbClr val="F25C54"/>
                </a:solidFill>
                <a:latin typeface="Calibri"/>
              </a:rPr>
              <a:t>0.97 → 0.90</a:t>
            </a:r>
          </a:p>
          <a:p>
            <a:pPr algn="l">
              <a:spcAft>
                <a:spcPts val="400"/>
              </a:spcAft>
            </a:pPr>
            <a:r>
              <a:rPr sz="1300" b="0">
                <a:solidFill>
                  <a:schemeClr val="dk1"/>
                </a:solidFill>
                <a:latin typeface="Calibri"/>
              </a:rPr>
              <a:t>Early Stage RF accuracy with vs without duplicates: removing them avoids inflated scores</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3"/>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Interpretation (SHAP): What Drives the Predictions?</a:t>
            </a:r>
            <a:endParaRPr sz="3200"/>
          </a:p>
        </p:txBody>
      </p:sp>
      <p:pic>
        <p:nvPicPr>
          <p:cNvPr descr="SHAP summary plot for the Random Forest" id="398" name="Google Shape;398;p13"/>
          <p:cNvPicPr preferRelativeResize="0"/>
          <p:nvPr/>
        </p:nvPicPr>
        <p:blipFill rotWithShape="1">
          <a:blip r:embed="rId3">
            <a:alphaModFix/>
          </a:blip>
          <a:srcRect b="0" l="0" r="0" t="0"/>
          <a:stretch/>
        </p:blipFill>
        <p:spPr>
          <a:xfrm>
            <a:off x="457200" y="1188720"/>
            <a:ext cx="6309360" cy="4041871"/>
          </a:xfrm>
          <a:prstGeom prst="rect">
            <a:avLst/>
          </a:prstGeom>
          <a:noFill/>
          <a:ln>
            <a:noFill/>
          </a:ln>
        </p:spPr>
      </p:pic>
      <p:graphicFrame>
        <p:nvGraphicFramePr>
          <p:cNvPr id="399" name="Google Shape;399;p13"/>
          <p:cNvGraphicFramePr/>
          <p:nvPr/>
        </p:nvGraphicFramePr>
        <p:xfrm>
          <a:off x="6995160" y="1234440"/>
          <a:ext cx="4663440" cy="3017520"/>
        </p:xfrm>
        <a:graphic>
          <a:graphicData uri="http://schemas.openxmlformats.org/drawingml/2006/chart">
            <c:chart r:id="rId4"/>
          </a:graphicData>
        </a:graphic>
      </p:graphicFrame>
      <p:sp>
        <p:nvSpPr>
          <p:cNvPr id="400" name="Google Shape;400;p13"/>
          <p:cNvSpPr txBox="1"/>
          <p:nvPr/>
        </p:nvSpPr>
        <p:spPr>
          <a:xfrm>
            <a:off x="7086600" y="4343400"/>
            <a:ext cx="4526280" cy="1280160"/>
          </a:xfrm>
          <a:prstGeom prst="rect">
            <a:avLst/>
          </a:prstGeom>
          <a:noFill/>
          <a:ln>
            <a:noFill/>
          </a:ln>
        </p:spPr>
        <p:txBody>
          <a:bodyPr anchorCtr="0" anchor="t" bIns="0" lIns="0" spcFirstLastPara="1" rIns="0" wrap="square" tIns="0">
            <a:noAutofit/>
          </a:bodyPr>
          <a:lstStyle/>
          <a:p>
            <a:pPr indent="-203200" lvl="0" marL="203200" marR="0" rtl="0" algn="l">
              <a:spcBef>
                <a:spcPts val="6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Pima: Glucose dominates (up to ~30 points of risk), then BMI and Age</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Early Stage: Polyuria &amp; Polydipsia dominate; male gender lowers risk</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Both: top predictors are linked to high blood sugar; this explains the models, not biology</a:t>
            </a:r>
            <a:endParaRPr b="0" i="0" sz="1500" u="none" cap="none" strike="noStrike">
              <a:solidFill>
                <a:schemeClr val="dk1"/>
              </a:solidFill>
              <a:latin typeface="Calibri"/>
              <a:ea typeface="Calibri"/>
              <a:cs typeface="Calibri"/>
              <a:sym typeface="Calibri"/>
            </a:endParaRPr>
          </a:p>
        </p:txBody>
      </p:sp>
      <p:sp>
        <p:nvSpPr>
          <p:cNvPr id="405" name="Google Shape;405;p13"/>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
        <p:nvSpPr>
          <p:cNvPr id="406" name="TextBox 405"/>
          <p:cNvSpPr txBox="1"/>
          <p:nvPr/>
        </p:nvSpPr>
        <p:spPr>
          <a:xfrm>
            <a:off x="548640" y="5349240"/>
            <a:ext cx="6217920" cy="411480"/>
          </a:xfrm>
          <a:prstGeom prst="rect">
            <a:avLst/>
          </a:prstGeom>
          <a:noFill/>
        </p:spPr>
        <p:txBody>
          <a:bodyPr wrap="square" anchor="t" lIns="0" rIns="0" tIns="0" bIns="0">
            <a:spAutoFit/>
          </a:bodyPr>
          <a:lstStyle/>
          <a:p>
            <a:pPr algn="ctr">
              <a:spcAft>
                <a:spcPts val="400"/>
              </a:spcAft>
            </a:pPr>
            <a:r>
              <a:rPr sz="1300" b="1">
                <a:solidFill>
                  <a:schemeClr val="dk2"/>
                </a:solidFill>
                <a:latin typeface="Calibri"/>
              </a:rPr>
              <a:t>Dataset 1 – Pima (Random Forest): Glucose dominates</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4"/>
          <p:cNvSpPr txBox="1"/>
          <p:nvPr>
            <p:ph type="title"/>
          </p:nvPr>
        </p:nvSpPr>
        <p:spPr>
          <a:xfrm>
            <a:off x="640080" y="548640"/>
            <a:ext cx="7315200" cy="1737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4000"/>
              <a:buFont typeface="Cambria"/>
              <a:buNone/>
            </a:pPr>
            <a:r>
              <a:rPr b="1" lang="en-US" sz="4000">
                <a:solidFill>
                  <a:schemeClr val="lt1"/>
                </a:solidFill>
                <a:latin typeface="Cambria"/>
                <a:ea typeface="Cambria"/>
                <a:cs typeface="Cambria"/>
                <a:sym typeface="Cambria"/>
              </a:rPr>
              <a:t>Conclusion &amp; Future Scope</a:t>
            </a:r>
            <a:endParaRPr sz="4000"/>
          </a:p>
        </p:txBody>
      </p:sp>
      <p:sp>
        <p:nvSpPr>
          <p:cNvPr id="412" name="Google Shape;412;p14"/>
          <p:cNvSpPr/>
          <p:nvPr/>
        </p:nvSpPr>
        <p:spPr>
          <a:xfrm>
            <a:off x="640080" y="1600200"/>
            <a:ext cx="2103120" cy="1280160"/>
          </a:xfrm>
          <a:prstGeom prst="roundRect">
            <a:avLst>
              <a:gd fmla="val 5714" name="adj"/>
            </a:avLst>
          </a:prstGeom>
          <a:solidFill>
            <a:srgbClr val="134E5C"/>
          </a:solidFill>
          <a:ln cap="flat" cmpd="sng" w="12700">
            <a:solidFill>
              <a:srgbClr val="134E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4"/>
          <p:cNvSpPr txBox="1"/>
          <p:nvPr/>
        </p:nvSpPr>
        <p:spPr>
          <a:xfrm>
            <a:off x="777240" y="169164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3600"/>
              <a:buFont typeface="Cambria"/>
              <a:buNone/>
            </a:pPr>
            <a:r>
              <a:rPr b="1" i="0" lang="en-US" sz="3600" u="none" cap="none" strike="noStrike">
                <a:solidFill>
                  <a:schemeClr val="accent3"/>
                </a:solidFill>
                <a:latin typeface="Cambria"/>
                <a:ea typeface="Cambria"/>
                <a:cs typeface="Cambria"/>
                <a:sym typeface="Cambria"/>
              </a:rPr>
              <a:t>0.809</a:t>
            </a:r>
            <a:endParaRPr b="0" i="0" sz="3600" u="none" cap="none" strike="noStrike">
              <a:solidFill>
                <a:schemeClr val="dk1"/>
              </a:solidFill>
              <a:latin typeface="Calibri"/>
              <a:ea typeface="Calibri"/>
              <a:cs typeface="Calibri"/>
              <a:sym typeface="Calibri"/>
            </a:endParaRPr>
          </a:p>
        </p:txBody>
      </p:sp>
      <p:sp>
        <p:nvSpPr>
          <p:cNvPr id="414" name="Google Shape;414;p14"/>
          <p:cNvSpPr txBox="1"/>
          <p:nvPr/>
        </p:nvSpPr>
        <p:spPr>
          <a:xfrm>
            <a:off x="777240" y="2377440"/>
            <a:ext cx="182880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Pima ROC-AUC (Random Forest)</a:t>
            </a:r>
            <a:endParaRPr b="0" i="0" sz="1300" u="none" cap="none" strike="noStrike">
              <a:solidFill>
                <a:schemeClr val="dk1"/>
              </a:solidFill>
              <a:latin typeface="Calibri"/>
              <a:ea typeface="Calibri"/>
              <a:cs typeface="Calibri"/>
              <a:sym typeface="Calibri"/>
            </a:endParaRPr>
          </a:p>
        </p:txBody>
      </p:sp>
      <p:sp>
        <p:nvSpPr>
          <p:cNvPr id="415" name="Google Shape;415;p14"/>
          <p:cNvSpPr/>
          <p:nvPr/>
        </p:nvSpPr>
        <p:spPr>
          <a:xfrm>
            <a:off x="2971800" y="1600200"/>
            <a:ext cx="2103120" cy="1280160"/>
          </a:xfrm>
          <a:prstGeom prst="roundRect">
            <a:avLst>
              <a:gd fmla="val 5714" name="adj"/>
            </a:avLst>
          </a:prstGeom>
          <a:solidFill>
            <a:srgbClr val="134E5C"/>
          </a:solidFill>
          <a:ln cap="flat" cmpd="sng" w="12700">
            <a:solidFill>
              <a:srgbClr val="134E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4"/>
          <p:cNvSpPr txBox="1"/>
          <p:nvPr/>
        </p:nvSpPr>
        <p:spPr>
          <a:xfrm>
            <a:off x="3108960" y="169164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3600"/>
              <a:buFont typeface="Cambria"/>
              <a:buNone/>
            </a:pPr>
            <a:r>
              <a:rPr b="1" i="0" lang="en-US" sz="3600" u="none" cap="none" strike="noStrike">
                <a:solidFill>
                  <a:schemeClr val="accent3"/>
                </a:solidFill>
                <a:latin typeface="Cambria"/>
                <a:ea typeface="Cambria"/>
                <a:cs typeface="Cambria"/>
                <a:sym typeface="Cambria"/>
              </a:rPr>
              <a:t>0.964</a:t>
            </a:r>
            <a:endParaRPr b="0" i="0" sz="3600" u="none" cap="none" strike="noStrike">
              <a:solidFill>
                <a:schemeClr val="dk1"/>
              </a:solidFill>
              <a:latin typeface="Calibri"/>
              <a:ea typeface="Calibri"/>
              <a:cs typeface="Calibri"/>
              <a:sym typeface="Calibri"/>
            </a:endParaRPr>
          </a:p>
        </p:txBody>
      </p:sp>
      <p:sp>
        <p:nvSpPr>
          <p:cNvPr id="417" name="Google Shape;417;p14"/>
          <p:cNvSpPr txBox="1"/>
          <p:nvPr/>
        </p:nvSpPr>
        <p:spPr>
          <a:xfrm>
            <a:off x="3108960" y="2377440"/>
            <a:ext cx="182880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Early Stage ROC-AUC (Random Forest)</a:t>
            </a:r>
            <a:endParaRPr b="0" i="0" sz="1300" u="none" cap="none" strike="noStrike">
              <a:solidFill>
                <a:schemeClr val="dk1"/>
              </a:solidFill>
              <a:latin typeface="Calibri"/>
              <a:ea typeface="Calibri"/>
              <a:cs typeface="Calibri"/>
              <a:sym typeface="Calibri"/>
            </a:endParaRPr>
          </a:p>
        </p:txBody>
      </p:sp>
      <p:sp>
        <p:nvSpPr>
          <p:cNvPr id="418" name="Google Shape;418;p14"/>
          <p:cNvSpPr/>
          <p:nvPr/>
        </p:nvSpPr>
        <p:spPr>
          <a:xfrm>
            <a:off x="5303520" y="1600200"/>
            <a:ext cx="2103120" cy="1280160"/>
          </a:xfrm>
          <a:prstGeom prst="roundRect">
            <a:avLst>
              <a:gd fmla="val 5714" name="adj"/>
            </a:avLst>
          </a:prstGeom>
          <a:solidFill>
            <a:srgbClr val="134E5C"/>
          </a:solidFill>
          <a:ln cap="flat" cmpd="sng" w="12700">
            <a:solidFill>
              <a:srgbClr val="134E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txBox="1"/>
          <p:nvPr/>
        </p:nvSpPr>
        <p:spPr>
          <a:xfrm>
            <a:off x="5440680" y="169164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3600"/>
              <a:buFont typeface="Cambria"/>
              <a:buNone/>
            </a:pPr>
            <a:r>
              <a:rPr b="1" i="0" lang="en-US" sz="3600" u="none" cap="none" strike="noStrike">
                <a:solidFill>
                  <a:schemeClr val="accent3"/>
                </a:solidFill>
                <a:latin typeface="Cambria"/>
                <a:ea typeface="Cambria"/>
                <a:cs typeface="Cambria"/>
                <a:sym typeface="Cambria"/>
              </a:rPr>
              <a:t>RF</a:t>
            </a:r>
            <a:endParaRPr b="0" i="0" sz="3600" u="none" cap="none" strike="noStrike">
              <a:solidFill>
                <a:schemeClr val="dk1"/>
              </a:solidFill>
              <a:latin typeface="Calibri"/>
              <a:ea typeface="Calibri"/>
              <a:cs typeface="Calibri"/>
              <a:sym typeface="Calibri"/>
            </a:endParaRPr>
          </a:p>
        </p:txBody>
      </p:sp>
      <p:sp>
        <p:nvSpPr>
          <p:cNvPr id="420" name="Google Shape;420;p14"/>
          <p:cNvSpPr txBox="1"/>
          <p:nvPr/>
        </p:nvSpPr>
        <p:spPr>
          <a:xfrm>
            <a:off x="5440680" y="2377440"/>
            <a:ext cx="182880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selected on both datasets</a:t>
            </a:r>
            <a:endParaRPr b="0" i="0" sz="1300" u="none" cap="none" strike="noStrike">
              <a:solidFill>
                <a:schemeClr val="dk1"/>
              </a:solidFill>
              <a:latin typeface="Calibri"/>
              <a:ea typeface="Calibri"/>
              <a:cs typeface="Calibri"/>
              <a:sym typeface="Calibri"/>
            </a:endParaRPr>
          </a:p>
        </p:txBody>
      </p:sp>
      <p:sp>
        <p:nvSpPr>
          <p:cNvPr id="421" name="Google Shape;421;p14"/>
          <p:cNvSpPr txBox="1"/>
          <p:nvPr/>
        </p:nvSpPr>
        <p:spPr>
          <a:xfrm>
            <a:off x="640080" y="3154680"/>
            <a:ext cx="6766560" cy="18288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lt1"/>
              </a:buClr>
              <a:buSzPts val="1500"/>
              <a:buFont typeface="Calibri"/>
              <a:buChar char="•"/>
            </a:pPr>
            <a:r>
              <a:rPr b="0" i="0" lang="en-US" sz="1500" u="none" cap="none" strike="noStrike">
                <a:solidFill>
                  <a:schemeClr val="lt1"/>
                </a:solidFill>
                <a:latin typeface="Calibri"/>
                <a:ea typeface="Calibri"/>
                <a:cs typeface="Calibri"/>
                <a:sym typeface="Calibri"/>
              </a:rPr>
              <a:t>Two independent datasets, one leak-free method; never merged</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lt1"/>
              </a:buClr>
              <a:buSzPts val="1500"/>
              <a:buFont typeface="Calibri"/>
              <a:buChar char="•"/>
            </a:pPr>
            <a:r>
              <a:rPr b="0" i="0" lang="en-US" sz="1500" u="none" cap="none" strike="noStrike">
                <a:solidFill>
                  <a:schemeClr val="lt1"/>
                </a:solidFill>
                <a:latin typeface="Calibri"/>
                <a:ea typeface="Calibri"/>
                <a:cs typeface="Calibri"/>
                <a:sym typeface="Calibri"/>
              </a:rPr>
              <a:t>Key predictors: Glucose (Pima); Polyuria &amp; Polydipsia (Early Stage)</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lt1"/>
              </a:buClr>
              <a:buSzPts val="1500"/>
              <a:buFont typeface="Calibri"/>
              <a:buChar char="•"/>
            </a:pPr>
            <a:r>
              <a:rPr b="0" i="0" lang="en-US" sz="1500" u="none" cap="none" strike="noStrike">
                <a:solidFill>
                  <a:schemeClr val="lt1"/>
                </a:solidFill>
                <a:latin typeface="Calibri"/>
                <a:ea typeface="Calibri"/>
                <a:cs typeface="Calibri"/>
                <a:sym typeface="Calibri"/>
              </a:rPr>
              <a:t>Limitations: small, hospital-based or historical samples; imputed values; no external validation</a:t>
            </a:r>
            <a:endParaRPr b="0" i="0" sz="1500" u="none" cap="none" strike="noStrike">
              <a:solidFill>
                <a:schemeClr val="dk1"/>
              </a:solidFill>
              <a:latin typeface="Calibri"/>
              <a:ea typeface="Calibri"/>
              <a:cs typeface="Calibri"/>
              <a:sym typeface="Calibri"/>
            </a:endParaRPr>
          </a:p>
        </p:txBody>
      </p:sp>
      <p:sp>
        <p:nvSpPr>
          <p:cNvPr id="422" name="Google Shape;422;p14"/>
          <p:cNvSpPr txBox="1"/>
          <p:nvPr/>
        </p:nvSpPr>
        <p:spPr>
          <a:xfrm>
            <a:off x="8001000" y="1600200"/>
            <a:ext cx="35661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800"/>
              <a:buFont typeface="Cambria"/>
              <a:buNone/>
            </a:pPr>
            <a:r>
              <a:rPr b="1" i="0" lang="en-US" sz="1800" u="none" cap="none" strike="noStrike">
                <a:solidFill>
                  <a:schemeClr val="accent3"/>
                </a:solidFill>
                <a:latin typeface="Cambria"/>
                <a:ea typeface="Cambria"/>
                <a:cs typeface="Cambria"/>
                <a:sym typeface="Cambria"/>
              </a:rPr>
              <a:t>Future scope</a:t>
            </a:r>
            <a:endParaRPr b="0" i="0" sz="1800" u="none" cap="none" strike="noStrike">
              <a:solidFill>
                <a:schemeClr val="dk1"/>
              </a:solidFill>
              <a:latin typeface="Calibri"/>
              <a:ea typeface="Calibri"/>
              <a:cs typeface="Calibri"/>
              <a:sym typeface="Calibri"/>
            </a:endParaRPr>
          </a:p>
        </p:txBody>
      </p:sp>
      <p:sp>
        <p:nvSpPr>
          <p:cNvPr id="423" name="Google Shape;423;p14"/>
          <p:cNvSpPr/>
          <p:nvPr/>
        </p:nvSpPr>
        <p:spPr>
          <a:xfrm>
            <a:off x="8001000" y="2103120"/>
            <a:ext cx="3566160" cy="457200"/>
          </a:xfrm>
          <a:prstGeom prst="roundRect">
            <a:avLst>
              <a:gd fmla="val 20000" name="adj"/>
            </a:avLst>
          </a:prstGeom>
          <a:solidFill>
            <a:srgbClr val="134E5C"/>
          </a:solidFill>
          <a:ln cap="flat" cmpd="sng" w="9525">
            <a:solidFill>
              <a:srgbClr val="134E5C"/>
            </a:solidFill>
            <a:prstDash val="solid"/>
            <a:round/>
            <a:headEnd len="sm" w="sm" type="none"/>
            <a:tailEnd len="sm" w="sm" type="none"/>
          </a:ln>
        </p:spPr>
        <p:txBody>
          <a:bodyPr anchorCtr="0" anchor="ctr" bIns="127000" lIns="127000" spcFirstLastPara="1" rIns="127000" wrap="square" tIns="12700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Larger, diverse datasets</a:t>
            </a:r>
            <a:endParaRPr b="0" i="0" sz="1400" u="none" cap="none" strike="noStrike">
              <a:solidFill>
                <a:schemeClr val="dk1"/>
              </a:solidFill>
              <a:latin typeface="Calibri"/>
              <a:ea typeface="Calibri"/>
              <a:cs typeface="Calibri"/>
              <a:sym typeface="Calibri"/>
            </a:endParaRPr>
          </a:p>
        </p:txBody>
      </p:sp>
      <p:sp>
        <p:nvSpPr>
          <p:cNvPr id="424" name="Google Shape;424;p14"/>
          <p:cNvSpPr/>
          <p:nvPr/>
        </p:nvSpPr>
        <p:spPr>
          <a:xfrm>
            <a:off x="8001000" y="2670048"/>
            <a:ext cx="3566160" cy="457200"/>
          </a:xfrm>
          <a:prstGeom prst="roundRect">
            <a:avLst>
              <a:gd fmla="val 20000" name="adj"/>
            </a:avLst>
          </a:prstGeom>
          <a:solidFill>
            <a:srgbClr val="134E5C"/>
          </a:solidFill>
          <a:ln cap="flat" cmpd="sng" w="9525">
            <a:solidFill>
              <a:srgbClr val="134E5C"/>
            </a:solidFill>
            <a:prstDash val="solid"/>
            <a:round/>
            <a:headEnd len="sm" w="sm" type="none"/>
            <a:tailEnd len="sm" w="sm" type="none"/>
          </a:ln>
        </p:spPr>
        <p:txBody>
          <a:bodyPr anchorCtr="0" anchor="ctr" bIns="127000" lIns="127000" spcFirstLastPara="1" rIns="127000" wrap="square" tIns="12700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External validation</a:t>
            </a:r>
            <a:endParaRPr b="0" i="0" sz="1400" u="none" cap="none" strike="noStrike">
              <a:solidFill>
                <a:schemeClr val="dk1"/>
              </a:solidFill>
              <a:latin typeface="Calibri"/>
              <a:ea typeface="Calibri"/>
              <a:cs typeface="Calibri"/>
              <a:sym typeface="Calibri"/>
            </a:endParaRPr>
          </a:p>
        </p:txBody>
      </p:sp>
      <p:sp>
        <p:nvSpPr>
          <p:cNvPr id="425" name="Google Shape;425;p14"/>
          <p:cNvSpPr/>
          <p:nvPr/>
        </p:nvSpPr>
        <p:spPr>
          <a:xfrm>
            <a:off x="8001000" y="3236976"/>
            <a:ext cx="3566160" cy="457200"/>
          </a:xfrm>
          <a:prstGeom prst="roundRect">
            <a:avLst>
              <a:gd fmla="val 20000" name="adj"/>
            </a:avLst>
          </a:prstGeom>
          <a:solidFill>
            <a:srgbClr val="134E5C"/>
          </a:solidFill>
          <a:ln cap="flat" cmpd="sng" w="9525">
            <a:solidFill>
              <a:srgbClr val="134E5C"/>
            </a:solidFill>
            <a:prstDash val="solid"/>
            <a:round/>
            <a:headEnd len="sm" w="sm" type="none"/>
            <a:tailEnd len="sm" w="sm" type="none"/>
          </a:ln>
        </p:spPr>
        <p:txBody>
          <a:bodyPr anchorCtr="0" anchor="ctr" bIns="127000" lIns="127000" spcFirstLastPara="1" rIns="127000" wrap="square" tIns="12700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Hyperparameter tuning</a:t>
            </a:r>
            <a:endParaRPr b="0" i="0" sz="1400" u="none" cap="none" strike="noStrike">
              <a:solidFill>
                <a:schemeClr val="dk1"/>
              </a:solidFill>
              <a:latin typeface="Calibri"/>
              <a:ea typeface="Calibri"/>
              <a:cs typeface="Calibri"/>
              <a:sym typeface="Calibri"/>
            </a:endParaRPr>
          </a:p>
        </p:txBody>
      </p:sp>
      <p:sp>
        <p:nvSpPr>
          <p:cNvPr id="426" name="Google Shape;426;p14"/>
          <p:cNvSpPr/>
          <p:nvPr/>
        </p:nvSpPr>
        <p:spPr>
          <a:xfrm>
            <a:off x="8001000" y="3803904"/>
            <a:ext cx="3566160" cy="457200"/>
          </a:xfrm>
          <a:prstGeom prst="roundRect">
            <a:avLst>
              <a:gd fmla="val 20000" name="adj"/>
            </a:avLst>
          </a:prstGeom>
          <a:solidFill>
            <a:srgbClr val="134E5C"/>
          </a:solidFill>
          <a:ln cap="flat" cmpd="sng" w="9525">
            <a:solidFill>
              <a:srgbClr val="134E5C"/>
            </a:solidFill>
            <a:prstDash val="solid"/>
            <a:round/>
            <a:headEnd len="sm" w="sm" type="none"/>
            <a:tailEnd len="sm" w="sm" type="none"/>
          </a:ln>
        </p:spPr>
        <p:txBody>
          <a:bodyPr anchorCtr="0" anchor="ctr" bIns="127000" lIns="127000" spcFirstLastPara="1" rIns="127000" wrap="square" tIns="12700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Calibration &amp; thresholds</a:t>
            </a:r>
            <a:endParaRPr b="0" i="0" sz="1400" u="none" cap="none" strike="noStrike">
              <a:solidFill>
                <a:schemeClr val="dk1"/>
              </a:solidFill>
              <a:latin typeface="Calibri"/>
              <a:ea typeface="Calibri"/>
              <a:cs typeface="Calibri"/>
              <a:sym typeface="Calibri"/>
            </a:endParaRPr>
          </a:p>
        </p:txBody>
      </p:sp>
      <p:sp>
        <p:nvSpPr>
          <p:cNvPr id="427" name="Google Shape;427;p14"/>
          <p:cNvSpPr/>
          <p:nvPr/>
        </p:nvSpPr>
        <p:spPr>
          <a:xfrm>
            <a:off x="8001000" y="4370832"/>
            <a:ext cx="3566160" cy="457200"/>
          </a:xfrm>
          <a:prstGeom prst="roundRect">
            <a:avLst>
              <a:gd fmla="val 20000" name="adj"/>
            </a:avLst>
          </a:prstGeom>
          <a:solidFill>
            <a:srgbClr val="134E5C"/>
          </a:solidFill>
          <a:ln cap="flat" cmpd="sng" w="9525">
            <a:solidFill>
              <a:srgbClr val="134E5C"/>
            </a:solidFill>
            <a:prstDash val="solid"/>
            <a:round/>
            <a:headEnd len="sm" w="sm" type="none"/>
            <a:tailEnd len="sm" w="sm" type="none"/>
          </a:ln>
        </p:spPr>
        <p:txBody>
          <a:bodyPr anchorCtr="0" anchor="ctr" bIns="127000" lIns="127000" spcFirstLastPara="1" rIns="127000" wrap="square" tIns="12700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Drift monitoring</a:t>
            </a:r>
            <a:endParaRPr b="0" i="0" sz="1400" u="none" cap="none" strike="noStrike">
              <a:solidFill>
                <a:schemeClr val="dk1"/>
              </a:solidFill>
              <a:latin typeface="Calibri"/>
              <a:ea typeface="Calibri"/>
              <a:cs typeface="Calibri"/>
              <a:sym typeface="Calibri"/>
            </a:endParaRPr>
          </a:p>
        </p:txBody>
      </p:sp>
      <p:sp>
        <p:nvSpPr>
          <p:cNvPr id="428" name="Google Shape;428;p14"/>
          <p:cNvSpPr txBox="1"/>
          <p:nvPr/>
        </p:nvSpPr>
        <p:spPr>
          <a:xfrm>
            <a:off x="640080" y="5120640"/>
            <a:ext cx="67665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600"/>
              <a:buFont typeface="Cambria"/>
              <a:buNone/>
            </a:pPr>
            <a:r>
              <a:rPr b="1" i="0" lang="en-US" sz="2600" u="none" cap="none" strike="noStrike">
                <a:solidFill>
                  <a:schemeClr val="lt1"/>
                </a:solidFill>
                <a:latin typeface="Cambria"/>
                <a:ea typeface="Cambria"/>
                <a:cs typeface="Cambria"/>
                <a:sym typeface="Cambria"/>
              </a:rPr>
              <a:t>Thank you. Questions?</a:t>
            </a:r>
            <a:endParaRPr b="0" i="0" sz="2600" u="none" cap="none" strike="noStrike">
              <a:solidFill>
                <a:schemeClr val="dk1"/>
              </a:solidFill>
              <a:latin typeface="Calibri"/>
              <a:ea typeface="Calibri"/>
              <a:cs typeface="Calibri"/>
              <a:sym typeface="Calibri"/>
            </a:endParaRPr>
          </a:p>
        </p:txBody>
      </p:sp>
      <p:sp>
        <p:nvSpPr>
          <p:cNvPr id="433" name="Google Shape;433;p14"/>
          <p:cNvSpPr txBox="1"/>
          <p:nvPr/>
        </p:nvSpPr>
        <p:spPr>
          <a:xfrm>
            <a:off x="8001000" y="5120640"/>
            <a:ext cx="35661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Academic screening demonstration, not a diagnostic tool</a:t>
            </a:r>
            <a:endParaRPr b="0" i="0" sz="12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2"/>
          <p:cNvSpPr txBox="1"/>
          <p:nvPr>
            <p:ph type="title"/>
          </p:nvPr>
        </p:nvSpPr>
        <p:spPr>
          <a:xfrm>
            <a:off x="548640" y="347472"/>
            <a:ext cx="1106424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200"/>
              <a:buFont typeface="Cambria"/>
              <a:buNone/>
            </a:pPr>
            <a:r>
              <a:rPr b="1" lang="en-US" sz="3200">
                <a:solidFill>
                  <a:schemeClr val="dk2"/>
                </a:solidFill>
                <a:latin typeface="Cambria"/>
                <a:ea typeface="Cambria"/>
                <a:cs typeface="Cambria"/>
                <a:sym typeface="Cambria"/>
              </a:rPr>
              <a:t>References</a:t>
            </a:r>
            <a:endParaRPr sz="3200"/>
          </a:p>
        </p:txBody>
      </p:sp>
      <p:sp>
        <p:nvSpPr>
          <p:cNvPr id="700" name="Google Shape;700;p22"/>
          <p:cNvSpPr txBox="1"/>
          <p:nvPr>
            <p:ph idx="4294967295" type="sldNum"/>
          </p:nvPr>
        </p:nvSpPr>
        <p:spPr>
          <a:xfrm>
            <a:off x="11137392" y="6382512"/>
            <a:ext cx="502920" cy="2926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
        <p:nvSpPr>
          <p:cNvPr id="701" name="Rounded Rectangle 700"/>
          <p:cNvSpPr/>
          <p:nvPr/>
        </p:nvSpPr>
        <p:spPr>
          <a:xfrm>
            <a:off x="548640" y="1188720"/>
            <a:ext cx="11091672" cy="4160520"/>
          </a:xfrm>
          <a:prstGeom prst="roundRect">
            <a:avLst>
              <a:gd name="adj" fmla="val 3000"/>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TextBox 701"/>
          <p:cNvSpPr txBox="1"/>
          <p:nvPr/>
        </p:nvSpPr>
        <p:spPr>
          <a:xfrm>
            <a:off x="777240" y="1325880"/>
            <a:ext cx="10652760" cy="4663440"/>
          </a:xfrm>
          <a:prstGeom prst="rect">
            <a:avLst/>
          </a:prstGeom>
          <a:noFill/>
        </p:spPr>
        <p:txBody>
          <a:bodyPr wrap="square" anchor="t" lIns="0" rIns="0" tIns="0" bIns="0">
            <a:spAutoFit/>
          </a:bodyPr>
          <a:lstStyle/>
          <a:p>
            <a:pPr algn="l">
              <a:spcAft>
                <a:spcPts val="400"/>
              </a:spcAft>
            </a:pPr>
            <a:r>
              <a:rPr sz="1300" b="0">
                <a:solidFill>
                  <a:schemeClr val="dk1"/>
                </a:solidFill>
                <a:latin typeface="Calibri"/>
              </a:rPr>
              <a:t>[1] J. W. Smith et al., "Using the ADAP learning algorithm to forecast the onset of diabetes mellitus," Proc. Annu. Symp. Comput. Appl. Med. Care, pp. 261–265, 1988.</a:t>
            </a:r>
          </a:p>
          <a:p>
            <a:pPr algn="l">
              <a:spcAft>
                <a:spcPts val="400"/>
              </a:spcAft>
            </a:pPr>
            <a:r>
              <a:rPr sz="1300" b="0">
                <a:solidFill>
                  <a:schemeClr val="dk1"/>
                </a:solidFill>
                <a:latin typeface="Calibri"/>
              </a:rPr>
              <a:t>[2] M. M. F. Islam, R. Ferdousi, S. Rahman, H. Y. Bushra, "Likelihood prediction of diabetes at early stage using data mining techniques," Springer AISC, pp. 113–125, 2019.</a:t>
            </a:r>
          </a:p>
          <a:p>
            <a:pPr algn="l">
              <a:spcAft>
                <a:spcPts val="400"/>
              </a:spcAft>
            </a:pPr>
            <a:r>
              <a:rPr sz="1300" b="0">
                <a:solidFill>
                  <a:schemeClr val="dk1"/>
                </a:solidFill>
                <a:latin typeface="Calibri"/>
              </a:rPr>
              <a:t>[3] "Early Stage Diabetes Risk Prediction" [Dataset], UCI Machine Learning Repository, 2020, doi: 10.24432/C5VG8H.</a:t>
            </a:r>
          </a:p>
          <a:p>
            <a:pPr algn="l">
              <a:spcAft>
                <a:spcPts val="400"/>
              </a:spcAft>
            </a:pPr>
            <a:r>
              <a:rPr sz="1300" b="0">
                <a:solidFill>
                  <a:schemeClr val="dk1"/>
                </a:solidFill>
                <a:latin typeface="Calibri"/>
              </a:rPr>
              <a:t>[4] V. Vakil, S. Pachchigar, C. Chavda, S. Soni, "Explainable predictions of different machine learning algorithms used to predict early stage diabetes," arXiv:2111.09939, 2021.</a:t>
            </a:r>
          </a:p>
          <a:p>
            <a:pPr algn="l">
              <a:spcAft>
                <a:spcPts val="400"/>
              </a:spcAft>
            </a:pPr>
            <a:r>
              <a:rPr sz="1300" b="0">
                <a:solidFill>
                  <a:schemeClr val="dk1"/>
                </a:solidFill>
                <a:latin typeface="Calibri"/>
              </a:rPr>
              <a:t>[5] U. Fayyad, G. Piatetsky-Shapiro, P. Smyth, "From data mining to knowledge discovery in databases," AI Magazine, vol. 17, no. 3, 1996.</a:t>
            </a:r>
          </a:p>
          <a:p>
            <a:pPr algn="l">
              <a:spcAft>
                <a:spcPts val="400"/>
              </a:spcAft>
            </a:pPr>
            <a:r>
              <a:rPr sz="1300" b="0">
                <a:solidFill>
                  <a:schemeClr val="dk1"/>
                </a:solidFill>
                <a:latin typeface="Calibri"/>
              </a:rPr>
              <a:t>[6] N. V. Chawla et al., "SMOTE: Synthetic minority over-sampling technique," JAIR, vol. 16, pp. 321–357, 2002.</a:t>
            </a:r>
          </a:p>
          <a:p>
            <a:pPr algn="l">
              <a:spcAft>
                <a:spcPts val="400"/>
              </a:spcAft>
            </a:pPr>
            <a:r>
              <a:rPr sz="1300" b="0">
                <a:solidFill>
                  <a:schemeClr val="dk1"/>
                </a:solidFill>
                <a:latin typeface="Calibri"/>
              </a:rPr>
              <a:t>[7] L. Breiman, "Random forests," Machine Learning, vol. 45, pp. 5–32, 2001.</a:t>
            </a:r>
          </a:p>
          <a:p>
            <a:pPr algn="l">
              <a:spcAft>
                <a:spcPts val="400"/>
              </a:spcAft>
            </a:pPr>
            <a:r>
              <a:rPr sz="1300" b="0">
                <a:solidFill>
                  <a:schemeClr val="dk1"/>
                </a:solidFill>
                <a:latin typeface="Calibri"/>
              </a:rPr>
              <a:t>[8] T. Chen and C. Guestrin, "XGBoost: A scalable tree boosting system," Proc. ACM SIGKDD, pp. 785–794, 2016.</a:t>
            </a:r>
          </a:p>
          <a:p>
            <a:pPr algn="l">
              <a:spcAft>
                <a:spcPts val="400"/>
              </a:spcAft>
            </a:pPr>
            <a:r>
              <a:rPr sz="1300" b="0">
                <a:solidFill>
                  <a:schemeClr val="dk1"/>
                </a:solidFill>
                <a:latin typeface="Calibri"/>
              </a:rPr>
              <a:t>[9] S. M. Lundberg and S.-I. Lee, "A unified approach to interpreting model predictions," NeurIPS, 2017.</a:t>
            </a:r>
          </a:p>
          <a:p>
            <a:pPr algn="l">
              <a:spcAft>
                <a:spcPts val="400"/>
              </a:spcAft>
            </a:pPr>
            <a:r>
              <a:rPr sz="1300" b="0">
                <a:solidFill>
                  <a:schemeClr val="dk1"/>
                </a:solidFill>
                <a:latin typeface="Calibri"/>
              </a:rPr>
              <a:t>[10] F. Pedregosa et al., "Scikit-learn: Machine learning in Python," JMLR, vol. 12, pp. 2825–2830, 2011.</a:t>
            </a:r>
          </a:p>
          <a:p>
            <a:pPr algn="l">
              <a:spcAft>
                <a:spcPts val="400"/>
              </a:spcAft>
            </a:pPr>
            <a:r>
              <a:rPr sz="1200" b="1">
                <a:solidFill>
                  <a:schemeClr val="accent1"/>
                </a:solidFill>
                <a:latin typeface="Calibri"/>
              </a:rPr>
              <a:t>The full list (21 references, with a literature review) is in the project report.</a:t>
            </a: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Glucose Teal">
  <a:themeElements>
    <a:clrScheme name="Glucose Teal">
      <a:dk1>
        <a:srgbClr val="1B2A33"/>
      </a:dk1>
      <a:lt1>
        <a:srgbClr val="FFFFFF"/>
      </a:lt1>
      <a:dk2>
        <a:srgbClr val="0B3C49"/>
      </a:dk2>
      <a:lt2>
        <a:srgbClr val="EAF3F4"/>
      </a:lt2>
      <a:accent1>
        <a:srgbClr val="0E7C86"/>
      </a:accent1>
      <a:accent2>
        <a:srgbClr val="F25C54"/>
      </a:accent2>
      <a:accent3>
        <a:srgbClr val="F4B942"/>
      </a:accent3>
      <a:accent4>
        <a:srgbClr val="3A5A98"/>
      </a:accent4>
      <a:accent5>
        <a:srgbClr val="7A8B94"/>
      </a:accent5>
      <a:accent6>
        <a:srgbClr val="6B4E9B"/>
      </a:accent6>
      <a:hlink>
        <a:srgbClr val="0E7C86"/>
      </a:hlink>
      <a:folHlink>
        <a:srgbClr val="6B4E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lucose Teal">
  <a:themeElements>
    <a:clrScheme name="Glucose Teal">
      <a:dk1>
        <a:srgbClr val="1B2A33"/>
      </a:dk1>
      <a:lt1>
        <a:srgbClr val="FFFFFF"/>
      </a:lt1>
      <a:dk2>
        <a:srgbClr val="0B3C49"/>
      </a:dk2>
      <a:lt2>
        <a:srgbClr val="EAF3F4"/>
      </a:lt2>
      <a:accent1>
        <a:srgbClr val="0E7C86"/>
      </a:accent1>
      <a:accent2>
        <a:srgbClr val="F25C54"/>
      </a:accent2>
      <a:accent3>
        <a:srgbClr val="F4B942"/>
      </a:accent3>
      <a:accent4>
        <a:srgbClr val="3A5A98"/>
      </a:accent4>
      <a:accent5>
        <a:srgbClr val="7A8B94"/>
      </a:accent5>
      <a:accent6>
        <a:srgbClr val="6B4E9B"/>
      </a:accent6>
      <a:hlink>
        <a:srgbClr val="0E7C86"/>
      </a:hlink>
      <a:folHlink>
        <a:srgbClr val="6B4E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2026-10-10T17:18:33Z</dcterms:created>
  <dc:creator>Hardik Jain</dc:creator>
</cp:coreProperties>
</file>