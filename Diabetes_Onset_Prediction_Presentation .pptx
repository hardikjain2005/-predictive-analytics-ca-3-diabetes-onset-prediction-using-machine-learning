
<file path=[Content_Types].xml><?xml version="1.0" encoding="utf-8"?>
<Types xmlns="http://schemas.openxmlformats.org/package/2006/content-types">
  <Default ContentType="application/vnd.openxmlformats-officedocument.spreadsheetml.sheet" Extension="xlsx"/>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2.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22.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drawingml.chart+xml" PartName="/ppt/charts/chart3.xml"/>
  <Override ContentType="application/vnd.openxmlformats-officedocument.drawingml.chart+xml" PartName="/ppt/charts/chart2.xml"/>
  <Override ContentType="application/vnd.openxmlformats-officedocument.drawingml.chart+xml" PartName="/ppt/charts/chart5.xml"/>
  <Override ContentType="application/vnd.openxmlformats-officedocument.drawingml.chart+xml" PartName="/ppt/charts/chart4.xml"/>
  <Override ContentType="application/vnd.openxmlformats-officedocument.drawingml.chart+xml" PartName="/ppt/charts/chart1.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Lst>
  <p:sldSz cy="6858000" cx="12192000"/>
  <p:notesSz cx="6858000" cy="12192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7" roundtripDataSignature="AMtx7mhhnkAhqlffMvE9I3/Y5k610MW/1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20" Type="http://schemas.openxmlformats.org/officeDocument/2006/relationships/slide" Target="slides/slide16.xml"/><Relationship Id="rId22" Type="http://schemas.openxmlformats.org/officeDocument/2006/relationships/slide" Target="slides/slide18.xml"/><Relationship Id="rId21" Type="http://schemas.openxmlformats.org/officeDocument/2006/relationships/slide" Target="slides/slide17.xml"/><Relationship Id="rId24" Type="http://schemas.openxmlformats.org/officeDocument/2006/relationships/slide" Target="slides/slide20.xml"/><Relationship Id="rId23" Type="http://schemas.openxmlformats.org/officeDocument/2006/relationships/slide" Target="slides/slide19.xml"/><Relationship Id="rId26" Type="http://schemas.openxmlformats.org/officeDocument/2006/relationships/slide" Target="slides/slide22.xml"/><Relationship Id="rId25" Type="http://schemas.openxmlformats.org/officeDocument/2006/relationships/slide" Target="slides/slide21.xml"/><Relationship Id="rId27" Type="http://customschemas.google.com/relationships/presentationmetadata" Target="metadata"/><Relationship Id="rId11" Type="http://schemas.openxmlformats.org/officeDocument/2006/relationships/slide" Target="slides/slide7.xml"/><Relationship Id="rId10" Type="http://schemas.openxmlformats.org/officeDocument/2006/relationships/slide" Target="slides/slide6.xml"/><Relationship Id="rId13" Type="http://schemas.openxmlformats.org/officeDocument/2006/relationships/slide" Target="slides/slide9.xml"/><Relationship Id="rId12" Type="http://schemas.openxmlformats.org/officeDocument/2006/relationships/slide" Target="slides/slide8.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19" Type="http://schemas.openxmlformats.org/officeDocument/2006/relationships/slide" Target="slides/slide15.xml"/><Relationship Id="rId18"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3C49"/>
                </a:solidFill>
                <a:latin typeface="+mn-lt"/>
              </a:defRPr>
            </a:pPr>
            <a:r>
              <a:rPr sz="1400" b="0" i="0" u="none" strike="noStrike">
                <a:solidFill>
                  <a:srgbClr val="0B3C49"/>
                </a:solidFill>
                <a:latin typeface="+mn-lt"/>
              </a:rPr>
              <a:t>Class balance (Outcome)</a:t>
            </a:r>
          </a:p>
        </c:rich>
      </c:tx>
      <c:layout/>
      <c:overlay val="0"/>
    </c:title>
    <c:autoTitleDeleted val="0"/>
    <c:plotArea>
      <c:layout/>
      <c:doughnutChart>
        <c:varyColors val="1"/>
        <c:ser>
          <c:idx val="0"/>
          <c:order val="0"/>
          <c:tx>
            <c:strRef>
              <c:f>Sheet1!$B$1</c:f>
              <c:strCache>
                <c:ptCount val="1"/>
                <c:pt idx="0">
                  <c:v>Outcome</c:v>
                </c:pt>
              </c:strCache>
            </c:strRef>
          </c:tx>
          <c:spPr>
            <a:solidFill>
              <a:schemeClr val="accent1"/>
            </a:solidFill>
            <a:ln w="9525" cap="flat">
              <a:solidFill>
                <a:srgbClr val="F9F9F9"/>
              </a:solidFill>
              <a:prstDash val="solid"/>
              <a:round/>
            </a:ln>
            <a:effectLst/>
          </c:spPr>
          <c:dPt>
            <c:idx val="0"/>
            <c:bubble3D val="0"/>
            <c:spPr>
              <a:solidFill>
                <a:srgbClr val="0E7C86"/>
              </a:solidFill>
              <a:effectLst/>
            </c:spPr>
          </c:dPt>
          <c:dPt>
            <c:idx val="1"/>
            <c:bubble3D val="0"/>
            <c:spPr>
              <a:solidFill>
                <a:srgbClr val="F25C54"/>
              </a:solidFill>
              <a:effectLst/>
            </c:spPr>
          </c:dPt>
          <c:dLbls>
            <c:dLbl>
              <c:idx val="0"/>
              <c:numFmt formatCode="0%" sourceLinked="0"/>
              <c:spPr/>
              <c:txPr>
                <a:bodyPr/>
                <a:lstStyle/>
                <a:p>
                  <a:pPr>
                    <a:defRPr sz="1300" b="0" i="0" u="none" strike="noStrike">
                      <a:solidFill>
                        <a:srgbClr val="FFFFFF"/>
                      </a:solidFill>
                      <a:latin typeface="+mn-lt"/>
                    </a:defRPr>
                  </a:pPr>
                </a:p>
              </c:txPr>
              <c:showLegendKey val="0"/>
              <c:showVal val="0"/>
              <c:showCatName val="0"/>
              <c:showSerName val="0"/>
              <c:showPercent val="1"/>
              <c:showBubbleSize val="0"/>
            </c:dLbl>
            <c:dLbl>
              <c:idx val="1"/>
              <c:numFmt formatCode="0%" sourceLinked="0"/>
              <c:spPr/>
              <c:txPr>
                <a:bodyPr/>
                <a:lstStyle/>
                <a:p>
                  <a:pPr>
                    <a:defRPr sz="1300" b="0" i="0" u="none" strike="noStrike">
                      <a:solidFill>
                        <a:srgbClr val="FFFFFF"/>
                      </a:solidFill>
                      <a:latin typeface="+mn-lt"/>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No diabetes (500)</c:v>
                </c:pt>
                <c:pt idx="1">
                  <c:v>Diabetes (268)</c:v>
                </c:pt>
              </c:strCache>
            </c:strRef>
          </c:cat>
          <c:val>
            <c:numRef>
              <c:f>Sheet1!$B$2:$B$3</c:f>
              <c:numCache>
                <c:ptCount val="2"/>
                <c:pt idx="0">
                  <c:v>500</c:v>
                </c:pt>
                <c:pt idx="1">
                  <c:v>268</c:v>
                </c:pt>
              </c:numCache>
            </c:numRef>
          </c:val>
        </c:ser>
        <c:firstSliceAng val="0"/>
        <c:holeSize val="55"/>
      </c:doughnutChart>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3C49"/>
                </a:solidFill>
                <a:latin typeface="+mn-lt"/>
              </a:defRPr>
            </a:pPr>
            <a:r>
              <a:rPr sz="1400" b="0" i="0" u="none" strike="noStrike">
                <a:solidFill>
                  <a:srgbClr val="0B3C49"/>
                </a:solidFill>
                <a:latin typeface="+mn-lt"/>
              </a:rPr>
              <a:t>Hidden missing values: impossible zeros per feature</a:t>
            </a:r>
          </a:p>
        </c:rich>
      </c:tx>
      <c:layout/>
      <c:overlay val="0"/>
    </c:title>
    <c:autoTitleDeleted val="0"/>
    <c:plotArea>
      <c:layout/>
      <c:barChart>
        <c:barDir val="bar"/>
        <c:grouping val="clustered"/>
        <c:varyColors val="0"/>
        <c:ser>
          <c:idx val="0"/>
          <c:order val="0"/>
          <c:tx>
            <c:strRef>
              <c:f>Sheet1!$B$1</c:f>
              <c:strCache>
                <c:ptCount val="1"/>
                <c:pt idx="0">
                  <c:v>Invalid zeros (%)</c:v>
                </c:pt>
              </c:strCache>
            </c:strRef>
          </c:tx>
          <c:spPr>
            <a:solidFill>
              <a:srgbClr val="F25C54"/>
            </a:solidFill>
            <a:effectLst/>
          </c:spPr>
          <c:invertIfNegative val="0"/>
          <c:dLbls>
            <c:numFmt formatCode="0.0&quot;%&quot;"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cat>
            <c:multiLvlStrRef>
              <c:f>Sheet1!$A$2:$A$6</c:f>
              <c:multiLvlStrCache>
                <c:ptCount val="5"/>
                <c:lvl>
                  <c:pt idx="0">
                    <c:v>BMI</c:v>
                  </c:pt>
                  <c:pt idx="1">
                    <c:v>Glucose</c:v>
                  </c:pt>
                  <c:pt idx="2">
                    <c:v>BloodPressure</c:v>
                  </c:pt>
                  <c:pt idx="3">
                    <c:v>SkinThickness</c:v>
                  </c:pt>
                  <c:pt idx="4">
                    <c:v>Insulin</c:v>
                  </c:pt>
                </c:lvl>
              </c:multiLvlStrCache>
            </c:multiLvlStrRef>
          </c:cat>
          <c:val>
            <c:numRef>
              <c:f>Sheet1!$B$2:$B$6</c:f>
              <c:numCache>
                <c:formatCode>General</c:formatCode>
                <c:ptCount val="5"/>
                <c:pt idx="0">
                  <c:v>1.43</c:v>
                </c:pt>
                <c:pt idx="1">
                  <c:v>0.65</c:v>
                </c:pt>
                <c:pt idx="2">
                  <c:v>4.56</c:v>
                </c:pt>
                <c:pt idx="3">
                  <c:v>29.56</c:v>
                </c:pt>
                <c:pt idx="4">
                  <c:v>48.7</c:v>
                </c:pt>
              </c:numCache>
            </c:numRef>
          </c:val>
        </c:ser>
        <c:dLbls>
          <c:numFmt formatCode="0.0&quot;%&quot;"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B2A33"/>
                </a:solidFill>
                <a:latin typeface="+mn-lt"/>
              </a:defRPr>
            </a:pPr>
            <a:endParaRPr lang="en-US"/>
          </a:p>
        </c:txPr>
        <c:crossAx val="2094734552"/>
        <c:crosses val="autoZero"/>
        <c:auto val="1"/>
        <c:lblAlgn val="ctr"/>
        <c:noMultiLvlLbl val="1"/>
      </c:catAx>
      <c:valAx>
        <c:axId val="2094734552"/>
        <c:scaling>
          <c:orientation val="minMax"/>
          <c:max val="60"/>
          <c:min val="0"/>
        </c:scaling>
        <c:delete val="0"/>
        <c:axPos val="b"/>
        <c:majorGridlines>
          <c:spPr>
            <a:ln w="6350" cap="flat">
              <a:solidFill>
                <a:srgbClr val="DCE3E5"/>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100" b="0" i="0" u="none" strike="noStrike">
                <a:solidFill>
                  <a:srgbClr val="7A8B94"/>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3C49"/>
                </a:solidFill>
                <a:latin typeface="+mn-lt"/>
              </a:defRPr>
            </a:pPr>
            <a:r>
              <a:rPr sz="1400" b="0" i="0" u="none" strike="noStrike">
                <a:solidFill>
                  <a:srgbClr val="0B3C49"/>
                </a:solidFill>
                <a:latin typeface="+mn-lt"/>
              </a:rPr>
              <a:t>Training set class counts</a:t>
            </a:r>
          </a:p>
        </c:rich>
      </c:tx>
      <c:layout/>
      <c:overlay val="0"/>
    </c:title>
    <c:autoTitleDeleted val="0"/>
    <c:plotArea>
      <c:layout/>
      <c:barChart>
        <c:barDir val="col"/>
        <c:grouping val="clustered"/>
        <c:varyColors val="0"/>
        <c:ser>
          <c:idx val="0"/>
          <c:order val="0"/>
          <c:tx>
            <c:strRef>
              <c:f>Sheet1!$B$1</c:f>
              <c:strCache>
                <c:ptCount val="1"/>
                <c:pt idx="0">
                  <c:v>No diabetes</c:v>
                </c:pt>
              </c:strCache>
            </c:strRef>
          </c:tx>
          <c:spPr>
            <a:solidFill>
              <a:srgbClr val="0E7C86"/>
            </a:solidFill>
            <a:effectLst/>
          </c:spPr>
          <c:invertIfNegative val="0"/>
          <c:dLbls>
            <c:numFmt formatCode="#,##0"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cat>
            <c:multiLvlStrRef>
              <c:f>Sheet1!$A$2:$A$3</c:f>
              <c:multiLvlStrCache>
                <c:ptCount val="2"/>
                <c:lvl>
                  <c:pt idx="0">
                    <c:v>Before SMOTE</c:v>
                  </c:pt>
                  <c:pt idx="1">
                    <c:v>After SMOTE</c:v>
                  </c:pt>
                </c:lvl>
              </c:multiLvlStrCache>
            </c:multiLvlStrRef>
          </c:cat>
          <c:val>
            <c:numRef>
              <c:f>Sheet1!$B$2:$B$3</c:f>
              <c:numCache>
                <c:formatCode>General</c:formatCode>
                <c:ptCount val="2"/>
                <c:pt idx="0">
                  <c:v>400</c:v>
                </c:pt>
                <c:pt idx="1">
                  <c:v>400</c:v>
                </c:pt>
              </c:numCache>
            </c:numRef>
          </c:val>
        </c:ser>
        <c:ser>
          <c:idx val="1"/>
          <c:order val="1"/>
          <c:tx>
            <c:strRef>
              <c:f>Sheet1!$C$1</c:f>
              <c:strCache>
                <c:ptCount val="1"/>
                <c:pt idx="0">
                  <c:v>Diabetes</c:v>
                </c:pt>
              </c:strCache>
            </c:strRef>
          </c:tx>
          <c:spPr>
            <a:solidFill>
              <a:srgbClr val="F25C54"/>
            </a:solidFill>
            <a:effectLst/>
          </c:spPr>
          <c:invertIfNegative val="0"/>
          <c:dLbls>
            <c:numFmt formatCode="#,##0"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cat>
            <c:multiLvlStrRef>
              <c:f>Sheet1!$A$2:$A$3</c:f>
              <c:multiLvlStrCache>
                <c:ptCount val="2"/>
                <c:lvl>
                  <c:pt idx="0">
                    <c:v>Before SMOTE</c:v>
                  </c:pt>
                  <c:pt idx="1">
                    <c:v>After SMOTE</c:v>
                  </c:pt>
                </c:lvl>
              </c:multiLvlStrCache>
            </c:multiLvlStrRef>
          </c:cat>
          <c:val>
            <c:numRef>
              <c:f>Sheet1!$C$2:$C$3</c:f>
              <c:numCache>
                <c:formatCode>General</c:formatCode>
                <c:ptCount val="2"/>
                <c:pt idx="0">
                  <c:v>214</c:v>
                </c:pt>
                <c:pt idx="1">
                  <c:v>400</c:v>
                </c:pt>
              </c:numCache>
            </c:numRef>
          </c:val>
        </c:ser>
        <c:dLbls>
          <c:numFmt formatCode="#,##0"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A33"/>
                </a:solidFill>
                <a:latin typeface="+mn-lt"/>
              </a:defRPr>
            </a:pPr>
            <a:endParaRPr lang="en-US"/>
          </a:p>
        </c:txPr>
        <c:crossAx val="2094734552"/>
        <c:crosses val="autoZero"/>
        <c:auto val="1"/>
        <c:lblAlgn val="ctr"/>
        <c:noMultiLvlLbl val="1"/>
      </c:catAx>
      <c:valAx>
        <c:axId val="2094734552"/>
        <c:scaling>
          <c:orientation val="minMax"/>
          <c:max val="480"/>
          <c:min val="0"/>
        </c:scaling>
        <c:delete val="0"/>
        <c:axPos val="l"/>
        <c:majorGridlines>
          <c:spPr>
            <a:ln w="6350" cap="flat">
              <a:solidFill>
                <a:srgbClr val="DCE3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8B94"/>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3C49"/>
                </a:solidFill>
                <a:latin typeface="+mn-lt"/>
              </a:defRPr>
            </a:pPr>
            <a:r>
              <a:rPr sz="1400" b="0" i="0" u="none" strike="noStrike">
                <a:solidFill>
                  <a:srgbClr val="0B3C49"/>
                </a:solidFill>
                <a:latin typeface="+mn-lt"/>
              </a:rPr>
              <a:t>154 held-out patients (hover the bars in PowerPoint for exact values)</a:t>
            </a:r>
          </a:p>
        </c:rich>
      </c:tx>
      <c:layout/>
      <c:overlay val="0"/>
    </c:title>
    <c:autoTitleDeleted val="0"/>
    <c:plotArea>
      <c:layout/>
      <c:barChart>
        <c:barDir val="col"/>
        <c:grouping val="clustered"/>
        <c:varyColors val="0"/>
        <c:ser>
          <c:idx val="0"/>
          <c:order val="0"/>
          <c:tx>
            <c:strRef>
              <c:f>Sheet1!$B$1</c:f>
              <c:strCache>
                <c:ptCount val="1"/>
                <c:pt idx="0">
                  <c:v>Logistic Regression</c:v>
                </c:pt>
              </c:strCache>
            </c:strRef>
          </c:tx>
          <c:spPr>
            <a:solidFill>
              <a:srgbClr val="3A5A98"/>
            </a:solidFill>
            <a:effectLst/>
          </c:spPr>
          <c:invertIfNegative val="0"/>
          <c:dLbls>
            <c:numFmt formatCode="#,##0" sourceLinked="0"/>
            <c:txPr>
              <a:bodyPr/>
              <a:lstStyle/>
              <a:p>
                <a:pPr>
                  <a:defRPr b="0" i="0" strike="noStrike" sz="1100" u="none">
                    <a:solidFill>
                      <a:srgbClr val="1B2A33"/>
                    </a:solidFill>
                    <a:latin typeface="+mn-lt"/>
                  </a:defRPr>
                </a:pPr>
              </a:p>
            </c:txPr>
            <c:showLegendKey val="0"/>
            <c:showVal val="0"/>
            <c:showCatName val="0"/>
            <c:showSerName val="0"/>
            <c:showPercent val="0"/>
            <c:showBubbleSize val="0"/>
            <c:showLeaderLines val="0"/>
          </c:dLbls>
          <c:cat>
            <c:multiLvlStrRef>
              <c:f>Sheet1!$A$2:$A$6</c:f>
              <c:multiLvlStrCache>
                <c:ptCount val="5"/>
                <c:lvl>
                  <c:pt idx="0">
                    <c:v>Accuracy</c:v>
                  </c:pt>
                  <c:pt idx="1">
                    <c:v>Precision</c:v>
                  </c:pt>
                  <c:pt idx="2">
                    <c:v>Recall</c:v>
                  </c:pt>
                  <c:pt idx="3">
                    <c:v>F1</c:v>
                  </c:pt>
                  <c:pt idx="4">
                    <c:v>ROC-AUC</c:v>
                  </c:pt>
                </c:lvl>
              </c:multiLvlStrCache>
            </c:multiLvlStrRef>
          </c:cat>
          <c:val>
            <c:numRef>
              <c:f>Sheet1!$B$2:$B$6</c:f>
              <c:numCache>
                <c:formatCode>General</c:formatCode>
                <c:ptCount val="5"/>
                <c:pt idx="0">
                  <c:v>0.7078</c:v>
                </c:pt>
                <c:pt idx="1">
                  <c:v>0.5738</c:v>
                </c:pt>
                <c:pt idx="2">
                  <c:v>0.6481</c:v>
                </c:pt>
                <c:pt idx="3">
                  <c:v>0.6087</c:v>
                </c:pt>
                <c:pt idx="4">
                  <c:v>0.8113</c:v>
                </c:pt>
              </c:numCache>
            </c:numRef>
          </c:val>
        </c:ser>
        <c:ser>
          <c:idx val="1"/>
          <c:order val="1"/>
          <c:tx>
            <c:strRef>
              <c:f>Sheet1!$C$1</c:f>
              <c:strCache>
                <c:ptCount val="1"/>
                <c:pt idx="0">
                  <c:v>K-Nearest Neighbors</c:v>
                </c:pt>
              </c:strCache>
            </c:strRef>
          </c:tx>
          <c:spPr>
            <a:solidFill>
              <a:srgbClr val="F4B942"/>
            </a:solidFill>
            <a:effectLst/>
          </c:spPr>
          <c:invertIfNegative val="0"/>
          <c:dLbls>
            <c:numFmt formatCode="#,##0" sourceLinked="0"/>
            <c:txPr>
              <a:bodyPr/>
              <a:lstStyle/>
              <a:p>
                <a:pPr>
                  <a:defRPr b="0" i="0" strike="noStrike" sz="1100" u="none">
                    <a:solidFill>
                      <a:srgbClr val="1B2A33"/>
                    </a:solidFill>
                    <a:latin typeface="+mn-lt"/>
                  </a:defRPr>
                </a:pPr>
              </a:p>
            </c:txPr>
            <c:showLegendKey val="0"/>
            <c:showVal val="0"/>
            <c:showCatName val="0"/>
            <c:showSerName val="0"/>
            <c:showPercent val="0"/>
            <c:showBubbleSize val="0"/>
            <c:showLeaderLines val="0"/>
          </c:dLbls>
          <c:cat>
            <c:multiLvlStrRef>
              <c:f>Sheet1!$A$2:$A$6</c:f>
              <c:multiLvlStrCache>
                <c:ptCount val="5"/>
                <c:lvl>
                  <c:pt idx="0">
                    <c:v>Accuracy</c:v>
                  </c:pt>
                  <c:pt idx="1">
                    <c:v>Precision</c:v>
                  </c:pt>
                  <c:pt idx="2">
                    <c:v>Recall</c:v>
                  </c:pt>
                  <c:pt idx="3">
                    <c:v>F1</c:v>
                  </c:pt>
                  <c:pt idx="4">
                    <c:v>ROC-AUC</c:v>
                  </c:pt>
                </c:lvl>
              </c:multiLvlStrCache>
            </c:multiLvlStrRef>
          </c:cat>
          <c:val>
            <c:numRef>
              <c:f>Sheet1!$C$2:$C$6</c:f>
              <c:numCache>
                <c:formatCode>General</c:formatCode>
                <c:ptCount val="5"/>
                <c:pt idx="0">
                  <c:v>0.6948</c:v>
                </c:pt>
                <c:pt idx="1">
                  <c:v>0.5455</c:v>
                </c:pt>
                <c:pt idx="2">
                  <c:v>0.7778</c:v>
                </c:pt>
                <c:pt idx="3">
                  <c:v>0.6412</c:v>
                </c:pt>
                <c:pt idx="4">
                  <c:v>0.7974</c:v>
                </c:pt>
              </c:numCache>
            </c:numRef>
          </c:val>
        </c:ser>
        <c:ser>
          <c:idx val="2"/>
          <c:order val="2"/>
          <c:tx>
            <c:strRef>
              <c:f>Sheet1!$D$1</c:f>
              <c:strCache>
                <c:ptCount val="1"/>
                <c:pt idx="0">
                  <c:v>Decision Tree</c:v>
                </c:pt>
              </c:strCache>
            </c:strRef>
          </c:tx>
          <c:spPr>
            <a:solidFill>
              <a:srgbClr val="7A8B94"/>
            </a:solidFill>
            <a:effectLst/>
          </c:spPr>
          <c:invertIfNegative val="0"/>
          <c:dLbls>
            <c:numFmt formatCode="#,##0" sourceLinked="0"/>
            <c:txPr>
              <a:bodyPr/>
              <a:lstStyle/>
              <a:p>
                <a:pPr>
                  <a:defRPr b="0" i="0" strike="noStrike" sz="1100" u="none">
                    <a:solidFill>
                      <a:srgbClr val="1B2A33"/>
                    </a:solidFill>
                    <a:latin typeface="+mn-lt"/>
                  </a:defRPr>
                </a:pPr>
              </a:p>
            </c:txPr>
            <c:showLegendKey val="0"/>
            <c:showVal val="0"/>
            <c:showCatName val="0"/>
            <c:showSerName val="0"/>
            <c:showPercent val="0"/>
            <c:showBubbleSize val="0"/>
            <c:showLeaderLines val="0"/>
          </c:dLbls>
          <c:cat>
            <c:multiLvlStrRef>
              <c:f>Sheet1!$A$2:$A$6</c:f>
              <c:multiLvlStrCache>
                <c:ptCount val="5"/>
                <c:lvl>
                  <c:pt idx="0">
                    <c:v>Accuracy</c:v>
                  </c:pt>
                  <c:pt idx="1">
                    <c:v>Precision</c:v>
                  </c:pt>
                  <c:pt idx="2">
                    <c:v>Recall</c:v>
                  </c:pt>
                  <c:pt idx="3">
                    <c:v>F1</c:v>
                  </c:pt>
                  <c:pt idx="4">
                    <c:v>ROC-AUC</c:v>
                  </c:pt>
                </c:lvl>
              </c:multiLvlStrCache>
            </c:multiLvlStrRef>
          </c:cat>
          <c:val>
            <c:numRef>
              <c:f>Sheet1!$D$2:$D$6</c:f>
              <c:numCache>
                <c:formatCode>General</c:formatCode>
                <c:ptCount val="5"/>
                <c:pt idx="0">
                  <c:v>0.7273</c:v>
                </c:pt>
                <c:pt idx="1">
                  <c:v>0.5833</c:v>
                </c:pt>
                <c:pt idx="2">
                  <c:v>0.7778</c:v>
                </c:pt>
                <c:pt idx="3">
                  <c:v>0.6667</c:v>
                </c:pt>
                <c:pt idx="4">
                  <c:v>0.7616</c:v>
                </c:pt>
              </c:numCache>
            </c:numRef>
          </c:val>
        </c:ser>
        <c:ser>
          <c:idx val="3"/>
          <c:order val="3"/>
          <c:tx>
            <c:strRef>
              <c:f>Sheet1!$E$1</c:f>
              <c:strCache>
                <c:ptCount val="1"/>
                <c:pt idx="0">
                  <c:v>Random Forest</c:v>
                </c:pt>
              </c:strCache>
            </c:strRef>
          </c:tx>
          <c:spPr>
            <a:solidFill>
              <a:srgbClr val="0E7C86"/>
            </a:solidFill>
            <a:effectLst/>
          </c:spPr>
          <c:invertIfNegative val="0"/>
          <c:dLbls>
            <c:numFmt formatCode="#,##0" sourceLinked="0"/>
            <c:txPr>
              <a:bodyPr/>
              <a:lstStyle/>
              <a:p>
                <a:pPr>
                  <a:defRPr b="0" i="0" strike="noStrike" sz="1100" u="none">
                    <a:solidFill>
                      <a:srgbClr val="1B2A33"/>
                    </a:solidFill>
                    <a:latin typeface="+mn-lt"/>
                  </a:defRPr>
                </a:pPr>
              </a:p>
            </c:txPr>
            <c:showLegendKey val="0"/>
            <c:showVal val="0"/>
            <c:showCatName val="0"/>
            <c:showSerName val="0"/>
            <c:showPercent val="0"/>
            <c:showBubbleSize val="0"/>
            <c:showLeaderLines val="0"/>
          </c:dLbls>
          <c:cat>
            <c:multiLvlStrRef>
              <c:f>Sheet1!$A$2:$A$6</c:f>
              <c:multiLvlStrCache>
                <c:ptCount val="5"/>
                <c:lvl>
                  <c:pt idx="0">
                    <c:v>Accuracy</c:v>
                  </c:pt>
                  <c:pt idx="1">
                    <c:v>Precision</c:v>
                  </c:pt>
                  <c:pt idx="2">
                    <c:v>Recall</c:v>
                  </c:pt>
                  <c:pt idx="3">
                    <c:v>F1</c:v>
                  </c:pt>
                  <c:pt idx="4">
                    <c:v>ROC-AUC</c:v>
                  </c:pt>
                </c:lvl>
              </c:multiLvlStrCache>
            </c:multiLvlStrRef>
          </c:cat>
          <c:val>
            <c:numRef>
              <c:f>Sheet1!$E$2:$E$6</c:f>
              <c:numCache>
                <c:formatCode>General</c:formatCode>
                <c:ptCount val="5"/>
                <c:pt idx="0">
                  <c:v>0.7468</c:v>
                </c:pt>
                <c:pt idx="1">
                  <c:v>0.6154</c:v>
                </c:pt>
                <c:pt idx="2">
                  <c:v>0.7407</c:v>
                </c:pt>
                <c:pt idx="3">
                  <c:v>0.6723</c:v>
                </c:pt>
                <c:pt idx="4">
                  <c:v>0.8094</c:v>
                </c:pt>
              </c:numCache>
            </c:numRef>
          </c:val>
        </c:ser>
        <c:ser>
          <c:idx val="4"/>
          <c:order val="4"/>
          <c:tx>
            <c:strRef>
              <c:f>Sheet1!$F$1</c:f>
              <c:strCache>
                <c:ptCount val="1"/>
                <c:pt idx="0">
                  <c:v>XGBoost</c:v>
                </c:pt>
              </c:strCache>
            </c:strRef>
          </c:tx>
          <c:spPr>
            <a:solidFill>
              <a:srgbClr val="6B4E9B"/>
            </a:solidFill>
            <a:effectLst/>
          </c:spPr>
          <c:invertIfNegative val="0"/>
          <c:dLbls>
            <c:numFmt formatCode="#,##0" sourceLinked="0"/>
            <c:txPr>
              <a:bodyPr/>
              <a:lstStyle/>
              <a:p>
                <a:pPr>
                  <a:defRPr b="0" i="0" strike="noStrike" sz="1100" u="none">
                    <a:solidFill>
                      <a:srgbClr val="1B2A33"/>
                    </a:solidFill>
                    <a:latin typeface="+mn-lt"/>
                  </a:defRPr>
                </a:pPr>
              </a:p>
            </c:txPr>
            <c:showLegendKey val="0"/>
            <c:showVal val="0"/>
            <c:showCatName val="0"/>
            <c:showSerName val="0"/>
            <c:showPercent val="0"/>
            <c:showBubbleSize val="0"/>
            <c:showLeaderLines val="0"/>
          </c:dLbls>
          <c:cat>
            <c:multiLvlStrRef>
              <c:f>Sheet1!$A$2:$A$6</c:f>
              <c:multiLvlStrCache>
                <c:ptCount val="5"/>
                <c:lvl>
                  <c:pt idx="0">
                    <c:v>Accuracy</c:v>
                  </c:pt>
                  <c:pt idx="1">
                    <c:v>Precision</c:v>
                  </c:pt>
                  <c:pt idx="2">
                    <c:v>Recall</c:v>
                  </c:pt>
                  <c:pt idx="3">
                    <c:v>F1</c:v>
                  </c:pt>
                  <c:pt idx="4">
                    <c:v>ROC-AUC</c:v>
                  </c:pt>
                </c:lvl>
              </c:multiLvlStrCache>
            </c:multiLvlStrRef>
          </c:cat>
          <c:val>
            <c:numRef>
              <c:f>Sheet1!$F$2:$F$6</c:f>
              <c:numCache>
                <c:formatCode>General</c:formatCode>
                <c:ptCount val="5"/>
                <c:pt idx="0">
                  <c:v>0.7532</c:v>
                </c:pt>
                <c:pt idx="1">
                  <c:v>0.625</c:v>
                </c:pt>
                <c:pt idx="2">
                  <c:v>0.7407</c:v>
                </c:pt>
                <c:pt idx="3">
                  <c:v>0.678</c:v>
                </c:pt>
                <c:pt idx="4">
                  <c:v>0.8263</c:v>
                </c:pt>
              </c:numCache>
            </c:numRef>
          </c:val>
        </c:ser>
        <c:dLbls>
          <c:numFmt formatCode="#,##0" sourceLinked="0"/>
          <c:txPr>
            <a:bodyPr/>
            <a:lstStyle/>
            <a:p>
              <a:pPr>
                <a:defRPr b="0" i="0" strike="noStrike" sz="1100" u="none">
                  <a:solidFill>
                    <a:srgbClr val="1B2A33"/>
                  </a:solidFill>
                  <a:latin typeface="+mn-lt"/>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A33"/>
                </a:solidFill>
                <a:latin typeface="+mn-lt"/>
              </a:defRPr>
            </a:pPr>
            <a:endParaRPr lang="en-US"/>
          </a:p>
        </c:txPr>
        <c:crossAx val="2094734552"/>
        <c:crosses val="autoZero"/>
        <c:auto val="1"/>
        <c:lblAlgn val="ctr"/>
        <c:noMultiLvlLbl val="1"/>
      </c:catAx>
      <c:valAx>
        <c:axId val="2094734552"/>
        <c:scaling>
          <c:orientation val="minMax"/>
          <c:max val="0.9"/>
          <c:min val="0.4"/>
        </c:scaling>
        <c:delete val="0"/>
        <c:axPos val="l"/>
        <c:majorGridlines>
          <c:spPr>
            <a:ln w="6350" cap="flat">
              <a:solidFill>
                <a:srgbClr val="DCE3E5"/>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8B94"/>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3C49"/>
                </a:solidFill>
                <a:latin typeface="+mn-lt"/>
              </a:defRPr>
            </a:pPr>
            <a:r>
              <a:rPr sz="1400" b="0" i="0" u="none" strike="noStrike">
                <a:solidFill>
                  <a:srgbClr val="0B3C49"/>
                </a:solidFill>
                <a:latin typeface="+mn-lt"/>
              </a:rPr>
              <a:t>Mean |SHAP| (Random Forest)</a:t>
            </a:r>
          </a:p>
        </c:rich>
      </c:tx>
      <c:layout/>
      <c:overlay val="0"/>
    </c:title>
    <c:autoTitleDeleted val="0"/>
    <c:plotArea>
      <c:layout/>
      <c:barChart>
        <c:barDir val="bar"/>
        <c:grouping val="clustered"/>
        <c:varyColors val="0"/>
        <c:ser>
          <c:idx val="0"/>
          <c:order val="0"/>
          <c:tx>
            <c:strRef>
              <c:f>Sheet1!$B$1</c:f>
              <c:strCache>
                <c:ptCount val="1"/>
                <c:pt idx="0">
                  <c:v>Mean |SHAP|</c:v>
                </c:pt>
              </c:strCache>
            </c:strRef>
          </c:tx>
          <c:spPr>
            <a:solidFill>
              <a:srgbClr val="0E7C86"/>
            </a:solidFill>
            <a:effectLst/>
          </c:spPr>
          <c:invertIfNegative val="0"/>
          <c:dLbls>
            <c:numFmt formatCode="0.000"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cat>
            <c:multiLvlStrRef>
              <c:f>Sheet1!$A$2:$A$9</c:f>
              <c:multiLvlStrCache>
                <c:ptCount val="8"/>
                <c:lvl>
                  <c:pt idx="0">
                    <c:v>BloodPressure</c:v>
                  </c:pt>
                  <c:pt idx="1">
                    <c:v>SkinThickness</c:v>
                  </c:pt>
                  <c:pt idx="2">
                    <c:v>Pregnancies</c:v>
                  </c:pt>
                  <c:pt idx="3">
                    <c:v>Insulin</c:v>
                  </c:pt>
                  <c:pt idx="4">
                    <c:v>Pedigree fn.</c:v>
                  </c:pt>
                  <c:pt idx="5">
                    <c:v>Age</c:v>
                  </c:pt>
                  <c:pt idx="6">
                    <c:v>BMI</c:v>
                  </c:pt>
                  <c:pt idx="7">
                    <c:v>Glucose</c:v>
                  </c:pt>
                </c:lvl>
              </c:multiLvlStrCache>
            </c:multiLvlStrRef>
          </c:cat>
          <c:val>
            <c:numRef>
              <c:f>Sheet1!$B$2:$B$9</c:f>
              <c:numCache>
                <c:formatCode>General</c:formatCode>
                <c:ptCount val="8"/>
                <c:pt idx="0">
                  <c:v>0.015</c:v>
                </c:pt>
                <c:pt idx="1">
                  <c:v>0.024</c:v>
                </c:pt>
                <c:pt idx="2">
                  <c:v>0.025</c:v>
                </c:pt>
                <c:pt idx="3">
                  <c:v>0.034</c:v>
                </c:pt>
                <c:pt idx="4">
                  <c:v>0.043</c:v>
                </c:pt>
                <c:pt idx="5">
                  <c:v>0.065</c:v>
                </c:pt>
                <c:pt idx="6">
                  <c:v>0.094</c:v>
                </c:pt>
                <c:pt idx="7">
                  <c:v>0.146</c:v>
                </c:pt>
              </c:numCache>
            </c:numRef>
          </c:val>
        </c:ser>
        <c:dLbls>
          <c:numFmt formatCode="0.000"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A33"/>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7A8B94"/>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 name="Shape 18"/>
        <p:cNvGrpSpPr/>
        <p:nvPr/>
      </p:nvGrpSpPr>
      <p:grpSpPr>
        <a:xfrm>
          <a:off x="0" y="0"/>
          <a:ext cx="0" cy="0"/>
          <a:chOff x="0" y="0"/>
          <a:chExt cx="0" cy="0"/>
        </a:xfrm>
      </p:grpSpPr>
      <p:sp>
        <p:nvSpPr>
          <p:cNvPr id="19" name="Google Shape;19;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 name="Google Shape;20;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Good morning. My project predicts whether a patient is likely to have diabetes from routine diagnostic measurements. I followed the complete KDD process, from defining the problem to interpreting the final model. It is an academic screening model, not a diagnostic tool.</a:t>
            </a:r>
            <a:br>
              <a:rPr lang="en-US"/>
            </a:br>
            <a:br>
              <a:rPr lang="en-US"/>
            </a:br>
            <a:r>
              <a:rPr lang="en-US"/>
              <a:t>Interactive deck: 'Start presentation' opens a clickable agenda; every slide has Agenda / Prev / Next buttons; the Model Explorer lets you drill into each model. The buttons at the bottom open the GitHub repository, the notebook in Google Colab and the PDF report (internet needed).</a:t>
            </a:r>
            <a:endParaRPr/>
          </a:p>
        </p:txBody>
      </p:sp>
      <p:sp>
        <p:nvSpPr>
          <p:cNvPr id="21" name="Google Shape;21;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 name="Shape 42"/>
        <p:cNvGrpSpPr/>
        <p:nvPr/>
      </p:nvGrpSpPr>
      <p:grpSpPr>
        <a:xfrm>
          <a:off x="0" y="0"/>
          <a:ext cx="0" cy="0"/>
          <a:chOff x="0" y="0"/>
          <a:chExt cx="0" cy="0"/>
        </a:xfrm>
      </p:grpSpPr>
      <p:sp>
        <p:nvSpPr>
          <p:cNvPr id="43" name="Google Shape;43;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 name="Google Shape;44;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navigation hub. Each tile jumps straight to that part of the talk, and every slide has an Agenda button to come back here. In a normal run I simply press Next; during questions I can jump to any topic. The Model Explorer (tile 10) opens a detail slide for each of the five models, and the Viva Q&amp;A button opens prepared answers.</a:t>
            </a:r>
            <a:endParaRPr/>
          </a:p>
        </p:txBody>
      </p:sp>
      <p:sp>
        <p:nvSpPr>
          <p:cNvPr id="45" name="Google Shape;45;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 name="Google Shape;106;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Formally, the input is a vector of eight measurements and the output is a class label plus a probability. I framed it as a screening problem, which matters later: in screening, missing a diabetic patient is worse than raising a false alarm, so recall gets special attention.</a:t>
            </a:r>
            <a:endParaRPr/>
          </a:p>
        </p:txBody>
      </p:sp>
      <p:sp>
        <p:nvSpPr>
          <p:cNvPr id="107" name="Google Shape;107;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 name="Google Shape;136;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My objectives were not only to get a good score, but to do every step correctly: no information from the test set may leak into training, the model is chosen with a clear rule, and I can explain why the model makes its predictions.</a:t>
            </a:r>
            <a:endParaRPr/>
          </a:p>
        </p:txBody>
      </p:sp>
      <p:sp>
        <p:nvSpPr>
          <p:cNvPr id="137" name="Google Shape;137;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 name="Google Shape;172;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At first glance the data looks clean: there are no NaNs. But describe() shows zeros for glucose, blood pressure and BMI, which is impossible for a living person. These zeros are missing values in disguise; almost half of the insulin values are missing. I treated them as NaN instead of deleting rows, which would have thrown away half the data. The classes are imbalanced: about 65 / 35.</a:t>
            </a:r>
            <a:endParaRPr/>
          </a:p>
        </p:txBody>
      </p:sp>
      <p:sp>
        <p:nvSpPr>
          <p:cNvPr id="173" name="Google Shape;173;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 name="Google Shape;196;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diagram is the backbone of the project. Each box is a section of my notebook: data cleaning is the zero-to-NaN step, transformation is imputation, scaling and SMOTE, and interpretation is feature importance and SHAP.</a:t>
            </a:r>
            <a:endParaRPr/>
          </a:p>
        </p:txBody>
      </p:sp>
      <p:sp>
        <p:nvSpPr>
          <p:cNvPr id="197" name="Google Shape;197;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7" name="Google Shape;207;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glucose plot shows two clearly shifted distributions, so glucose is the strongest single signal. Still, the curves overlap, so no single threshold separates the classes. Correlations between features are moderate, so I kept all eight features. I am careful to call these associations; the data cannot prove that anything causes diabetes. (Click 'Open correlation heatmap' to show the full matrix.)</a:t>
            </a:r>
            <a:endParaRPr/>
          </a:p>
        </p:txBody>
      </p:sp>
      <p:sp>
        <p:nvSpPr>
          <p:cNvPr id="208" name="Google Shape;208;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 name="Shape 230"/>
        <p:cNvGrpSpPr/>
        <p:nvPr/>
      </p:nvGrpSpPr>
      <p:grpSpPr>
        <a:xfrm>
          <a:off x="0" y="0"/>
          <a:ext cx="0" cy="0"/>
          <a:chOff x="0" y="0"/>
          <a:chExt cx="0" cy="0"/>
        </a:xfrm>
      </p:grpSpPr>
      <p:sp>
        <p:nvSpPr>
          <p:cNvPr id="231" name="Google Shape;231;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2" name="Google Shape;232;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key idea is leakage prevention. I split before fitting anything, so medians, scaling parameters and SMOTE's synthetic samples come only from training data. SMOTE sits inside an imbalanced-learn pipeline, so during cross-validation it only touches the training folds. My quick experiment showed why it matters: without imbalance handling, Logistic Regression's recall was only 0.57, so it missed over 40 % of diabetic patients; with SMOTE it rose to 0.72.</a:t>
            </a:r>
            <a:endParaRPr/>
          </a:p>
        </p:txBody>
      </p:sp>
      <p:sp>
        <p:nvSpPr>
          <p:cNvPr id="233" name="Google Shape;233;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4" name="Google Shape;264;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 chose five models from different families, from simple to complex. Scaling is essential for Logistic Regression and KNN; tree models don't need it, but I kept one consistent pipeline. I used sensible fixed settings rather than a big hyperparameter search, which keeps the project explainable and avoids overfitting to a small dataset. Each card is clickable and opens that model's detail slide.</a:t>
            </a:r>
            <a:endParaRPr/>
          </a:p>
        </p:txBody>
      </p:sp>
      <p:sp>
        <p:nvSpPr>
          <p:cNvPr id="265" name="Google Shape;265;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8" name="Shape 298"/>
        <p:cNvGrpSpPr/>
        <p:nvPr/>
      </p:nvGrpSpPr>
      <p:grpSpPr>
        <a:xfrm>
          <a:off x="0" y="0"/>
          <a:ext cx="0" cy="0"/>
          <a:chOff x="0" y="0"/>
          <a:chExt cx="0" cy="0"/>
        </a:xfrm>
      </p:grpSpPr>
      <p:sp>
        <p:nvSpPr>
          <p:cNvPr id="299" name="Google Shape;299;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0" name="Google Shape;300;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model that always says 'no diabetes' gets 65 % accuracy, which shows why accuracy alone is not enough. A false negative means a diabetic patient is missed and may not be referred; a false positive leads to an extra test. So I focus on recall and ROC-AUC, while still checking precision so the model doesn't flag everyone. Every model was evaluated with 5-fold cross-validation on the training data and once on the untouched test set.</a:t>
            </a:r>
            <a:endParaRPr/>
          </a:p>
        </p:txBody>
      </p:sp>
      <p:sp>
        <p:nvSpPr>
          <p:cNvPr id="301" name="Google Shape;301;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8" name="Shape 338"/>
        <p:cNvGrpSpPr/>
        <p:nvPr/>
      </p:nvGrpSpPr>
      <p:grpSpPr>
        <a:xfrm>
          <a:off x="0" y="0"/>
          <a:ext cx="0" cy="0"/>
          <a:chOff x="0" y="0"/>
          <a:chExt cx="0" cy="0"/>
        </a:xfrm>
      </p:grpSpPr>
      <p:sp>
        <p:nvSpPr>
          <p:cNvPr id="339" name="Google Shape;339;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0" name="Google Shape;340;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No model wins every metric. XGBoost has the best test AUC, but its cross-validated recall is below 0.70. Logistic Regression is best in cross-validation but worst on test recall. Random Forest is consistently first or second in both evaluations and meets the recall requirement, so I chose it. With only 154 test patients, consistency is more trustworthy than one high score. The chart is a native PowerPoint chart, so values can be read on hover.</a:t>
            </a:r>
            <a:endParaRPr/>
          </a:p>
        </p:txBody>
      </p:sp>
      <p:sp>
        <p:nvSpPr>
          <p:cNvPr id="341" name="Google Shape;341;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8" name="Google Shape;358;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interactive part: each card opens a detail slide with that model's metrics, confusion matrix and the reason it was or wasn't selected; each detail slide has a button back to this explorer. The ROC curves show all models far above the random diagonal, with Random Forest, Logistic Regression and XGBoost almost overlapping.</a:t>
            </a:r>
            <a:endParaRPr/>
          </a:p>
        </p:txBody>
      </p:sp>
      <p:sp>
        <p:nvSpPr>
          <p:cNvPr id="359" name="Google Shape;359;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2" name="Shape 392"/>
        <p:cNvGrpSpPr/>
        <p:nvPr/>
      </p:nvGrpSpPr>
      <p:grpSpPr>
        <a:xfrm>
          <a:off x="0" y="0"/>
          <a:ext cx="0" cy="0"/>
          <a:chOff x="0" y="0"/>
          <a:chExt cx="0" cy="0"/>
        </a:xfrm>
      </p:grpSpPr>
      <p:sp>
        <p:nvSpPr>
          <p:cNvPr id="393" name="Google Shape;393;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4" name="Google Shape;394;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In the SHAP plot, each dot is a test patient. Red dots are high values; dots on the right push the prediction toward diabetes. For glucose, all the red dots are on the right, so high glucose raises the predicted risk by up to about 30 percentage points. Four different interpretation methods agree on the ranking, which makes it convincing, but SHAP explains the model, not human biology.</a:t>
            </a:r>
            <a:endParaRPr/>
          </a:p>
        </p:txBody>
      </p:sp>
      <p:sp>
        <p:nvSpPr>
          <p:cNvPr id="395" name="Google Shape;395;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6" name="Shape 406"/>
        <p:cNvGrpSpPr/>
        <p:nvPr/>
      </p:nvGrpSpPr>
      <p:grpSpPr>
        <a:xfrm>
          <a:off x="0" y="0"/>
          <a:ext cx="0" cy="0"/>
          <a:chOff x="0" y="0"/>
          <a:chExt cx="0" cy="0"/>
        </a:xfrm>
      </p:grpSpPr>
      <p:sp>
        <p:nvSpPr>
          <p:cNvPr id="407" name="Google Shape;407;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8" name="Google Shape;408;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To conclude: the project shows that routine measurements carry real predictive signal for diabetes, with glucose clearly dominant. Random Forest gave the best balance of catching diabetic patients and avoiding false alarms. The biggest limitation is the data: 768 Pima women from decades ago. Before any real use, the model would need external validation, calibration and a carefully chosen threshold. Thank you, I'm happy to take questions. (Viva Q&amp;A opens prepared answers.)</a:t>
            </a:r>
            <a:endParaRPr/>
          </a:p>
        </p:txBody>
      </p:sp>
      <p:sp>
        <p:nvSpPr>
          <p:cNvPr id="409" name="Google Shape;409;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6" name="Google Shape;436;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Logistic Regression: Linear, interpretable baseline (max_iter = 1000). Test accuracy 0.708, precision 0.574, recall 0.648, F1 0.609, ROC-AUC 0.811; it caught 35 of 54 diabetic patients with 26 false alarms. Verdict: Not selected. Best cross-validated ROC-AUC (0.843); But the lowest test recall: missed 19 of 54 diabetic patients; Fails the recall ≥ 0.70 rule on the test set. (Hidden slide: reached from the Model Explorer; use the buttons to move between models or go back.)</a:t>
            </a:r>
            <a:endParaRPr/>
          </a:p>
        </p:txBody>
      </p:sp>
      <p:sp>
        <p:nvSpPr>
          <p:cNvPr id="437" name="Google Shape;437;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7" name="Shape 477"/>
        <p:cNvGrpSpPr/>
        <p:nvPr/>
      </p:nvGrpSpPr>
      <p:grpSpPr>
        <a:xfrm>
          <a:off x="0" y="0"/>
          <a:ext cx="0" cy="0"/>
          <a:chOff x="0" y="0"/>
          <a:chExt cx="0" cy="0"/>
        </a:xfrm>
      </p:grpSpPr>
      <p:sp>
        <p:nvSpPr>
          <p:cNvPr id="478" name="Google Shape;478;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9" name="Google Shape;479;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K-Nearest Neighbors: Instance-based (distance) (k = 15 neighbours). Test accuracy 0.695, precision 0.545, recall 0.778, F1 0.641, ROC-AUC 0.797; it caught 42 of 54 diabetic patients with 35 false alarms. Verdict: Eligible, not selected. Highest recall: misses only 12 diabetic patients; But the most false alarms (35) and the lowest precision (0.55); Lower overall score than Random Forest. (Hidden slide: reached from the Model Explorer; use the buttons to move between models or go back.)</a:t>
            </a:r>
            <a:endParaRPr/>
          </a:p>
        </p:txBody>
      </p:sp>
      <p:sp>
        <p:nvSpPr>
          <p:cNvPr id="480" name="Google Shape;480;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2" name="Google Shape;522;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Decision Tree: Rule-based tree (max_depth = 5, min_samples_leaf = 5). Test accuracy 0.727, precision 0.583, recall 0.778, F1 0.667, ROC-AUC 0.762; it caught 42 of 54 diabetic patients with 30 false alarms. Verdict: Not selected. Readable if/else rules and high test recall; Lowest ROC-AUC: a shallow tree gives only a few distinct probabilities; Cross-validated recall 0.687 fails the 0.70 rule. (Hidden slide: reached from the Model Explorer; use the buttons to move between models or go back.)</a:t>
            </a:r>
            <a:endParaRPr/>
          </a:p>
        </p:txBody>
      </p:sp>
      <p:sp>
        <p:nvSpPr>
          <p:cNvPr id="523" name="Google Shape;523;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3" name="Shape 563"/>
        <p:cNvGrpSpPr/>
        <p:nvPr/>
      </p:nvGrpSpPr>
      <p:grpSpPr>
        <a:xfrm>
          <a:off x="0" y="0"/>
          <a:ext cx="0" cy="0"/>
          <a:chOff x="0" y="0"/>
          <a:chExt cx="0" cy="0"/>
        </a:xfrm>
      </p:grpSpPr>
      <p:sp>
        <p:nvSpPr>
          <p:cNvPr id="564" name="Google Shape;564;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5" name="Google Shape;565;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Random Forest: Bagging ensemble (300 trees, min_samples_leaf = 2). Test accuracy 0.747, precision 0.615, recall 0.741, F1 0.672, ROC-AUC 0.809; it caught 40 of 54 diabetic patients with 25 false alarms. Verdict: SELECTED final model. Recall ≥ 0.70 in both cross-validation (0.715) and test (0.741); First or second on most metrics in both evaluations; Highest overall score (0.727): balanced and stable. (Hidden slide: reached from the Model Explorer; use the buttons to move between models or go back.)</a:t>
            </a:r>
            <a:endParaRPr/>
          </a:p>
        </p:txBody>
      </p:sp>
      <p:sp>
        <p:nvSpPr>
          <p:cNvPr id="566" name="Google Shape;566;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6" name="Shape 606"/>
        <p:cNvGrpSpPr/>
        <p:nvPr/>
      </p:nvGrpSpPr>
      <p:grpSpPr>
        <a:xfrm>
          <a:off x="0" y="0"/>
          <a:ext cx="0" cy="0"/>
          <a:chOff x="0" y="0"/>
          <a:chExt cx="0" cy="0"/>
        </a:xfrm>
      </p:grpSpPr>
      <p:sp>
        <p:nvSpPr>
          <p:cNvPr id="607" name="Google Shape;607;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8" name="Google Shape;608;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XGBoost: Gradient-boosting ensemble (200 trees, depth 3, lr 0.05). Test accuracy 0.753, precision 0.625, recall 0.741, F1 0.678, ROC-AUC 0.826; it caught 40 of 54 diabetic patients with 24 false alarms. Verdict: Not selected. Best test accuracy, precision, F1 and ROC-AUC; But cross-validated recall 0.687 is below the 0.70 rule; Strong on one split, less consistent across folds. (Hidden slide: reached from the Model Explorer; use the buttons to move between models or go back.)</a:t>
            </a:r>
            <a:endParaRPr/>
          </a:p>
        </p:txBody>
      </p:sp>
      <p:sp>
        <p:nvSpPr>
          <p:cNvPr id="609" name="Google Shape;609;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9" name="Shape 649"/>
        <p:cNvGrpSpPr/>
        <p:nvPr/>
      </p:nvGrpSpPr>
      <p:grpSpPr>
        <a:xfrm>
          <a:off x="0" y="0"/>
          <a:ext cx="0" cy="0"/>
          <a:chOff x="0" y="0"/>
          <a:chExt cx="0" cy="0"/>
        </a:xfrm>
      </p:grpSpPr>
      <p:sp>
        <p:nvSpPr>
          <p:cNvPr id="650" name="Google Shape;650;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1" name="Google Shape;651;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Drill-down from the EDA slide. Glucose correlates most strongly with the outcome; feature-feature correlations are moderate, so all eight features were kept. Correlation is computed after replacing invalid zeros with NaN. Use 'Back to EDA' to return.</a:t>
            </a:r>
            <a:endParaRPr/>
          </a:p>
        </p:txBody>
      </p:sp>
      <p:sp>
        <p:nvSpPr>
          <p:cNvPr id="652" name="Google Shape;652;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0" name="Shape 660"/>
        <p:cNvGrpSpPr/>
        <p:nvPr/>
      </p:nvGrpSpPr>
      <p:grpSpPr>
        <a:xfrm>
          <a:off x="0" y="0"/>
          <a:ext cx="0" cy="0"/>
          <a:chOff x="0" y="0"/>
          <a:chExt cx="0" cy="0"/>
        </a:xfrm>
      </p:grpSpPr>
      <p:sp>
        <p:nvSpPr>
          <p:cNvPr id="661" name="Google Shape;661;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2" name="Google Shape;662;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Drill-down from the interpretation slide: impurity-based importance of the three tree models and absolute standardised coefficients of Logistic Regression. All agree glucose is the most important feature and BMI the second. Importance shows how much a model relies on a feature, not causation.</a:t>
            </a:r>
            <a:endParaRPr/>
          </a:p>
        </p:txBody>
      </p:sp>
      <p:sp>
        <p:nvSpPr>
          <p:cNvPr id="663" name="Google Shape;663;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6" name="Shape 676"/>
        <p:cNvGrpSpPr/>
        <p:nvPr/>
      </p:nvGrpSpPr>
      <p:grpSpPr>
        <a:xfrm>
          <a:off x="0" y="0"/>
          <a:ext cx="0" cy="0"/>
          <a:chOff x="0" y="0"/>
          <a:chExt cx="0" cy="0"/>
        </a:xfrm>
      </p:grpSpPr>
      <p:sp>
        <p:nvSpPr>
          <p:cNvPr id="677" name="Google Shape;677;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8" name="Google Shape;678;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Hidden slide with prepared answers for likely viva questions; reachable from the agenda and the conclusion slide.</a:t>
            </a:r>
            <a:endParaRPr/>
          </a:p>
        </p:txBody>
      </p:sp>
      <p:sp>
        <p:nvSpPr>
          <p:cNvPr id="679" name="Google Shape;679;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ARK">
  <p:cSld name="DARK">
    <p:bg>
      <p:bgPr>
        <a:solidFill>
          <a:schemeClr val="dk2"/>
        </a:solidFill>
      </p:bgPr>
    </p:bg>
    <p:spTree>
      <p:nvGrpSpPr>
        <p:cNvPr id="11" name="Shape 11"/>
        <p:cNvGrpSpPr/>
        <p:nvPr/>
      </p:nvGrpSpPr>
      <p:grpSpPr>
        <a:xfrm>
          <a:off x="0" y="0"/>
          <a:ext cx="0" cy="0"/>
          <a:chOff x="0" y="0"/>
          <a:chExt cx="0" cy="0"/>
        </a:xfrm>
      </p:grpSpPr>
      <p:sp>
        <p:nvSpPr>
          <p:cNvPr id="12" name="Google Shape;12;p24"/>
          <p:cNvSpPr txBox="1"/>
          <p:nvPr>
            <p:ph type="title"/>
          </p:nvPr>
        </p:nvSpPr>
        <p:spPr>
          <a:xfrm>
            <a:off x="640080" y="548640"/>
            <a:ext cx="7315200" cy="173736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Clr>
                <a:schemeClr val="lt1"/>
              </a:buClr>
              <a:buSzPts val="4000"/>
              <a:buFont typeface="Cambria"/>
              <a:buNone/>
              <a:defRPr b="1" i="0" sz="4000" u="none" cap="none" strike="noStrike">
                <a:solidFill>
                  <a:schemeClr val="lt1"/>
                </a:solidFill>
                <a:latin typeface="Cambria"/>
                <a:ea typeface="Cambria"/>
                <a:cs typeface="Cambria"/>
                <a:sym typeface="Cambria"/>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p:cSld name="CONTENT">
    <p:bg>
      <p:bgPr>
        <a:solidFill>
          <a:schemeClr val="lt1"/>
        </a:solidFill>
      </p:bgPr>
    </p:bg>
    <p:spTree>
      <p:nvGrpSpPr>
        <p:cNvPr id="13" name="Shape 13"/>
        <p:cNvGrpSpPr/>
        <p:nvPr/>
      </p:nvGrpSpPr>
      <p:grpSpPr>
        <a:xfrm>
          <a:off x="0" y="0"/>
          <a:ext cx="0" cy="0"/>
          <a:chOff x="0" y="0"/>
          <a:chExt cx="0" cy="0"/>
        </a:xfrm>
      </p:grpSpPr>
      <p:sp>
        <p:nvSpPr>
          <p:cNvPr id="14" name="Google Shape;14;p25"/>
          <p:cNvSpPr/>
          <p:nvPr/>
        </p:nvSpPr>
        <p:spPr>
          <a:xfrm>
            <a:off x="548640" y="6382512"/>
            <a:ext cx="420624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5"/>
              </a:buClr>
              <a:buSzPts val="1000"/>
              <a:buFont typeface="Calibri"/>
              <a:buNone/>
            </a:pPr>
            <a:r>
              <a:rPr b="0" i="0" lang="en-US" sz="1000" u="none" cap="none" strike="noStrike">
                <a:solidFill>
                  <a:schemeClr val="accent5"/>
                </a:solidFill>
                <a:latin typeface="Calibri"/>
                <a:ea typeface="Calibri"/>
                <a:cs typeface="Calibri"/>
                <a:sym typeface="Calibri"/>
              </a:rPr>
              <a:t>Diabetes Onset Prediction  |  Hardik Jain (23070521056)</a:t>
            </a:r>
            <a:endParaRPr b="0" i="0" sz="1000" u="none" cap="none" strike="noStrike">
              <a:solidFill>
                <a:schemeClr val="dk1"/>
              </a:solidFill>
              <a:latin typeface="Calibri"/>
              <a:ea typeface="Calibri"/>
              <a:cs typeface="Calibri"/>
              <a:sym typeface="Calibri"/>
            </a:endParaRPr>
          </a:p>
        </p:txBody>
      </p:sp>
      <p:sp>
        <p:nvSpPr>
          <p:cNvPr id="15" name="Google Shape;15;p25"/>
          <p:cNvSpPr txBox="1"/>
          <p:nvPr>
            <p:ph type="title"/>
          </p:nvPr>
        </p:nvSpPr>
        <p:spPr>
          <a:xfrm>
            <a:off x="548640" y="347472"/>
            <a:ext cx="11064240" cy="73152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Clr>
                <a:schemeClr val="dk2"/>
              </a:buClr>
              <a:buSzPts val="3200"/>
              <a:buFont typeface="Cambria"/>
              <a:buNone/>
              <a:defRPr b="1" i="0" sz="3200" u="none" cap="none" strike="noStrike">
                <a:solidFill>
                  <a:schemeClr val="dk2"/>
                </a:solidFill>
                <a:latin typeface="Cambria"/>
                <a:ea typeface="Cambria"/>
                <a:cs typeface="Cambria"/>
                <a:sym typeface="Cambria"/>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6" name="Google Shape;16;p25"/>
          <p:cNvSpPr txBox="1"/>
          <p:nvPr>
            <p:ph idx="12" type="sldNum"/>
          </p:nvPr>
        </p:nvSpPr>
        <p:spPr>
          <a:xfrm>
            <a:off x="8732520" y="6382512"/>
            <a:ext cx="502920" cy="292608"/>
          </a:xfrm>
          <a:prstGeom prst="rect">
            <a:avLst/>
          </a:prstGeom>
          <a:noFill/>
          <a:ln>
            <a:noFill/>
          </a:ln>
        </p:spPr>
        <p:txBody>
          <a:bodyPr anchorCtr="0" anchor="t" bIns="45700" lIns="91425" spcFirstLastPara="1" rIns="91425" wrap="square" tIns="45700">
            <a:noAutofit/>
          </a:bodyPr>
          <a:lstStyle>
            <a:lvl1pPr indent="0" lvl="0" marL="0" marR="0" algn="r">
              <a:spcBef>
                <a:spcPts val="0"/>
              </a:spcBef>
              <a:buNone/>
              <a:defRPr b="0" i="0" sz="1000" u="none" cap="none" strike="noStrike">
                <a:solidFill>
                  <a:schemeClr val="accent5"/>
                </a:solidFill>
                <a:latin typeface="Calibri"/>
                <a:ea typeface="Calibri"/>
                <a:cs typeface="Calibri"/>
                <a:sym typeface="Calibri"/>
              </a:defRPr>
            </a:lvl1pPr>
            <a:lvl2pPr indent="0" lvl="1" marL="0" marR="0" algn="r">
              <a:spcBef>
                <a:spcPts val="0"/>
              </a:spcBef>
              <a:buNone/>
              <a:defRPr b="0" i="0" sz="1000" u="none" cap="none" strike="noStrike">
                <a:solidFill>
                  <a:schemeClr val="accent5"/>
                </a:solidFill>
                <a:latin typeface="Calibri"/>
                <a:ea typeface="Calibri"/>
                <a:cs typeface="Calibri"/>
                <a:sym typeface="Calibri"/>
              </a:defRPr>
            </a:lvl2pPr>
            <a:lvl3pPr indent="0" lvl="2" marL="0" marR="0" algn="r">
              <a:spcBef>
                <a:spcPts val="0"/>
              </a:spcBef>
              <a:buNone/>
              <a:defRPr b="0" i="0" sz="1000" u="none" cap="none" strike="noStrike">
                <a:solidFill>
                  <a:schemeClr val="accent5"/>
                </a:solidFill>
                <a:latin typeface="Calibri"/>
                <a:ea typeface="Calibri"/>
                <a:cs typeface="Calibri"/>
                <a:sym typeface="Calibri"/>
              </a:defRPr>
            </a:lvl3pPr>
            <a:lvl4pPr indent="0" lvl="3" marL="0" marR="0" algn="r">
              <a:spcBef>
                <a:spcPts val="0"/>
              </a:spcBef>
              <a:buNone/>
              <a:defRPr b="0" i="0" sz="1000" u="none" cap="none" strike="noStrike">
                <a:solidFill>
                  <a:schemeClr val="accent5"/>
                </a:solidFill>
                <a:latin typeface="Calibri"/>
                <a:ea typeface="Calibri"/>
                <a:cs typeface="Calibri"/>
                <a:sym typeface="Calibri"/>
              </a:defRPr>
            </a:lvl4pPr>
            <a:lvl5pPr indent="0" lvl="4" marL="0" marR="0" algn="r">
              <a:spcBef>
                <a:spcPts val="0"/>
              </a:spcBef>
              <a:buNone/>
              <a:defRPr b="0" i="0" sz="1000" u="none" cap="none" strike="noStrike">
                <a:solidFill>
                  <a:schemeClr val="accent5"/>
                </a:solidFill>
                <a:latin typeface="Calibri"/>
                <a:ea typeface="Calibri"/>
                <a:cs typeface="Calibri"/>
                <a:sym typeface="Calibri"/>
              </a:defRPr>
            </a:lvl5pPr>
            <a:lvl6pPr indent="0" lvl="5" marL="0" marR="0" algn="r">
              <a:spcBef>
                <a:spcPts val="0"/>
              </a:spcBef>
              <a:buNone/>
              <a:defRPr b="0" i="0" sz="1000" u="none" cap="none" strike="noStrike">
                <a:solidFill>
                  <a:schemeClr val="accent5"/>
                </a:solidFill>
                <a:latin typeface="Calibri"/>
                <a:ea typeface="Calibri"/>
                <a:cs typeface="Calibri"/>
                <a:sym typeface="Calibri"/>
              </a:defRPr>
            </a:lvl6pPr>
            <a:lvl7pPr indent="0" lvl="6" marL="0" marR="0" algn="r">
              <a:spcBef>
                <a:spcPts val="0"/>
              </a:spcBef>
              <a:buNone/>
              <a:defRPr b="0" i="0" sz="1000" u="none" cap="none" strike="noStrike">
                <a:solidFill>
                  <a:schemeClr val="accent5"/>
                </a:solidFill>
                <a:latin typeface="Calibri"/>
                <a:ea typeface="Calibri"/>
                <a:cs typeface="Calibri"/>
                <a:sym typeface="Calibri"/>
              </a:defRPr>
            </a:lvl7pPr>
            <a:lvl8pPr indent="0" lvl="7" marL="0" marR="0" algn="r">
              <a:spcBef>
                <a:spcPts val="0"/>
              </a:spcBef>
              <a:buNone/>
              <a:defRPr b="0" i="0" sz="1000" u="none" cap="none" strike="noStrike">
                <a:solidFill>
                  <a:schemeClr val="accent5"/>
                </a:solidFill>
                <a:latin typeface="Calibri"/>
                <a:ea typeface="Calibri"/>
                <a:cs typeface="Calibri"/>
                <a:sym typeface="Calibri"/>
              </a:defRPr>
            </a:lvl8pPr>
            <a:lvl9pPr indent="0" lvl="8" marL="0" marR="0" algn="r">
              <a:spcBef>
                <a:spcPts val="0"/>
              </a:spcBef>
              <a:buNone/>
              <a:defRPr b="0" i="0" sz="1000" u="none" cap="none" strike="noStrike">
                <a:solidFill>
                  <a:schemeClr val="accent5"/>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7" name="Shape 17"/>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
        <p:nvSpPr>
          <p:cNvPr id="10" name="Google Shape;10;p23"/>
          <p:cNvSpPr txBox="1"/>
          <p:nvPr>
            <p:ph idx="12" type="sldNum"/>
          </p:nvPr>
        </p:nvSpPr>
        <p:spPr>
          <a:xfrm>
            <a:off x="8732520" y="6382512"/>
            <a:ext cx="502920" cy="292608"/>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1000" u="none" cap="none" strike="noStrike">
                <a:solidFill>
                  <a:schemeClr val="accent5"/>
                </a:solidFill>
                <a:latin typeface="Calibri"/>
                <a:ea typeface="Calibri"/>
                <a:cs typeface="Calibri"/>
                <a:sym typeface="Calibri"/>
              </a:defRPr>
            </a:lvl1pPr>
            <a:lvl2pPr indent="0" lvl="1" marL="0" marR="0" rtl="0" algn="r">
              <a:spcBef>
                <a:spcPts val="0"/>
              </a:spcBef>
              <a:buNone/>
              <a:defRPr b="0" i="0" sz="1000" u="none" cap="none" strike="noStrike">
                <a:solidFill>
                  <a:schemeClr val="accent5"/>
                </a:solidFill>
                <a:latin typeface="Calibri"/>
                <a:ea typeface="Calibri"/>
                <a:cs typeface="Calibri"/>
                <a:sym typeface="Calibri"/>
              </a:defRPr>
            </a:lvl2pPr>
            <a:lvl3pPr indent="0" lvl="2" marL="0" marR="0" rtl="0" algn="r">
              <a:spcBef>
                <a:spcPts val="0"/>
              </a:spcBef>
              <a:buNone/>
              <a:defRPr b="0" i="0" sz="1000" u="none" cap="none" strike="noStrike">
                <a:solidFill>
                  <a:schemeClr val="accent5"/>
                </a:solidFill>
                <a:latin typeface="Calibri"/>
                <a:ea typeface="Calibri"/>
                <a:cs typeface="Calibri"/>
                <a:sym typeface="Calibri"/>
              </a:defRPr>
            </a:lvl3pPr>
            <a:lvl4pPr indent="0" lvl="3" marL="0" marR="0" rtl="0" algn="r">
              <a:spcBef>
                <a:spcPts val="0"/>
              </a:spcBef>
              <a:buNone/>
              <a:defRPr b="0" i="0" sz="1000" u="none" cap="none" strike="noStrike">
                <a:solidFill>
                  <a:schemeClr val="accent5"/>
                </a:solidFill>
                <a:latin typeface="Calibri"/>
                <a:ea typeface="Calibri"/>
                <a:cs typeface="Calibri"/>
                <a:sym typeface="Calibri"/>
              </a:defRPr>
            </a:lvl4pPr>
            <a:lvl5pPr indent="0" lvl="4" marL="0" marR="0" rtl="0" algn="r">
              <a:spcBef>
                <a:spcPts val="0"/>
              </a:spcBef>
              <a:buNone/>
              <a:defRPr b="0" i="0" sz="1000" u="none" cap="none" strike="noStrike">
                <a:solidFill>
                  <a:schemeClr val="accent5"/>
                </a:solidFill>
                <a:latin typeface="Calibri"/>
                <a:ea typeface="Calibri"/>
                <a:cs typeface="Calibri"/>
                <a:sym typeface="Calibri"/>
              </a:defRPr>
            </a:lvl5pPr>
            <a:lvl6pPr indent="0" lvl="5" marL="0" marR="0" rtl="0" algn="r">
              <a:spcBef>
                <a:spcPts val="0"/>
              </a:spcBef>
              <a:buNone/>
              <a:defRPr b="0" i="0" sz="1000" u="none" cap="none" strike="noStrike">
                <a:solidFill>
                  <a:schemeClr val="accent5"/>
                </a:solidFill>
                <a:latin typeface="Calibri"/>
                <a:ea typeface="Calibri"/>
                <a:cs typeface="Calibri"/>
                <a:sym typeface="Calibri"/>
              </a:defRPr>
            </a:lvl6pPr>
            <a:lvl7pPr indent="0" lvl="6" marL="0" marR="0" rtl="0" algn="r">
              <a:spcBef>
                <a:spcPts val="0"/>
              </a:spcBef>
              <a:buNone/>
              <a:defRPr b="0" i="0" sz="1000" u="none" cap="none" strike="noStrike">
                <a:solidFill>
                  <a:schemeClr val="accent5"/>
                </a:solidFill>
                <a:latin typeface="Calibri"/>
                <a:ea typeface="Calibri"/>
                <a:cs typeface="Calibri"/>
                <a:sym typeface="Calibri"/>
              </a:defRPr>
            </a:lvl7pPr>
            <a:lvl8pPr indent="0" lvl="7" marL="0" marR="0" rtl="0" algn="r">
              <a:spcBef>
                <a:spcPts val="0"/>
              </a:spcBef>
              <a:buNone/>
              <a:defRPr b="0" i="0" sz="1000" u="none" cap="none" strike="noStrike">
                <a:solidFill>
                  <a:schemeClr val="accent5"/>
                </a:solidFill>
                <a:latin typeface="Calibri"/>
                <a:ea typeface="Calibri"/>
                <a:cs typeface="Calibri"/>
                <a:sym typeface="Calibri"/>
              </a:defRPr>
            </a:lvl8pPr>
            <a:lvl9pPr indent="0" lvl="8" marL="0" marR="0" rtl="0" algn="r">
              <a:spcBef>
                <a:spcPts val="0"/>
              </a:spcBef>
              <a:buNone/>
              <a:defRPr b="0" i="0" sz="1000" u="none" cap="none" strike="noStrike">
                <a:solidFill>
                  <a:schemeClr val="accent5"/>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slide" Target="/ppt/slides/slide2.xml"/><Relationship Id="rId4" Type="http://schemas.openxmlformats.org/officeDocument/2006/relationships/hyperlink" Target="https://github.com/hardikjain2005/-Predictive-Analytics-CA-3-Diabetes-Onset-Prediction-Using-Machine-Learning" TargetMode="External"/><Relationship Id="rId5" Type="http://schemas.openxmlformats.org/officeDocument/2006/relationships/hyperlink" Target="https://colab.research.google.com/github/hardikjain2005/-Predictive-Analytics-CA-3-Diabetes-Onset-Prediction-Using-Machine-Learning/blob/main/notebooks/Diabetes_Onset_Prediction.ipynb" TargetMode="External"/><Relationship Id="rId6" Type="http://schemas.openxmlformats.org/officeDocument/2006/relationships/hyperlink" Target="https://github.com/hardikjain2005/-Predictive-Analytics-CA-3-Diabetes-Onset-Prediction-Using-Machine-Learning/blob/main/reports/Diabetes_Onset_Prediction_Report.pdf" TargetMode="External"/><Relationship Id="rId7" Type="http://schemas.openxmlformats.org/officeDocument/2006/relationships/image" Target="../media/image10.png"/></Relationships>
</file>

<file path=ppt/slides/_rels/slide2.xml.rels><?xml version="1.0" encoding="UTF-8" standalone="yes"?><Relationships xmlns="http://schemas.openxmlformats.org/package/2006/relationships"><Relationship Id="rId40" Type="http://schemas.openxmlformats.org/officeDocument/2006/relationships/slide" Target="/ppt/slides/slide10.xml"/><Relationship Id="rId42" Type="http://schemas.openxmlformats.org/officeDocument/2006/relationships/slide" Target="/ppt/slides/slide10.xml"/><Relationship Id="rId41" Type="http://schemas.openxmlformats.org/officeDocument/2006/relationships/image" Target="../media/image15.png"/><Relationship Id="rId44" Type="http://schemas.openxmlformats.org/officeDocument/2006/relationships/slide" Target="/ppt/slides/slide11.xml"/><Relationship Id="rId43" Type="http://schemas.openxmlformats.org/officeDocument/2006/relationships/slide" Target="/ppt/slides/slide11.xml"/><Relationship Id="rId46" Type="http://schemas.openxmlformats.org/officeDocument/2006/relationships/image" Target="../media/image2.png"/><Relationship Id="rId45" Type="http://schemas.openxmlformats.org/officeDocument/2006/relationships/slide" Target="/ppt/slides/slide11.xml"/><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slide" Target="/ppt/slides/slide3.xml"/><Relationship Id="rId4" Type="http://schemas.openxmlformats.org/officeDocument/2006/relationships/slide" Target="/ppt/slides/slide3.xml"/><Relationship Id="rId9" Type="http://schemas.openxmlformats.org/officeDocument/2006/relationships/slide" Target="/ppt/slides/slide4.xml"/><Relationship Id="rId48" Type="http://schemas.openxmlformats.org/officeDocument/2006/relationships/slide" Target="/ppt/slides/slide12.xml"/><Relationship Id="rId47" Type="http://schemas.openxmlformats.org/officeDocument/2006/relationships/slide" Target="/ppt/slides/slide11.xml"/><Relationship Id="rId49" Type="http://schemas.openxmlformats.org/officeDocument/2006/relationships/slide" Target="/ppt/slides/slide12.xml"/><Relationship Id="rId5" Type="http://schemas.openxmlformats.org/officeDocument/2006/relationships/slide" Target="/ppt/slides/slide3.xml"/><Relationship Id="rId6" Type="http://schemas.openxmlformats.org/officeDocument/2006/relationships/image" Target="../media/image7.png"/><Relationship Id="rId7" Type="http://schemas.openxmlformats.org/officeDocument/2006/relationships/slide" Target="/ppt/slides/slide3.xml"/><Relationship Id="rId8" Type="http://schemas.openxmlformats.org/officeDocument/2006/relationships/slide" Target="/ppt/slides/slide4.xml"/><Relationship Id="rId31" Type="http://schemas.openxmlformats.org/officeDocument/2006/relationships/image" Target="../media/image3.png"/><Relationship Id="rId30" Type="http://schemas.openxmlformats.org/officeDocument/2006/relationships/slide" Target="/ppt/slides/slide8.xml"/><Relationship Id="rId33" Type="http://schemas.openxmlformats.org/officeDocument/2006/relationships/slide" Target="/ppt/slides/slide9.xml"/><Relationship Id="rId32" Type="http://schemas.openxmlformats.org/officeDocument/2006/relationships/slide" Target="/ppt/slides/slide8.xml"/><Relationship Id="rId35" Type="http://schemas.openxmlformats.org/officeDocument/2006/relationships/slide" Target="/ppt/slides/slide9.xml"/><Relationship Id="rId34" Type="http://schemas.openxmlformats.org/officeDocument/2006/relationships/slide" Target="/ppt/slides/slide9.xml"/><Relationship Id="rId37" Type="http://schemas.openxmlformats.org/officeDocument/2006/relationships/slide" Target="/ppt/slides/slide9.xml"/><Relationship Id="rId36" Type="http://schemas.openxmlformats.org/officeDocument/2006/relationships/image" Target="../media/image1.png"/><Relationship Id="rId39" Type="http://schemas.openxmlformats.org/officeDocument/2006/relationships/slide" Target="/ppt/slides/slide10.xml"/><Relationship Id="rId38" Type="http://schemas.openxmlformats.org/officeDocument/2006/relationships/slide" Target="/ppt/slides/slide10.xml"/><Relationship Id="rId62" Type="http://schemas.openxmlformats.org/officeDocument/2006/relationships/slide" Target="/ppt/slides/slide14.xml"/><Relationship Id="rId61" Type="http://schemas.openxmlformats.org/officeDocument/2006/relationships/image" Target="../media/image9.png"/><Relationship Id="rId20" Type="http://schemas.openxmlformats.org/officeDocument/2006/relationships/slide" Target="/ppt/slides/slide6.xml"/><Relationship Id="rId64" Type="http://schemas.openxmlformats.org/officeDocument/2006/relationships/hyperlink" Target="https://colab.research.google.com/github/hardikjain2005/-Predictive-Analytics-CA-3-Diabetes-Onset-Prediction-Using-Machine-Learning/blob/main/notebooks/Diabetes_Onset_Prediction.ipynb" TargetMode="External"/><Relationship Id="rId63" Type="http://schemas.openxmlformats.org/officeDocument/2006/relationships/hyperlink" Target="https://github.com/hardikjain2005/-Predictive-Analytics-CA-3-Diabetes-Onset-Prediction-Using-Machine-Learning" TargetMode="External"/><Relationship Id="rId22" Type="http://schemas.openxmlformats.org/officeDocument/2006/relationships/slide" Target="/ppt/slides/slide6.xml"/><Relationship Id="rId66" Type="http://schemas.openxmlformats.org/officeDocument/2006/relationships/slide" Target="/ppt/slides/slide22.xml"/><Relationship Id="rId21" Type="http://schemas.openxmlformats.org/officeDocument/2006/relationships/image" Target="../media/image12.png"/><Relationship Id="rId65" Type="http://schemas.openxmlformats.org/officeDocument/2006/relationships/hyperlink" Target="https://github.com/hardikjain2005/-Predictive-Analytics-CA-3-Diabetes-Onset-Prediction-Using-Machine-Learning/blob/main/reports/Diabetes_Onset_Prediction_Report.pdf" TargetMode="External"/><Relationship Id="rId24" Type="http://schemas.openxmlformats.org/officeDocument/2006/relationships/slide" Target="/ppt/slides/slide7.xml"/><Relationship Id="rId68" Type="http://schemas.openxmlformats.org/officeDocument/2006/relationships/slide" Target="/ppt/slides/slide1.xml"/><Relationship Id="rId23" Type="http://schemas.openxmlformats.org/officeDocument/2006/relationships/slide" Target="/ppt/slides/slide7.xml"/><Relationship Id="rId67" Type="http://schemas.openxmlformats.org/officeDocument/2006/relationships/slide" Target="/ppt/slides/slide3.xml"/><Relationship Id="rId60" Type="http://schemas.openxmlformats.org/officeDocument/2006/relationships/slide" Target="/ppt/slides/slide14.xml"/><Relationship Id="rId26" Type="http://schemas.openxmlformats.org/officeDocument/2006/relationships/image" Target="../media/image11.png"/><Relationship Id="rId25" Type="http://schemas.openxmlformats.org/officeDocument/2006/relationships/slide" Target="/ppt/slides/slide7.xml"/><Relationship Id="rId28" Type="http://schemas.openxmlformats.org/officeDocument/2006/relationships/slide" Target="/ppt/slides/slide8.xml"/><Relationship Id="rId27" Type="http://schemas.openxmlformats.org/officeDocument/2006/relationships/slide" Target="/ppt/slides/slide7.xml"/><Relationship Id="rId29" Type="http://schemas.openxmlformats.org/officeDocument/2006/relationships/slide" Target="/ppt/slides/slide8.xml"/><Relationship Id="rId51" Type="http://schemas.openxmlformats.org/officeDocument/2006/relationships/image" Target="../media/image4.png"/><Relationship Id="rId50" Type="http://schemas.openxmlformats.org/officeDocument/2006/relationships/slide" Target="/ppt/slides/slide12.xml"/><Relationship Id="rId53" Type="http://schemas.openxmlformats.org/officeDocument/2006/relationships/slide" Target="/ppt/slides/slide13.xml"/><Relationship Id="rId52" Type="http://schemas.openxmlformats.org/officeDocument/2006/relationships/slide" Target="/ppt/slides/slide12.xml"/><Relationship Id="rId11" Type="http://schemas.openxmlformats.org/officeDocument/2006/relationships/image" Target="../media/image6.png"/><Relationship Id="rId55" Type="http://schemas.openxmlformats.org/officeDocument/2006/relationships/slide" Target="/ppt/slides/slide13.xml"/><Relationship Id="rId10" Type="http://schemas.openxmlformats.org/officeDocument/2006/relationships/slide" Target="/ppt/slides/slide4.xml"/><Relationship Id="rId54" Type="http://schemas.openxmlformats.org/officeDocument/2006/relationships/slide" Target="/ppt/slides/slide13.xml"/><Relationship Id="rId13" Type="http://schemas.openxmlformats.org/officeDocument/2006/relationships/slide" Target="/ppt/slides/slide5.xml"/><Relationship Id="rId57" Type="http://schemas.openxmlformats.org/officeDocument/2006/relationships/slide" Target="/ppt/slides/slide13.xml"/><Relationship Id="rId12" Type="http://schemas.openxmlformats.org/officeDocument/2006/relationships/slide" Target="/ppt/slides/slide4.xml"/><Relationship Id="rId56" Type="http://schemas.openxmlformats.org/officeDocument/2006/relationships/image" Target="../media/image5.png"/><Relationship Id="rId15" Type="http://schemas.openxmlformats.org/officeDocument/2006/relationships/slide" Target="/ppt/slides/slide5.xml"/><Relationship Id="rId59" Type="http://schemas.openxmlformats.org/officeDocument/2006/relationships/slide" Target="/ppt/slides/slide14.xml"/><Relationship Id="rId14" Type="http://schemas.openxmlformats.org/officeDocument/2006/relationships/slide" Target="/ppt/slides/slide5.xml"/><Relationship Id="rId58" Type="http://schemas.openxmlformats.org/officeDocument/2006/relationships/slide" Target="/ppt/slides/slide14.xml"/><Relationship Id="rId17" Type="http://schemas.openxmlformats.org/officeDocument/2006/relationships/slide" Target="/ppt/slides/slide5.xml"/><Relationship Id="rId16" Type="http://schemas.openxmlformats.org/officeDocument/2006/relationships/image" Target="../media/image8.png"/><Relationship Id="rId19" Type="http://schemas.openxmlformats.org/officeDocument/2006/relationships/slide" Target="/ppt/slides/slide6.xml"/><Relationship Id="rId18" Type="http://schemas.openxmlformats.org/officeDocument/2006/relationships/slide" Target="/ppt/slides/slide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slide" Target="/ppt/slides/slide4.xml"/><Relationship Id="rId5" Type="http://schemas.openxmlformats.org/officeDocument/2006/relationships/slide" Target="/ppt/slides/slide2.xml"/><Relationship Id="rId6" Type="http://schemas.openxmlformats.org/officeDocument/2006/relationships/slide" Target="/ppt/slid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image" Target="../media/image16.png"/><Relationship Id="rId6" Type="http://schemas.openxmlformats.org/officeDocument/2006/relationships/slide" Target="/ppt/slides/slide5.xml"/><Relationship Id="rId7" Type="http://schemas.openxmlformats.org/officeDocument/2006/relationships/slide" Target="/ppt/slides/slide2.xml"/><Relationship Id="rId8" Type="http://schemas.openxmlformats.org/officeDocument/2006/relationships/slide" Target="/ppt/slid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chart" Target="../charts/chart1.xml"/><Relationship Id="rId4" Type="http://schemas.openxmlformats.org/officeDocument/2006/relationships/chart" Target="../charts/chart2.xml"/><Relationship Id="rId5" Type="http://schemas.openxmlformats.org/officeDocument/2006/relationships/slide" Target="/ppt/slides/slide6.xml"/><Relationship Id="rId6" Type="http://schemas.openxmlformats.org/officeDocument/2006/relationships/slide" Target="/ppt/slides/slide2.xml"/><Relationship Id="rId7" Type="http://schemas.openxmlformats.org/officeDocument/2006/relationships/slide" Target="/ppt/slid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0.png"/><Relationship Id="rId4" Type="http://schemas.openxmlformats.org/officeDocument/2006/relationships/slide" Target="/ppt/slides/slide7.xml"/><Relationship Id="rId5" Type="http://schemas.openxmlformats.org/officeDocument/2006/relationships/slide" Target="/ppt/slides/slide2.xml"/><Relationship Id="rId6" Type="http://schemas.openxmlformats.org/officeDocument/2006/relationships/slide" Target="/ppt/slid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21.png"/><Relationship Id="rId4" Type="http://schemas.openxmlformats.org/officeDocument/2006/relationships/image" Target="../media/image22.png"/><Relationship Id="rId9" Type="http://schemas.openxmlformats.org/officeDocument/2006/relationships/slide" Target="/ppt/slides/slide8.xml"/><Relationship Id="rId5" Type="http://schemas.openxmlformats.org/officeDocument/2006/relationships/image" Target="../media/image18.png"/><Relationship Id="rId6" Type="http://schemas.openxmlformats.org/officeDocument/2006/relationships/image" Target="../media/image23.png"/><Relationship Id="rId7" Type="http://schemas.openxmlformats.org/officeDocument/2006/relationships/image" Target="../media/image17.png"/><Relationship Id="rId8" Type="http://schemas.openxmlformats.org/officeDocument/2006/relationships/slide" Target="/ppt/slides/slide20.xml"/><Relationship Id="rId11" Type="http://schemas.openxmlformats.org/officeDocument/2006/relationships/slide" Target="/ppt/slides/slide6.xml"/><Relationship Id="rId10" Type="http://schemas.openxmlformats.org/officeDocument/2006/relationships/slide" Target="/ppt/slid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chart" Target="../charts/chart3.xml"/><Relationship Id="rId4" Type="http://schemas.openxmlformats.org/officeDocument/2006/relationships/slide" Target="/ppt/slides/slide9.xml"/><Relationship Id="rId5" Type="http://schemas.openxmlformats.org/officeDocument/2006/relationships/slide" Target="/ppt/slides/slide2.xml"/><Relationship Id="rId6" Type="http://schemas.openxmlformats.org/officeDocument/2006/relationships/slide" Target="/ppt/slid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slide" Target="/ppt/slides/slide15.xml"/><Relationship Id="rId4" Type="http://schemas.openxmlformats.org/officeDocument/2006/relationships/slide" Target="/ppt/slides/slide15.xml"/><Relationship Id="rId9" Type="http://schemas.openxmlformats.org/officeDocument/2006/relationships/slide" Target="/ppt/slides/slide16.xml"/><Relationship Id="rId5" Type="http://schemas.openxmlformats.org/officeDocument/2006/relationships/slide" Target="/ppt/slides/slide15.xml"/><Relationship Id="rId6" Type="http://schemas.openxmlformats.org/officeDocument/2006/relationships/image" Target="../media/image25.png"/><Relationship Id="rId7" Type="http://schemas.openxmlformats.org/officeDocument/2006/relationships/slide" Target="/ppt/slides/slide15.xml"/><Relationship Id="rId8" Type="http://schemas.openxmlformats.org/officeDocument/2006/relationships/slide" Target="/ppt/slides/slide16.xml"/><Relationship Id="rId30" Type="http://schemas.openxmlformats.org/officeDocument/2006/relationships/slide" Target="/ppt/slides/slide8.xml"/><Relationship Id="rId20" Type="http://schemas.openxmlformats.org/officeDocument/2006/relationships/slide" Target="/ppt/slides/slide18.xml"/><Relationship Id="rId22" Type="http://schemas.openxmlformats.org/officeDocument/2006/relationships/slide" Target="/ppt/slides/slide18.xml"/><Relationship Id="rId21" Type="http://schemas.openxmlformats.org/officeDocument/2006/relationships/image" Target="../media/image26.png"/><Relationship Id="rId24" Type="http://schemas.openxmlformats.org/officeDocument/2006/relationships/slide" Target="/ppt/slides/slide19.xml"/><Relationship Id="rId23" Type="http://schemas.openxmlformats.org/officeDocument/2006/relationships/slide" Target="/ppt/slides/slide19.xml"/><Relationship Id="rId26" Type="http://schemas.openxmlformats.org/officeDocument/2006/relationships/image" Target="../media/image27.png"/><Relationship Id="rId25" Type="http://schemas.openxmlformats.org/officeDocument/2006/relationships/slide" Target="/ppt/slides/slide19.xml"/><Relationship Id="rId28" Type="http://schemas.openxmlformats.org/officeDocument/2006/relationships/slide" Target="/ppt/slides/slide10.xml"/><Relationship Id="rId27" Type="http://schemas.openxmlformats.org/officeDocument/2006/relationships/slide" Target="/ppt/slides/slide19.xml"/><Relationship Id="rId29" Type="http://schemas.openxmlformats.org/officeDocument/2006/relationships/slide" Target="/ppt/slides/slide2.xml"/><Relationship Id="rId11" Type="http://schemas.openxmlformats.org/officeDocument/2006/relationships/image" Target="../media/image24.png"/><Relationship Id="rId10" Type="http://schemas.openxmlformats.org/officeDocument/2006/relationships/slide" Target="/ppt/slides/slide16.xml"/><Relationship Id="rId13" Type="http://schemas.openxmlformats.org/officeDocument/2006/relationships/slide" Target="/ppt/slides/slide17.xml"/><Relationship Id="rId12" Type="http://schemas.openxmlformats.org/officeDocument/2006/relationships/slide" Target="/ppt/slides/slide16.xml"/><Relationship Id="rId15" Type="http://schemas.openxmlformats.org/officeDocument/2006/relationships/slide" Target="/ppt/slides/slide17.xml"/><Relationship Id="rId14" Type="http://schemas.openxmlformats.org/officeDocument/2006/relationships/slide" Target="/ppt/slides/slide17.xml"/><Relationship Id="rId17" Type="http://schemas.openxmlformats.org/officeDocument/2006/relationships/slide" Target="/ppt/slides/slide17.xml"/><Relationship Id="rId16" Type="http://schemas.openxmlformats.org/officeDocument/2006/relationships/image" Target="../media/image28.png"/><Relationship Id="rId19" Type="http://schemas.openxmlformats.org/officeDocument/2006/relationships/slide" Target="/ppt/slides/slide18.xml"/><Relationship Id="rId18" Type="http://schemas.openxmlformats.org/officeDocument/2006/relationships/slide" Target="/ppt/slides/slide1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slide" Target="/ppt/slides/slide11.xml"/><Relationship Id="rId4" Type="http://schemas.openxmlformats.org/officeDocument/2006/relationships/slide" Target="/ppt/slides/slide2.xml"/><Relationship Id="rId5" Type="http://schemas.openxmlformats.org/officeDocument/2006/relationships/slide" Target="/ppt/slid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chart" Target="../charts/chart4.xml"/><Relationship Id="rId4" Type="http://schemas.openxmlformats.org/officeDocument/2006/relationships/image" Target="../media/image2.png"/><Relationship Id="rId5" Type="http://schemas.openxmlformats.org/officeDocument/2006/relationships/slide" Target="/ppt/slides/slide12.xml"/><Relationship Id="rId6" Type="http://schemas.openxmlformats.org/officeDocument/2006/relationships/slide" Target="/ppt/slides/slide12.xml"/><Relationship Id="rId7" Type="http://schemas.openxmlformats.org/officeDocument/2006/relationships/slide" Target="/ppt/slides/slide2.xml"/><Relationship Id="rId8" Type="http://schemas.openxmlformats.org/officeDocument/2006/relationships/slide" Target="/ppt/slid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5.png"/><Relationship Id="rId4" Type="http://schemas.openxmlformats.org/officeDocument/2006/relationships/slide" Target="/ppt/slides/slide15.xml"/><Relationship Id="rId9" Type="http://schemas.openxmlformats.org/officeDocument/2006/relationships/slide" Target="/ppt/slides/slide15.xml"/><Relationship Id="rId5" Type="http://schemas.openxmlformats.org/officeDocument/2006/relationships/slide" Target="/ppt/slides/slide15.xml"/><Relationship Id="rId6" Type="http://schemas.openxmlformats.org/officeDocument/2006/relationships/slide" Target="/ppt/slides/slide15.xml"/><Relationship Id="rId7" Type="http://schemas.openxmlformats.org/officeDocument/2006/relationships/image" Target="../media/image25.png"/><Relationship Id="rId8" Type="http://schemas.openxmlformats.org/officeDocument/2006/relationships/slide" Target="/ppt/slides/slide15.xml"/><Relationship Id="rId31" Type="http://schemas.openxmlformats.org/officeDocument/2006/relationships/image" Target="../media/image27.png"/><Relationship Id="rId30" Type="http://schemas.openxmlformats.org/officeDocument/2006/relationships/slide" Target="/ppt/slides/slide19.xml"/><Relationship Id="rId33" Type="http://schemas.openxmlformats.org/officeDocument/2006/relationships/slide" Target="/ppt/slides/slide19.xml"/><Relationship Id="rId32" Type="http://schemas.openxmlformats.org/officeDocument/2006/relationships/slide" Target="/ppt/slides/slide19.xml"/><Relationship Id="rId35" Type="http://schemas.openxmlformats.org/officeDocument/2006/relationships/slide" Target="/ppt/slides/slide2.xml"/><Relationship Id="rId34" Type="http://schemas.openxmlformats.org/officeDocument/2006/relationships/slide" Target="/ppt/slides/slide13.xml"/><Relationship Id="rId36" Type="http://schemas.openxmlformats.org/officeDocument/2006/relationships/slide" Target="/ppt/slides/slide11.xml"/><Relationship Id="rId20" Type="http://schemas.openxmlformats.org/officeDocument/2006/relationships/slide" Target="/ppt/slides/slide17.xml"/><Relationship Id="rId22" Type="http://schemas.openxmlformats.org/officeDocument/2006/relationships/slide" Target="/ppt/slides/slide18.xml"/><Relationship Id="rId21" Type="http://schemas.openxmlformats.org/officeDocument/2006/relationships/slide" Target="/ppt/slides/slide17.xml"/><Relationship Id="rId24" Type="http://schemas.openxmlformats.org/officeDocument/2006/relationships/slide" Target="/ppt/slides/slide18.xml"/><Relationship Id="rId23" Type="http://schemas.openxmlformats.org/officeDocument/2006/relationships/slide" Target="/ppt/slides/slide18.xml"/><Relationship Id="rId26" Type="http://schemas.openxmlformats.org/officeDocument/2006/relationships/slide" Target="/ppt/slides/slide18.xml"/><Relationship Id="rId25" Type="http://schemas.openxmlformats.org/officeDocument/2006/relationships/image" Target="../media/image26.png"/><Relationship Id="rId28" Type="http://schemas.openxmlformats.org/officeDocument/2006/relationships/slide" Target="/ppt/slides/slide19.xml"/><Relationship Id="rId27" Type="http://schemas.openxmlformats.org/officeDocument/2006/relationships/slide" Target="/ppt/slides/slide18.xml"/><Relationship Id="rId29" Type="http://schemas.openxmlformats.org/officeDocument/2006/relationships/slide" Target="/ppt/slides/slide19.xml"/><Relationship Id="rId11" Type="http://schemas.openxmlformats.org/officeDocument/2006/relationships/slide" Target="/ppt/slides/slide16.xml"/><Relationship Id="rId10" Type="http://schemas.openxmlformats.org/officeDocument/2006/relationships/slide" Target="/ppt/slides/slide16.xml"/><Relationship Id="rId13" Type="http://schemas.openxmlformats.org/officeDocument/2006/relationships/image" Target="../media/image24.png"/><Relationship Id="rId12" Type="http://schemas.openxmlformats.org/officeDocument/2006/relationships/slide" Target="/ppt/slides/slide16.xml"/><Relationship Id="rId15" Type="http://schemas.openxmlformats.org/officeDocument/2006/relationships/slide" Target="/ppt/slides/slide16.xml"/><Relationship Id="rId14" Type="http://schemas.openxmlformats.org/officeDocument/2006/relationships/slide" Target="/ppt/slides/slide16.xml"/><Relationship Id="rId17" Type="http://schemas.openxmlformats.org/officeDocument/2006/relationships/slide" Target="/ppt/slides/slide17.xml"/><Relationship Id="rId16" Type="http://schemas.openxmlformats.org/officeDocument/2006/relationships/slide" Target="/ppt/slides/slide17.xml"/><Relationship Id="rId19" Type="http://schemas.openxmlformats.org/officeDocument/2006/relationships/image" Target="../media/image28.png"/><Relationship Id="rId18" Type="http://schemas.openxmlformats.org/officeDocument/2006/relationships/slide" Target="/ppt/slides/slide1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38.png"/><Relationship Id="rId4" Type="http://schemas.openxmlformats.org/officeDocument/2006/relationships/chart" Target="../charts/chart5.xml"/><Relationship Id="rId5" Type="http://schemas.openxmlformats.org/officeDocument/2006/relationships/slide" Target="/ppt/slides/slide21.xml"/><Relationship Id="rId6" Type="http://schemas.openxmlformats.org/officeDocument/2006/relationships/slide" Target="/ppt/slides/slide14.xml"/><Relationship Id="rId7" Type="http://schemas.openxmlformats.org/officeDocument/2006/relationships/slide" Target="/ppt/slides/slide2.xml"/><Relationship Id="rId8" Type="http://schemas.openxmlformats.org/officeDocument/2006/relationships/slide" Target="/ppt/slid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slide" Target="/ppt/slides/slide22.xml"/><Relationship Id="rId4" Type="http://schemas.openxmlformats.org/officeDocument/2006/relationships/hyperlink" Target="https://github.com/hardikjain2005/-Predictive-Analytics-CA-3-Diabetes-Onset-Prediction-Using-Machine-Learning" TargetMode="External"/><Relationship Id="rId5" Type="http://schemas.openxmlformats.org/officeDocument/2006/relationships/hyperlink" Target="https://colab.research.google.com/github/hardikjain2005/-Predictive-Analytics-CA-3-Diabetes-Onset-Prediction-Using-Machine-Learning/blob/main/notebooks/Diabetes_Onset_Prediction.ipynb" TargetMode="External"/><Relationship Id="rId6" Type="http://schemas.openxmlformats.org/officeDocument/2006/relationships/slide" Target="/ppt/slides/slide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25.png"/><Relationship Id="rId4" Type="http://schemas.openxmlformats.org/officeDocument/2006/relationships/slide" Target="/ppt/slides/slide16.xml"/><Relationship Id="rId5" Type="http://schemas.openxmlformats.org/officeDocument/2006/relationships/slide" Target="/ppt/slides/slide2.xml"/><Relationship Id="rId6" Type="http://schemas.openxmlformats.org/officeDocument/2006/relationships/slide" Target="/ppt/slides/slide19.xml"/><Relationship Id="rId7" Type="http://schemas.openxmlformats.org/officeDocument/2006/relationships/slide" Target="/ppt/slid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24.png"/><Relationship Id="rId4" Type="http://schemas.openxmlformats.org/officeDocument/2006/relationships/slide" Target="/ppt/slides/slide17.xml"/><Relationship Id="rId5" Type="http://schemas.openxmlformats.org/officeDocument/2006/relationships/slide" Target="/ppt/slides/slide2.xml"/><Relationship Id="rId6" Type="http://schemas.openxmlformats.org/officeDocument/2006/relationships/slide" Target="/ppt/slides/slide15.xml"/><Relationship Id="rId7" Type="http://schemas.openxmlformats.org/officeDocument/2006/relationships/slide" Target="/ppt/slid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28.png"/><Relationship Id="rId4" Type="http://schemas.openxmlformats.org/officeDocument/2006/relationships/slide" Target="/ppt/slides/slide18.xml"/><Relationship Id="rId5" Type="http://schemas.openxmlformats.org/officeDocument/2006/relationships/slide" Target="/ppt/slides/slide2.xml"/><Relationship Id="rId6" Type="http://schemas.openxmlformats.org/officeDocument/2006/relationships/slide" Target="/ppt/slides/slide16.xml"/><Relationship Id="rId7" Type="http://schemas.openxmlformats.org/officeDocument/2006/relationships/slide" Target="/ppt/slid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26.png"/><Relationship Id="rId4" Type="http://schemas.openxmlformats.org/officeDocument/2006/relationships/slide" Target="/ppt/slides/slide19.xml"/><Relationship Id="rId5" Type="http://schemas.openxmlformats.org/officeDocument/2006/relationships/slide" Target="/ppt/slides/slide2.xml"/><Relationship Id="rId6" Type="http://schemas.openxmlformats.org/officeDocument/2006/relationships/slide" Target="/ppt/slides/slide17.xml"/><Relationship Id="rId7" Type="http://schemas.openxmlformats.org/officeDocument/2006/relationships/slide" Target="/ppt/slid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27.png"/><Relationship Id="rId4" Type="http://schemas.openxmlformats.org/officeDocument/2006/relationships/slide" Target="/ppt/slides/slide15.xml"/><Relationship Id="rId5" Type="http://schemas.openxmlformats.org/officeDocument/2006/relationships/slide" Target="/ppt/slides/slide2.xml"/><Relationship Id="rId6" Type="http://schemas.openxmlformats.org/officeDocument/2006/relationships/slide" Target="/ppt/slides/slide18.xml"/><Relationship Id="rId7" Type="http://schemas.openxmlformats.org/officeDocument/2006/relationships/slide" Target="/ppt/slid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43.png"/><Relationship Id="rId4" Type="http://schemas.openxmlformats.org/officeDocument/2006/relationships/slide" Target="/ppt/slides/slide2.xml"/><Relationship Id="rId5" Type="http://schemas.openxmlformats.org/officeDocument/2006/relationships/slide" Target="/ppt/slides/slide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42.png"/><Relationship Id="rId4" Type="http://schemas.openxmlformats.org/officeDocument/2006/relationships/slide" Target="/ppt/slides/slide2.xml"/><Relationship Id="rId5" Type="http://schemas.openxmlformats.org/officeDocument/2006/relationships/slide" Target="/ppt/slides/slide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slide" Target="/ppt/slides/slide2.xml"/><Relationship Id="rId4" Type="http://schemas.openxmlformats.org/officeDocument/2006/relationships/slide" Target="/ppt/slides/slide14.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 name="Shape 22"/>
        <p:cNvGrpSpPr/>
        <p:nvPr/>
      </p:nvGrpSpPr>
      <p:grpSpPr>
        <a:xfrm>
          <a:off x="0" y="0"/>
          <a:ext cx="0" cy="0"/>
          <a:chOff x="0" y="0"/>
          <a:chExt cx="0" cy="0"/>
        </a:xfrm>
      </p:grpSpPr>
      <p:sp>
        <p:nvSpPr>
          <p:cNvPr id="23" name="Google Shape;23;p1"/>
          <p:cNvSpPr txBox="1"/>
          <p:nvPr>
            <p:ph type="title"/>
          </p:nvPr>
        </p:nvSpPr>
        <p:spPr>
          <a:xfrm>
            <a:off x="640080" y="548640"/>
            <a:ext cx="7315200" cy="173736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lt1"/>
              </a:buClr>
              <a:buSzPts val="4000"/>
              <a:buFont typeface="Cambria"/>
              <a:buNone/>
            </a:pPr>
            <a:r>
              <a:rPr b="1" lang="en-US" sz="4000">
                <a:solidFill>
                  <a:schemeClr val="lt1"/>
                </a:solidFill>
                <a:latin typeface="Cambria"/>
                <a:ea typeface="Cambria"/>
                <a:cs typeface="Cambria"/>
                <a:sym typeface="Cambria"/>
              </a:rPr>
              <a:t>Diabetes Onset Prediction</a:t>
            </a:r>
            <a:endParaRPr sz="4000"/>
          </a:p>
          <a:p>
            <a:pPr indent="0" lvl="0" marL="0" rtl="0" algn="l">
              <a:spcBef>
                <a:spcPts val="0"/>
              </a:spcBef>
              <a:spcAft>
                <a:spcPts val="0"/>
              </a:spcAft>
              <a:buClr>
                <a:schemeClr val="accent3"/>
              </a:buClr>
              <a:buSzPts val="4000"/>
              <a:buFont typeface="Cambria"/>
              <a:buNone/>
            </a:pPr>
            <a:r>
              <a:rPr b="1" lang="en-US" sz="4000">
                <a:solidFill>
                  <a:schemeClr val="accent3"/>
                </a:solidFill>
                <a:latin typeface="Cambria"/>
                <a:ea typeface="Cambria"/>
                <a:cs typeface="Cambria"/>
                <a:sym typeface="Cambria"/>
              </a:rPr>
              <a:t>Using Machine Learning</a:t>
            </a:r>
            <a:endParaRPr sz="4000"/>
          </a:p>
        </p:txBody>
      </p:sp>
      <p:sp>
        <p:nvSpPr>
          <p:cNvPr id="24" name="Google Shape;24;p1"/>
          <p:cNvSpPr txBox="1"/>
          <p:nvPr/>
        </p:nvSpPr>
        <p:spPr>
          <a:xfrm>
            <a:off x="640080" y="2377440"/>
            <a:ext cx="6949440" cy="7315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2"/>
              </a:buClr>
              <a:buSzPts val="1800"/>
              <a:buFont typeface="Calibri"/>
              <a:buNone/>
            </a:pPr>
            <a:r>
              <a:rPr b="0" i="1" lang="en-US" sz="1800" u="none" cap="none" strike="noStrike">
                <a:solidFill>
                  <a:schemeClr val="lt2"/>
                </a:solidFill>
                <a:latin typeface="Calibri"/>
                <a:ea typeface="Calibri"/>
                <a:cs typeface="Calibri"/>
                <a:sym typeface="Calibri"/>
              </a:rPr>
              <a:t>An end-to-end Predictive Analytics / KDD project on the Pima Indians Diabetes Dataset</a:t>
            </a:r>
            <a:endParaRPr b="0" i="0" sz="1800" u="none" cap="none" strike="noStrike">
              <a:solidFill>
                <a:schemeClr val="dk1"/>
              </a:solidFill>
              <a:latin typeface="Calibri"/>
              <a:ea typeface="Calibri"/>
              <a:cs typeface="Calibri"/>
              <a:sym typeface="Calibri"/>
            </a:endParaRPr>
          </a:p>
        </p:txBody>
      </p:sp>
      <p:sp>
        <p:nvSpPr>
          <p:cNvPr id="25" name="Google Shape;25;p1"/>
          <p:cNvSpPr txBox="1"/>
          <p:nvPr/>
        </p:nvSpPr>
        <p:spPr>
          <a:xfrm>
            <a:off x="640080" y="3337560"/>
            <a:ext cx="6949440" cy="7315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1600"/>
              <a:buFont typeface="Calibri"/>
              <a:buNone/>
            </a:pPr>
            <a:r>
              <a:rPr b="1" i="0" lang="en-US" sz="1600" u="none" cap="none" strike="noStrike">
                <a:solidFill>
                  <a:schemeClr val="lt1"/>
                </a:solidFill>
                <a:latin typeface="Calibri"/>
                <a:ea typeface="Calibri"/>
                <a:cs typeface="Calibri"/>
                <a:sym typeface="Calibri"/>
              </a:rPr>
              <a:t>Hardik Jain</a:t>
            </a:r>
            <a:endParaRPr b="0" i="0" sz="16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lt1"/>
              </a:buClr>
              <a:buSzPts val="1600"/>
              <a:buFont typeface="Calibri"/>
              <a:buNone/>
            </a:pPr>
            <a:r>
              <a:rPr lang="en-US" sz="1600">
                <a:solidFill>
                  <a:schemeClr val="lt1"/>
                </a:solidFill>
                <a:latin typeface="Calibri"/>
                <a:ea typeface="Calibri"/>
                <a:cs typeface="Calibri"/>
                <a:sym typeface="Calibri"/>
              </a:rPr>
              <a:t>PRN:</a:t>
            </a:r>
            <a:r>
              <a:rPr b="0" i="0" lang="en-US" sz="1600" u="none" cap="none" strike="noStrike">
                <a:solidFill>
                  <a:schemeClr val="lt1"/>
                </a:solidFill>
                <a:latin typeface="Calibri"/>
                <a:ea typeface="Calibri"/>
                <a:cs typeface="Calibri"/>
                <a:sym typeface="Calibri"/>
              </a:rPr>
              <a:t> 23070521056  |  Predictive Analytics (CA-3)</a:t>
            </a:r>
            <a:endParaRPr b="0" i="0" sz="1600" u="none" cap="none" strike="noStrike">
              <a:solidFill>
                <a:schemeClr val="dk1"/>
              </a:solidFill>
              <a:latin typeface="Calibri"/>
              <a:ea typeface="Calibri"/>
              <a:cs typeface="Calibri"/>
              <a:sym typeface="Calibri"/>
            </a:endParaRPr>
          </a:p>
        </p:txBody>
      </p:sp>
      <p:sp>
        <p:nvSpPr>
          <p:cNvPr id="26" name="Google Shape;26;p1">
            <a:hlinkClick action="ppaction://hlinksldjump" r:id="rId3"/>
          </p:cNvPr>
          <p:cNvSpPr/>
          <p:nvPr/>
        </p:nvSpPr>
        <p:spPr>
          <a:xfrm>
            <a:off x="640080" y="4343400"/>
            <a:ext cx="2743200" cy="502920"/>
          </a:xfrm>
          <a:prstGeom prst="roundRect">
            <a:avLst>
              <a:gd fmla="val 18182" name="adj"/>
            </a:avLst>
          </a:prstGeom>
          <a:solidFill>
            <a:schemeClr val="accent2"/>
          </a:solidFill>
          <a:ln cap="flat" cmpd="sng" w="9525">
            <a:solidFill>
              <a:schemeClr val="accen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600"/>
              <a:buFont typeface="Calibri"/>
              <a:buNone/>
            </a:pPr>
            <a:r>
              <a:rPr b="1" i="0" lang="en-US" sz="1600" u="none" cap="none" strike="noStrike">
                <a:solidFill>
                  <a:schemeClr val="lt1"/>
                </a:solidFill>
                <a:latin typeface="Calibri"/>
                <a:ea typeface="Calibri"/>
                <a:cs typeface="Calibri"/>
                <a:sym typeface="Calibri"/>
              </a:rPr>
              <a:t>Start presentation  ›</a:t>
            </a:r>
            <a:endParaRPr b="0" i="0" sz="1600" u="none" cap="none" strike="noStrike">
              <a:solidFill>
                <a:schemeClr val="dk1"/>
              </a:solidFill>
              <a:latin typeface="Calibri"/>
              <a:ea typeface="Calibri"/>
              <a:cs typeface="Calibri"/>
              <a:sym typeface="Calibri"/>
            </a:endParaRPr>
          </a:p>
        </p:txBody>
      </p:sp>
      <p:sp>
        <p:nvSpPr>
          <p:cNvPr id="27" name="Google Shape;27;p1">
            <a:hlinkClick r:id="rId4"/>
          </p:cNvPr>
          <p:cNvSpPr/>
          <p:nvPr/>
        </p:nvSpPr>
        <p:spPr>
          <a:xfrm>
            <a:off x="640080" y="5029200"/>
            <a:ext cx="2148840" cy="411480"/>
          </a:xfrm>
          <a:prstGeom prst="roundRect">
            <a:avLst>
              <a:gd fmla="val 22222" name="adj"/>
            </a:avLst>
          </a:prstGeom>
          <a:solidFill>
            <a:schemeClr val="dk2"/>
          </a:solidFill>
          <a:ln cap="flat" cmpd="sng" w="15875">
            <a:solidFill>
              <a:srgbClr val="EAF3F4"/>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300"/>
              <a:buFont typeface="Calibri"/>
              <a:buNone/>
            </a:pPr>
            <a:r>
              <a:rPr b="1" i="0" lang="en-US" sz="1300" u="none" cap="none" strike="noStrike">
                <a:solidFill>
                  <a:schemeClr val="lt1"/>
                </a:solidFill>
                <a:latin typeface="Calibri"/>
                <a:ea typeface="Calibri"/>
                <a:cs typeface="Calibri"/>
                <a:sym typeface="Calibri"/>
              </a:rPr>
              <a:t>GitHub repository</a:t>
            </a:r>
            <a:endParaRPr b="0" i="0" sz="1300" u="none" cap="none" strike="noStrike">
              <a:solidFill>
                <a:schemeClr val="dk1"/>
              </a:solidFill>
              <a:latin typeface="Calibri"/>
              <a:ea typeface="Calibri"/>
              <a:cs typeface="Calibri"/>
              <a:sym typeface="Calibri"/>
            </a:endParaRPr>
          </a:p>
        </p:txBody>
      </p:sp>
      <p:sp>
        <p:nvSpPr>
          <p:cNvPr id="28" name="Google Shape;28;p1">
            <a:hlinkClick r:id="rId5"/>
          </p:cNvPr>
          <p:cNvSpPr/>
          <p:nvPr/>
        </p:nvSpPr>
        <p:spPr>
          <a:xfrm>
            <a:off x="2926080" y="5029200"/>
            <a:ext cx="1828800" cy="411480"/>
          </a:xfrm>
          <a:prstGeom prst="roundRect">
            <a:avLst>
              <a:gd fmla="val 22222" name="adj"/>
            </a:avLst>
          </a:prstGeom>
          <a:solidFill>
            <a:schemeClr val="dk2"/>
          </a:solidFill>
          <a:ln cap="flat" cmpd="sng" w="15875">
            <a:solidFill>
              <a:srgbClr val="EAF3F4"/>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300"/>
              <a:buFont typeface="Calibri"/>
              <a:buNone/>
            </a:pPr>
            <a:r>
              <a:rPr b="1" i="0" lang="en-US" sz="1300" u="none" cap="none" strike="noStrike">
                <a:solidFill>
                  <a:schemeClr val="lt1"/>
                </a:solidFill>
                <a:latin typeface="Calibri"/>
                <a:ea typeface="Calibri"/>
                <a:cs typeface="Calibri"/>
                <a:sym typeface="Calibri"/>
              </a:rPr>
              <a:t>Open in Colab</a:t>
            </a:r>
            <a:endParaRPr b="0" i="0" sz="1300" u="none" cap="none" strike="noStrike">
              <a:solidFill>
                <a:schemeClr val="dk1"/>
              </a:solidFill>
              <a:latin typeface="Calibri"/>
              <a:ea typeface="Calibri"/>
              <a:cs typeface="Calibri"/>
              <a:sym typeface="Calibri"/>
            </a:endParaRPr>
          </a:p>
        </p:txBody>
      </p:sp>
      <p:sp>
        <p:nvSpPr>
          <p:cNvPr id="29" name="Google Shape;29;p1">
            <a:hlinkClick r:id="rId6"/>
          </p:cNvPr>
          <p:cNvSpPr/>
          <p:nvPr/>
        </p:nvSpPr>
        <p:spPr>
          <a:xfrm>
            <a:off x="4892040" y="5029200"/>
            <a:ext cx="2240280" cy="411480"/>
          </a:xfrm>
          <a:prstGeom prst="roundRect">
            <a:avLst>
              <a:gd fmla="val 22222" name="adj"/>
            </a:avLst>
          </a:prstGeom>
          <a:solidFill>
            <a:schemeClr val="dk2"/>
          </a:solidFill>
          <a:ln cap="flat" cmpd="sng" w="15875">
            <a:solidFill>
              <a:srgbClr val="EAF3F4"/>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300"/>
              <a:buFont typeface="Calibri"/>
              <a:buNone/>
            </a:pPr>
            <a:r>
              <a:rPr b="1" i="0" lang="en-US" sz="1300" u="none" cap="none" strike="noStrike">
                <a:solidFill>
                  <a:schemeClr val="lt1"/>
                </a:solidFill>
                <a:latin typeface="Calibri"/>
                <a:ea typeface="Calibri"/>
                <a:cs typeface="Calibri"/>
                <a:sym typeface="Calibri"/>
              </a:rPr>
              <a:t>Project report (PDF)</a:t>
            </a:r>
            <a:endParaRPr b="0" i="0" sz="1300" u="none" cap="none" strike="noStrike">
              <a:solidFill>
                <a:schemeClr val="dk1"/>
              </a:solidFill>
              <a:latin typeface="Calibri"/>
              <a:ea typeface="Calibri"/>
              <a:cs typeface="Calibri"/>
              <a:sym typeface="Calibri"/>
            </a:endParaRPr>
          </a:p>
        </p:txBody>
      </p:sp>
      <p:sp>
        <p:nvSpPr>
          <p:cNvPr id="30" name="Google Shape;30;p1"/>
          <p:cNvSpPr txBox="1"/>
          <p:nvPr/>
        </p:nvSpPr>
        <p:spPr>
          <a:xfrm>
            <a:off x="640080" y="6172200"/>
            <a:ext cx="731520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5"/>
              </a:buClr>
              <a:buSzPts val="1100"/>
              <a:buFont typeface="Calibri"/>
              <a:buNone/>
            </a:pPr>
            <a:r>
              <a:rPr b="0" i="1" lang="en-US" sz="1100" u="none" cap="none" strike="noStrike">
                <a:solidFill>
                  <a:schemeClr val="accent5"/>
                </a:solidFill>
                <a:latin typeface="Calibri"/>
                <a:ea typeface="Calibri"/>
                <a:cs typeface="Calibri"/>
                <a:sym typeface="Calibri"/>
              </a:rPr>
              <a:t>Academic project: a screening-support model, not a medical diagnostic tool.</a:t>
            </a:r>
            <a:endParaRPr b="0" i="0" sz="1100" u="none" cap="none" strike="noStrike">
              <a:solidFill>
                <a:schemeClr val="dk1"/>
              </a:solidFill>
              <a:latin typeface="Calibri"/>
              <a:ea typeface="Calibri"/>
              <a:cs typeface="Calibri"/>
              <a:sym typeface="Calibri"/>
            </a:endParaRPr>
          </a:p>
        </p:txBody>
      </p:sp>
      <p:sp>
        <p:nvSpPr>
          <p:cNvPr id="31" name="Google Shape;31;p1"/>
          <p:cNvSpPr/>
          <p:nvPr/>
        </p:nvSpPr>
        <p:spPr>
          <a:xfrm>
            <a:off x="8732520" y="822960"/>
            <a:ext cx="2377440" cy="2377440"/>
          </a:xfrm>
          <a:prstGeom prst="ellipse">
            <a:avLst/>
          </a:prstGeom>
          <a:solidFill>
            <a:schemeClr val="accent2"/>
          </a:solidFill>
          <a:ln cap="flat" cmpd="sng" w="12700">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32" name="Google Shape;32;p1"/>
          <p:cNvPicPr preferRelativeResize="0"/>
          <p:nvPr/>
        </p:nvPicPr>
        <p:blipFill rotWithShape="1">
          <a:blip r:embed="rId7">
            <a:alphaModFix/>
          </a:blip>
          <a:srcRect b="0" l="0" r="0" t="0"/>
          <a:stretch/>
        </p:blipFill>
        <p:spPr>
          <a:xfrm>
            <a:off x="9303106" y="1393546"/>
            <a:ext cx="1236269" cy="1236269"/>
          </a:xfrm>
          <a:prstGeom prst="rect">
            <a:avLst/>
          </a:prstGeom>
          <a:noFill/>
          <a:ln>
            <a:noFill/>
          </a:ln>
        </p:spPr>
      </p:pic>
      <p:sp>
        <p:nvSpPr>
          <p:cNvPr id="33" name="Google Shape;33;p1"/>
          <p:cNvSpPr/>
          <p:nvPr/>
        </p:nvSpPr>
        <p:spPr>
          <a:xfrm>
            <a:off x="8366760" y="3611880"/>
            <a:ext cx="3108960" cy="731520"/>
          </a:xfrm>
          <a:prstGeom prst="roundRect">
            <a:avLst>
              <a:gd fmla="val 10000" name="adj"/>
            </a:avLst>
          </a:prstGeom>
          <a:solidFill>
            <a:srgbClr val="134E5C"/>
          </a:solidFill>
          <a:ln cap="flat" cmpd="sng" w="12700">
            <a:solidFill>
              <a:srgbClr val="134E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 name="Google Shape;34;p1"/>
          <p:cNvSpPr txBox="1"/>
          <p:nvPr/>
        </p:nvSpPr>
        <p:spPr>
          <a:xfrm>
            <a:off x="8549640" y="3703320"/>
            <a:ext cx="123444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3"/>
              </a:buClr>
              <a:buSzPts val="2600"/>
              <a:buFont typeface="Cambria"/>
              <a:buNone/>
            </a:pPr>
            <a:r>
              <a:rPr b="1" i="0" lang="en-US" sz="2600" u="none" cap="none" strike="noStrike">
                <a:solidFill>
                  <a:schemeClr val="accent3"/>
                </a:solidFill>
                <a:latin typeface="Cambria"/>
                <a:ea typeface="Cambria"/>
                <a:cs typeface="Cambria"/>
                <a:sym typeface="Cambria"/>
              </a:rPr>
              <a:t>768</a:t>
            </a:r>
            <a:endParaRPr b="0" i="0" sz="2600" u="none" cap="none" strike="noStrike">
              <a:solidFill>
                <a:schemeClr val="dk1"/>
              </a:solidFill>
              <a:latin typeface="Calibri"/>
              <a:ea typeface="Calibri"/>
              <a:cs typeface="Calibri"/>
              <a:sym typeface="Calibri"/>
            </a:endParaRPr>
          </a:p>
        </p:txBody>
      </p:sp>
      <p:sp>
        <p:nvSpPr>
          <p:cNvPr id="35" name="Google Shape;35;p1"/>
          <p:cNvSpPr txBox="1"/>
          <p:nvPr/>
        </p:nvSpPr>
        <p:spPr>
          <a:xfrm>
            <a:off x="9829800" y="3703320"/>
            <a:ext cx="155448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400"/>
              <a:buFont typeface="Calibri"/>
              <a:buNone/>
            </a:pPr>
            <a:r>
              <a:rPr b="0" i="0" lang="en-US" sz="1400" u="none" cap="none" strike="noStrike">
                <a:solidFill>
                  <a:schemeClr val="lt1"/>
                </a:solidFill>
                <a:latin typeface="Calibri"/>
                <a:ea typeface="Calibri"/>
                <a:cs typeface="Calibri"/>
                <a:sym typeface="Calibri"/>
              </a:rPr>
              <a:t>patients</a:t>
            </a:r>
            <a:endParaRPr b="0" i="0" sz="1400" u="none" cap="none" strike="noStrike">
              <a:solidFill>
                <a:schemeClr val="dk1"/>
              </a:solidFill>
              <a:latin typeface="Calibri"/>
              <a:ea typeface="Calibri"/>
              <a:cs typeface="Calibri"/>
              <a:sym typeface="Calibri"/>
            </a:endParaRPr>
          </a:p>
        </p:txBody>
      </p:sp>
      <p:sp>
        <p:nvSpPr>
          <p:cNvPr id="36" name="Google Shape;36;p1"/>
          <p:cNvSpPr/>
          <p:nvPr/>
        </p:nvSpPr>
        <p:spPr>
          <a:xfrm>
            <a:off x="8366760" y="4480560"/>
            <a:ext cx="3108960" cy="731520"/>
          </a:xfrm>
          <a:prstGeom prst="roundRect">
            <a:avLst>
              <a:gd fmla="val 10000" name="adj"/>
            </a:avLst>
          </a:prstGeom>
          <a:solidFill>
            <a:srgbClr val="134E5C"/>
          </a:solidFill>
          <a:ln cap="flat" cmpd="sng" w="12700">
            <a:solidFill>
              <a:srgbClr val="134E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1"/>
          <p:cNvSpPr txBox="1"/>
          <p:nvPr/>
        </p:nvSpPr>
        <p:spPr>
          <a:xfrm>
            <a:off x="8549640" y="4572000"/>
            <a:ext cx="123444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3"/>
              </a:buClr>
              <a:buSzPts val="2600"/>
              <a:buFont typeface="Cambria"/>
              <a:buNone/>
            </a:pPr>
            <a:r>
              <a:rPr b="1" i="0" lang="en-US" sz="2600" u="none" cap="none" strike="noStrike">
                <a:solidFill>
                  <a:schemeClr val="accent3"/>
                </a:solidFill>
                <a:latin typeface="Cambria"/>
                <a:ea typeface="Cambria"/>
                <a:cs typeface="Cambria"/>
                <a:sym typeface="Cambria"/>
              </a:rPr>
              <a:t>5</a:t>
            </a:r>
            <a:endParaRPr b="0" i="0" sz="2600" u="none" cap="none" strike="noStrike">
              <a:solidFill>
                <a:schemeClr val="dk1"/>
              </a:solidFill>
              <a:latin typeface="Calibri"/>
              <a:ea typeface="Calibri"/>
              <a:cs typeface="Calibri"/>
              <a:sym typeface="Calibri"/>
            </a:endParaRPr>
          </a:p>
        </p:txBody>
      </p:sp>
      <p:sp>
        <p:nvSpPr>
          <p:cNvPr id="38" name="Google Shape;38;p1"/>
          <p:cNvSpPr txBox="1"/>
          <p:nvPr/>
        </p:nvSpPr>
        <p:spPr>
          <a:xfrm>
            <a:off x="9829800" y="4572000"/>
            <a:ext cx="155448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400"/>
              <a:buFont typeface="Calibri"/>
              <a:buNone/>
            </a:pPr>
            <a:r>
              <a:rPr b="0" i="0" lang="en-US" sz="1400" u="none" cap="none" strike="noStrike">
                <a:solidFill>
                  <a:schemeClr val="lt1"/>
                </a:solidFill>
                <a:latin typeface="Calibri"/>
                <a:ea typeface="Calibri"/>
                <a:cs typeface="Calibri"/>
                <a:sym typeface="Calibri"/>
              </a:rPr>
              <a:t>models compared</a:t>
            </a:r>
            <a:endParaRPr b="0" i="0" sz="1400" u="none" cap="none" strike="noStrike">
              <a:solidFill>
                <a:schemeClr val="dk1"/>
              </a:solidFill>
              <a:latin typeface="Calibri"/>
              <a:ea typeface="Calibri"/>
              <a:cs typeface="Calibri"/>
              <a:sym typeface="Calibri"/>
            </a:endParaRPr>
          </a:p>
        </p:txBody>
      </p:sp>
      <p:sp>
        <p:nvSpPr>
          <p:cNvPr id="39" name="Google Shape;39;p1"/>
          <p:cNvSpPr/>
          <p:nvPr/>
        </p:nvSpPr>
        <p:spPr>
          <a:xfrm>
            <a:off x="8366760" y="5349240"/>
            <a:ext cx="3108960" cy="731520"/>
          </a:xfrm>
          <a:prstGeom prst="roundRect">
            <a:avLst>
              <a:gd fmla="val 10000" name="adj"/>
            </a:avLst>
          </a:prstGeom>
          <a:solidFill>
            <a:srgbClr val="134E5C"/>
          </a:solidFill>
          <a:ln cap="flat" cmpd="sng" w="12700">
            <a:solidFill>
              <a:srgbClr val="134E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40;p1"/>
          <p:cNvSpPr txBox="1"/>
          <p:nvPr/>
        </p:nvSpPr>
        <p:spPr>
          <a:xfrm>
            <a:off x="8549640" y="5440680"/>
            <a:ext cx="123444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3"/>
              </a:buClr>
              <a:buSzPts val="2600"/>
              <a:buFont typeface="Cambria"/>
              <a:buNone/>
            </a:pPr>
            <a:r>
              <a:rPr b="1" i="0" lang="en-US" sz="2600" u="none" cap="none" strike="noStrike">
                <a:solidFill>
                  <a:schemeClr val="accent3"/>
                </a:solidFill>
                <a:latin typeface="Cambria"/>
                <a:ea typeface="Cambria"/>
                <a:cs typeface="Cambria"/>
                <a:sym typeface="Cambria"/>
              </a:rPr>
              <a:t>0.809</a:t>
            </a:r>
            <a:endParaRPr b="0" i="0" sz="2600" u="none" cap="none" strike="noStrike">
              <a:solidFill>
                <a:schemeClr val="dk1"/>
              </a:solidFill>
              <a:latin typeface="Calibri"/>
              <a:ea typeface="Calibri"/>
              <a:cs typeface="Calibri"/>
              <a:sym typeface="Calibri"/>
            </a:endParaRPr>
          </a:p>
        </p:txBody>
      </p:sp>
      <p:sp>
        <p:nvSpPr>
          <p:cNvPr id="41" name="Google Shape;41;p1"/>
          <p:cNvSpPr txBox="1"/>
          <p:nvPr/>
        </p:nvSpPr>
        <p:spPr>
          <a:xfrm>
            <a:off x="9829800" y="5440680"/>
            <a:ext cx="155448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400"/>
              <a:buFont typeface="Calibri"/>
              <a:buNone/>
            </a:pPr>
            <a:r>
              <a:rPr b="0" i="0" lang="en-US" sz="1400" u="none" cap="none" strike="noStrike">
                <a:solidFill>
                  <a:schemeClr val="lt1"/>
                </a:solidFill>
                <a:latin typeface="Calibri"/>
                <a:ea typeface="Calibri"/>
                <a:cs typeface="Calibri"/>
                <a:sym typeface="Calibri"/>
              </a:rPr>
              <a:t>final ROC-AUC</a:t>
            </a:r>
            <a:endParaRPr b="0" i="0" sz="1400" u="none" cap="none" strike="noStrike">
              <a:solidFill>
                <a:schemeClr val="dk1"/>
              </a:solidFill>
              <a:latin typeface="Calibri"/>
              <a:ea typeface="Calibri"/>
              <a:cs typeface="Calibri"/>
              <a:sym typeface="Calibri"/>
            </a:endParaRPr>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 name="Shape 46"/>
        <p:cNvGrpSpPr/>
        <p:nvPr/>
      </p:nvGrpSpPr>
      <p:grpSpPr>
        <a:xfrm>
          <a:off x="0" y="0"/>
          <a:ext cx="0" cy="0"/>
          <a:chOff x="0" y="0"/>
          <a:chExt cx="0" cy="0"/>
        </a:xfrm>
      </p:grpSpPr>
      <p:sp>
        <p:nvSpPr>
          <p:cNvPr id="47" name="Google Shape;47;p2"/>
          <p:cNvSpPr txBox="1"/>
          <p:nvPr>
            <p:ph type="title"/>
          </p:nvPr>
        </p:nvSpPr>
        <p:spPr>
          <a:xfrm>
            <a:off x="548640" y="347472"/>
            <a:ext cx="11064240" cy="7315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200"/>
              <a:buFont typeface="Cambria"/>
              <a:buNone/>
            </a:pPr>
            <a:r>
              <a:rPr b="1" lang="en-US" sz="3200">
                <a:solidFill>
                  <a:schemeClr val="dk2"/>
                </a:solidFill>
                <a:latin typeface="Cambria"/>
                <a:ea typeface="Cambria"/>
                <a:cs typeface="Cambria"/>
                <a:sym typeface="Cambria"/>
              </a:rPr>
              <a:t>Interactive Agenda: click any topic</a:t>
            </a:r>
            <a:endParaRPr sz="3200"/>
          </a:p>
        </p:txBody>
      </p:sp>
      <p:sp>
        <p:nvSpPr>
          <p:cNvPr id="48" name="Google Shape;48;p2">
            <a:hlinkClick action="ppaction://hlinksldjump" r:id="rId3"/>
          </p:cNvPr>
          <p:cNvSpPr/>
          <p:nvPr/>
        </p:nvSpPr>
        <p:spPr>
          <a:xfrm>
            <a:off x="548640" y="1325880"/>
            <a:ext cx="2606040" cy="1143000"/>
          </a:xfrm>
          <a:prstGeom prst="roundRect">
            <a:avLst>
              <a:gd fmla="val 6400"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 name="Google Shape;49;p2">
            <a:hlinkClick action="ppaction://hlinksldjump" r:id="rId4"/>
          </p:cNvPr>
          <p:cNvSpPr/>
          <p:nvPr/>
        </p:nvSpPr>
        <p:spPr>
          <a:xfrm>
            <a:off x="731520" y="1600200"/>
            <a:ext cx="594360" cy="594360"/>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50" name="Google Shape;50;p2">
            <a:hlinkClick action="ppaction://hlinksldjump" r:id="rId5"/>
          </p:cNvPr>
          <p:cNvPicPr preferRelativeResize="0"/>
          <p:nvPr/>
        </p:nvPicPr>
        <p:blipFill rotWithShape="1">
          <a:blip r:embed="rId6">
            <a:alphaModFix/>
          </a:blip>
          <a:srcRect b="0" l="0" r="0" t="0"/>
          <a:stretch/>
        </p:blipFill>
        <p:spPr>
          <a:xfrm>
            <a:off x="874166" y="1742846"/>
            <a:ext cx="309067" cy="309067"/>
          </a:xfrm>
          <a:prstGeom prst="rect">
            <a:avLst/>
          </a:prstGeom>
          <a:noFill/>
          <a:ln>
            <a:noFill/>
          </a:ln>
        </p:spPr>
      </p:pic>
      <p:sp>
        <p:nvSpPr>
          <p:cNvPr id="51" name="Google Shape;51;p2">
            <a:hlinkClick action="ppaction://hlinksldjump" r:id="rId7"/>
          </p:cNvPr>
          <p:cNvSpPr/>
          <p:nvPr/>
        </p:nvSpPr>
        <p:spPr>
          <a:xfrm>
            <a:off x="1463040" y="1463040"/>
            <a:ext cx="1554480" cy="8686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5"/>
              </a:buClr>
              <a:buSzPts val="1100"/>
              <a:buFont typeface="Calibri"/>
              <a:buNone/>
            </a:pPr>
            <a:r>
              <a:rPr b="1" i="0" lang="en-US" sz="1100" u="none" cap="none" strike="noStrike">
                <a:solidFill>
                  <a:schemeClr val="accent5"/>
                </a:solidFill>
                <a:latin typeface="Calibri"/>
                <a:ea typeface="Calibri"/>
                <a:cs typeface="Calibri"/>
                <a:sym typeface="Calibri"/>
              </a:rPr>
              <a:t>01</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2"/>
              </a:buClr>
              <a:buSzPts val="1500"/>
              <a:buFont typeface="Calibri"/>
              <a:buNone/>
            </a:pPr>
            <a:r>
              <a:rPr b="1" i="0" lang="en-US" sz="1500" u="none" cap="none" strike="noStrike">
                <a:solidFill>
                  <a:schemeClr val="dk2"/>
                </a:solidFill>
                <a:latin typeface="Calibri"/>
                <a:ea typeface="Calibri"/>
                <a:cs typeface="Calibri"/>
                <a:sym typeface="Calibri"/>
              </a:rPr>
              <a:t>Problem Statement</a:t>
            </a:r>
            <a:endParaRPr b="0" i="0" sz="1100" u="none" cap="none" strike="noStrike">
              <a:solidFill>
                <a:schemeClr val="dk1"/>
              </a:solidFill>
              <a:latin typeface="Calibri"/>
              <a:ea typeface="Calibri"/>
              <a:cs typeface="Calibri"/>
              <a:sym typeface="Calibri"/>
            </a:endParaRPr>
          </a:p>
        </p:txBody>
      </p:sp>
      <p:sp>
        <p:nvSpPr>
          <p:cNvPr id="52" name="Google Shape;52;p2">
            <a:hlinkClick action="ppaction://hlinksldjump" r:id="rId8"/>
          </p:cNvPr>
          <p:cNvSpPr/>
          <p:nvPr/>
        </p:nvSpPr>
        <p:spPr>
          <a:xfrm>
            <a:off x="3360420" y="1325880"/>
            <a:ext cx="2606040" cy="1143000"/>
          </a:xfrm>
          <a:prstGeom prst="roundRect">
            <a:avLst>
              <a:gd fmla="val 6400"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 name="Google Shape;53;p2">
            <a:hlinkClick action="ppaction://hlinksldjump" r:id="rId9"/>
          </p:cNvPr>
          <p:cNvSpPr/>
          <p:nvPr/>
        </p:nvSpPr>
        <p:spPr>
          <a:xfrm>
            <a:off x="3543300" y="1600200"/>
            <a:ext cx="594360" cy="594360"/>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54" name="Google Shape;54;p2">
            <a:hlinkClick action="ppaction://hlinksldjump" r:id="rId10"/>
          </p:cNvPr>
          <p:cNvPicPr preferRelativeResize="0"/>
          <p:nvPr/>
        </p:nvPicPr>
        <p:blipFill rotWithShape="1">
          <a:blip r:embed="rId11">
            <a:alphaModFix/>
          </a:blip>
          <a:srcRect b="0" l="0" r="0" t="0"/>
          <a:stretch/>
        </p:blipFill>
        <p:spPr>
          <a:xfrm>
            <a:off x="3685946" y="1742846"/>
            <a:ext cx="309067" cy="309067"/>
          </a:xfrm>
          <a:prstGeom prst="rect">
            <a:avLst/>
          </a:prstGeom>
          <a:noFill/>
          <a:ln>
            <a:noFill/>
          </a:ln>
        </p:spPr>
      </p:pic>
      <p:sp>
        <p:nvSpPr>
          <p:cNvPr id="55" name="Google Shape;55;p2">
            <a:hlinkClick action="ppaction://hlinksldjump" r:id="rId12"/>
          </p:cNvPr>
          <p:cNvSpPr/>
          <p:nvPr/>
        </p:nvSpPr>
        <p:spPr>
          <a:xfrm>
            <a:off x="4274820" y="1463040"/>
            <a:ext cx="1554480" cy="8686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5"/>
              </a:buClr>
              <a:buSzPts val="1100"/>
              <a:buFont typeface="Calibri"/>
              <a:buNone/>
            </a:pPr>
            <a:r>
              <a:rPr b="1" i="0" lang="en-US" sz="1100" u="none" cap="none" strike="noStrike">
                <a:solidFill>
                  <a:schemeClr val="accent5"/>
                </a:solidFill>
                <a:latin typeface="Calibri"/>
                <a:ea typeface="Calibri"/>
                <a:cs typeface="Calibri"/>
                <a:sym typeface="Calibri"/>
              </a:rPr>
              <a:t>02</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2"/>
              </a:buClr>
              <a:buSzPts val="1500"/>
              <a:buFont typeface="Calibri"/>
              <a:buNone/>
            </a:pPr>
            <a:r>
              <a:rPr b="1" i="0" lang="en-US" sz="1500" u="none" cap="none" strike="noStrike">
                <a:solidFill>
                  <a:schemeClr val="dk2"/>
                </a:solidFill>
                <a:latin typeface="Calibri"/>
                <a:ea typeface="Calibri"/>
                <a:cs typeface="Calibri"/>
                <a:sym typeface="Calibri"/>
              </a:rPr>
              <a:t>Motivation &amp; Objectives</a:t>
            </a:r>
            <a:endParaRPr b="0" i="0" sz="1100" u="none" cap="none" strike="noStrike">
              <a:solidFill>
                <a:schemeClr val="dk1"/>
              </a:solidFill>
              <a:latin typeface="Calibri"/>
              <a:ea typeface="Calibri"/>
              <a:cs typeface="Calibri"/>
              <a:sym typeface="Calibri"/>
            </a:endParaRPr>
          </a:p>
        </p:txBody>
      </p:sp>
      <p:sp>
        <p:nvSpPr>
          <p:cNvPr id="56" name="Google Shape;56;p2">
            <a:hlinkClick action="ppaction://hlinksldjump" r:id="rId13"/>
          </p:cNvPr>
          <p:cNvSpPr/>
          <p:nvPr/>
        </p:nvSpPr>
        <p:spPr>
          <a:xfrm>
            <a:off x="6172200" y="1325880"/>
            <a:ext cx="2606040" cy="1143000"/>
          </a:xfrm>
          <a:prstGeom prst="roundRect">
            <a:avLst>
              <a:gd fmla="val 6400"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2">
            <a:hlinkClick action="ppaction://hlinksldjump" r:id="rId14"/>
          </p:cNvPr>
          <p:cNvSpPr/>
          <p:nvPr/>
        </p:nvSpPr>
        <p:spPr>
          <a:xfrm>
            <a:off x="6355080" y="1600200"/>
            <a:ext cx="594360" cy="594360"/>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58" name="Google Shape;58;p2">
            <a:hlinkClick action="ppaction://hlinksldjump" r:id="rId15"/>
          </p:cNvPr>
          <p:cNvPicPr preferRelativeResize="0"/>
          <p:nvPr/>
        </p:nvPicPr>
        <p:blipFill rotWithShape="1">
          <a:blip r:embed="rId16">
            <a:alphaModFix/>
          </a:blip>
          <a:srcRect b="0" l="0" r="0" t="0"/>
          <a:stretch/>
        </p:blipFill>
        <p:spPr>
          <a:xfrm>
            <a:off x="6497726" y="1742846"/>
            <a:ext cx="309067" cy="309067"/>
          </a:xfrm>
          <a:prstGeom prst="rect">
            <a:avLst/>
          </a:prstGeom>
          <a:noFill/>
          <a:ln>
            <a:noFill/>
          </a:ln>
        </p:spPr>
      </p:pic>
      <p:sp>
        <p:nvSpPr>
          <p:cNvPr id="59" name="Google Shape;59;p2">
            <a:hlinkClick action="ppaction://hlinksldjump" r:id="rId17"/>
          </p:cNvPr>
          <p:cNvSpPr/>
          <p:nvPr/>
        </p:nvSpPr>
        <p:spPr>
          <a:xfrm>
            <a:off x="7086600" y="1463040"/>
            <a:ext cx="1554480" cy="8686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5"/>
              </a:buClr>
              <a:buSzPts val="1100"/>
              <a:buFont typeface="Calibri"/>
              <a:buNone/>
            </a:pPr>
            <a:r>
              <a:rPr b="1" i="0" lang="en-US" sz="1100" u="none" cap="none" strike="noStrike">
                <a:solidFill>
                  <a:schemeClr val="accent5"/>
                </a:solidFill>
                <a:latin typeface="Calibri"/>
                <a:ea typeface="Calibri"/>
                <a:cs typeface="Calibri"/>
                <a:sym typeface="Calibri"/>
              </a:rPr>
              <a:t>03</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2"/>
              </a:buClr>
              <a:buSzPts val="1500"/>
              <a:buFont typeface="Calibri"/>
              <a:buNone/>
            </a:pPr>
            <a:r>
              <a:rPr b="1" i="0" lang="en-US" sz="1500" u="none" cap="none" strike="noStrike">
                <a:solidFill>
                  <a:schemeClr val="dk2"/>
                </a:solidFill>
                <a:latin typeface="Calibri"/>
                <a:ea typeface="Calibri"/>
                <a:cs typeface="Calibri"/>
                <a:sym typeface="Calibri"/>
              </a:rPr>
              <a:t>Dataset</a:t>
            </a:r>
            <a:endParaRPr b="0" i="0" sz="1100" u="none" cap="none" strike="noStrike">
              <a:solidFill>
                <a:schemeClr val="dk1"/>
              </a:solidFill>
              <a:latin typeface="Calibri"/>
              <a:ea typeface="Calibri"/>
              <a:cs typeface="Calibri"/>
              <a:sym typeface="Calibri"/>
            </a:endParaRPr>
          </a:p>
        </p:txBody>
      </p:sp>
      <p:sp>
        <p:nvSpPr>
          <p:cNvPr id="60" name="Google Shape;60;p2">
            <a:hlinkClick action="ppaction://hlinksldjump" r:id="rId18"/>
          </p:cNvPr>
          <p:cNvSpPr/>
          <p:nvPr/>
        </p:nvSpPr>
        <p:spPr>
          <a:xfrm>
            <a:off x="8983980" y="1325880"/>
            <a:ext cx="2606040" cy="1143000"/>
          </a:xfrm>
          <a:prstGeom prst="roundRect">
            <a:avLst>
              <a:gd fmla="val 6400"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2">
            <a:hlinkClick action="ppaction://hlinksldjump" r:id="rId19"/>
          </p:cNvPr>
          <p:cNvSpPr/>
          <p:nvPr/>
        </p:nvSpPr>
        <p:spPr>
          <a:xfrm>
            <a:off x="9166860" y="1600200"/>
            <a:ext cx="594360" cy="594360"/>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62" name="Google Shape;62;p2">
            <a:hlinkClick action="ppaction://hlinksldjump" r:id="rId20"/>
          </p:cNvPr>
          <p:cNvPicPr preferRelativeResize="0"/>
          <p:nvPr/>
        </p:nvPicPr>
        <p:blipFill rotWithShape="1">
          <a:blip r:embed="rId21">
            <a:alphaModFix/>
          </a:blip>
          <a:srcRect b="0" l="0" r="0" t="0"/>
          <a:stretch/>
        </p:blipFill>
        <p:spPr>
          <a:xfrm>
            <a:off x="9309506" y="1742846"/>
            <a:ext cx="309067" cy="309067"/>
          </a:xfrm>
          <a:prstGeom prst="rect">
            <a:avLst/>
          </a:prstGeom>
          <a:noFill/>
          <a:ln>
            <a:noFill/>
          </a:ln>
        </p:spPr>
      </p:pic>
      <p:sp>
        <p:nvSpPr>
          <p:cNvPr id="63" name="Google Shape;63;p2">
            <a:hlinkClick action="ppaction://hlinksldjump" r:id="rId22"/>
          </p:cNvPr>
          <p:cNvSpPr/>
          <p:nvPr/>
        </p:nvSpPr>
        <p:spPr>
          <a:xfrm>
            <a:off x="9898380" y="1463040"/>
            <a:ext cx="1554480" cy="8686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5"/>
              </a:buClr>
              <a:buSzPts val="1100"/>
              <a:buFont typeface="Calibri"/>
              <a:buNone/>
            </a:pPr>
            <a:r>
              <a:rPr b="1" i="0" lang="en-US" sz="1100" u="none" cap="none" strike="noStrike">
                <a:solidFill>
                  <a:schemeClr val="accent5"/>
                </a:solidFill>
                <a:latin typeface="Calibri"/>
                <a:ea typeface="Calibri"/>
                <a:cs typeface="Calibri"/>
                <a:sym typeface="Calibri"/>
              </a:rPr>
              <a:t>04</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2"/>
              </a:buClr>
              <a:buSzPts val="1500"/>
              <a:buFont typeface="Calibri"/>
              <a:buNone/>
            </a:pPr>
            <a:r>
              <a:rPr b="1" i="0" lang="en-US" sz="1500" u="none" cap="none" strike="noStrike">
                <a:solidFill>
                  <a:schemeClr val="dk2"/>
                </a:solidFill>
                <a:latin typeface="Calibri"/>
                <a:ea typeface="Calibri"/>
                <a:cs typeface="Calibri"/>
                <a:sym typeface="Calibri"/>
              </a:rPr>
              <a:t>KDD Workflow</a:t>
            </a:r>
            <a:endParaRPr b="0" i="0" sz="1100" u="none" cap="none" strike="noStrike">
              <a:solidFill>
                <a:schemeClr val="dk1"/>
              </a:solidFill>
              <a:latin typeface="Calibri"/>
              <a:ea typeface="Calibri"/>
              <a:cs typeface="Calibri"/>
              <a:sym typeface="Calibri"/>
            </a:endParaRPr>
          </a:p>
        </p:txBody>
      </p:sp>
      <p:sp>
        <p:nvSpPr>
          <p:cNvPr id="64" name="Google Shape;64;p2">
            <a:hlinkClick action="ppaction://hlinksldjump" r:id="rId23"/>
          </p:cNvPr>
          <p:cNvSpPr/>
          <p:nvPr/>
        </p:nvSpPr>
        <p:spPr>
          <a:xfrm>
            <a:off x="548640" y="2697480"/>
            <a:ext cx="2606040" cy="1143000"/>
          </a:xfrm>
          <a:prstGeom prst="roundRect">
            <a:avLst>
              <a:gd fmla="val 6400"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 name="Google Shape;65;p2">
            <a:hlinkClick action="ppaction://hlinksldjump" r:id="rId24"/>
          </p:cNvPr>
          <p:cNvSpPr/>
          <p:nvPr/>
        </p:nvSpPr>
        <p:spPr>
          <a:xfrm>
            <a:off x="731520" y="2971800"/>
            <a:ext cx="594360" cy="594360"/>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66" name="Google Shape;66;p2">
            <a:hlinkClick action="ppaction://hlinksldjump" r:id="rId25"/>
          </p:cNvPr>
          <p:cNvPicPr preferRelativeResize="0"/>
          <p:nvPr/>
        </p:nvPicPr>
        <p:blipFill rotWithShape="1">
          <a:blip r:embed="rId26">
            <a:alphaModFix/>
          </a:blip>
          <a:srcRect b="0" l="0" r="0" t="0"/>
          <a:stretch/>
        </p:blipFill>
        <p:spPr>
          <a:xfrm>
            <a:off x="874166" y="3114446"/>
            <a:ext cx="309067" cy="309067"/>
          </a:xfrm>
          <a:prstGeom prst="rect">
            <a:avLst/>
          </a:prstGeom>
          <a:noFill/>
          <a:ln>
            <a:noFill/>
          </a:ln>
        </p:spPr>
      </p:pic>
      <p:sp>
        <p:nvSpPr>
          <p:cNvPr id="67" name="Google Shape;67;p2">
            <a:hlinkClick action="ppaction://hlinksldjump" r:id="rId27"/>
          </p:cNvPr>
          <p:cNvSpPr/>
          <p:nvPr/>
        </p:nvSpPr>
        <p:spPr>
          <a:xfrm>
            <a:off x="1463040" y="2834640"/>
            <a:ext cx="1554480" cy="8686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5"/>
              </a:buClr>
              <a:buSzPts val="1100"/>
              <a:buFont typeface="Calibri"/>
              <a:buNone/>
            </a:pPr>
            <a:r>
              <a:rPr b="1" i="0" lang="en-US" sz="1100" u="none" cap="none" strike="noStrike">
                <a:solidFill>
                  <a:schemeClr val="accent5"/>
                </a:solidFill>
                <a:latin typeface="Calibri"/>
                <a:ea typeface="Calibri"/>
                <a:cs typeface="Calibri"/>
                <a:sym typeface="Calibri"/>
              </a:rPr>
              <a:t>05</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2"/>
              </a:buClr>
              <a:buSzPts val="1500"/>
              <a:buFont typeface="Calibri"/>
              <a:buNone/>
            </a:pPr>
            <a:r>
              <a:rPr b="1" i="0" lang="en-US" sz="1500" u="none" cap="none" strike="noStrike">
                <a:solidFill>
                  <a:schemeClr val="dk2"/>
                </a:solidFill>
                <a:latin typeface="Calibri"/>
                <a:ea typeface="Calibri"/>
                <a:cs typeface="Calibri"/>
                <a:sym typeface="Calibri"/>
              </a:rPr>
              <a:t>Data Understanding &amp; EDA</a:t>
            </a:r>
            <a:endParaRPr b="0" i="0" sz="1100" u="none" cap="none" strike="noStrike">
              <a:solidFill>
                <a:schemeClr val="dk1"/>
              </a:solidFill>
              <a:latin typeface="Calibri"/>
              <a:ea typeface="Calibri"/>
              <a:cs typeface="Calibri"/>
              <a:sym typeface="Calibri"/>
            </a:endParaRPr>
          </a:p>
        </p:txBody>
      </p:sp>
      <p:sp>
        <p:nvSpPr>
          <p:cNvPr id="68" name="Google Shape;68;p2">
            <a:hlinkClick action="ppaction://hlinksldjump" r:id="rId28"/>
          </p:cNvPr>
          <p:cNvSpPr/>
          <p:nvPr/>
        </p:nvSpPr>
        <p:spPr>
          <a:xfrm>
            <a:off x="3360420" y="2697480"/>
            <a:ext cx="2606040" cy="1143000"/>
          </a:xfrm>
          <a:prstGeom prst="roundRect">
            <a:avLst>
              <a:gd fmla="val 6400"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 name="Google Shape;69;p2">
            <a:hlinkClick action="ppaction://hlinksldjump" r:id="rId29"/>
          </p:cNvPr>
          <p:cNvSpPr/>
          <p:nvPr/>
        </p:nvSpPr>
        <p:spPr>
          <a:xfrm>
            <a:off x="3543300" y="2971800"/>
            <a:ext cx="594360" cy="594360"/>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70" name="Google Shape;70;p2">
            <a:hlinkClick action="ppaction://hlinksldjump" r:id="rId30"/>
          </p:cNvPr>
          <p:cNvPicPr preferRelativeResize="0"/>
          <p:nvPr/>
        </p:nvPicPr>
        <p:blipFill rotWithShape="1">
          <a:blip r:embed="rId31">
            <a:alphaModFix/>
          </a:blip>
          <a:srcRect b="0" l="0" r="0" t="0"/>
          <a:stretch/>
        </p:blipFill>
        <p:spPr>
          <a:xfrm>
            <a:off x="3685946" y="3114446"/>
            <a:ext cx="309067" cy="309067"/>
          </a:xfrm>
          <a:prstGeom prst="rect">
            <a:avLst/>
          </a:prstGeom>
          <a:noFill/>
          <a:ln>
            <a:noFill/>
          </a:ln>
        </p:spPr>
      </p:pic>
      <p:sp>
        <p:nvSpPr>
          <p:cNvPr id="71" name="Google Shape;71;p2">
            <a:hlinkClick action="ppaction://hlinksldjump" r:id="rId32"/>
          </p:cNvPr>
          <p:cNvSpPr/>
          <p:nvPr/>
        </p:nvSpPr>
        <p:spPr>
          <a:xfrm>
            <a:off x="4274820" y="2834640"/>
            <a:ext cx="1554480" cy="8686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5"/>
              </a:buClr>
              <a:buSzPts val="1100"/>
              <a:buFont typeface="Calibri"/>
              <a:buNone/>
            </a:pPr>
            <a:r>
              <a:rPr b="1" i="0" lang="en-US" sz="1100" u="none" cap="none" strike="noStrike">
                <a:solidFill>
                  <a:schemeClr val="accent5"/>
                </a:solidFill>
                <a:latin typeface="Calibri"/>
                <a:ea typeface="Calibri"/>
                <a:cs typeface="Calibri"/>
                <a:sym typeface="Calibri"/>
              </a:rPr>
              <a:t>06</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2"/>
              </a:buClr>
              <a:buSzPts val="1500"/>
              <a:buFont typeface="Calibri"/>
              <a:buNone/>
            </a:pPr>
            <a:r>
              <a:rPr b="1" i="0" lang="en-US" sz="1500" u="none" cap="none" strike="noStrike">
                <a:solidFill>
                  <a:schemeClr val="dk2"/>
                </a:solidFill>
                <a:latin typeface="Calibri"/>
                <a:ea typeface="Calibri"/>
                <a:cs typeface="Calibri"/>
                <a:sym typeface="Calibri"/>
              </a:rPr>
              <a:t>Preprocessing &amp; SMOTE</a:t>
            </a:r>
            <a:endParaRPr b="0" i="0" sz="1100" u="none" cap="none" strike="noStrike">
              <a:solidFill>
                <a:schemeClr val="dk1"/>
              </a:solidFill>
              <a:latin typeface="Calibri"/>
              <a:ea typeface="Calibri"/>
              <a:cs typeface="Calibri"/>
              <a:sym typeface="Calibri"/>
            </a:endParaRPr>
          </a:p>
        </p:txBody>
      </p:sp>
      <p:sp>
        <p:nvSpPr>
          <p:cNvPr id="72" name="Google Shape;72;p2">
            <a:hlinkClick action="ppaction://hlinksldjump" r:id="rId33"/>
          </p:cNvPr>
          <p:cNvSpPr/>
          <p:nvPr/>
        </p:nvSpPr>
        <p:spPr>
          <a:xfrm>
            <a:off x="6172200" y="2697480"/>
            <a:ext cx="2606040" cy="1143000"/>
          </a:xfrm>
          <a:prstGeom prst="roundRect">
            <a:avLst>
              <a:gd fmla="val 6400"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 name="Google Shape;73;p2">
            <a:hlinkClick action="ppaction://hlinksldjump" r:id="rId34"/>
          </p:cNvPr>
          <p:cNvSpPr/>
          <p:nvPr/>
        </p:nvSpPr>
        <p:spPr>
          <a:xfrm>
            <a:off x="6355080" y="2971800"/>
            <a:ext cx="594360" cy="594360"/>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74" name="Google Shape;74;p2">
            <a:hlinkClick action="ppaction://hlinksldjump" r:id="rId35"/>
          </p:cNvPr>
          <p:cNvPicPr preferRelativeResize="0"/>
          <p:nvPr/>
        </p:nvPicPr>
        <p:blipFill rotWithShape="1">
          <a:blip r:embed="rId36">
            <a:alphaModFix/>
          </a:blip>
          <a:srcRect b="0" l="0" r="0" t="0"/>
          <a:stretch/>
        </p:blipFill>
        <p:spPr>
          <a:xfrm>
            <a:off x="6497726" y="3114446"/>
            <a:ext cx="309067" cy="309067"/>
          </a:xfrm>
          <a:prstGeom prst="rect">
            <a:avLst/>
          </a:prstGeom>
          <a:noFill/>
          <a:ln>
            <a:noFill/>
          </a:ln>
        </p:spPr>
      </p:pic>
      <p:sp>
        <p:nvSpPr>
          <p:cNvPr id="75" name="Google Shape;75;p2">
            <a:hlinkClick action="ppaction://hlinksldjump" r:id="rId37"/>
          </p:cNvPr>
          <p:cNvSpPr/>
          <p:nvPr/>
        </p:nvSpPr>
        <p:spPr>
          <a:xfrm>
            <a:off x="7086600" y="2834640"/>
            <a:ext cx="1554480" cy="8686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5"/>
              </a:buClr>
              <a:buSzPts val="1100"/>
              <a:buFont typeface="Calibri"/>
              <a:buNone/>
            </a:pPr>
            <a:r>
              <a:rPr b="1" i="0" lang="en-US" sz="1100" u="none" cap="none" strike="noStrike">
                <a:solidFill>
                  <a:schemeClr val="accent5"/>
                </a:solidFill>
                <a:latin typeface="Calibri"/>
                <a:ea typeface="Calibri"/>
                <a:cs typeface="Calibri"/>
                <a:sym typeface="Calibri"/>
              </a:rPr>
              <a:t>07</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2"/>
              </a:buClr>
              <a:buSzPts val="1500"/>
              <a:buFont typeface="Calibri"/>
              <a:buNone/>
            </a:pPr>
            <a:r>
              <a:rPr b="1" i="0" lang="en-US" sz="1500" u="none" cap="none" strike="noStrike">
                <a:solidFill>
                  <a:schemeClr val="dk2"/>
                </a:solidFill>
                <a:latin typeface="Calibri"/>
                <a:ea typeface="Calibri"/>
                <a:cs typeface="Calibri"/>
                <a:sym typeface="Calibri"/>
              </a:rPr>
              <a:t>Models Used</a:t>
            </a:r>
            <a:endParaRPr b="0" i="0" sz="1100" u="none" cap="none" strike="noStrike">
              <a:solidFill>
                <a:schemeClr val="dk1"/>
              </a:solidFill>
              <a:latin typeface="Calibri"/>
              <a:ea typeface="Calibri"/>
              <a:cs typeface="Calibri"/>
              <a:sym typeface="Calibri"/>
            </a:endParaRPr>
          </a:p>
        </p:txBody>
      </p:sp>
      <p:sp>
        <p:nvSpPr>
          <p:cNvPr id="76" name="Google Shape;76;p2">
            <a:hlinkClick action="ppaction://hlinksldjump" r:id="rId38"/>
          </p:cNvPr>
          <p:cNvSpPr/>
          <p:nvPr/>
        </p:nvSpPr>
        <p:spPr>
          <a:xfrm>
            <a:off x="8983980" y="2697480"/>
            <a:ext cx="2606040" cy="1143000"/>
          </a:xfrm>
          <a:prstGeom prst="roundRect">
            <a:avLst>
              <a:gd fmla="val 6400"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 name="Google Shape;77;p2">
            <a:hlinkClick action="ppaction://hlinksldjump" r:id="rId39"/>
          </p:cNvPr>
          <p:cNvSpPr/>
          <p:nvPr/>
        </p:nvSpPr>
        <p:spPr>
          <a:xfrm>
            <a:off x="9166860" y="2971800"/>
            <a:ext cx="594360" cy="594360"/>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78" name="Google Shape;78;p2">
            <a:hlinkClick action="ppaction://hlinksldjump" r:id="rId40"/>
          </p:cNvPr>
          <p:cNvPicPr preferRelativeResize="0"/>
          <p:nvPr/>
        </p:nvPicPr>
        <p:blipFill rotWithShape="1">
          <a:blip r:embed="rId41">
            <a:alphaModFix/>
          </a:blip>
          <a:srcRect b="0" l="0" r="0" t="0"/>
          <a:stretch/>
        </p:blipFill>
        <p:spPr>
          <a:xfrm>
            <a:off x="9309506" y="3114446"/>
            <a:ext cx="309067" cy="309067"/>
          </a:xfrm>
          <a:prstGeom prst="rect">
            <a:avLst/>
          </a:prstGeom>
          <a:noFill/>
          <a:ln>
            <a:noFill/>
          </a:ln>
        </p:spPr>
      </p:pic>
      <p:sp>
        <p:nvSpPr>
          <p:cNvPr id="79" name="Google Shape;79;p2">
            <a:hlinkClick action="ppaction://hlinksldjump" r:id="rId42"/>
          </p:cNvPr>
          <p:cNvSpPr/>
          <p:nvPr/>
        </p:nvSpPr>
        <p:spPr>
          <a:xfrm>
            <a:off x="9898380" y="2834640"/>
            <a:ext cx="1554480" cy="8686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5"/>
              </a:buClr>
              <a:buSzPts val="1100"/>
              <a:buFont typeface="Calibri"/>
              <a:buNone/>
            </a:pPr>
            <a:r>
              <a:rPr b="1" i="0" lang="en-US" sz="1100" u="none" cap="none" strike="noStrike">
                <a:solidFill>
                  <a:schemeClr val="accent5"/>
                </a:solidFill>
                <a:latin typeface="Calibri"/>
                <a:ea typeface="Calibri"/>
                <a:cs typeface="Calibri"/>
                <a:sym typeface="Calibri"/>
              </a:rPr>
              <a:t>08</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2"/>
              </a:buClr>
              <a:buSzPts val="1500"/>
              <a:buFont typeface="Calibri"/>
              <a:buNone/>
            </a:pPr>
            <a:r>
              <a:rPr b="1" i="0" lang="en-US" sz="1500" u="none" cap="none" strike="noStrike">
                <a:solidFill>
                  <a:schemeClr val="dk2"/>
                </a:solidFill>
                <a:latin typeface="Calibri"/>
                <a:ea typeface="Calibri"/>
                <a:cs typeface="Calibri"/>
                <a:sym typeface="Calibri"/>
              </a:rPr>
              <a:t>Evaluation Metrics</a:t>
            </a:r>
            <a:endParaRPr b="0" i="0" sz="1100" u="none" cap="none" strike="noStrike">
              <a:solidFill>
                <a:schemeClr val="dk1"/>
              </a:solidFill>
              <a:latin typeface="Calibri"/>
              <a:ea typeface="Calibri"/>
              <a:cs typeface="Calibri"/>
              <a:sym typeface="Calibri"/>
            </a:endParaRPr>
          </a:p>
        </p:txBody>
      </p:sp>
      <p:sp>
        <p:nvSpPr>
          <p:cNvPr id="80" name="Google Shape;80;p2">
            <a:hlinkClick action="ppaction://hlinksldjump" r:id="rId43"/>
          </p:cNvPr>
          <p:cNvSpPr/>
          <p:nvPr/>
        </p:nvSpPr>
        <p:spPr>
          <a:xfrm>
            <a:off x="548640" y="4069080"/>
            <a:ext cx="2606040" cy="1143000"/>
          </a:xfrm>
          <a:prstGeom prst="roundRect">
            <a:avLst>
              <a:gd fmla="val 6400"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 name="Google Shape;81;p2">
            <a:hlinkClick action="ppaction://hlinksldjump" r:id="rId44"/>
          </p:cNvPr>
          <p:cNvSpPr/>
          <p:nvPr/>
        </p:nvSpPr>
        <p:spPr>
          <a:xfrm>
            <a:off x="731520" y="4343400"/>
            <a:ext cx="594360" cy="594360"/>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82" name="Google Shape;82;p2">
            <a:hlinkClick action="ppaction://hlinksldjump" r:id="rId45"/>
          </p:cNvPr>
          <p:cNvPicPr preferRelativeResize="0"/>
          <p:nvPr/>
        </p:nvPicPr>
        <p:blipFill rotWithShape="1">
          <a:blip r:embed="rId46">
            <a:alphaModFix/>
          </a:blip>
          <a:srcRect b="0" l="0" r="0" t="0"/>
          <a:stretch/>
        </p:blipFill>
        <p:spPr>
          <a:xfrm>
            <a:off x="874166" y="4486046"/>
            <a:ext cx="309067" cy="309067"/>
          </a:xfrm>
          <a:prstGeom prst="rect">
            <a:avLst/>
          </a:prstGeom>
          <a:noFill/>
          <a:ln>
            <a:noFill/>
          </a:ln>
        </p:spPr>
      </p:pic>
      <p:sp>
        <p:nvSpPr>
          <p:cNvPr id="83" name="Google Shape;83;p2">
            <a:hlinkClick action="ppaction://hlinksldjump" r:id="rId47"/>
          </p:cNvPr>
          <p:cNvSpPr/>
          <p:nvPr/>
        </p:nvSpPr>
        <p:spPr>
          <a:xfrm>
            <a:off x="1463040" y="4206240"/>
            <a:ext cx="1554480" cy="8686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5"/>
              </a:buClr>
              <a:buSzPts val="1100"/>
              <a:buFont typeface="Calibri"/>
              <a:buNone/>
            </a:pPr>
            <a:r>
              <a:rPr b="1" i="0" lang="en-US" sz="1100" u="none" cap="none" strike="noStrike">
                <a:solidFill>
                  <a:schemeClr val="accent5"/>
                </a:solidFill>
                <a:latin typeface="Calibri"/>
                <a:ea typeface="Calibri"/>
                <a:cs typeface="Calibri"/>
                <a:sym typeface="Calibri"/>
              </a:rPr>
              <a:t>09</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2"/>
              </a:buClr>
              <a:buSzPts val="1500"/>
              <a:buFont typeface="Calibri"/>
              <a:buNone/>
            </a:pPr>
            <a:r>
              <a:rPr b="1" i="0" lang="en-US" sz="1500" u="none" cap="none" strike="noStrike">
                <a:solidFill>
                  <a:schemeClr val="dk2"/>
                </a:solidFill>
                <a:latin typeface="Calibri"/>
                <a:ea typeface="Calibri"/>
                <a:cs typeface="Calibri"/>
                <a:sym typeface="Calibri"/>
              </a:rPr>
              <a:t>Results &amp; Comparison</a:t>
            </a:r>
            <a:endParaRPr b="0" i="0" sz="1100" u="none" cap="none" strike="noStrike">
              <a:solidFill>
                <a:schemeClr val="dk1"/>
              </a:solidFill>
              <a:latin typeface="Calibri"/>
              <a:ea typeface="Calibri"/>
              <a:cs typeface="Calibri"/>
              <a:sym typeface="Calibri"/>
            </a:endParaRPr>
          </a:p>
        </p:txBody>
      </p:sp>
      <p:sp>
        <p:nvSpPr>
          <p:cNvPr id="84" name="Google Shape;84;p2">
            <a:hlinkClick action="ppaction://hlinksldjump" r:id="rId48"/>
          </p:cNvPr>
          <p:cNvSpPr/>
          <p:nvPr/>
        </p:nvSpPr>
        <p:spPr>
          <a:xfrm>
            <a:off x="3360420" y="4069080"/>
            <a:ext cx="2606040" cy="1143000"/>
          </a:xfrm>
          <a:prstGeom prst="roundRect">
            <a:avLst>
              <a:gd fmla="val 6400"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2">
            <a:hlinkClick action="ppaction://hlinksldjump" r:id="rId49"/>
          </p:cNvPr>
          <p:cNvSpPr/>
          <p:nvPr/>
        </p:nvSpPr>
        <p:spPr>
          <a:xfrm>
            <a:off x="3543300" y="4343400"/>
            <a:ext cx="594360" cy="594360"/>
          </a:xfrm>
          <a:prstGeom prst="ellipse">
            <a:avLst/>
          </a:prstGeom>
          <a:solidFill>
            <a:schemeClr val="accent2"/>
          </a:solidFill>
          <a:ln cap="flat" cmpd="sng" w="12700">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86" name="Google Shape;86;p2">
            <a:hlinkClick action="ppaction://hlinksldjump" r:id="rId50"/>
          </p:cNvPr>
          <p:cNvPicPr preferRelativeResize="0"/>
          <p:nvPr/>
        </p:nvPicPr>
        <p:blipFill rotWithShape="1">
          <a:blip r:embed="rId51">
            <a:alphaModFix/>
          </a:blip>
          <a:srcRect b="0" l="0" r="0" t="0"/>
          <a:stretch/>
        </p:blipFill>
        <p:spPr>
          <a:xfrm>
            <a:off x="3685946" y="4486046"/>
            <a:ext cx="309067" cy="309067"/>
          </a:xfrm>
          <a:prstGeom prst="rect">
            <a:avLst/>
          </a:prstGeom>
          <a:noFill/>
          <a:ln>
            <a:noFill/>
          </a:ln>
        </p:spPr>
      </p:pic>
      <p:sp>
        <p:nvSpPr>
          <p:cNvPr id="87" name="Google Shape;87;p2">
            <a:hlinkClick action="ppaction://hlinksldjump" r:id="rId52"/>
          </p:cNvPr>
          <p:cNvSpPr/>
          <p:nvPr/>
        </p:nvSpPr>
        <p:spPr>
          <a:xfrm>
            <a:off x="4274820" y="4206240"/>
            <a:ext cx="1554480" cy="8686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5"/>
              </a:buClr>
              <a:buSzPts val="1100"/>
              <a:buFont typeface="Calibri"/>
              <a:buNone/>
            </a:pPr>
            <a:r>
              <a:rPr b="1" i="0" lang="en-US" sz="1100" u="none" cap="none" strike="noStrike">
                <a:solidFill>
                  <a:schemeClr val="accent5"/>
                </a:solidFill>
                <a:latin typeface="Calibri"/>
                <a:ea typeface="Calibri"/>
                <a:cs typeface="Calibri"/>
                <a:sym typeface="Calibri"/>
              </a:rPr>
              <a:t>10</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2"/>
              </a:buClr>
              <a:buSzPts val="1500"/>
              <a:buFont typeface="Calibri"/>
              <a:buNone/>
            </a:pPr>
            <a:r>
              <a:rPr b="1" i="0" lang="en-US" sz="1500" u="none" cap="none" strike="noStrike">
                <a:solidFill>
                  <a:schemeClr val="dk2"/>
                </a:solidFill>
                <a:latin typeface="Calibri"/>
                <a:ea typeface="Calibri"/>
                <a:cs typeface="Calibri"/>
                <a:sym typeface="Calibri"/>
              </a:rPr>
              <a:t>Model Explorer</a:t>
            </a:r>
            <a:endParaRPr b="0" i="0" sz="1100" u="none" cap="none" strike="noStrike">
              <a:solidFill>
                <a:schemeClr val="dk1"/>
              </a:solidFill>
              <a:latin typeface="Calibri"/>
              <a:ea typeface="Calibri"/>
              <a:cs typeface="Calibri"/>
              <a:sym typeface="Calibri"/>
            </a:endParaRPr>
          </a:p>
        </p:txBody>
      </p:sp>
      <p:sp>
        <p:nvSpPr>
          <p:cNvPr id="88" name="Google Shape;88;p2">
            <a:hlinkClick action="ppaction://hlinksldjump" r:id="rId53"/>
          </p:cNvPr>
          <p:cNvSpPr/>
          <p:nvPr/>
        </p:nvSpPr>
        <p:spPr>
          <a:xfrm>
            <a:off x="6172200" y="4069080"/>
            <a:ext cx="2606040" cy="1143000"/>
          </a:xfrm>
          <a:prstGeom prst="roundRect">
            <a:avLst>
              <a:gd fmla="val 6400"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 name="Google Shape;89;p2">
            <a:hlinkClick action="ppaction://hlinksldjump" r:id="rId54"/>
          </p:cNvPr>
          <p:cNvSpPr/>
          <p:nvPr/>
        </p:nvSpPr>
        <p:spPr>
          <a:xfrm>
            <a:off x="6355080" y="4343400"/>
            <a:ext cx="594360" cy="594360"/>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90" name="Google Shape;90;p2">
            <a:hlinkClick action="ppaction://hlinksldjump" r:id="rId55"/>
          </p:cNvPr>
          <p:cNvPicPr preferRelativeResize="0"/>
          <p:nvPr/>
        </p:nvPicPr>
        <p:blipFill rotWithShape="1">
          <a:blip r:embed="rId56">
            <a:alphaModFix/>
          </a:blip>
          <a:srcRect b="0" l="0" r="0" t="0"/>
          <a:stretch/>
        </p:blipFill>
        <p:spPr>
          <a:xfrm>
            <a:off x="6497726" y="4486046"/>
            <a:ext cx="309067" cy="309067"/>
          </a:xfrm>
          <a:prstGeom prst="rect">
            <a:avLst/>
          </a:prstGeom>
          <a:noFill/>
          <a:ln>
            <a:noFill/>
          </a:ln>
        </p:spPr>
      </p:pic>
      <p:sp>
        <p:nvSpPr>
          <p:cNvPr id="91" name="Google Shape;91;p2">
            <a:hlinkClick action="ppaction://hlinksldjump" r:id="rId57"/>
          </p:cNvPr>
          <p:cNvSpPr/>
          <p:nvPr/>
        </p:nvSpPr>
        <p:spPr>
          <a:xfrm>
            <a:off x="7086600" y="4206240"/>
            <a:ext cx="1554480" cy="8686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5"/>
              </a:buClr>
              <a:buSzPts val="1100"/>
              <a:buFont typeface="Calibri"/>
              <a:buNone/>
            </a:pPr>
            <a:r>
              <a:rPr b="1" i="0" lang="en-US" sz="1100" u="none" cap="none" strike="noStrike">
                <a:solidFill>
                  <a:schemeClr val="accent5"/>
                </a:solidFill>
                <a:latin typeface="Calibri"/>
                <a:ea typeface="Calibri"/>
                <a:cs typeface="Calibri"/>
                <a:sym typeface="Calibri"/>
              </a:rPr>
              <a:t>11</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2"/>
              </a:buClr>
              <a:buSzPts val="1500"/>
              <a:buFont typeface="Calibri"/>
              <a:buNone/>
            </a:pPr>
            <a:r>
              <a:rPr b="1" i="0" lang="en-US" sz="1500" u="none" cap="none" strike="noStrike">
                <a:solidFill>
                  <a:schemeClr val="dk2"/>
                </a:solidFill>
                <a:latin typeface="Calibri"/>
                <a:ea typeface="Calibri"/>
                <a:cs typeface="Calibri"/>
                <a:sym typeface="Calibri"/>
              </a:rPr>
              <a:t>Interpretation (SHAP)</a:t>
            </a:r>
            <a:endParaRPr b="0" i="0" sz="1100" u="none" cap="none" strike="noStrike">
              <a:solidFill>
                <a:schemeClr val="dk1"/>
              </a:solidFill>
              <a:latin typeface="Calibri"/>
              <a:ea typeface="Calibri"/>
              <a:cs typeface="Calibri"/>
              <a:sym typeface="Calibri"/>
            </a:endParaRPr>
          </a:p>
        </p:txBody>
      </p:sp>
      <p:sp>
        <p:nvSpPr>
          <p:cNvPr id="92" name="Google Shape;92;p2">
            <a:hlinkClick action="ppaction://hlinksldjump" r:id="rId58"/>
          </p:cNvPr>
          <p:cNvSpPr/>
          <p:nvPr/>
        </p:nvSpPr>
        <p:spPr>
          <a:xfrm>
            <a:off x="8983980" y="4069080"/>
            <a:ext cx="2606040" cy="1143000"/>
          </a:xfrm>
          <a:prstGeom prst="roundRect">
            <a:avLst>
              <a:gd fmla="val 6400"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 name="Google Shape;93;p2">
            <a:hlinkClick action="ppaction://hlinksldjump" r:id="rId59"/>
          </p:cNvPr>
          <p:cNvSpPr/>
          <p:nvPr/>
        </p:nvSpPr>
        <p:spPr>
          <a:xfrm>
            <a:off x="9166860" y="4343400"/>
            <a:ext cx="594360" cy="594360"/>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94" name="Google Shape;94;p2">
            <a:hlinkClick action="ppaction://hlinksldjump" r:id="rId60"/>
          </p:cNvPr>
          <p:cNvPicPr preferRelativeResize="0"/>
          <p:nvPr/>
        </p:nvPicPr>
        <p:blipFill rotWithShape="1">
          <a:blip r:embed="rId61">
            <a:alphaModFix/>
          </a:blip>
          <a:srcRect b="0" l="0" r="0" t="0"/>
          <a:stretch/>
        </p:blipFill>
        <p:spPr>
          <a:xfrm>
            <a:off x="9309506" y="4486046"/>
            <a:ext cx="309067" cy="309067"/>
          </a:xfrm>
          <a:prstGeom prst="rect">
            <a:avLst/>
          </a:prstGeom>
          <a:noFill/>
          <a:ln>
            <a:noFill/>
          </a:ln>
        </p:spPr>
      </p:pic>
      <p:sp>
        <p:nvSpPr>
          <p:cNvPr id="95" name="Google Shape;95;p2">
            <a:hlinkClick action="ppaction://hlinksldjump" r:id="rId62"/>
          </p:cNvPr>
          <p:cNvSpPr/>
          <p:nvPr/>
        </p:nvSpPr>
        <p:spPr>
          <a:xfrm>
            <a:off x="9898380" y="4206240"/>
            <a:ext cx="1554480" cy="8686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5"/>
              </a:buClr>
              <a:buSzPts val="1100"/>
              <a:buFont typeface="Calibri"/>
              <a:buNone/>
            </a:pPr>
            <a:r>
              <a:rPr b="1" i="0" lang="en-US" sz="1100" u="none" cap="none" strike="noStrike">
                <a:solidFill>
                  <a:schemeClr val="accent5"/>
                </a:solidFill>
                <a:latin typeface="Calibri"/>
                <a:ea typeface="Calibri"/>
                <a:cs typeface="Calibri"/>
                <a:sym typeface="Calibri"/>
              </a:rPr>
              <a:t>12</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2"/>
              </a:buClr>
              <a:buSzPts val="1500"/>
              <a:buFont typeface="Calibri"/>
              <a:buNone/>
            </a:pPr>
            <a:r>
              <a:rPr b="1" i="0" lang="en-US" sz="1500" u="none" cap="none" strike="noStrike">
                <a:solidFill>
                  <a:schemeClr val="dk2"/>
                </a:solidFill>
                <a:latin typeface="Calibri"/>
                <a:ea typeface="Calibri"/>
                <a:cs typeface="Calibri"/>
                <a:sym typeface="Calibri"/>
              </a:rPr>
              <a:t>Conclusion &amp; Future Scope</a:t>
            </a:r>
            <a:endParaRPr b="0" i="0" sz="1100" u="none" cap="none" strike="noStrike">
              <a:solidFill>
                <a:schemeClr val="dk1"/>
              </a:solidFill>
              <a:latin typeface="Calibri"/>
              <a:ea typeface="Calibri"/>
              <a:cs typeface="Calibri"/>
              <a:sym typeface="Calibri"/>
            </a:endParaRPr>
          </a:p>
        </p:txBody>
      </p:sp>
      <p:sp>
        <p:nvSpPr>
          <p:cNvPr id="96" name="Google Shape;96;p2"/>
          <p:cNvSpPr txBox="1"/>
          <p:nvPr/>
        </p:nvSpPr>
        <p:spPr>
          <a:xfrm>
            <a:off x="548640" y="5532120"/>
            <a:ext cx="118872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300"/>
              <a:buFont typeface="Calibri"/>
              <a:buNone/>
            </a:pPr>
            <a:r>
              <a:rPr b="1" i="0" lang="en-US" sz="1300" u="none" cap="none" strike="noStrike">
                <a:solidFill>
                  <a:schemeClr val="dk2"/>
                </a:solidFill>
                <a:latin typeface="Calibri"/>
                <a:ea typeface="Calibri"/>
                <a:cs typeface="Calibri"/>
                <a:sym typeface="Calibri"/>
              </a:rPr>
              <a:t>Quick links:</a:t>
            </a:r>
            <a:endParaRPr b="0" i="0" sz="1300" u="none" cap="none" strike="noStrike">
              <a:solidFill>
                <a:schemeClr val="dk1"/>
              </a:solidFill>
              <a:latin typeface="Calibri"/>
              <a:ea typeface="Calibri"/>
              <a:cs typeface="Calibri"/>
              <a:sym typeface="Calibri"/>
            </a:endParaRPr>
          </a:p>
        </p:txBody>
      </p:sp>
      <p:sp>
        <p:nvSpPr>
          <p:cNvPr id="97" name="Google Shape;97;p2">
            <a:hlinkClick r:id="rId63"/>
          </p:cNvPr>
          <p:cNvSpPr/>
          <p:nvPr/>
        </p:nvSpPr>
        <p:spPr>
          <a:xfrm>
            <a:off x="1737360" y="5532120"/>
            <a:ext cx="1554480" cy="384048"/>
          </a:xfrm>
          <a:prstGeom prst="roundRect">
            <a:avLst>
              <a:gd fmla="val 23810" name="adj"/>
            </a:avLst>
          </a:prstGeom>
          <a:solidFill>
            <a:schemeClr val="dk2"/>
          </a:solidFill>
          <a:ln cap="flat" cmpd="sng" w="9525">
            <a:solidFill>
              <a:schemeClr val="dk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GitHub repo</a:t>
            </a:r>
            <a:endParaRPr b="0" i="0" sz="1200" u="none" cap="none" strike="noStrike">
              <a:solidFill>
                <a:schemeClr val="dk1"/>
              </a:solidFill>
              <a:latin typeface="Calibri"/>
              <a:ea typeface="Calibri"/>
              <a:cs typeface="Calibri"/>
              <a:sym typeface="Calibri"/>
            </a:endParaRPr>
          </a:p>
        </p:txBody>
      </p:sp>
      <p:sp>
        <p:nvSpPr>
          <p:cNvPr id="98" name="Google Shape;98;p2">
            <a:hlinkClick r:id="rId64"/>
          </p:cNvPr>
          <p:cNvSpPr/>
          <p:nvPr/>
        </p:nvSpPr>
        <p:spPr>
          <a:xfrm>
            <a:off x="3429000" y="5532120"/>
            <a:ext cx="1554480" cy="384048"/>
          </a:xfrm>
          <a:prstGeom prst="roundRect">
            <a:avLst>
              <a:gd fmla="val 23810" name="adj"/>
            </a:avLst>
          </a:prstGeom>
          <a:solidFill>
            <a:schemeClr val="dk2"/>
          </a:solidFill>
          <a:ln cap="flat" cmpd="sng" w="9525">
            <a:solidFill>
              <a:schemeClr val="dk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Open in Colab</a:t>
            </a:r>
            <a:endParaRPr b="0" i="0" sz="1200" u="none" cap="none" strike="noStrike">
              <a:solidFill>
                <a:schemeClr val="dk1"/>
              </a:solidFill>
              <a:latin typeface="Calibri"/>
              <a:ea typeface="Calibri"/>
              <a:cs typeface="Calibri"/>
              <a:sym typeface="Calibri"/>
            </a:endParaRPr>
          </a:p>
        </p:txBody>
      </p:sp>
      <p:sp>
        <p:nvSpPr>
          <p:cNvPr id="99" name="Google Shape;99;p2">
            <a:hlinkClick r:id="rId65"/>
          </p:cNvPr>
          <p:cNvSpPr/>
          <p:nvPr/>
        </p:nvSpPr>
        <p:spPr>
          <a:xfrm>
            <a:off x="5120640" y="5532120"/>
            <a:ext cx="1554480" cy="384048"/>
          </a:xfrm>
          <a:prstGeom prst="roundRect">
            <a:avLst>
              <a:gd fmla="val 23810" name="adj"/>
            </a:avLst>
          </a:prstGeom>
          <a:solidFill>
            <a:schemeClr val="dk2"/>
          </a:solidFill>
          <a:ln cap="flat" cmpd="sng" w="9525">
            <a:solidFill>
              <a:schemeClr val="dk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Report (PDF)</a:t>
            </a:r>
            <a:endParaRPr b="0" i="0" sz="1200" u="none" cap="none" strike="noStrike">
              <a:solidFill>
                <a:schemeClr val="dk1"/>
              </a:solidFill>
              <a:latin typeface="Calibri"/>
              <a:ea typeface="Calibri"/>
              <a:cs typeface="Calibri"/>
              <a:sym typeface="Calibri"/>
            </a:endParaRPr>
          </a:p>
        </p:txBody>
      </p:sp>
      <p:sp>
        <p:nvSpPr>
          <p:cNvPr id="100" name="Google Shape;100;p2">
            <a:hlinkClick action="ppaction://hlinksldjump" r:id="rId66"/>
          </p:cNvPr>
          <p:cNvSpPr/>
          <p:nvPr/>
        </p:nvSpPr>
        <p:spPr>
          <a:xfrm>
            <a:off x="6812280" y="5532120"/>
            <a:ext cx="1554480" cy="384048"/>
          </a:xfrm>
          <a:prstGeom prst="roundRect">
            <a:avLst>
              <a:gd fmla="val 23810" name="adj"/>
            </a:avLst>
          </a:prstGeom>
          <a:solidFill>
            <a:schemeClr val="accent2"/>
          </a:solidFill>
          <a:ln cap="flat" cmpd="sng" w="9525">
            <a:solidFill>
              <a:schemeClr val="accen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Viva Q&amp;A</a:t>
            </a:r>
            <a:endParaRPr b="0" i="0" sz="1200" u="none" cap="none" strike="noStrike">
              <a:solidFill>
                <a:schemeClr val="dk1"/>
              </a:solidFill>
              <a:latin typeface="Calibri"/>
              <a:ea typeface="Calibri"/>
              <a:cs typeface="Calibri"/>
              <a:sym typeface="Calibri"/>
            </a:endParaRPr>
          </a:p>
        </p:txBody>
      </p:sp>
      <p:sp>
        <p:nvSpPr>
          <p:cNvPr id="101" name="Google Shape;101;p2">
            <a:hlinkClick action="ppaction://hlinksldjump" r:id="rId67"/>
          </p:cNvPr>
          <p:cNvSpPr/>
          <p:nvPr/>
        </p:nvSpPr>
        <p:spPr>
          <a:xfrm>
            <a:off x="10680192" y="6336792"/>
            <a:ext cx="960120" cy="365760"/>
          </a:xfrm>
          <a:prstGeom prst="roundRect">
            <a:avLst>
              <a:gd fmla="val 25000" name="adj"/>
            </a:avLst>
          </a:prstGeom>
          <a:solidFill>
            <a:schemeClr val="accent1"/>
          </a:solidFill>
          <a:ln cap="flat" cmpd="sng" w="9525">
            <a:solidFill>
              <a:schemeClr val="accent1"/>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Next ›</a:t>
            </a:r>
            <a:endParaRPr b="0" i="0" sz="1200" u="none" cap="none" strike="noStrike">
              <a:solidFill>
                <a:schemeClr val="dk1"/>
              </a:solidFill>
              <a:latin typeface="Calibri"/>
              <a:ea typeface="Calibri"/>
              <a:cs typeface="Calibri"/>
              <a:sym typeface="Calibri"/>
            </a:endParaRPr>
          </a:p>
        </p:txBody>
      </p:sp>
      <p:sp>
        <p:nvSpPr>
          <p:cNvPr id="102" name="Google Shape;102;p2">
            <a:hlinkClick action="ppaction://hlinksldjump" r:id="rId68"/>
          </p:cNvPr>
          <p:cNvSpPr/>
          <p:nvPr/>
        </p:nvSpPr>
        <p:spPr>
          <a:xfrm>
            <a:off x="9610344" y="6336792"/>
            <a:ext cx="960120" cy="365760"/>
          </a:xfrm>
          <a:prstGeom prst="roundRect">
            <a:avLst>
              <a:gd fmla="val 25000"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1" i="0" lang="en-US" sz="1200" u="none" cap="none" strike="noStrike">
                <a:solidFill>
                  <a:schemeClr val="dk2"/>
                </a:solidFill>
                <a:latin typeface="Calibri"/>
                <a:ea typeface="Calibri"/>
                <a:cs typeface="Calibri"/>
                <a:sym typeface="Calibri"/>
              </a:rPr>
              <a:t>‹ Title</a:t>
            </a:r>
            <a:endParaRPr b="0" i="0" sz="1200" u="none" cap="none" strike="noStrike">
              <a:solidFill>
                <a:schemeClr val="dk1"/>
              </a:solidFill>
              <a:latin typeface="Calibri"/>
              <a:ea typeface="Calibri"/>
              <a:cs typeface="Calibri"/>
              <a:sym typeface="Calibri"/>
            </a:endParaRPr>
          </a:p>
        </p:txBody>
      </p:sp>
      <p:sp>
        <p:nvSpPr>
          <p:cNvPr id="103" name="Google Shape;103;p2"/>
          <p:cNvSpPr txBox="1"/>
          <p:nvPr>
            <p:ph idx="4294967295" type="sldNum"/>
          </p:nvPr>
        </p:nvSpPr>
        <p:spPr>
          <a:xfrm>
            <a:off x="8732520" y="6382512"/>
            <a:ext cx="502920" cy="292608"/>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accent5"/>
                </a:solidFill>
                <a:latin typeface="Calibri"/>
                <a:ea typeface="Calibri"/>
                <a:cs typeface="Calibri"/>
                <a:sym typeface="Calibri"/>
              </a:rPr>
              <a:t>‹#›</a:t>
            </a:fld>
            <a:endParaRPr b="0" i="0" sz="1000" u="none" cap="none" strike="noStrike">
              <a:solidFill>
                <a:schemeClr val="accent5"/>
              </a:solidFill>
              <a:latin typeface="Calibri"/>
              <a:ea typeface="Calibri"/>
              <a:cs typeface="Calibri"/>
              <a:sym typeface="Calibri"/>
            </a:endParaRPr>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 name="Shape 108"/>
        <p:cNvGrpSpPr/>
        <p:nvPr/>
      </p:nvGrpSpPr>
      <p:grpSpPr>
        <a:xfrm>
          <a:off x="0" y="0"/>
          <a:ext cx="0" cy="0"/>
          <a:chOff x="0" y="0"/>
          <a:chExt cx="0" cy="0"/>
        </a:xfrm>
      </p:grpSpPr>
      <p:sp>
        <p:nvSpPr>
          <p:cNvPr id="109" name="Google Shape;109;p3"/>
          <p:cNvSpPr txBox="1"/>
          <p:nvPr>
            <p:ph type="title"/>
          </p:nvPr>
        </p:nvSpPr>
        <p:spPr>
          <a:xfrm>
            <a:off x="548640" y="347472"/>
            <a:ext cx="11064240" cy="7315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200"/>
              <a:buFont typeface="Cambria"/>
              <a:buNone/>
            </a:pPr>
            <a:r>
              <a:rPr b="1" lang="en-US" sz="3200">
                <a:solidFill>
                  <a:schemeClr val="dk2"/>
                </a:solidFill>
                <a:latin typeface="Cambria"/>
                <a:ea typeface="Cambria"/>
                <a:cs typeface="Cambria"/>
                <a:sym typeface="Cambria"/>
              </a:rPr>
              <a:t>Problem Statement</a:t>
            </a:r>
            <a:endParaRPr sz="3200"/>
          </a:p>
        </p:txBody>
      </p:sp>
      <p:sp>
        <p:nvSpPr>
          <p:cNvPr id="110" name="Google Shape;110;p3"/>
          <p:cNvSpPr txBox="1"/>
          <p:nvPr/>
        </p:nvSpPr>
        <p:spPr>
          <a:xfrm>
            <a:off x="548640" y="1371600"/>
            <a:ext cx="4937760" cy="3291840"/>
          </a:xfrm>
          <a:prstGeom prst="rect">
            <a:avLst/>
          </a:prstGeom>
          <a:noFill/>
          <a:ln>
            <a:noFill/>
          </a:ln>
        </p:spPr>
        <p:txBody>
          <a:bodyPr anchorCtr="0" anchor="t" bIns="0" lIns="0" spcFirstLastPara="1" rIns="0" wrap="square" tIns="0">
            <a:noAutofit/>
          </a:bodyPr>
          <a:lstStyle/>
          <a:p>
            <a:pPr indent="-203200" lvl="0" marL="203200" marR="0" rtl="0" algn="l">
              <a:spcBef>
                <a:spcPts val="0"/>
              </a:spcBef>
              <a:spcAft>
                <a:spcPts val="0"/>
              </a:spcAft>
              <a:buClr>
                <a:schemeClr val="dk1"/>
              </a:buClr>
              <a:buSzPts val="1600"/>
              <a:buFont typeface="Calibri"/>
              <a:buChar char="•"/>
            </a:pPr>
            <a:r>
              <a:rPr b="0" i="0" lang="en-US" sz="1600" u="none" cap="none" strike="noStrike">
                <a:solidFill>
                  <a:schemeClr val="dk1"/>
                </a:solidFill>
                <a:latin typeface="Calibri"/>
                <a:ea typeface="Calibri"/>
                <a:cs typeface="Calibri"/>
                <a:sym typeface="Calibri"/>
              </a:rPr>
              <a:t>Type 2 diabetes often develops unnoticed for years</a:t>
            </a:r>
            <a:endParaRPr b="0" i="0" sz="1500" u="none" cap="none" strike="noStrike">
              <a:solidFill>
                <a:schemeClr val="dk1"/>
              </a:solidFill>
              <a:latin typeface="Calibri"/>
              <a:ea typeface="Calibri"/>
              <a:cs typeface="Calibri"/>
              <a:sym typeface="Calibri"/>
            </a:endParaRPr>
          </a:p>
          <a:p>
            <a:pPr indent="0" lvl="0" marL="0" marR="0" rtl="0" algn="l">
              <a:spcBef>
                <a:spcPts val="600"/>
              </a:spcBef>
              <a:spcAft>
                <a:spcPts val="0"/>
              </a:spcAft>
              <a:buClr>
                <a:schemeClr val="dk1"/>
              </a:buClr>
              <a:buSzPts val="1600"/>
              <a:buFont typeface="Calibri"/>
              <a:buNone/>
            </a:pPr>
            <a:r>
              <a:rPr b="1" i="0" lang="en-US" sz="1600" u="none" cap="none" strike="noStrike">
                <a:solidFill>
                  <a:schemeClr val="dk1"/>
                </a:solidFill>
                <a:latin typeface="Calibri"/>
                <a:ea typeface="Calibri"/>
                <a:cs typeface="Calibri"/>
                <a:sym typeface="Calibri"/>
              </a:rPr>
              <a:t>Task: </a:t>
            </a:r>
            <a:r>
              <a:rPr b="0" i="0" lang="en-US" sz="1600" u="none" cap="none" strike="noStrike">
                <a:solidFill>
                  <a:schemeClr val="dk1"/>
                </a:solidFill>
                <a:latin typeface="Calibri"/>
                <a:ea typeface="Calibri"/>
                <a:cs typeface="Calibri"/>
                <a:sym typeface="Calibri"/>
              </a:rPr>
              <a:t>predict Outcome (0 = no diabetes, 1 = diabetes) from 8 routine measurements</a:t>
            </a:r>
            <a:endParaRPr b="0" i="0" sz="1500" u="none" cap="none" strike="noStrike">
              <a:solidFill>
                <a:schemeClr val="dk1"/>
              </a:solidFill>
              <a:latin typeface="Calibri"/>
              <a:ea typeface="Calibri"/>
              <a:cs typeface="Calibri"/>
              <a:sym typeface="Calibri"/>
            </a:endParaRPr>
          </a:p>
          <a:p>
            <a:pPr indent="0" lvl="0" marL="0" marR="0" rtl="0" algn="l">
              <a:spcBef>
                <a:spcPts val="600"/>
              </a:spcBef>
              <a:spcAft>
                <a:spcPts val="0"/>
              </a:spcAft>
              <a:buClr>
                <a:schemeClr val="dk1"/>
              </a:buClr>
              <a:buSzPts val="1600"/>
              <a:buFont typeface="Calibri"/>
              <a:buNone/>
            </a:pPr>
            <a:r>
              <a:rPr b="1" i="0" lang="en-US" sz="1600" u="none" cap="none" strike="noStrike">
                <a:solidFill>
                  <a:schemeClr val="dk1"/>
                </a:solidFill>
                <a:latin typeface="Calibri"/>
                <a:ea typeface="Calibri"/>
                <a:cs typeface="Calibri"/>
                <a:sym typeface="Calibri"/>
              </a:rPr>
              <a:t>Output: </a:t>
            </a:r>
            <a:r>
              <a:rPr b="0" i="0" lang="en-US" sz="1600" u="none" cap="none" strike="noStrike">
                <a:solidFill>
                  <a:schemeClr val="dk1"/>
                </a:solidFill>
                <a:latin typeface="Calibri"/>
                <a:ea typeface="Calibri"/>
                <a:cs typeface="Calibri"/>
                <a:sym typeface="Calibri"/>
              </a:rPr>
              <a:t>a class and a probability, used to flag patients for clinical testing</a:t>
            </a:r>
            <a:endParaRPr b="0" i="0" sz="1500" u="none" cap="none" strike="noStrike">
              <a:solidFill>
                <a:schemeClr val="dk1"/>
              </a:solidFill>
              <a:latin typeface="Calibri"/>
              <a:ea typeface="Calibri"/>
              <a:cs typeface="Calibri"/>
              <a:sym typeface="Calibri"/>
            </a:endParaRPr>
          </a:p>
          <a:p>
            <a:pPr indent="-203200" lvl="0" marL="203200" marR="0" rtl="0" algn="l">
              <a:spcBef>
                <a:spcPts val="600"/>
              </a:spcBef>
              <a:spcAft>
                <a:spcPts val="0"/>
              </a:spcAft>
              <a:buClr>
                <a:schemeClr val="dk1"/>
              </a:buClr>
              <a:buSzPts val="1600"/>
              <a:buFont typeface="Calibri"/>
              <a:buChar char="•"/>
            </a:pPr>
            <a:r>
              <a:rPr b="0" i="0" lang="en-US" sz="1600" u="none" cap="none" strike="noStrike">
                <a:solidFill>
                  <a:schemeClr val="dk1"/>
                </a:solidFill>
                <a:latin typeface="Calibri"/>
                <a:ea typeface="Calibri"/>
                <a:cs typeface="Calibri"/>
                <a:sym typeface="Calibri"/>
              </a:rPr>
              <a:t>Supervised binary classification on imbalanced, partly incomplete data</a:t>
            </a:r>
            <a:endParaRPr b="0" i="0" sz="1500" u="none" cap="none" strike="noStrike">
              <a:solidFill>
                <a:schemeClr val="dk1"/>
              </a:solidFill>
              <a:latin typeface="Calibri"/>
              <a:ea typeface="Calibri"/>
              <a:cs typeface="Calibri"/>
              <a:sym typeface="Calibri"/>
            </a:endParaRPr>
          </a:p>
          <a:p>
            <a:pPr indent="0" lvl="0" marL="0" marR="0" rtl="0" algn="l">
              <a:spcBef>
                <a:spcPts val="600"/>
              </a:spcBef>
              <a:spcAft>
                <a:spcPts val="0"/>
              </a:spcAft>
              <a:buClr>
                <a:schemeClr val="dk1"/>
              </a:buClr>
              <a:buSzPts val="1600"/>
              <a:buFont typeface="Calibri"/>
              <a:buNone/>
            </a:pPr>
            <a:r>
              <a:rPr b="1" i="0" lang="en-US" sz="1600" u="none" cap="none" strike="noStrike">
                <a:solidFill>
                  <a:schemeClr val="dk1"/>
                </a:solidFill>
                <a:latin typeface="Calibri"/>
                <a:ea typeface="Calibri"/>
                <a:cs typeface="Calibri"/>
                <a:sym typeface="Calibri"/>
              </a:rPr>
              <a:t>Screening support, </a:t>
            </a:r>
            <a:r>
              <a:rPr b="0" i="0" lang="en-US" sz="1600" u="none" cap="none" strike="noStrike">
                <a:solidFill>
                  <a:schemeClr val="dk1"/>
                </a:solidFill>
                <a:latin typeface="Calibri"/>
                <a:ea typeface="Calibri"/>
                <a:cs typeface="Calibri"/>
                <a:sym typeface="Calibri"/>
              </a:rPr>
              <a:t>not a medical diagnosis</a:t>
            </a:r>
            <a:endParaRPr b="0" i="0" sz="1500" u="none" cap="none" strike="noStrike">
              <a:solidFill>
                <a:schemeClr val="dk1"/>
              </a:solidFill>
              <a:latin typeface="Calibri"/>
              <a:ea typeface="Calibri"/>
              <a:cs typeface="Calibri"/>
              <a:sym typeface="Calibri"/>
            </a:endParaRPr>
          </a:p>
        </p:txBody>
      </p:sp>
      <p:sp>
        <p:nvSpPr>
          <p:cNvPr id="111" name="Google Shape;111;p3"/>
          <p:cNvSpPr/>
          <p:nvPr/>
        </p:nvSpPr>
        <p:spPr>
          <a:xfrm>
            <a:off x="548640" y="4800600"/>
            <a:ext cx="4937760" cy="1234440"/>
          </a:xfrm>
          <a:prstGeom prst="roundRect">
            <a:avLst>
              <a:gd fmla="val 5926"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3"/>
          <p:cNvSpPr txBox="1"/>
          <p:nvPr/>
        </p:nvSpPr>
        <p:spPr>
          <a:xfrm>
            <a:off x="777240" y="4937760"/>
            <a:ext cx="4526280" cy="9601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500"/>
              <a:buFont typeface="Calibri"/>
              <a:buNone/>
            </a:pPr>
            <a:r>
              <a:rPr b="1" i="0" lang="en-US" sz="1500" u="none" cap="none" strike="noStrike">
                <a:solidFill>
                  <a:schemeClr val="dk2"/>
                </a:solidFill>
                <a:latin typeface="Calibri"/>
                <a:ea typeface="Calibri"/>
                <a:cs typeface="Calibri"/>
                <a:sym typeface="Calibri"/>
              </a:rPr>
              <a:t>Formally: </a:t>
            </a:r>
            <a:r>
              <a:rPr b="0" i="0" lang="en-US" sz="1500" u="none" cap="none" strike="noStrike">
                <a:solidFill>
                  <a:schemeClr val="dk1"/>
                </a:solidFill>
                <a:latin typeface="Calibri"/>
                <a:ea typeface="Calibri"/>
                <a:cs typeface="Calibri"/>
                <a:sym typeface="Calibri"/>
              </a:rPr>
              <a:t>given X = (x₁ … x₈), learn f(X) → ŷ ∈ {0, 1} and estimate P(y = 1 | X)</a:t>
            </a:r>
            <a:endParaRPr b="0" i="0" sz="1500" u="none" cap="none" strike="noStrike">
              <a:solidFill>
                <a:schemeClr val="dk1"/>
              </a:solidFill>
              <a:latin typeface="Calibri"/>
              <a:ea typeface="Calibri"/>
              <a:cs typeface="Calibri"/>
              <a:sym typeface="Calibri"/>
            </a:endParaRPr>
          </a:p>
        </p:txBody>
      </p:sp>
      <p:sp>
        <p:nvSpPr>
          <p:cNvPr id="113" name="Google Shape;113;p3"/>
          <p:cNvSpPr/>
          <p:nvPr/>
        </p:nvSpPr>
        <p:spPr>
          <a:xfrm>
            <a:off x="5989320" y="1371600"/>
            <a:ext cx="2468880" cy="4663440"/>
          </a:xfrm>
          <a:prstGeom prst="roundRect">
            <a:avLst>
              <a:gd fmla="val 2963"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 name="Google Shape;114;p3"/>
          <p:cNvSpPr txBox="1"/>
          <p:nvPr/>
        </p:nvSpPr>
        <p:spPr>
          <a:xfrm>
            <a:off x="6172200" y="1508760"/>
            <a:ext cx="210312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500"/>
              <a:buFont typeface="Calibri"/>
              <a:buNone/>
            </a:pPr>
            <a:r>
              <a:rPr b="1" i="0" lang="en-US" sz="1500" u="none" cap="none" strike="noStrike">
                <a:solidFill>
                  <a:schemeClr val="dk2"/>
                </a:solidFill>
                <a:latin typeface="Calibri"/>
                <a:ea typeface="Calibri"/>
                <a:cs typeface="Calibri"/>
                <a:sym typeface="Calibri"/>
              </a:rPr>
              <a:t>8 inputs</a:t>
            </a:r>
            <a:endParaRPr b="0" i="0" sz="1500" u="none" cap="none" strike="noStrike">
              <a:solidFill>
                <a:schemeClr val="dk1"/>
              </a:solidFill>
              <a:latin typeface="Calibri"/>
              <a:ea typeface="Calibri"/>
              <a:cs typeface="Calibri"/>
              <a:sym typeface="Calibri"/>
            </a:endParaRPr>
          </a:p>
        </p:txBody>
      </p:sp>
      <p:sp>
        <p:nvSpPr>
          <p:cNvPr id="115" name="Google Shape;115;p3"/>
          <p:cNvSpPr/>
          <p:nvPr/>
        </p:nvSpPr>
        <p:spPr>
          <a:xfrm>
            <a:off x="6217920" y="1965960"/>
            <a:ext cx="2011680" cy="384048"/>
          </a:xfrm>
          <a:prstGeom prst="roundRect">
            <a:avLst>
              <a:gd fmla="val 14286" name="adj"/>
            </a:avLst>
          </a:prstGeom>
          <a:solidFill>
            <a:schemeClr val="lt1"/>
          </a:solidFill>
          <a:ln cap="flat" cmpd="sng" w="9525">
            <a:solidFill>
              <a:srgbClr val="C9D9DC"/>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1"/>
              </a:buClr>
              <a:buSzPts val="1300"/>
              <a:buFont typeface="Calibri"/>
              <a:buNone/>
            </a:pPr>
            <a:r>
              <a:rPr b="0" i="0" lang="en-US" sz="1300" u="none" cap="none" strike="noStrike">
                <a:solidFill>
                  <a:schemeClr val="dk1"/>
                </a:solidFill>
                <a:latin typeface="Calibri"/>
                <a:ea typeface="Calibri"/>
                <a:cs typeface="Calibri"/>
                <a:sym typeface="Calibri"/>
              </a:rPr>
              <a:t>Pregnancies</a:t>
            </a:r>
            <a:endParaRPr b="0" i="0" sz="1300" u="none" cap="none" strike="noStrike">
              <a:solidFill>
                <a:schemeClr val="dk1"/>
              </a:solidFill>
              <a:latin typeface="Calibri"/>
              <a:ea typeface="Calibri"/>
              <a:cs typeface="Calibri"/>
              <a:sym typeface="Calibri"/>
            </a:endParaRPr>
          </a:p>
        </p:txBody>
      </p:sp>
      <p:sp>
        <p:nvSpPr>
          <p:cNvPr id="116" name="Google Shape;116;p3"/>
          <p:cNvSpPr/>
          <p:nvPr/>
        </p:nvSpPr>
        <p:spPr>
          <a:xfrm>
            <a:off x="6217920" y="2450592"/>
            <a:ext cx="2011680" cy="384048"/>
          </a:xfrm>
          <a:prstGeom prst="roundRect">
            <a:avLst>
              <a:gd fmla="val 14286" name="adj"/>
            </a:avLst>
          </a:prstGeom>
          <a:solidFill>
            <a:schemeClr val="lt1"/>
          </a:solidFill>
          <a:ln cap="flat" cmpd="sng" w="9525">
            <a:solidFill>
              <a:srgbClr val="C9D9DC"/>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1"/>
              </a:buClr>
              <a:buSzPts val="1300"/>
              <a:buFont typeface="Calibri"/>
              <a:buNone/>
            </a:pPr>
            <a:r>
              <a:rPr b="0" i="0" lang="en-US" sz="1300" u="none" cap="none" strike="noStrike">
                <a:solidFill>
                  <a:schemeClr val="dk1"/>
                </a:solidFill>
                <a:latin typeface="Calibri"/>
                <a:ea typeface="Calibri"/>
                <a:cs typeface="Calibri"/>
                <a:sym typeface="Calibri"/>
              </a:rPr>
              <a:t>Glucose</a:t>
            </a:r>
            <a:endParaRPr b="0" i="0" sz="1300" u="none" cap="none" strike="noStrike">
              <a:solidFill>
                <a:schemeClr val="dk1"/>
              </a:solidFill>
              <a:latin typeface="Calibri"/>
              <a:ea typeface="Calibri"/>
              <a:cs typeface="Calibri"/>
              <a:sym typeface="Calibri"/>
            </a:endParaRPr>
          </a:p>
        </p:txBody>
      </p:sp>
      <p:sp>
        <p:nvSpPr>
          <p:cNvPr id="117" name="Google Shape;117;p3"/>
          <p:cNvSpPr/>
          <p:nvPr/>
        </p:nvSpPr>
        <p:spPr>
          <a:xfrm>
            <a:off x="6217920" y="2935224"/>
            <a:ext cx="2011680" cy="384048"/>
          </a:xfrm>
          <a:prstGeom prst="roundRect">
            <a:avLst>
              <a:gd fmla="val 14286" name="adj"/>
            </a:avLst>
          </a:prstGeom>
          <a:solidFill>
            <a:schemeClr val="lt1"/>
          </a:solidFill>
          <a:ln cap="flat" cmpd="sng" w="9525">
            <a:solidFill>
              <a:srgbClr val="C9D9DC"/>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1"/>
              </a:buClr>
              <a:buSzPts val="1300"/>
              <a:buFont typeface="Calibri"/>
              <a:buNone/>
            </a:pPr>
            <a:r>
              <a:rPr b="0" i="0" lang="en-US" sz="1300" u="none" cap="none" strike="noStrike">
                <a:solidFill>
                  <a:schemeClr val="dk1"/>
                </a:solidFill>
                <a:latin typeface="Calibri"/>
                <a:ea typeface="Calibri"/>
                <a:cs typeface="Calibri"/>
                <a:sym typeface="Calibri"/>
              </a:rPr>
              <a:t>Blood pressure</a:t>
            </a:r>
            <a:endParaRPr b="0" i="0" sz="1300" u="none" cap="none" strike="noStrike">
              <a:solidFill>
                <a:schemeClr val="dk1"/>
              </a:solidFill>
              <a:latin typeface="Calibri"/>
              <a:ea typeface="Calibri"/>
              <a:cs typeface="Calibri"/>
              <a:sym typeface="Calibri"/>
            </a:endParaRPr>
          </a:p>
        </p:txBody>
      </p:sp>
      <p:sp>
        <p:nvSpPr>
          <p:cNvPr id="118" name="Google Shape;118;p3"/>
          <p:cNvSpPr/>
          <p:nvPr/>
        </p:nvSpPr>
        <p:spPr>
          <a:xfrm>
            <a:off x="6217920" y="3419856"/>
            <a:ext cx="2011680" cy="384048"/>
          </a:xfrm>
          <a:prstGeom prst="roundRect">
            <a:avLst>
              <a:gd fmla="val 14286" name="adj"/>
            </a:avLst>
          </a:prstGeom>
          <a:solidFill>
            <a:schemeClr val="lt1"/>
          </a:solidFill>
          <a:ln cap="flat" cmpd="sng" w="9525">
            <a:solidFill>
              <a:srgbClr val="C9D9DC"/>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1"/>
              </a:buClr>
              <a:buSzPts val="1300"/>
              <a:buFont typeface="Calibri"/>
              <a:buNone/>
            </a:pPr>
            <a:r>
              <a:rPr b="0" i="0" lang="en-US" sz="1300" u="none" cap="none" strike="noStrike">
                <a:solidFill>
                  <a:schemeClr val="dk1"/>
                </a:solidFill>
                <a:latin typeface="Calibri"/>
                <a:ea typeface="Calibri"/>
                <a:cs typeface="Calibri"/>
                <a:sym typeface="Calibri"/>
              </a:rPr>
              <a:t>Skin thickness</a:t>
            </a:r>
            <a:endParaRPr b="0" i="0" sz="1300" u="none" cap="none" strike="noStrike">
              <a:solidFill>
                <a:schemeClr val="dk1"/>
              </a:solidFill>
              <a:latin typeface="Calibri"/>
              <a:ea typeface="Calibri"/>
              <a:cs typeface="Calibri"/>
              <a:sym typeface="Calibri"/>
            </a:endParaRPr>
          </a:p>
        </p:txBody>
      </p:sp>
      <p:sp>
        <p:nvSpPr>
          <p:cNvPr id="119" name="Google Shape;119;p3"/>
          <p:cNvSpPr/>
          <p:nvPr/>
        </p:nvSpPr>
        <p:spPr>
          <a:xfrm>
            <a:off x="6217920" y="3904488"/>
            <a:ext cx="2011680" cy="384048"/>
          </a:xfrm>
          <a:prstGeom prst="roundRect">
            <a:avLst>
              <a:gd fmla="val 14286" name="adj"/>
            </a:avLst>
          </a:prstGeom>
          <a:solidFill>
            <a:schemeClr val="lt1"/>
          </a:solidFill>
          <a:ln cap="flat" cmpd="sng" w="9525">
            <a:solidFill>
              <a:srgbClr val="C9D9DC"/>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1"/>
              </a:buClr>
              <a:buSzPts val="1300"/>
              <a:buFont typeface="Calibri"/>
              <a:buNone/>
            </a:pPr>
            <a:r>
              <a:rPr b="0" i="0" lang="en-US" sz="1300" u="none" cap="none" strike="noStrike">
                <a:solidFill>
                  <a:schemeClr val="dk1"/>
                </a:solidFill>
                <a:latin typeface="Calibri"/>
                <a:ea typeface="Calibri"/>
                <a:cs typeface="Calibri"/>
                <a:sym typeface="Calibri"/>
              </a:rPr>
              <a:t>Insulin</a:t>
            </a:r>
            <a:endParaRPr b="0" i="0" sz="1300" u="none" cap="none" strike="noStrike">
              <a:solidFill>
                <a:schemeClr val="dk1"/>
              </a:solidFill>
              <a:latin typeface="Calibri"/>
              <a:ea typeface="Calibri"/>
              <a:cs typeface="Calibri"/>
              <a:sym typeface="Calibri"/>
            </a:endParaRPr>
          </a:p>
        </p:txBody>
      </p:sp>
      <p:sp>
        <p:nvSpPr>
          <p:cNvPr id="120" name="Google Shape;120;p3"/>
          <p:cNvSpPr/>
          <p:nvPr/>
        </p:nvSpPr>
        <p:spPr>
          <a:xfrm>
            <a:off x="6217920" y="4389120"/>
            <a:ext cx="2011680" cy="384048"/>
          </a:xfrm>
          <a:prstGeom prst="roundRect">
            <a:avLst>
              <a:gd fmla="val 14286" name="adj"/>
            </a:avLst>
          </a:prstGeom>
          <a:solidFill>
            <a:schemeClr val="lt1"/>
          </a:solidFill>
          <a:ln cap="flat" cmpd="sng" w="9525">
            <a:solidFill>
              <a:srgbClr val="C9D9DC"/>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1"/>
              </a:buClr>
              <a:buSzPts val="1300"/>
              <a:buFont typeface="Calibri"/>
              <a:buNone/>
            </a:pPr>
            <a:r>
              <a:rPr b="0" i="0" lang="en-US" sz="1300" u="none" cap="none" strike="noStrike">
                <a:solidFill>
                  <a:schemeClr val="dk1"/>
                </a:solidFill>
                <a:latin typeface="Calibri"/>
                <a:ea typeface="Calibri"/>
                <a:cs typeface="Calibri"/>
                <a:sym typeface="Calibri"/>
              </a:rPr>
              <a:t>BMI</a:t>
            </a:r>
            <a:endParaRPr b="0" i="0" sz="1300" u="none" cap="none" strike="noStrike">
              <a:solidFill>
                <a:schemeClr val="dk1"/>
              </a:solidFill>
              <a:latin typeface="Calibri"/>
              <a:ea typeface="Calibri"/>
              <a:cs typeface="Calibri"/>
              <a:sym typeface="Calibri"/>
            </a:endParaRPr>
          </a:p>
        </p:txBody>
      </p:sp>
      <p:sp>
        <p:nvSpPr>
          <p:cNvPr id="121" name="Google Shape;121;p3"/>
          <p:cNvSpPr/>
          <p:nvPr/>
        </p:nvSpPr>
        <p:spPr>
          <a:xfrm>
            <a:off x="6217920" y="4873752"/>
            <a:ext cx="2011680" cy="384048"/>
          </a:xfrm>
          <a:prstGeom prst="roundRect">
            <a:avLst>
              <a:gd fmla="val 14286" name="adj"/>
            </a:avLst>
          </a:prstGeom>
          <a:solidFill>
            <a:schemeClr val="lt1"/>
          </a:solidFill>
          <a:ln cap="flat" cmpd="sng" w="9525">
            <a:solidFill>
              <a:srgbClr val="C9D9DC"/>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1"/>
              </a:buClr>
              <a:buSzPts val="1300"/>
              <a:buFont typeface="Calibri"/>
              <a:buNone/>
            </a:pPr>
            <a:r>
              <a:rPr b="0" i="0" lang="en-US" sz="1300" u="none" cap="none" strike="noStrike">
                <a:solidFill>
                  <a:schemeClr val="dk1"/>
                </a:solidFill>
                <a:latin typeface="Calibri"/>
                <a:ea typeface="Calibri"/>
                <a:cs typeface="Calibri"/>
                <a:sym typeface="Calibri"/>
              </a:rPr>
              <a:t>Pedigree function</a:t>
            </a:r>
            <a:endParaRPr b="0" i="0" sz="1300" u="none" cap="none" strike="noStrike">
              <a:solidFill>
                <a:schemeClr val="dk1"/>
              </a:solidFill>
              <a:latin typeface="Calibri"/>
              <a:ea typeface="Calibri"/>
              <a:cs typeface="Calibri"/>
              <a:sym typeface="Calibri"/>
            </a:endParaRPr>
          </a:p>
        </p:txBody>
      </p:sp>
      <p:sp>
        <p:nvSpPr>
          <p:cNvPr id="122" name="Google Shape;122;p3"/>
          <p:cNvSpPr/>
          <p:nvPr/>
        </p:nvSpPr>
        <p:spPr>
          <a:xfrm>
            <a:off x="6217920" y="5358384"/>
            <a:ext cx="2011680" cy="384048"/>
          </a:xfrm>
          <a:prstGeom prst="roundRect">
            <a:avLst>
              <a:gd fmla="val 14286" name="adj"/>
            </a:avLst>
          </a:prstGeom>
          <a:solidFill>
            <a:schemeClr val="lt1"/>
          </a:solidFill>
          <a:ln cap="flat" cmpd="sng" w="9525">
            <a:solidFill>
              <a:srgbClr val="C9D9DC"/>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1"/>
              </a:buClr>
              <a:buSzPts val="1300"/>
              <a:buFont typeface="Calibri"/>
              <a:buNone/>
            </a:pPr>
            <a:r>
              <a:rPr b="0" i="0" lang="en-US" sz="1300" u="none" cap="none" strike="noStrike">
                <a:solidFill>
                  <a:schemeClr val="dk1"/>
                </a:solidFill>
                <a:latin typeface="Calibri"/>
                <a:ea typeface="Calibri"/>
                <a:cs typeface="Calibri"/>
                <a:sym typeface="Calibri"/>
              </a:rPr>
              <a:t>Age</a:t>
            </a:r>
            <a:endParaRPr b="0" i="0" sz="1300" u="none" cap="none" strike="noStrike">
              <a:solidFill>
                <a:schemeClr val="dk1"/>
              </a:solidFill>
              <a:latin typeface="Calibri"/>
              <a:ea typeface="Calibri"/>
              <a:cs typeface="Calibri"/>
              <a:sym typeface="Calibri"/>
            </a:endParaRPr>
          </a:p>
        </p:txBody>
      </p:sp>
      <p:sp>
        <p:nvSpPr>
          <p:cNvPr id="123" name="Google Shape;123;p3"/>
          <p:cNvSpPr/>
          <p:nvPr/>
        </p:nvSpPr>
        <p:spPr>
          <a:xfrm>
            <a:off x="8549640" y="3429000"/>
            <a:ext cx="502920" cy="457200"/>
          </a:xfrm>
          <a:prstGeom prst="rightArrow">
            <a:avLst>
              <a:gd fmla="val 50000" name="adj1"/>
              <a:gd fmla="val 50000" name="adj2"/>
            </a:avLst>
          </a:prstGeom>
          <a:solidFill>
            <a:schemeClr val="accent5"/>
          </a:solidFill>
          <a:ln cap="flat" cmpd="sng" w="1270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3"/>
          <p:cNvSpPr/>
          <p:nvPr/>
        </p:nvSpPr>
        <p:spPr>
          <a:xfrm>
            <a:off x="9144000" y="3017520"/>
            <a:ext cx="1280160" cy="1280160"/>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125" name="Google Shape;125;p3"/>
          <p:cNvPicPr preferRelativeResize="0"/>
          <p:nvPr/>
        </p:nvPicPr>
        <p:blipFill rotWithShape="1">
          <a:blip r:embed="rId3">
            <a:alphaModFix/>
          </a:blip>
          <a:srcRect b="0" l="0" r="0" t="0"/>
          <a:stretch/>
        </p:blipFill>
        <p:spPr>
          <a:xfrm>
            <a:off x="9451238" y="3324758"/>
            <a:ext cx="665683" cy="665683"/>
          </a:xfrm>
          <a:prstGeom prst="rect">
            <a:avLst/>
          </a:prstGeom>
          <a:noFill/>
          <a:ln>
            <a:noFill/>
          </a:ln>
        </p:spPr>
      </p:pic>
      <p:sp>
        <p:nvSpPr>
          <p:cNvPr id="126" name="Google Shape;126;p3"/>
          <p:cNvSpPr txBox="1"/>
          <p:nvPr/>
        </p:nvSpPr>
        <p:spPr>
          <a:xfrm>
            <a:off x="9006840" y="4343400"/>
            <a:ext cx="1554480" cy="32004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dk2"/>
              </a:buClr>
              <a:buSzPts val="1300"/>
              <a:buFont typeface="Calibri"/>
              <a:buNone/>
            </a:pPr>
            <a:r>
              <a:rPr b="1" i="0" lang="en-US" sz="1300" u="none" cap="none" strike="noStrike">
                <a:solidFill>
                  <a:schemeClr val="dk2"/>
                </a:solidFill>
                <a:latin typeface="Calibri"/>
                <a:ea typeface="Calibri"/>
                <a:cs typeface="Calibri"/>
                <a:sym typeface="Calibri"/>
              </a:rPr>
              <a:t>ML model</a:t>
            </a:r>
            <a:endParaRPr b="0" i="0" sz="1300" u="none" cap="none" strike="noStrike">
              <a:solidFill>
                <a:schemeClr val="dk1"/>
              </a:solidFill>
              <a:latin typeface="Calibri"/>
              <a:ea typeface="Calibri"/>
              <a:cs typeface="Calibri"/>
              <a:sym typeface="Calibri"/>
            </a:endParaRPr>
          </a:p>
        </p:txBody>
      </p:sp>
      <p:sp>
        <p:nvSpPr>
          <p:cNvPr id="127" name="Google Shape;127;p3"/>
          <p:cNvSpPr/>
          <p:nvPr/>
        </p:nvSpPr>
        <p:spPr>
          <a:xfrm>
            <a:off x="10515600" y="3429000"/>
            <a:ext cx="411480" cy="457200"/>
          </a:xfrm>
          <a:prstGeom prst="rightArrow">
            <a:avLst>
              <a:gd fmla="val 50000" name="adj1"/>
              <a:gd fmla="val 50000" name="adj2"/>
            </a:avLst>
          </a:prstGeom>
          <a:solidFill>
            <a:schemeClr val="accent5"/>
          </a:solidFill>
          <a:ln cap="flat" cmpd="sng" w="1270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 name="Google Shape;128;p3"/>
          <p:cNvSpPr/>
          <p:nvPr/>
        </p:nvSpPr>
        <p:spPr>
          <a:xfrm>
            <a:off x="10972800" y="2514600"/>
            <a:ext cx="667512" cy="2286000"/>
          </a:xfrm>
          <a:prstGeom prst="roundRect">
            <a:avLst>
              <a:gd fmla="val 10959" name="adj"/>
            </a:avLst>
          </a:prstGeom>
          <a:solidFill>
            <a:schemeClr val="accent2"/>
          </a:solidFill>
          <a:ln cap="flat" cmpd="sng" w="12700">
            <a:solidFill>
              <a:schemeClr val="accen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 name="Google Shape;129;p3"/>
          <p:cNvSpPr txBox="1"/>
          <p:nvPr/>
        </p:nvSpPr>
        <p:spPr>
          <a:xfrm rot="-5400000">
            <a:off x="10163556" y="3323844"/>
            <a:ext cx="2286000" cy="66751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400"/>
              <a:buFont typeface="Calibri"/>
              <a:buNone/>
            </a:pPr>
            <a:r>
              <a:rPr b="1" i="0" lang="en-US" sz="1400" u="none" cap="none" strike="noStrike">
                <a:solidFill>
                  <a:schemeClr val="lt1"/>
                </a:solidFill>
                <a:latin typeface="Calibri"/>
                <a:ea typeface="Calibri"/>
                <a:cs typeface="Calibri"/>
                <a:sym typeface="Calibri"/>
              </a:rPr>
              <a:t>Risk %</a:t>
            </a:r>
            <a:endParaRPr b="0" i="0" sz="1400" u="none" cap="none" strike="noStrike">
              <a:solidFill>
                <a:schemeClr val="dk1"/>
              </a:solidFill>
              <a:latin typeface="Calibri"/>
              <a:ea typeface="Calibri"/>
              <a:cs typeface="Calibri"/>
              <a:sym typeface="Calibri"/>
            </a:endParaRPr>
          </a:p>
        </p:txBody>
      </p:sp>
      <p:sp>
        <p:nvSpPr>
          <p:cNvPr id="130" name="Google Shape;130;p3">
            <a:hlinkClick action="ppaction://hlinksldjump" r:id="rId4"/>
          </p:cNvPr>
          <p:cNvSpPr/>
          <p:nvPr/>
        </p:nvSpPr>
        <p:spPr>
          <a:xfrm>
            <a:off x="10680192" y="6336792"/>
            <a:ext cx="960120" cy="365760"/>
          </a:xfrm>
          <a:prstGeom prst="roundRect">
            <a:avLst>
              <a:gd fmla="val 25000" name="adj"/>
            </a:avLst>
          </a:prstGeom>
          <a:solidFill>
            <a:schemeClr val="accent1"/>
          </a:solidFill>
          <a:ln cap="flat" cmpd="sng" w="9525">
            <a:solidFill>
              <a:schemeClr val="accent1"/>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Next ›</a:t>
            </a:r>
            <a:endParaRPr b="0" i="0" sz="1200" u="none" cap="none" strike="noStrike">
              <a:solidFill>
                <a:schemeClr val="dk1"/>
              </a:solidFill>
              <a:latin typeface="Calibri"/>
              <a:ea typeface="Calibri"/>
              <a:cs typeface="Calibri"/>
              <a:sym typeface="Calibri"/>
            </a:endParaRPr>
          </a:p>
        </p:txBody>
      </p:sp>
      <p:sp>
        <p:nvSpPr>
          <p:cNvPr id="131" name="Google Shape;131;p3">
            <a:hlinkClick action="ppaction://hlinksldjump" r:id="rId5"/>
          </p:cNvPr>
          <p:cNvSpPr/>
          <p:nvPr/>
        </p:nvSpPr>
        <p:spPr>
          <a:xfrm>
            <a:off x="9610344" y="6336792"/>
            <a:ext cx="960120" cy="365760"/>
          </a:xfrm>
          <a:prstGeom prst="roundRect">
            <a:avLst>
              <a:gd fmla="val 25000"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1" i="0" lang="en-US" sz="1200" u="none" cap="none" strike="noStrike">
                <a:solidFill>
                  <a:schemeClr val="dk2"/>
                </a:solidFill>
                <a:latin typeface="Calibri"/>
                <a:ea typeface="Calibri"/>
                <a:cs typeface="Calibri"/>
                <a:sym typeface="Calibri"/>
              </a:rPr>
              <a:t>Agenda</a:t>
            </a:r>
            <a:endParaRPr b="0" i="0" sz="1200" u="none" cap="none" strike="noStrike">
              <a:solidFill>
                <a:schemeClr val="dk1"/>
              </a:solidFill>
              <a:latin typeface="Calibri"/>
              <a:ea typeface="Calibri"/>
              <a:cs typeface="Calibri"/>
              <a:sym typeface="Calibri"/>
            </a:endParaRPr>
          </a:p>
        </p:txBody>
      </p:sp>
      <p:sp>
        <p:nvSpPr>
          <p:cNvPr id="132" name="Google Shape;132;p3">
            <a:hlinkClick action="ppaction://hlinksldjump" r:id="rId6"/>
          </p:cNvPr>
          <p:cNvSpPr/>
          <p:nvPr/>
        </p:nvSpPr>
        <p:spPr>
          <a:xfrm>
            <a:off x="8540496" y="6336792"/>
            <a:ext cx="960120" cy="365760"/>
          </a:xfrm>
          <a:prstGeom prst="roundRect">
            <a:avLst>
              <a:gd fmla="val 25000"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1" i="0" lang="en-US" sz="1200" u="none" cap="none" strike="noStrike">
                <a:solidFill>
                  <a:schemeClr val="dk2"/>
                </a:solidFill>
                <a:latin typeface="Calibri"/>
                <a:ea typeface="Calibri"/>
                <a:cs typeface="Calibri"/>
                <a:sym typeface="Calibri"/>
              </a:rPr>
              <a:t>‹ Prev</a:t>
            </a:r>
            <a:endParaRPr b="0" i="0" sz="1200" u="none" cap="none" strike="noStrike">
              <a:solidFill>
                <a:schemeClr val="dk1"/>
              </a:solidFill>
              <a:latin typeface="Calibri"/>
              <a:ea typeface="Calibri"/>
              <a:cs typeface="Calibri"/>
              <a:sym typeface="Calibri"/>
            </a:endParaRPr>
          </a:p>
        </p:txBody>
      </p:sp>
      <p:sp>
        <p:nvSpPr>
          <p:cNvPr id="133" name="Google Shape;133;p3"/>
          <p:cNvSpPr txBox="1"/>
          <p:nvPr>
            <p:ph idx="4294967295" type="sldNum"/>
          </p:nvPr>
        </p:nvSpPr>
        <p:spPr>
          <a:xfrm>
            <a:off x="8732520" y="6382512"/>
            <a:ext cx="502920" cy="292608"/>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accent5"/>
                </a:solidFill>
                <a:latin typeface="Calibri"/>
                <a:ea typeface="Calibri"/>
                <a:cs typeface="Calibri"/>
                <a:sym typeface="Calibri"/>
              </a:rPr>
              <a:t>‹#›</a:t>
            </a:fld>
            <a:endParaRPr b="0" i="0" sz="1000" u="none" cap="none" strike="noStrike">
              <a:solidFill>
                <a:schemeClr val="accent5"/>
              </a:solidFill>
              <a:latin typeface="Calibri"/>
              <a:ea typeface="Calibri"/>
              <a:cs typeface="Calibri"/>
              <a:sym typeface="Calibri"/>
            </a:endParaRPr>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 name="Shape 138"/>
        <p:cNvGrpSpPr/>
        <p:nvPr/>
      </p:nvGrpSpPr>
      <p:grpSpPr>
        <a:xfrm>
          <a:off x="0" y="0"/>
          <a:ext cx="0" cy="0"/>
          <a:chOff x="0" y="0"/>
          <a:chExt cx="0" cy="0"/>
        </a:xfrm>
      </p:grpSpPr>
      <p:sp>
        <p:nvSpPr>
          <p:cNvPr id="139" name="Google Shape;139;p4"/>
          <p:cNvSpPr txBox="1"/>
          <p:nvPr>
            <p:ph type="title"/>
          </p:nvPr>
        </p:nvSpPr>
        <p:spPr>
          <a:xfrm>
            <a:off x="548640" y="347472"/>
            <a:ext cx="11064240" cy="7315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200"/>
              <a:buFont typeface="Cambria"/>
              <a:buNone/>
            </a:pPr>
            <a:r>
              <a:rPr b="1" lang="en-US" sz="3200">
                <a:solidFill>
                  <a:schemeClr val="dk2"/>
                </a:solidFill>
                <a:latin typeface="Cambria"/>
                <a:ea typeface="Cambria"/>
                <a:cs typeface="Cambria"/>
                <a:sym typeface="Cambria"/>
              </a:rPr>
              <a:t>Motivation &amp; Objectives</a:t>
            </a:r>
            <a:endParaRPr sz="3200"/>
          </a:p>
        </p:txBody>
      </p:sp>
      <p:sp>
        <p:nvSpPr>
          <p:cNvPr id="140" name="Google Shape;140;p4"/>
          <p:cNvSpPr txBox="1"/>
          <p:nvPr/>
        </p:nvSpPr>
        <p:spPr>
          <a:xfrm>
            <a:off x="548640" y="1325880"/>
            <a:ext cx="5120640" cy="411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Cambria"/>
              <a:buNone/>
            </a:pPr>
            <a:r>
              <a:rPr b="1" i="0" lang="en-US" sz="2000" u="none" cap="none" strike="noStrike">
                <a:solidFill>
                  <a:schemeClr val="dk2"/>
                </a:solidFill>
                <a:latin typeface="Cambria"/>
                <a:ea typeface="Cambria"/>
                <a:cs typeface="Cambria"/>
                <a:sym typeface="Cambria"/>
              </a:rPr>
              <a:t>Why it matters</a:t>
            </a:r>
            <a:endParaRPr b="0" i="0" sz="2000" u="none" cap="none" strike="noStrike">
              <a:solidFill>
                <a:schemeClr val="dk1"/>
              </a:solidFill>
              <a:latin typeface="Calibri"/>
              <a:ea typeface="Calibri"/>
              <a:cs typeface="Calibri"/>
              <a:sym typeface="Calibri"/>
            </a:endParaRPr>
          </a:p>
        </p:txBody>
      </p:sp>
      <p:sp>
        <p:nvSpPr>
          <p:cNvPr id="141" name="Google Shape;141;p4"/>
          <p:cNvSpPr/>
          <p:nvPr/>
        </p:nvSpPr>
        <p:spPr>
          <a:xfrm>
            <a:off x="548640" y="1874520"/>
            <a:ext cx="731520" cy="731520"/>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142" name="Google Shape;142;p4"/>
          <p:cNvPicPr preferRelativeResize="0"/>
          <p:nvPr/>
        </p:nvPicPr>
        <p:blipFill rotWithShape="1">
          <a:blip r:embed="rId3">
            <a:alphaModFix/>
          </a:blip>
          <a:srcRect b="0" l="0" r="0" t="0"/>
          <a:stretch/>
        </p:blipFill>
        <p:spPr>
          <a:xfrm>
            <a:off x="724205" y="2050085"/>
            <a:ext cx="380390" cy="380390"/>
          </a:xfrm>
          <a:prstGeom prst="rect">
            <a:avLst/>
          </a:prstGeom>
          <a:noFill/>
          <a:ln>
            <a:noFill/>
          </a:ln>
        </p:spPr>
      </p:pic>
      <p:sp>
        <p:nvSpPr>
          <p:cNvPr id="143" name="Google Shape;143;p4"/>
          <p:cNvSpPr txBox="1"/>
          <p:nvPr/>
        </p:nvSpPr>
        <p:spPr>
          <a:xfrm>
            <a:off x="1463040" y="1856232"/>
            <a:ext cx="4206240" cy="91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600"/>
              <a:buFont typeface="Calibri"/>
              <a:buNone/>
            </a:pPr>
            <a:r>
              <a:rPr b="1" i="0" lang="en-US" sz="1600" u="none" cap="none" strike="noStrike">
                <a:solidFill>
                  <a:schemeClr val="dk2"/>
                </a:solidFill>
                <a:latin typeface="Calibri"/>
                <a:ea typeface="Calibri"/>
                <a:cs typeface="Calibri"/>
                <a:sym typeface="Calibri"/>
              </a:rPr>
              <a:t>Early detection</a:t>
            </a:r>
            <a:endParaRPr b="0" i="0" sz="15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400"/>
              <a:buFont typeface="Calibri"/>
              <a:buNone/>
            </a:pPr>
            <a:r>
              <a:rPr b="0" i="0" lang="en-US" sz="1400" u="none" cap="none" strike="noStrike">
                <a:solidFill>
                  <a:schemeClr val="dk1"/>
                </a:solidFill>
                <a:latin typeface="Calibri"/>
                <a:ea typeface="Calibri"/>
                <a:cs typeface="Calibri"/>
                <a:sym typeface="Calibri"/>
              </a:rPr>
              <a:t>Earlier testing and intervention can reduce complications</a:t>
            </a:r>
            <a:endParaRPr b="0" i="0" sz="1500" u="none" cap="none" strike="noStrike">
              <a:solidFill>
                <a:schemeClr val="dk1"/>
              </a:solidFill>
              <a:latin typeface="Calibri"/>
              <a:ea typeface="Calibri"/>
              <a:cs typeface="Calibri"/>
              <a:sym typeface="Calibri"/>
            </a:endParaRPr>
          </a:p>
        </p:txBody>
      </p:sp>
      <p:sp>
        <p:nvSpPr>
          <p:cNvPr id="144" name="Google Shape;144;p4"/>
          <p:cNvSpPr/>
          <p:nvPr/>
        </p:nvSpPr>
        <p:spPr>
          <a:xfrm>
            <a:off x="548640" y="3200400"/>
            <a:ext cx="731520" cy="731520"/>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145" name="Google Shape;145;p4"/>
          <p:cNvPicPr preferRelativeResize="0"/>
          <p:nvPr/>
        </p:nvPicPr>
        <p:blipFill rotWithShape="1">
          <a:blip r:embed="rId4">
            <a:alphaModFix/>
          </a:blip>
          <a:srcRect b="0" l="0" r="0" t="0"/>
          <a:stretch/>
        </p:blipFill>
        <p:spPr>
          <a:xfrm>
            <a:off x="724205" y="3375965"/>
            <a:ext cx="380390" cy="380390"/>
          </a:xfrm>
          <a:prstGeom prst="rect">
            <a:avLst/>
          </a:prstGeom>
          <a:noFill/>
          <a:ln>
            <a:noFill/>
          </a:ln>
        </p:spPr>
      </p:pic>
      <p:sp>
        <p:nvSpPr>
          <p:cNvPr id="146" name="Google Shape;146;p4"/>
          <p:cNvSpPr txBox="1"/>
          <p:nvPr/>
        </p:nvSpPr>
        <p:spPr>
          <a:xfrm>
            <a:off x="1463040" y="3182112"/>
            <a:ext cx="4206240" cy="91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600"/>
              <a:buFont typeface="Calibri"/>
              <a:buNone/>
            </a:pPr>
            <a:r>
              <a:rPr b="1" i="0" lang="en-US" sz="1600" u="none" cap="none" strike="noStrike">
                <a:solidFill>
                  <a:schemeClr val="dk2"/>
                </a:solidFill>
                <a:latin typeface="Calibri"/>
                <a:ea typeface="Calibri"/>
                <a:cs typeface="Calibri"/>
                <a:sym typeface="Calibri"/>
              </a:rPr>
              <a:t>Low-cost inputs</a:t>
            </a:r>
            <a:endParaRPr b="0" i="0" sz="15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400"/>
              <a:buFont typeface="Calibri"/>
              <a:buNone/>
            </a:pPr>
            <a:r>
              <a:rPr b="0" i="0" lang="en-US" sz="1400" u="none" cap="none" strike="noStrike">
                <a:solidFill>
                  <a:schemeClr val="dk1"/>
                </a:solidFill>
                <a:latin typeface="Calibri"/>
                <a:ea typeface="Calibri"/>
                <a:cs typeface="Calibri"/>
                <a:sym typeface="Calibri"/>
              </a:rPr>
              <a:t>Uses measurements hospitals already record</a:t>
            </a:r>
            <a:endParaRPr b="0" i="0" sz="1500" u="none" cap="none" strike="noStrike">
              <a:solidFill>
                <a:schemeClr val="dk1"/>
              </a:solidFill>
              <a:latin typeface="Calibri"/>
              <a:ea typeface="Calibri"/>
              <a:cs typeface="Calibri"/>
              <a:sym typeface="Calibri"/>
            </a:endParaRPr>
          </a:p>
        </p:txBody>
      </p:sp>
      <p:sp>
        <p:nvSpPr>
          <p:cNvPr id="147" name="Google Shape;147;p4"/>
          <p:cNvSpPr/>
          <p:nvPr/>
        </p:nvSpPr>
        <p:spPr>
          <a:xfrm>
            <a:off x="548640" y="4526280"/>
            <a:ext cx="731520" cy="731520"/>
          </a:xfrm>
          <a:prstGeom prst="ellipse">
            <a:avLst/>
          </a:prstGeom>
          <a:solidFill>
            <a:schemeClr val="accent2"/>
          </a:solidFill>
          <a:ln cap="flat" cmpd="sng" w="12700">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148" name="Google Shape;148;p4"/>
          <p:cNvPicPr preferRelativeResize="0"/>
          <p:nvPr/>
        </p:nvPicPr>
        <p:blipFill rotWithShape="1">
          <a:blip r:embed="rId5">
            <a:alphaModFix/>
          </a:blip>
          <a:srcRect b="0" l="0" r="0" t="0"/>
          <a:stretch/>
        </p:blipFill>
        <p:spPr>
          <a:xfrm>
            <a:off x="724205" y="4701845"/>
            <a:ext cx="380390" cy="380390"/>
          </a:xfrm>
          <a:prstGeom prst="rect">
            <a:avLst/>
          </a:prstGeom>
          <a:noFill/>
          <a:ln>
            <a:noFill/>
          </a:ln>
        </p:spPr>
      </p:pic>
      <p:sp>
        <p:nvSpPr>
          <p:cNvPr id="149" name="Google Shape;149;p4"/>
          <p:cNvSpPr txBox="1"/>
          <p:nvPr/>
        </p:nvSpPr>
        <p:spPr>
          <a:xfrm>
            <a:off x="1463040" y="4507992"/>
            <a:ext cx="4206240" cy="91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600"/>
              <a:buFont typeface="Calibri"/>
              <a:buNone/>
            </a:pPr>
            <a:r>
              <a:rPr b="1" i="0" lang="en-US" sz="1600" u="none" cap="none" strike="noStrike">
                <a:solidFill>
                  <a:schemeClr val="dk2"/>
                </a:solidFill>
                <a:latin typeface="Calibri"/>
                <a:ea typeface="Calibri"/>
                <a:cs typeface="Calibri"/>
                <a:sym typeface="Calibri"/>
              </a:rPr>
              <a:t>Realistic data problems</a:t>
            </a:r>
            <a:endParaRPr b="0" i="0" sz="15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400"/>
              <a:buFont typeface="Calibri"/>
              <a:buNone/>
            </a:pPr>
            <a:r>
              <a:rPr b="0" i="0" lang="en-US" sz="1400" u="none" cap="none" strike="noStrike">
                <a:solidFill>
                  <a:schemeClr val="dk1"/>
                </a:solidFill>
                <a:latin typeface="Calibri"/>
                <a:ea typeface="Calibri"/>
                <a:cs typeface="Calibri"/>
                <a:sym typeface="Calibri"/>
              </a:rPr>
              <a:t>Hidden missing values and class imbalance to handle correctly</a:t>
            </a:r>
            <a:endParaRPr b="0" i="0" sz="1500" u="none" cap="none" strike="noStrike">
              <a:solidFill>
                <a:schemeClr val="dk1"/>
              </a:solidFill>
              <a:latin typeface="Calibri"/>
              <a:ea typeface="Calibri"/>
              <a:cs typeface="Calibri"/>
              <a:sym typeface="Calibri"/>
            </a:endParaRPr>
          </a:p>
        </p:txBody>
      </p:sp>
      <p:sp>
        <p:nvSpPr>
          <p:cNvPr id="150" name="Google Shape;150;p4"/>
          <p:cNvSpPr txBox="1"/>
          <p:nvPr/>
        </p:nvSpPr>
        <p:spPr>
          <a:xfrm>
            <a:off x="6309360" y="1325880"/>
            <a:ext cx="5303520" cy="411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Cambria"/>
              <a:buNone/>
            </a:pPr>
            <a:r>
              <a:rPr b="1" i="0" lang="en-US" sz="2000" u="none" cap="none" strike="noStrike">
                <a:solidFill>
                  <a:schemeClr val="dk2"/>
                </a:solidFill>
                <a:latin typeface="Cambria"/>
                <a:ea typeface="Cambria"/>
                <a:cs typeface="Cambria"/>
                <a:sym typeface="Cambria"/>
              </a:rPr>
              <a:t>Objectives</a:t>
            </a:r>
            <a:endParaRPr b="0" i="0" sz="2000" u="none" cap="none" strike="noStrike">
              <a:solidFill>
                <a:schemeClr val="dk1"/>
              </a:solidFill>
              <a:latin typeface="Calibri"/>
              <a:ea typeface="Calibri"/>
              <a:cs typeface="Calibri"/>
              <a:sym typeface="Calibri"/>
            </a:endParaRPr>
          </a:p>
        </p:txBody>
      </p:sp>
      <p:sp>
        <p:nvSpPr>
          <p:cNvPr id="151" name="Google Shape;151;p4"/>
          <p:cNvSpPr/>
          <p:nvPr/>
        </p:nvSpPr>
        <p:spPr>
          <a:xfrm>
            <a:off x="6309360" y="1874520"/>
            <a:ext cx="5330952" cy="685800"/>
          </a:xfrm>
          <a:prstGeom prst="roundRect">
            <a:avLst>
              <a:gd fmla="val 10667"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 name="Google Shape;152;p4"/>
          <p:cNvSpPr/>
          <p:nvPr/>
        </p:nvSpPr>
        <p:spPr>
          <a:xfrm>
            <a:off x="6446520" y="2002536"/>
            <a:ext cx="429768" cy="429768"/>
          </a:xfrm>
          <a:prstGeom prst="ellipse">
            <a:avLst/>
          </a:prstGeom>
          <a:solidFill>
            <a:schemeClr val="accent1"/>
          </a:solidFill>
          <a:ln cap="flat" cmpd="sng" w="9525">
            <a:solidFill>
              <a:schemeClr val="accent1"/>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400"/>
              <a:buFont typeface="Calibri"/>
              <a:buNone/>
            </a:pPr>
            <a:r>
              <a:rPr b="1" i="0" lang="en-US" sz="1400" u="none" cap="none" strike="noStrike">
                <a:solidFill>
                  <a:schemeClr val="lt1"/>
                </a:solidFill>
                <a:latin typeface="Calibri"/>
                <a:ea typeface="Calibri"/>
                <a:cs typeface="Calibri"/>
                <a:sym typeface="Calibri"/>
              </a:rPr>
              <a:t>1</a:t>
            </a:r>
            <a:endParaRPr b="0" i="0" sz="1400" u="none" cap="none" strike="noStrike">
              <a:solidFill>
                <a:schemeClr val="dk1"/>
              </a:solidFill>
              <a:latin typeface="Calibri"/>
              <a:ea typeface="Calibri"/>
              <a:cs typeface="Calibri"/>
              <a:sym typeface="Calibri"/>
            </a:endParaRPr>
          </a:p>
        </p:txBody>
      </p:sp>
      <p:sp>
        <p:nvSpPr>
          <p:cNvPr id="153" name="Google Shape;153;p4"/>
          <p:cNvSpPr txBox="1"/>
          <p:nvPr/>
        </p:nvSpPr>
        <p:spPr>
          <a:xfrm>
            <a:off x="7040880" y="1920240"/>
            <a:ext cx="448056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500" u="none" cap="none" strike="noStrike">
                <a:solidFill>
                  <a:schemeClr val="dk1"/>
                </a:solidFill>
                <a:latin typeface="Calibri"/>
                <a:ea typeface="Calibri"/>
                <a:cs typeface="Calibri"/>
                <a:sym typeface="Calibri"/>
              </a:rPr>
              <a:t>Clean the data: treat impossible zeros as missing</a:t>
            </a:r>
            <a:endParaRPr b="0" i="0" sz="1500" u="none" cap="none" strike="noStrike">
              <a:solidFill>
                <a:schemeClr val="dk1"/>
              </a:solidFill>
              <a:latin typeface="Calibri"/>
              <a:ea typeface="Calibri"/>
              <a:cs typeface="Calibri"/>
              <a:sym typeface="Calibri"/>
            </a:endParaRPr>
          </a:p>
        </p:txBody>
      </p:sp>
      <p:sp>
        <p:nvSpPr>
          <p:cNvPr id="154" name="Google Shape;154;p4"/>
          <p:cNvSpPr/>
          <p:nvPr/>
        </p:nvSpPr>
        <p:spPr>
          <a:xfrm>
            <a:off x="6309360" y="2697480"/>
            <a:ext cx="5330952" cy="685800"/>
          </a:xfrm>
          <a:prstGeom prst="roundRect">
            <a:avLst>
              <a:gd fmla="val 10667"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4"/>
          <p:cNvSpPr/>
          <p:nvPr/>
        </p:nvSpPr>
        <p:spPr>
          <a:xfrm>
            <a:off x="6446520" y="2825496"/>
            <a:ext cx="429768" cy="429768"/>
          </a:xfrm>
          <a:prstGeom prst="ellipse">
            <a:avLst/>
          </a:prstGeom>
          <a:solidFill>
            <a:schemeClr val="accent1"/>
          </a:solidFill>
          <a:ln cap="flat" cmpd="sng" w="9525">
            <a:solidFill>
              <a:schemeClr val="accent1"/>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400"/>
              <a:buFont typeface="Calibri"/>
              <a:buNone/>
            </a:pPr>
            <a:r>
              <a:rPr b="1" i="0" lang="en-US" sz="1400" u="none" cap="none" strike="noStrike">
                <a:solidFill>
                  <a:schemeClr val="lt1"/>
                </a:solidFill>
                <a:latin typeface="Calibri"/>
                <a:ea typeface="Calibri"/>
                <a:cs typeface="Calibri"/>
                <a:sym typeface="Calibri"/>
              </a:rPr>
              <a:t>2</a:t>
            </a:r>
            <a:endParaRPr b="0" i="0" sz="1400" u="none" cap="none" strike="noStrike">
              <a:solidFill>
                <a:schemeClr val="dk1"/>
              </a:solidFill>
              <a:latin typeface="Calibri"/>
              <a:ea typeface="Calibri"/>
              <a:cs typeface="Calibri"/>
              <a:sym typeface="Calibri"/>
            </a:endParaRPr>
          </a:p>
        </p:txBody>
      </p:sp>
      <p:sp>
        <p:nvSpPr>
          <p:cNvPr id="156" name="Google Shape;156;p4"/>
          <p:cNvSpPr txBox="1"/>
          <p:nvPr/>
        </p:nvSpPr>
        <p:spPr>
          <a:xfrm>
            <a:off x="7040880" y="2743200"/>
            <a:ext cx="448056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500" u="none" cap="none" strike="noStrike">
                <a:solidFill>
                  <a:schemeClr val="dk1"/>
                </a:solidFill>
                <a:latin typeface="Calibri"/>
                <a:ea typeface="Calibri"/>
                <a:cs typeface="Calibri"/>
                <a:sym typeface="Calibri"/>
              </a:rPr>
              <a:t>Explore how each measurement relates to diabetes</a:t>
            </a:r>
            <a:endParaRPr b="0" i="0" sz="1500" u="none" cap="none" strike="noStrike">
              <a:solidFill>
                <a:schemeClr val="dk1"/>
              </a:solidFill>
              <a:latin typeface="Calibri"/>
              <a:ea typeface="Calibri"/>
              <a:cs typeface="Calibri"/>
              <a:sym typeface="Calibri"/>
            </a:endParaRPr>
          </a:p>
        </p:txBody>
      </p:sp>
      <p:sp>
        <p:nvSpPr>
          <p:cNvPr id="157" name="Google Shape;157;p4"/>
          <p:cNvSpPr/>
          <p:nvPr/>
        </p:nvSpPr>
        <p:spPr>
          <a:xfrm>
            <a:off x="6309360" y="3520440"/>
            <a:ext cx="5330952" cy="685800"/>
          </a:xfrm>
          <a:prstGeom prst="roundRect">
            <a:avLst>
              <a:gd fmla="val 10667"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 name="Google Shape;158;p4"/>
          <p:cNvSpPr/>
          <p:nvPr/>
        </p:nvSpPr>
        <p:spPr>
          <a:xfrm>
            <a:off x="6446520" y="3648456"/>
            <a:ext cx="429768" cy="429768"/>
          </a:xfrm>
          <a:prstGeom prst="ellipse">
            <a:avLst/>
          </a:prstGeom>
          <a:solidFill>
            <a:schemeClr val="accent1"/>
          </a:solidFill>
          <a:ln cap="flat" cmpd="sng" w="9525">
            <a:solidFill>
              <a:schemeClr val="accent1"/>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400"/>
              <a:buFont typeface="Calibri"/>
              <a:buNone/>
            </a:pPr>
            <a:r>
              <a:rPr b="1" i="0" lang="en-US" sz="1400" u="none" cap="none" strike="noStrike">
                <a:solidFill>
                  <a:schemeClr val="lt1"/>
                </a:solidFill>
                <a:latin typeface="Calibri"/>
                <a:ea typeface="Calibri"/>
                <a:cs typeface="Calibri"/>
                <a:sym typeface="Calibri"/>
              </a:rPr>
              <a:t>3</a:t>
            </a:r>
            <a:endParaRPr b="0" i="0" sz="1400" u="none" cap="none" strike="noStrike">
              <a:solidFill>
                <a:schemeClr val="dk1"/>
              </a:solidFill>
              <a:latin typeface="Calibri"/>
              <a:ea typeface="Calibri"/>
              <a:cs typeface="Calibri"/>
              <a:sym typeface="Calibri"/>
            </a:endParaRPr>
          </a:p>
        </p:txBody>
      </p:sp>
      <p:sp>
        <p:nvSpPr>
          <p:cNvPr id="159" name="Google Shape;159;p4"/>
          <p:cNvSpPr txBox="1"/>
          <p:nvPr/>
        </p:nvSpPr>
        <p:spPr>
          <a:xfrm>
            <a:off x="7040880" y="3566160"/>
            <a:ext cx="448056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500" u="none" cap="none" strike="noStrike">
                <a:solidFill>
                  <a:schemeClr val="dk1"/>
                </a:solidFill>
                <a:latin typeface="Calibri"/>
                <a:ea typeface="Calibri"/>
                <a:cs typeface="Calibri"/>
                <a:sym typeface="Calibri"/>
              </a:rPr>
              <a:t>Build a leak-free pipeline (fit on training data only)</a:t>
            </a:r>
            <a:endParaRPr b="0" i="0" sz="1500" u="none" cap="none" strike="noStrike">
              <a:solidFill>
                <a:schemeClr val="dk1"/>
              </a:solidFill>
              <a:latin typeface="Calibri"/>
              <a:ea typeface="Calibri"/>
              <a:cs typeface="Calibri"/>
              <a:sym typeface="Calibri"/>
            </a:endParaRPr>
          </a:p>
        </p:txBody>
      </p:sp>
      <p:sp>
        <p:nvSpPr>
          <p:cNvPr id="160" name="Google Shape;160;p4"/>
          <p:cNvSpPr/>
          <p:nvPr/>
        </p:nvSpPr>
        <p:spPr>
          <a:xfrm>
            <a:off x="6309360" y="4343400"/>
            <a:ext cx="5330952" cy="685800"/>
          </a:xfrm>
          <a:prstGeom prst="roundRect">
            <a:avLst>
              <a:gd fmla="val 10667"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4"/>
          <p:cNvSpPr/>
          <p:nvPr/>
        </p:nvSpPr>
        <p:spPr>
          <a:xfrm>
            <a:off x="6446520" y="4471416"/>
            <a:ext cx="429768" cy="429768"/>
          </a:xfrm>
          <a:prstGeom prst="ellipse">
            <a:avLst/>
          </a:prstGeom>
          <a:solidFill>
            <a:schemeClr val="accent1"/>
          </a:solidFill>
          <a:ln cap="flat" cmpd="sng" w="9525">
            <a:solidFill>
              <a:schemeClr val="accent1"/>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400"/>
              <a:buFont typeface="Calibri"/>
              <a:buNone/>
            </a:pPr>
            <a:r>
              <a:rPr b="1" i="0" lang="en-US" sz="1400" u="none" cap="none" strike="noStrike">
                <a:solidFill>
                  <a:schemeClr val="lt1"/>
                </a:solidFill>
                <a:latin typeface="Calibri"/>
                <a:ea typeface="Calibri"/>
                <a:cs typeface="Calibri"/>
                <a:sym typeface="Calibri"/>
              </a:rPr>
              <a:t>4</a:t>
            </a:r>
            <a:endParaRPr b="0" i="0" sz="1400" u="none" cap="none" strike="noStrike">
              <a:solidFill>
                <a:schemeClr val="dk1"/>
              </a:solidFill>
              <a:latin typeface="Calibri"/>
              <a:ea typeface="Calibri"/>
              <a:cs typeface="Calibri"/>
              <a:sym typeface="Calibri"/>
            </a:endParaRPr>
          </a:p>
        </p:txBody>
      </p:sp>
      <p:sp>
        <p:nvSpPr>
          <p:cNvPr id="162" name="Google Shape;162;p4"/>
          <p:cNvSpPr txBox="1"/>
          <p:nvPr/>
        </p:nvSpPr>
        <p:spPr>
          <a:xfrm>
            <a:off x="7040880" y="4389120"/>
            <a:ext cx="448056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500" u="none" cap="none" strike="noStrike">
                <a:solidFill>
                  <a:schemeClr val="dk1"/>
                </a:solidFill>
                <a:latin typeface="Calibri"/>
                <a:ea typeface="Calibri"/>
                <a:cs typeface="Calibri"/>
                <a:sym typeface="Calibri"/>
              </a:rPr>
              <a:t>Compare 5 models with imbalance-aware metrics</a:t>
            </a:r>
            <a:endParaRPr b="0" i="0" sz="1500" u="none" cap="none" strike="noStrike">
              <a:solidFill>
                <a:schemeClr val="dk1"/>
              </a:solidFill>
              <a:latin typeface="Calibri"/>
              <a:ea typeface="Calibri"/>
              <a:cs typeface="Calibri"/>
              <a:sym typeface="Calibri"/>
            </a:endParaRPr>
          </a:p>
        </p:txBody>
      </p:sp>
      <p:sp>
        <p:nvSpPr>
          <p:cNvPr id="163" name="Google Shape;163;p4"/>
          <p:cNvSpPr/>
          <p:nvPr/>
        </p:nvSpPr>
        <p:spPr>
          <a:xfrm>
            <a:off x="6309360" y="5166360"/>
            <a:ext cx="5330952" cy="685800"/>
          </a:xfrm>
          <a:prstGeom prst="roundRect">
            <a:avLst>
              <a:gd fmla="val 10667"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 name="Google Shape;164;p4"/>
          <p:cNvSpPr/>
          <p:nvPr/>
        </p:nvSpPr>
        <p:spPr>
          <a:xfrm>
            <a:off x="6446520" y="5294376"/>
            <a:ext cx="429768" cy="429768"/>
          </a:xfrm>
          <a:prstGeom prst="ellipse">
            <a:avLst/>
          </a:prstGeom>
          <a:solidFill>
            <a:schemeClr val="accent1"/>
          </a:solidFill>
          <a:ln cap="flat" cmpd="sng" w="9525">
            <a:solidFill>
              <a:schemeClr val="accent1"/>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400"/>
              <a:buFont typeface="Calibri"/>
              <a:buNone/>
            </a:pPr>
            <a:r>
              <a:rPr b="1" i="0" lang="en-US" sz="1400" u="none" cap="none" strike="noStrike">
                <a:solidFill>
                  <a:schemeClr val="lt1"/>
                </a:solidFill>
                <a:latin typeface="Calibri"/>
                <a:ea typeface="Calibri"/>
                <a:cs typeface="Calibri"/>
                <a:sym typeface="Calibri"/>
              </a:rPr>
              <a:t>5</a:t>
            </a:r>
            <a:endParaRPr b="0" i="0" sz="1400" u="none" cap="none" strike="noStrike">
              <a:solidFill>
                <a:schemeClr val="dk1"/>
              </a:solidFill>
              <a:latin typeface="Calibri"/>
              <a:ea typeface="Calibri"/>
              <a:cs typeface="Calibri"/>
              <a:sym typeface="Calibri"/>
            </a:endParaRPr>
          </a:p>
        </p:txBody>
      </p:sp>
      <p:sp>
        <p:nvSpPr>
          <p:cNvPr id="165" name="Google Shape;165;p4"/>
          <p:cNvSpPr txBox="1"/>
          <p:nvPr/>
        </p:nvSpPr>
        <p:spPr>
          <a:xfrm>
            <a:off x="7040880" y="5212080"/>
            <a:ext cx="448056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500" u="none" cap="none" strike="noStrike">
                <a:solidFill>
                  <a:schemeClr val="dk1"/>
                </a:solidFill>
                <a:latin typeface="Calibri"/>
                <a:ea typeface="Calibri"/>
                <a:cs typeface="Calibri"/>
                <a:sym typeface="Calibri"/>
              </a:rPr>
              <a:t>Select a model with a recall-aware rule, then explain it with SHAP</a:t>
            </a:r>
            <a:endParaRPr b="0" i="0" sz="1500" u="none" cap="none" strike="noStrike">
              <a:solidFill>
                <a:schemeClr val="dk1"/>
              </a:solidFill>
              <a:latin typeface="Calibri"/>
              <a:ea typeface="Calibri"/>
              <a:cs typeface="Calibri"/>
              <a:sym typeface="Calibri"/>
            </a:endParaRPr>
          </a:p>
        </p:txBody>
      </p:sp>
      <p:sp>
        <p:nvSpPr>
          <p:cNvPr id="166" name="Google Shape;166;p4">
            <a:hlinkClick action="ppaction://hlinksldjump" r:id="rId6"/>
          </p:cNvPr>
          <p:cNvSpPr/>
          <p:nvPr/>
        </p:nvSpPr>
        <p:spPr>
          <a:xfrm>
            <a:off x="10680192" y="6336792"/>
            <a:ext cx="960120" cy="365760"/>
          </a:xfrm>
          <a:prstGeom prst="roundRect">
            <a:avLst>
              <a:gd fmla="val 25000" name="adj"/>
            </a:avLst>
          </a:prstGeom>
          <a:solidFill>
            <a:schemeClr val="accent1"/>
          </a:solidFill>
          <a:ln cap="flat" cmpd="sng" w="9525">
            <a:solidFill>
              <a:schemeClr val="accent1"/>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Next ›</a:t>
            </a:r>
            <a:endParaRPr b="0" i="0" sz="1200" u="none" cap="none" strike="noStrike">
              <a:solidFill>
                <a:schemeClr val="dk1"/>
              </a:solidFill>
              <a:latin typeface="Calibri"/>
              <a:ea typeface="Calibri"/>
              <a:cs typeface="Calibri"/>
              <a:sym typeface="Calibri"/>
            </a:endParaRPr>
          </a:p>
        </p:txBody>
      </p:sp>
      <p:sp>
        <p:nvSpPr>
          <p:cNvPr id="167" name="Google Shape;167;p4">
            <a:hlinkClick action="ppaction://hlinksldjump" r:id="rId7"/>
          </p:cNvPr>
          <p:cNvSpPr/>
          <p:nvPr/>
        </p:nvSpPr>
        <p:spPr>
          <a:xfrm>
            <a:off x="9610344" y="6336792"/>
            <a:ext cx="960120" cy="365760"/>
          </a:xfrm>
          <a:prstGeom prst="roundRect">
            <a:avLst>
              <a:gd fmla="val 25000"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1" i="0" lang="en-US" sz="1200" u="none" cap="none" strike="noStrike">
                <a:solidFill>
                  <a:schemeClr val="dk2"/>
                </a:solidFill>
                <a:latin typeface="Calibri"/>
                <a:ea typeface="Calibri"/>
                <a:cs typeface="Calibri"/>
                <a:sym typeface="Calibri"/>
              </a:rPr>
              <a:t>Agenda</a:t>
            </a:r>
            <a:endParaRPr b="0" i="0" sz="1200" u="none" cap="none" strike="noStrike">
              <a:solidFill>
                <a:schemeClr val="dk1"/>
              </a:solidFill>
              <a:latin typeface="Calibri"/>
              <a:ea typeface="Calibri"/>
              <a:cs typeface="Calibri"/>
              <a:sym typeface="Calibri"/>
            </a:endParaRPr>
          </a:p>
        </p:txBody>
      </p:sp>
      <p:sp>
        <p:nvSpPr>
          <p:cNvPr id="168" name="Google Shape;168;p4">
            <a:hlinkClick action="ppaction://hlinksldjump" r:id="rId8"/>
          </p:cNvPr>
          <p:cNvSpPr/>
          <p:nvPr/>
        </p:nvSpPr>
        <p:spPr>
          <a:xfrm>
            <a:off x="8540496" y="6336792"/>
            <a:ext cx="960120" cy="365760"/>
          </a:xfrm>
          <a:prstGeom prst="roundRect">
            <a:avLst>
              <a:gd fmla="val 25000"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1" i="0" lang="en-US" sz="1200" u="none" cap="none" strike="noStrike">
                <a:solidFill>
                  <a:schemeClr val="dk2"/>
                </a:solidFill>
                <a:latin typeface="Calibri"/>
                <a:ea typeface="Calibri"/>
                <a:cs typeface="Calibri"/>
                <a:sym typeface="Calibri"/>
              </a:rPr>
              <a:t>‹ Prev</a:t>
            </a:r>
            <a:endParaRPr b="0" i="0" sz="1200" u="none" cap="none" strike="noStrike">
              <a:solidFill>
                <a:schemeClr val="dk1"/>
              </a:solidFill>
              <a:latin typeface="Calibri"/>
              <a:ea typeface="Calibri"/>
              <a:cs typeface="Calibri"/>
              <a:sym typeface="Calibri"/>
            </a:endParaRPr>
          </a:p>
        </p:txBody>
      </p:sp>
      <p:sp>
        <p:nvSpPr>
          <p:cNvPr id="169" name="Google Shape;169;p4"/>
          <p:cNvSpPr txBox="1"/>
          <p:nvPr>
            <p:ph idx="4294967295" type="sldNum"/>
          </p:nvPr>
        </p:nvSpPr>
        <p:spPr>
          <a:xfrm>
            <a:off x="8732520" y="6382512"/>
            <a:ext cx="502920" cy="292608"/>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accent5"/>
                </a:solidFill>
                <a:latin typeface="Calibri"/>
                <a:ea typeface="Calibri"/>
                <a:cs typeface="Calibri"/>
                <a:sym typeface="Calibri"/>
              </a:rPr>
              <a:t>‹#›</a:t>
            </a:fld>
            <a:endParaRPr b="0" i="0" sz="1000" u="none" cap="none" strike="noStrike">
              <a:solidFill>
                <a:schemeClr val="accent5"/>
              </a:solidFill>
              <a:latin typeface="Calibri"/>
              <a:ea typeface="Calibri"/>
              <a:cs typeface="Calibri"/>
              <a:sym typeface="Calibri"/>
            </a:endParaRPr>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4" name="Shape 174"/>
        <p:cNvGrpSpPr/>
        <p:nvPr/>
      </p:nvGrpSpPr>
      <p:grpSpPr>
        <a:xfrm>
          <a:off x="0" y="0"/>
          <a:ext cx="0" cy="0"/>
          <a:chOff x="0" y="0"/>
          <a:chExt cx="0" cy="0"/>
        </a:xfrm>
      </p:grpSpPr>
      <p:sp>
        <p:nvSpPr>
          <p:cNvPr id="175" name="Google Shape;175;p5"/>
          <p:cNvSpPr txBox="1"/>
          <p:nvPr>
            <p:ph type="title"/>
          </p:nvPr>
        </p:nvSpPr>
        <p:spPr>
          <a:xfrm>
            <a:off x="548640" y="347472"/>
            <a:ext cx="11064240" cy="7315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200"/>
              <a:buFont typeface="Cambria"/>
              <a:buNone/>
            </a:pPr>
            <a:r>
              <a:rPr b="1" lang="en-US" sz="3200">
                <a:solidFill>
                  <a:schemeClr val="dk2"/>
                </a:solidFill>
                <a:latin typeface="Cambria"/>
                <a:ea typeface="Cambria"/>
                <a:cs typeface="Cambria"/>
                <a:sym typeface="Cambria"/>
              </a:rPr>
              <a:t>Dataset: Pima Indians Diabetes</a:t>
            </a:r>
            <a:endParaRPr sz="3200"/>
          </a:p>
        </p:txBody>
      </p:sp>
      <p:sp>
        <p:nvSpPr>
          <p:cNvPr id="176" name="Google Shape;176;p5"/>
          <p:cNvSpPr/>
          <p:nvPr/>
        </p:nvSpPr>
        <p:spPr>
          <a:xfrm>
            <a:off x="548640" y="1325880"/>
            <a:ext cx="2606040" cy="1325880"/>
          </a:xfrm>
          <a:prstGeom prst="roundRect">
            <a:avLst>
              <a:gd fmla="val 5517"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 name="Google Shape;177;p5"/>
          <p:cNvSpPr txBox="1"/>
          <p:nvPr/>
        </p:nvSpPr>
        <p:spPr>
          <a:xfrm>
            <a:off x="731520" y="1417320"/>
            <a:ext cx="224028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1"/>
              </a:buClr>
              <a:buSzPts val="3600"/>
              <a:buFont typeface="Cambria"/>
              <a:buNone/>
            </a:pPr>
            <a:r>
              <a:rPr b="1" i="0" lang="en-US" sz="3600" u="none" cap="none" strike="noStrike">
                <a:solidFill>
                  <a:schemeClr val="accent1"/>
                </a:solidFill>
                <a:latin typeface="Cambria"/>
                <a:ea typeface="Cambria"/>
                <a:cs typeface="Cambria"/>
                <a:sym typeface="Cambria"/>
              </a:rPr>
              <a:t>768</a:t>
            </a:r>
            <a:endParaRPr b="0" i="0" sz="3600" u="none" cap="none" strike="noStrike">
              <a:solidFill>
                <a:schemeClr val="dk1"/>
              </a:solidFill>
              <a:latin typeface="Calibri"/>
              <a:ea typeface="Calibri"/>
              <a:cs typeface="Calibri"/>
              <a:sym typeface="Calibri"/>
            </a:endParaRPr>
          </a:p>
        </p:txBody>
      </p:sp>
      <p:sp>
        <p:nvSpPr>
          <p:cNvPr id="178" name="Google Shape;178;p5"/>
          <p:cNvSpPr txBox="1"/>
          <p:nvPr/>
        </p:nvSpPr>
        <p:spPr>
          <a:xfrm>
            <a:off x="731520" y="2103120"/>
            <a:ext cx="22860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300"/>
              <a:buFont typeface="Calibri"/>
              <a:buNone/>
            </a:pPr>
            <a:r>
              <a:rPr b="0" i="0" lang="en-US" sz="1300" u="none" cap="none" strike="noStrike">
                <a:solidFill>
                  <a:schemeClr val="dk1"/>
                </a:solidFill>
                <a:latin typeface="Calibri"/>
                <a:ea typeface="Calibri"/>
                <a:cs typeface="Calibri"/>
                <a:sym typeface="Calibri"/>
              </a:rPr>
              <a:t>patients (Pima Indian women aged 21+)</a:t>
            </a:r>
            <a:endParaRPr b="0" i="0" sz="1300" u="none" cap="none" strike="noStrike">
              <a:solidFill>
                <a:schemeClr val="dk1"/>
              </a:solidFill>
              <a:latin typeface="Calibri"/>
              <a:ea typeface="Calibri"/>
              <a:cs typeface="Calibri"/>
              <a:sym typeface="Calibri"/>
            </a:endParaRPr>
          </a:p>
        </p:txBody>
      </p:sp>
      <p:sp>
        <p:nvSpPr>
          <p:cNvPr id="179" name="Google Shape;179;p5"/>
          <p:cNvSpPr/>
          <p:nvPr/>
        </p:nvSpPr>
        <p:spPr>
          <a:xfrm>
            <a:off x="3360420" y="1325880"/>
            <a:ext cx="2606040" cy="1325880"/>
          </a:xfrm>
          <a:prstGeom prst="roundRect">
            <a:avLst>
              <a:gd fmla="val 5517"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p5"/>
          <p:cNvSpPr txBox="1"/>
          <p:nvPr/>
        </p:nvSpPr>
        <p:spPr>
          <a:xfrm>
            <a:off x="3543300" y="1417320"/>
            <a:ext cx="224028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1"/>
              </a:buClr>
              <a:buSzPts val="3600"/>
              <a:buFont typeface="Cambria"/>
              <a:buNone/>
            </a:pPr>
            <a:r>
              <a:rPr b="1" i="0" lang="en-US" sz="3600" u="none" cap="none" strike="noStrike">
                <a:solidFill>
                  <a:schemeClr val="accent1"/>
                </a:solidFill>
                <a:latin typeface="Cambria"/>
                <a:ea typeface="Cambria"/>
                <a:cs typeface="Cambria"/>
                <a:sym typeface="Cambria"/>
              </a:rPr>
              <a:t>8</a:t>
            </a:r>
            <a:endParaRPr b="0" i="0" sz="3600" u="none" cap="none" strike="noStrike">
              <a:solidFill>
                <a:schemeClr val="dk1"/>
              </a:solidFill>
              <a:latin typeface="Calibri"/>
              <a:ea typeface="Calibri"/>
              <a:cs typeface="Calibri"/>
              <a:sym typeface="Calibri"/>
            </a:endParaRPr>
          </a:p>
        </p:txBody>
      </p:sp>
      <p:sp>
        <p:nvSpPr>
          <p:cNvPr id="181" name="Google Shape;181;p5"/>
          <p:cNvSpPr txBox="1"/>
          <p:nvPr/>
        </p:nvSpPr>
        <p:spPr>
          <a:xfrm>
            <a:off x="3543300" y="2103120"/>
            <a:ext cx="22860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300"/>
              <a:buFont typeface="Calibri"/>
              <a:buNone/>
            </a:pPr>
            <a:r>
              <a:rPr b="0" i="0" lang="en-US" sz="1300" u="none" cap="none" strike="noStrike">
                <a:solidFill>
                  <a:schemeClr val="dk1"/>
                </a:solidFill>
                <a:latin typeface="Calibri"/>
                <a:ea typeface="Calibri"/>
                <a:cs typeface="Calibri"/>
                <a:sym typeface="Calibri"/>
              </a:rPr>
              <a:t>diagnostic features + Outcome</a:t>
            </a:r>
            <a:endParaRPr b="0" i="0" sz="1300" u="none" cap="none" strike="noStrike">
              <a:solidFill>
                <a:schemeClr val="dk1"/>
              </a:solidFill>
              <a:latin typeface="Calibri"/>
              <a:ea typeface="Calibri"/>
              <a:cs typeface="Calibri"/>
              <a:sym typeface="Calibri"/>
            </a:endParaRPr>
          </a:p>
        </p:txBody>
      </p:sp>
      <p:sp>
        <p:nvSpPr>
          <p:cNvPr id="182" name="Google Shape;182;p5"/>
          <p:cNvSpPr/>
          <p:nvPr/>
        </p:nvSpPr>
        <p:spPr>
          <a:xfrm>
            <a:off x="6172200" y="1325880"/>
            <a:ext cx="2606040" cy="1325880"/>
          </a:xfrm>
          <a:prstGeom prst="roundRect">
            <a:avLst>
              <a:gd fmla="val 5517"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 name="Google Shape;183;p5"/>
          <p:cNvSpPr txBox="1"/>
          <p:nvPr/>
        </p:nvSpPr>
        <p:spPr>
          <a:xfrm>
            <a:off x="6355080" y="1417320"/>
            <a:ext cx="224028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1"/>
              </a:buClr>
              <a:buSzPts val="3600"/>
              <a:buFont typeface="Cambria"/>
              <a:buNone/>
            </a:pPr>
            <a:r>
              <a:rPr b="1" i="0" lang="en-US" sz="3600" u="none" cap="none" strike="noStrike">
                <a:solidFill>
                  <a:schemeClr val="accent1"/>
                </a:solidFill>
                <a:latin typeface="Cambria"/>
                <a:ea typeface="Cambria"/>
                <a:cs typeface="Cambria"/>
                <a:sym typeface="Cambria"/>
              </a:rPr>
              <a:t>34.9 %</a:t>
            </a:r>
            <a:endParaRPr b="0" i="0" sz="3600" u="none" cap="none" strike="noStrike">
              <a:solidFill>
                <a:schemeClr val="dk1"/>
              </a:solidFill>
              <a:latin typeface="Calibri"/>
              <a:ea typeface="Calibri"/>
              <a:cs typeface="Calibri"/>
              <a:sym typeface="Calibri"/>
            </a:endParaRPr>
          </a:p>
        </p:txBody>
      </p:sp>
      <p:sp>
        <p:nvSpPr>
          <p:cNvPr id="184" name="Google Shape;184;p5"/>
          <p:cNvSpPr txBox="1"/>
          <p:nvPr/>
        </p:nvSpPr>
        <p:spPr>
          <a:xfrm>
            <a:off x="6355080" y="2103120"/>
            <a:ext cx="22860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300"/>
              <a:buFont typeface="Calibri"/>
              <a:buNone/>
            </a:pPr>
            <a:r>
              <a:rPr b="0" i="0" lang="en-US" sz="1300" u="none" cap="none" strike="noStrike">
                <a:solidFill>
                  <a:schemeClr val="dk1"/>
                </a:solidFill>
                <a:latin typeface="Calibri"/>
                <a:ea typeface="Calibri"/>
                <a:cs typeface="Calibri"/>
                <a:sym typeface="Calibri"/>
              </a:rPr>
              <a:t>diabetic (268 of 768)</a:t>
            </a:r>
            <a:endParaRPr b="0" i="0" sz="1300" u="none" cap="none" strike="noStrike">
              <a:solidFill>
                <a:schemeClr val="dk1"/>
              </a:solidFill>
              <a:latin typeface="Calibri"/>
              <a:ea typeface="Calibri"/>
              <a:cs typeface="Calibri"/>
              <a:sym typeface="Calibri"/>
            </a:endParaRPr>
          </a:p>
        </p:txBody>
      </p:sp>
      <p:sp>
        <p:nvSpPr>
          <p:cNvPr id="185" name="Google Shape;185;p5"/>
          <p:cNvSpPr/>
          <p:nvPr/>
        </p:nvSpPr>
        <p:spPr>
          <a:xfrm>
            <a:off x="8983980" y="1325880"/>
            <a:ext cx="2606040" cy="1325880"/>
          </a:xfrm>
          <a:prstGeom prst="roundRect">
            <a:avLst>
              <a:gd fmla="val 5517"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 name="Google Shape;186;p5"/>
          <p:cNvSpPr txBox="1"/>
          <p:nvPr/>
        </p:nvSpPr>
        <p:spPr>
          <a:xfrm>
            <a:off x="9166860" y="1417320"/>
            <a:ext cx="224028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2"/>
              </a:buClr>
              <a:buSzPts val="3600"/>
              <a:buFont typeface="Cambria"/>
              <a:buNone/>
            </a:pPr>
            <a:r>
              <a:rPr b="1" i="0" lang="en-US" sz="3600" u="none" cap="none" strike="noStrike">
                <a:solidFill>
                  <a:schemeClr val="accent2"/>
                </a:solidFill>
                <a:latin typeface="Cambria"/>
                <a:ea typeface="Cambria"/>
                <a:cs typeface="Cambria"/>
                <a:sym typeface="Cambria"/>
              </a:rPr>
              <a:t>48.7 %</a:t>
            </a:r>
            <a:endParaRPr b="0" i="0" sz="3600" u="none" cap="none" strike="noStrike">
              <a:solidFill>
                <a:schemeClr val="dk1"/>
              </a:solidFill>
              <a:latin typeface="Calibri"/>
              <a:ea typeface="Calibri"/>
              <a:cs typeface="Calibri"/>
              <a:sym typeface="Calibri"/>
            </a:endParaRPr>
          </a:p>
        </p:txBody>
      </p:sp>
      <p:sp>
        <p:nvSpPr>
          <p:cNvPr id="187" name="Google Shape;187;p5"/>
          <p:cNvSpPr txBox="1"/>
          <p:nvPr/>
        </p:nvSpPr>
        <p:spPr>
          <a:xfrm>
            <a:off x="9166860" y="2103120"/>
            <a:ext cx="22860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300"/>
              <a:buFont typeface="Calibri"/>
              <a:buNone/>
            </a:pPr>
            <a:r>
              <a:rPr b="0" i="0" lang="en-US" sz="1300" u="none" cap="none" strike="noStrike">
                <a:solidFill>
                  <a:schemeClr val="dk1"/>
                </a:solidFill>
                <a:latin typeface="Calibri"/>
                <a:ea typeface="Calibri"/>
                <a:cs typeface="Calibri"/>
                <a:sym typeface="Calibri"/>
              </a:rPr>
              <a:t>of Insulin values missing (zeros)</a:t>
            </a:r>
            <a:endParaRPr b="0" i="0" sz="1300" u="none" cap="none" strike="noStrike">
              <a:solidFill>
                <a:schemeClr val="dk1"/>
              </a:solidFill>
              <a:latin typeface="Calibri"/>
              <a:ea typeface="Calibri"/>
              <a:cs typeface="Calibri"/>
              <a:sym typeface="Calibri"/>
            </a:endParaRPr>
          </a:p>
        </p:txBody>
      </p:sp>
      <p:graphicFrame>
        <p:nvGraphicFramePr>
          <p:cNvPr id="188" name="Google Shape;188;p5"/>
          <p:cNvGraphicFramePr/>
          <p:nvPr/>
        </p:nvGraphicFramePr>
        <p:xfrm>
          <a:off x="548640" y="2880360"/>
          <a:ext cx="4206240" cy="3291840"/>
        </p:xfrm>
        <a:graphic>
          <a:graphicData uri="http://schemas.openxmlformats.org/drawingml/2006/chart">
            <c:chart r:id="rId3"/>
          </a:graphicData>
        </a:graphic>
      </p:graphicFrame>
      <p:graphicFrame>
        <p:nvGraphicFramePr>
          <p:cNvPr id="189" name="Google Shape;189;p5"/>
          <p:cNvGraphicFramePr/>
          <p:nvPr/>
        </p:nvGraphicFramePr>
        <p:xfrm>
          <a:off x="5029200" y="2880360"/>
          <a:ext cx="6611112" cy="3291840"/>
        </p:xfrm>
        <a:graphic>
          <a:graphicData uri="http://schemas.openxmlformats.org/drawingml/2006/chart">
            <c:chart r:id="rId4"/>
          </a:graphicData>
        </a:graphic>
      </p:graphicFrame>
      <p:sp>
        <p:nvSpPr>
          <p:cNvPr id="190" name="Google Shape;190;p5">
            <a:hlinkClick action="ppaction://hlinksldjump" r:id="rId5"/>
          </p:cNvPr>
          <p:cNvSpPr/>
          <p:nvPr/>
        </p:nvSpPr>
        <p:spPr>
          <a:xfrm>
            <a:off x="10680192" y="6336792"/>
            <a:ext cx="960120" cy="365760"/>
          </a:xfrm>
          <a:prstGeom prst="roundRect">
            <a:avLst>
              <a:gd fmla="val 25000" name="adj"/>
            </a:avLst>
          </a:prstGeom>
          <a:solidFill>
            <a:schemeClr val="accent1"/>
          </a:solidFill>
          <a:ln cap="flat" cmpd="sng" w="9525">
            <a:solidFill>
              <a:schemeClr val="accent1"/>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Next ›</a:t>
            </a:r>
            <a:endParaRPr b="0" i="0" sz="1200" u="none" cap="none" strike="noStrike">
              <a:solidFill>
                <a:schemeClr val="dk1"/>
              </a:solidFill>
              <a:latin typeface="Calibri"/>
              <a:ea typeface="Calibri"/>
              <a:cs typeface="Calibri"/>
              <a:sym typeface="Calibri"/>
            </a:endParaRPr>
          </a:p>
        </p:txBody>
      </p:sp>
      <p:sp>
        <p:nvSpPr>
          <p:cNvPr id="191" name="Google Shape;191;p5">
            <a:hlinkClick action="ppaction://hlinksldjump" r:id="rId6"/>
          </p:cNvPr>
          <p:cNvSpPr/>
          <p:nvPr/>
        </p:nvSpPr>
        <p:spPr>
          <a:xfrm>
            <a:off x="9610344" y="6336792"/>
            <a:ext cx="960120" cy="365760"/>
          </a:xfrm>
          <a:prstGeom prst="roundRect">
            <a:avLst>
              <a:gd fmla="val 25000"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1" i="0" lang="en-US" sz="1200" u="none" cap="none" strike="noStrike">
                <a:solidFill>
                  <a:schemeClr val="dk2"/>
                </a:solidFill>
                <a:latin typeface="Calibri"/>
                <a:ea typeface="Calibri"/>
                <a:cs typeface="Calibri"/>
                <a:sym typeface="Calibri"/>
              </a:rPr>
              <a:t>Agenda</a:t>
            </a:r>
            <a:endParaRPr b="0" i="0" sz="1200" u="none" cap="none" strike="noStrike">
              <a:solidFill>
                <a:schemeClr val="dk1"/>
              </a:solidFill>
              <a:latin typeface="Calibri"/>
              <a:ea typeface="Calibri"/>
              <a:cs typeface="Calibri"/>
              <a:sym typeface="Calibri"/>
            </a:endParaRPr>
          </a:p>
        </p:txBody>
      </p:sp>
      <p:sp>
        <p:nvSpPr>
          <p:cNvPr id="192" name="Google Shape;192;p5">
            <a:hlinkClick action="ppaction://hlinksldjump" r:id="rId7"/>
          </p:cNvPr>
          <p:cNvSpPr/>
          <p:nvPr/>
        </p:nvSpPr>
        <p:spPr>
          <a:xfrm>
            <a:off x="8540496" y="6336792"/>
            <a:ext cx="960120" cy="365760"/>
          </a:xfrm>
          <a:prstGeom prst="roundRect">
            <a:avLst>
              <a:gd fmla="val 25000"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1" i="0" lang="en-US" sz="1200" u="none" cap="none" strike="noStrike">
                <a:solidFill>
                  <a:schemeClr val="dk2"/>
                </a:solidFill>
                <a:latin typeface="Calibri"/>
                <a:ea typeface="Calibri"/>
                <a:cs typeface="Calibri"/>
                <a:sym typeface="Calibri"/>
              </a:rPr>
              <a:t>‹ Prev</a:t>
            </a:r>
            <a:endParaRPr b="0" i="0" sz="1200" u="none" cap="none" strike="noStrike">
              <a:solidFill>
                <a:schemeClr val="dk1"/>
              </a:solidFill>
              <a:latin typeface="Calibri"/>
              <a:ea typeface="Calibri"/>
              <a:cs typeface="Calibri"/>
              <a:sym typeface="Calibri"/>
            </a:endParaRPr>
          </a:p>
        </p:txBody>
      </p:sp>
      <p:sp>
        <p:nvSpPr>
          <p:cNvPr id="193" name="Google Shape;193;p5"/>
          <p:cNvSpPr txBox="1"/>
          <p:nvPr>
            <p:ph idx="4294967295" type="sldNum"/>
          </p:nvPr>
        </p:nvSpPr>
        <p:spPr>
          <a:xfrm>
            <a:off x="8732520" y="6382512"/>
            <a:ext cx="502920" cy="292608"/>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accent5"/>
                </a:solidFill>
                <a:latin typeface="Calibri"/>
                <a:ea typeface="Calibri"/>
                <a:cs typeface="Calibri"/>
                <a:sym typeface="Calibri"/>
              </a:rPr>
              <a:t>‹#›</a:t>
            </a:fld>
            <a:endParaRPr b="0" i="0" sz="1000" u="none" cap="none" strike="noStrike">
              <a:solidFill>
                <a:schemeClr val="accent5"/>
              </a:solidFill>
              <a:latin typeface="Calibri"/>
              <a:ea typeface="Calibri"/>
              <a:cs typeface="Calibri"/>
              <a:sym typeface="Calibri"/>
            </a:endParaRPr>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6"/>
          <p:cNvSpPr txBox="1"/>
          <p:nvPr>
            <p:ph type="title"/>
          </p:nvPr>
        </p:nvSpPr>
        <p:spPr>
          <a:xfrm>
            <a:off x="548640" y="347472"/>
            <a:ext cx="11064240" cy="7315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200"/>
              <a:buFont typeface="Cambria"/>
              <a:buNone/>
            </a:pPr>
            <a:r>
              <a:rPr b="1" lang="en-US" sz="3200">
                <a:solidFill>
                  <a:schemeClr val="dk2"/>
                </a:solidFill>
                <a:latin typeface="Cambria"/>
                <a:ea typeface="Cambria"/>
                <a:cs typeface="Cambria"/>
                <a:sym typeface="Cambria"/>
              </a:rPr>
              <a:t>KDD / Predictive Analytics Workflow</a:t>
            </a:r>
            <a:endParaRPr sz="3200"/>
          </a:p>
        </p:txBody>
      </p:sp>
      <p:pic>
        <p:nvPicPr>
          <p:cNvPr descr="KDD workflow: ten stages from problem definition to knowledge" id="200" name="Google Shape;200;p6"/>
          <p:cNvPicPr preferRelativeResize="0"/>
          <p:nvPr/>
        </p:nvPicPr>
        <p:blipFill rotWithShape="1">
          <a:blip r:embed="rId3">
            <a:alphaModFix/>
          </a:blip>
          <a:srcRect b="0" l="0" r="0" t="0"/>
          <a:stretch/>
        </p:blipFill>
        <p:spPr>
          <a:xfrm>
            <a:off x="685800" y="1234440"/>
            <a:ext cx="10789920" cy="4505186"/>
          </a:xfrm>
          <a:prstGeom prst="rect">
            <a:avLst/>
          </a:prstGeom>
          <a:noFill/>
          <a:ln>
            <a:noFill/>
          </a:ln>
        </p:spPr>
      </p:pic>
      <p:sp>
        <p:nvSpPr>
          <p:cNvPr id="201" name="Google Shape;201;p6">
            <a:hlinkClick action="ppaction://hlinksldjump" r:id="rId4"/>
          </p:cNvPr>
          <p:cNvSpPr/>
          <p:nvPr/>
        </p:nvSpPr>
        <p:spPr>
          <a:xfrm>
            <a:off x="10680192" y="6336792"/>
            <a:ext cx="960120" cy="365760"/>
          </a:xfrm>
          <a:prstGeom prst="roundRect">
            <a:avLst>
              <a:gd fmla="val 25000" name="adj"/>
            </a:avLst>
          </a:prstGeom>
          <a:solidFill>
            <a:schemeClr val="accent1"/>
          </a:solidFill>
          <a:ln cap="flat" cmpd="sng" w="9525">
            <a:solidFill>
              <a:schemeClr val="accent1"/>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Next ›</a:t>
            </a:r>
            <a:endParaRPr b="0" i="0" sz="1200" u="none" cap="none" strike="noStrike">
              <a:solidFill>
                <a:schemeClr val="dk1"/>
              </a:solidFill>
              <a:latin typeface="Calibri"/>
              <a:ea typeface="Calibri"/>
              <a:cs typeface="Calibri"/>
              <a:sym typeface="Calibri"/>
            </a:endParaRPr>
          </a:p>
        </p:txBody>
      </p:sp>
      <p:sp>
        <p:nvSpPr>
          <p:cNvPr id="202" name="Google Shape;202;p6">
            <a:hlinkClick action="ppaction://hlinksldjump" r:id="rId5"/>
          </p:cNvPr>
          <p:cNvSpPr/>
          <p:nvPr/>
        </p:nvSpPr>
        <p:spPr>
          <a:xfrm>
            <a:off x="9610344" y="6336792"/>
            <a:ext cx="960120" cy="365760"/>
          </a:xfrm>
          <a:prstGeom prst="roundRect">
            <a:avLst>
              <a:gd fmla="val 25000"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1" i="0" lang="en-US" sz="1200" u="none" cap="none" strike="noStrike">
                <a:solidFill>
                  <a:schemeClr val="dk2"/>
                </a:solidFill>
                <a:latin typeface="Calibri"/>
                <a:ea typeface="Calibri"/>
                <a:cs typeface="Calibri"/>
                <a:sym typeface="Calibri"/>
              </a:rPr>
              <a:t>Agenda</a:t>
            </a:r>
            <a:endParaRPr b="0" i="0" sz="1200" u="none" cap="none" strike="noStrike">
              <a:solidFill>
                <a:schemeClr val="dk1"/>
              </a:solidFill>
              <a:latin typeface="Calibri"/>
              <a:ea typeface="Calibri"/>
              <a:cs typeface="Calibri"/>
              <a:sym typeface="Calibri"/>
            </a:endParaRPr>
          </a:p>
        </p:txBody>
      </p:sp>
      <p:sp>
        <p:nvSpPr>
          <p:cNvPr id="203" name="Google Shape;203;p6">
            <a:hlinkClick action="ppaction://hlinksldjump" r:id="rId6"/>
          </p:cNvPr>
          <p:cNvSpPr/>
          <p:nvPr/>
        </p:nvSpPr>
        <p:spPr>
          <a:xfrm>
            <a:off x="8540496" y="6336792"/>
            <a:ext cx="960120" cy="365760"/>
          </a:xfrm>
          <a:prstGeom prst="roundRect">
            <a:avLst>
              <a:gd fmla="val 25000"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1" i="0" lang="en-US" sz="1200" u="none" cap="none" strike="noStrike">
                <a:solidFill>
                  <a:schemeClr val="dk2"/>
                </a:solidFill>
                <a:latin typeface="Calibri"/>
                <a:ea typeface="Calibri"/>
                <a:cs typeface="Calibri"/>
                <a:sym typeface="Calibri"/>
              </a:rPr>
              <a:t>‹ Prev</a:t>
            </a:r>
            <a:endParaRPr b="0" i="0" sz="1200" u="none" cap="none" strike="noStrike">
              <a:solidFill>
                <a:schemeClr val="dk1"/>
              </a:solidFill>
              <a:latin typeface="Calibri"/>
              <a:ea typeface="Calibri"/>
              <a:cs typeface="Calibri"/>
              <a:sym typeface="Calibri"/>
            </a:endParaRPr>
          </a:p>
        </p:txBody>
      </p:sp>
      <p:sp>
        <p:nvSpPr>
          <p:cNvPr id="204" name="Google Shape;204;p6"/>
          <p:cNvSpPr txBox="1"/>
          <p:nvPr>
            <p:ph idx="4294967295" type="sldNum"/>
          </p:nvPr>
        </p:nvSpPr>
        <p:spPr>
          <a:xfrm>
            <a:off x="8732520" y="6382512"/>
            <a:ext cx="502920" cy="292608"/>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accent5"/>
                </a:solidFill>
                <a:latin typeface="Calibri"/>
                <a:ea typeface="Calibri"/>
                <a:cs typeface="Calibri"/>
                <a:sym typeface="Calibri"/>
              </a:rPr>
              <a:t>‹#›</a:t>
            </a:fld>
            <a:endParaRPr b="0" i="0" sz="1000" u="none" cap="none" strike="noStrike">
              <a:solidFill>
                <a:schemeClr val="accent5"/>
              </a:solidFill>
              <a:latin typeface="Calibri"/>
              <a:ea typeface="Calibri"/>
              <a:cs typeface="Calibri"/>
              <a:sym typeface="Calibri"/>
            </a:endParaRPr>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7"/>
          <p:cNvSpPr txBox="1"/>
          <p:nvPr>
            <p:ph type="title"/>
          </p:nvPr>
        </p:nvSpPr>
        <p:spPr>
          <a:xfrm>
            <a:off x="548640" y="347472"/>
            <a:ext cx="11064240" cy="7315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200"/>
              <a:buFont typeface="Cambria"/>
              <a:buNone/>
            </a:pPr>
            <a:r>
              <a:rPr b="1" lang="en-US" sz="3200">
                <a:solidFill>
                  <a:schemeClr val="dk2"/>
                </a:solidFill>
                <a:latin typeface="Cambria"/>
                <a:ea typeface="Cambria"/>
                <a:cs typeface="Cambria"/>
                <a:sym typeface="Cambria"/>
              </a:rPr>
              <a:t>Data Understanding &amp; EDA</a:t>
            </a:r>
            <a:endParaRPr sz="3200"/>
          </a:p>
        </p:txBody>
      </p:sp>
      <p:pic>
        <p:nvPicPr>
          <p:cNvPr descr="Glucose distribution by outcome" id="211" name="Google Shape;211;p7"/>
          <p:cNvPicPr preferRelativeResize="0"/>
          <p:nvPr/>
        </p:nvPicPr>
        <p:blipFill rotWithShape="1">
          <a:blip r:embed="rId3">
            <a:alphaModFix/>
          </a:blip>
          <a:srcRect b="0" l="0" r="0" t="0"/>
          <a:stretch/>
        </p:blipFill>
        <p:spPr>
          <a:xfrm>
            <a:off x="548640" y="1280160"/>
            <a:ext cx="6400800" cy="4074348"/>
          </a:xfrm>
          <a:prstGeom prst="rect">
            <a:avLst/>
          </a:prstGeom>
          <a:noFill/>
          <a:ln>
            <a:noFill/>
          </a:ln>
        </p:spPr>
      </p:pic>
      <p:sp>
        <p:nvSpPr>
          <p:cNvPr id="212" name="Google Shape;212;p7"/>
          <p:cNvSpPr/>
          <p:nvPr/>
        </p:nvSpPr>
        <p:spPr>
          <a:xfrm>
            <a:off x="7269480" y="1389888"/>
            <a:ext cx="566928" cy="566928"/>
          </a:xfrm>
          <a:prstGeom prst="ellipse">
            <a:avLst/>
          </a:prstGeom>
          <a:solidFill>
            <a:schemeClr val="accent2"/>
          </a:solidFill>
          <a:ln cap="flat" cmpd="sng" w="12700">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213" name="Google Shape;213;p7"/>
          <p:cNvPicPr preferRelativeResize="0"/>
          <p:nvPr/>
        </p:nvPicPr>
        <p:blipFill rotWithShape="1">
          <a:blip r:embed="rId4">
            <a:alphaModFix/>
          </a:blip>
          <a:srcRect b="0" l="0" r="0" t="0"/>
          <a:stretch/>
        </p:blipFill>
        <p:spPr>
          <a:xfrm>
            <a:off x="7405543" y="1525951"/>
            <a:ext cx="294803" cy="294803"/>
          </a:xfrm>
          <a:prstGeom prst="rect">
            <a:avLst/>
          </a:prstGeom>
          <a:noFill/>
          <a:ln>
            <a:noFill/>
          </a:ln>
        </p:spPr>
      </p:pic>
      <p:sp>
        <p:nvSpPr>
          <p:cNvPr id="214" name="Google Shape;214;p7"/>
          <p:cNvSpPr txBox="1"/>
          <p:nvPr/>
        </p:nvSpPr>
        <p:spPr>
          <a:xfrm>
            <a:off x="8001000" y="1325880"/>
            <a:ext cx="3657600" cy="7772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500"/>
              <a:buFont typeface="Calibri"/>
              <a:buNone/>
            </a:pPr>
            <a:r>
              <a:rPr b="1" i="0" lang="en-US" sz="1500" u="none" cap="none" strike="noStrike">
                <a:solidFill>
                  <a:schemeClr val="dk2"/>
                </a:solidFill>
                <a:latin typeface="Calibri"/>
                <a:ea typeface="Calibri"/>
                <a:cs typeface="Calibri"/>
                <a:sym typeface="Calibri"/>
              </a:rPr>
              <a:t>Glucose separates best</a:t>
            </a:r>
            <a:endParaRPr b="0" i="0" sz="15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400"/>
              <a:buFont typeface="Calibri"/>
              <a:buNone/>
            </a:pPr>
            <a:r>
              <a:rPr b="0" i="0" lang="en-US" sz="1400" u="none" cap="none" strike="noStrike">
                <a:solidFill>
                  <a:schemeClr val="dk1"/>
                </a:solidFill>
                <a:latin typeface="Calibri"/>
                <a:ea typeface="Calibri"/>
                <a:cs typeface="Calibri"/>
                <a:sym typeface="Calibri"/>
              </a:rPr>
              <a:t>Median 140 vs 107 mg/dL, r = 0.49</a:t>
            </a:r>
            <a:endParaRPr b="0" i="0" sz="1500" u="none" cap="none" strike="noStrike">
              <a:solidFill>
                <a:schemeClr val="dk1"/>
              </a:solidFill>
              <a:latin typeface="Calibri"/>
              <a:ea typeface="Calibri"/>
              <a:cs typeface="Calibri"/>
              <a:sym typeface="Calibri"/>
            </a:endParaRPr>
          </a:p>
        </p:txBody>
      </p:sp>
      <p:sp>
        <p:nvSpPr>
          <p:cNvPr id="215" name="Google Shape;215;p7"/>
          <p:cNvSpPr/>
          <p:nvPr/>
        </p:nvSpPr>
        <p:spPr>
          <a:xfrm>
            <a:off x="7269480" y="2350008"/>
            <a:ext cx="566928" cy="566928"/>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216" name="Google Shape;216;p7"/>
          <p:cNvPicPr preferRelativeResize="0"/>
          <p:nvPr/>
        </p:nvPicPr>
        <p:blipFill rotWithShape="1">
          <a:blip r:embed="rId5">
            <a:alphaModFix/>
          </a:blip>
          <a:srcRect b="0" l="0" r="0" t="0"/>
          <a:stretch/>
        </p:blipFill>
        <p:spPr>
          <a:xfrm>
            <a:off x="7405543" y="2486071"/>
            <a:ext cx="294803" cy="294803"/>
          </a:xfrm>
          <a:prstGeom prst="rect">
            <a:avLst/>
          </a:prstGeom>
          <a:noFill/>
          <a:ln>
            <a:noFill/>
          </a:ln>
        </p:spPr>
      </p:pic>
      <p:sp>
        <p:nvSpPr>
          <p:cNvPr id="217" name="Google Shape;217;p7"/>
          <p:cNvSpPr txBox="1"/>
          <p:nvPr/>
        </p:nvSpPr>
        <p:spPr>
          <a:xfrm>
            <a:off x="8001000" y="2286000"/>
            <a:ext cx="3657600" cy="7772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500"/>
              <a:buFont typeface="Calibri"/>
              <a:buNone/>
            </a:pPr>
            <a:r>
              <a:rPr b="1" i="0" lang="en-US" sz="1500" u="none" cap="none" strike="noStrike">
                <a:solidFill>
                  <a:schemeClr val="dk2"/>
                </a:solidFill>
                <a:latin typeface="Calibri"/>
                <a:ea typeface="Calibri"/>
                <a:cs typeface="Calibri"/>
                <a:sym typeface="Calibri"/>
              </a:rPr>
              <a:t>BMI is higher</a:t>
            </a:r>
            <a:endParaRPr b="0" i="0" sz="15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400"/>
              <a:buFont typeface="Calibri"/>
              <a:buNone/>
            </a:pPr>
            <a:r>
              <a:rPr b="0" i="0" lang="en-US" sz="1400" u="none" cap="none" strike="noStrike">
                <a:solidFill>
                  <a:schemeClr val="dk1"/>
                </a:solidFill>
                <a:latin typeface="Calibri"/>
                <a:ea typeface="Calibri"/>
                <a:cs typeface="Calibri"/>
                <a:sym typeface="Calibri"/>
              </a:rPr>
              <a:t>Median 34.3 vs 30.1 kg/m², r = 0.31</a:t>
            </a:r>
            <a:endParaRPr b="0" i="0" sz="1500" u="none" cap="none" strike="noStrike">
              <a:solidFill>
                <a:schemeClr val="dk1"/>
              </a:solidFill>
              <a:latin typeface="Calibri"/>
              <a:ea typeface="Calibri"/>
              <a:cs typeface="Calibri"/>
              <a:sym typeface="Calibri"/>
            </a:endParaRPr>
          </a:p>
        </p:txBody>
      </p:sp>
      <p:sp>
        <p:nvSpPr>
          <p:cNvPr id="218" name="Google Shape;218;p7"/>
          <p:cNvSpPr/>
          <p:nvPr/>
        </p:nvSpPr>
        <p:spPr>
          <a:xfrm>
            <a:off x="7269480" y="3310128"/>
            <a:ext cx="566928" cy="566928"/>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219" name="Google Shape;219;p7"/>
          <p:cNvPicPr preferRelativeResize="0"/>
          <p:nvPr/>
        </p:nvPicPr>
        <p:blipFill rotWithShape="1">
          <a:blip r:embed="rId6">
            <a:alphaModFix/>
          </a:blip>
          <a:srcRect b="0" l="0" r="0" t="0"/>
          <a:stretch/>
        </p:blipFill>
        <p:spPr>
          <a:xfrm>
            <a:off x="7405543" y="3446191"/>
            <a:ext cx="294803" cy="294803"/>
          </a:xfrm>
          <a:prstGeom prst="rect">
            <a:avLst/>
          </a:prstGeom>
          <a:noFill/>
          <a:ln>
            <a:noFill/>
          </a:ln>
        </p:spPr>
      </p:pic>
      <p:sp>
        <p:nvSpPr>
          <p:cNvPr id="220" name="Google Shape;220;p7"/>
          <p:cNvSpPr txBox="1"/>
          <p:nvPr/>
        </p:nvSpPr>
        <p:spPr>
          <a:xfrm>
            <a:off x="8001000" y="3246120"/>
            <a:ext cx="3657600" cy="7772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500"/>
              <a:buFont typeface="Calibri"/>
              <a:buNone/>
            </a:pPr>
            <a:r>
              <a:rPr b="1" i="0" lang="en-US" sz="1500" u="none" cap="none" strike="noStrike">
                <a:solidFill>
                  <a:schemeClr val="dk2"/>
                </a:solidFill>
                <a:latin typeface="Calibri"/>
                <a:ea typeface="Calibri"/>
                <a:cs typeface="Calibri"/>
                <a:sym typeface="Calibri"/>
              </a:rPr>
              <a:t>Diabetic patients are older</a:t>
            </a:r>
            <a:endParaRPr b="0" i="0" sz="15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400"/>
              <a:buFont typeface="Calibri"/>
              <a:buNone/>
            </a:pPr>
            <a:r>
              <a:rPr b="0" i="0" lang="en-US" sz="1400" u="none" cap="none" strike="noStrike">
                <a:solidFill>
                  <a:schemeClr val="dk1"/>
                </a:solidFill>
                <a:latin typeface="Calibri"/>
                <a:ea typeface="Calibri"/>
                <a:cs typeface="Calibri"/>
                <a:sym typeface="Calibri"/>
              </a:rPr>
              <a:t>Median age 36 vs 27 years</a:t>
            </a:r>
            <a:endParaRPr b="0" i="0" sz="1500" u="none" cap="none" strike="noStrike">
              <a:solidFill>
                <a:schemeClr val="dk1"/>
              </a:solidFill>
              <a:latin typeface="Calibri"/>
              <a:ea typeface="Calibri"/>
              <a:cs typeface="Calibri"/>
              <a:sym typeface="Calibri"/>
            </a:endParaRPr>
          </a:p>
        </p:txBody>
      </p:sp>
      <p:sp>
        <p:nvSpPr>
          <p:cNvPr id="221" name="Google Shape;221;p7"/>
          <p:cNvSpPr/>
          <p:nvPr/>
        </p:nvSpPr>
        <p:spPr>
          <a:xfrm>
            <a:off x="7269480" y="4270248"/>
            <a:ext cx="566928" cy="566928"/>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222" name="Google Shape;222;p7"/>
          <p:cNvPicPr preferRelativeResize="0"/>
          <p:nvPr/>
        </p:nvPicPr>
        <p:blipFill rotWithShape="1">
          <a:blip r:embed="rId7">
            <a:alphaModFix/>
          </a:blip>
          <a:srcRect b="0" l="0" r="0" t="0"/>
          <a:stretch/>
        </p:blipFill>
        <p:spPr>
          <a:xfrm>
            <a:off x="7405543" y="4406311"/>
            <a:ext cx="294803" cy="294803"/>
          </a:xfrm>
          <a:prstGeom prst="rect">
            <a:avLst/>
          </a:prstGeom>
          <a:noFill/>
          <a:ln>
            <a:noFill/>
          </a:ln>
        </p:spPr>
      </p:pic>
      <p:sp>
        <p:nvSpPr>
          <p:cNvPr id="223" name="Google Shape;223;p7"/>
          <p:cNvSpPr txBox="1"/>
          <p:nvPr/>
        </p:nvSpPr>
        <p:spPr>
          <a:xfrm>
            <a:off x="8001000" y="4206240"/>
            <a:ext cx="3657600" cy="7772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500"/>
              <a:buFont typeface="Calibri"/>
              <a:buNone/>
            </a:pPr>
            <a:r>
              <a:rPr b="1" i="0" lang="en-US" sz="1500" u="none" cap="none" strike="noStrike">
                <a:solidFill>
                  <a:schemeClr val="dk2"/>
                </a:solidFill>
                <a:latin typeface="Calibri"/>
                <a:ea typeface="Calibri"/>
                <a:cs typeface="Calibri"/>
                <a:sym typeface="Calibri"/>
              </a:rPr>
              <a:t>Moderate correlations</a:t>
            </a:r>
            <a:endParaRPr b="0" i="0" sz="15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400"/>
              <a:buFont typeface="Calibri"/>
              <a:buNone/>
            </a:pPr>
            <a:r>
              <a:rPr b="0" i="0" lang="en-US" sz="1400" u="none" cap="none" strike="noStrike">
                <a:solidFill>
                  <a:schemeClr val="dk1"/>
                </a:solidFill>
                <a:latin typeface="Calibri"/>
                <a:ea typeface="Calibri"/>
                <a:cs typeface="Calibri"/>
                <a:sym typeface="Calibri"/>
              </a:rPr>
              <a:t>SkinThickness–BMI 0.65, Glucose–Insulin 0.58</a:t>
            </a:r>
            <a:endParaRPr b="0" i="0" sz="1500" u="none" cap="none" strike="noStrike">
              <a:solidFill>
                <a:schemeClr val="dk1"/>
              </a:solidFill>
              <a:latin typeface="Calibri"/>
              <a:ea typeface="Calibri"/>
              <a:cs typeface="Calibri"/>
              <a:sym typeface="Calibri"/>
            </a:endParaRPr>
          </a:p>
        </p:txBody>
      </p:sp>
      <p:sp>
        <p:nvSpPr>
          <p:cNvPr id="224" name="Google Shape;224;p7">
            <a:hlinkClick action="ppaction://hlinksldjump" r:id="rId8"/>
          </p:cNvPr>
          <p:cNvSpPr/>
          <p:nvPr/>
        </p:nvSpPr>
        <p:spPr>
          <a:xfrm>
            <a:off x="7269480" y="5257800"/>
            <a:ext cx="4370832" cy="438912"/>
          </a:xfrm>
          <a:prstGeom prst="roundRect">
            <a:avLst>
              <a:gd fmla="val 20833" name="adj"/>
            </a:avLst>
          </a:prstGeom>
          <a:solidFill>
            <a:schemeClr val="accent2"/>
          </a:solidFill>
          <a:ln cap="flat" cmpd="sng" w="9525">
            <a:solidFill>
              <a:schemeClr val="accen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400"/>
              <a:buFont typeface="Calibri"/>
              <a:buNone/>
            </a:pPr>
            <a:r>
              <a:rPr b="1" i="0" lang="en-US" sz="1400" u="none" cap="none" strike="noStrike">
                <a:solidFill>
                  <a:schemeClr val="lt1"/>
                </a:solidFill>
                <a:latin typeface="Calibri"/>
                <a:ea typeface="Calibri"/>
                <a:cs typeface="Calibri"/>
                <a:sym typeface="Calibri"/>
              </a:rPr>
              <a:t>Open correlation heatmap  ›</a:t>
            </a:r>
            <a:endParaRPr b="0" i="0" sz="1400" u="none" cap="none" strike="noStrike">
              <a:solidFill>
                <a:schemeClr val="dk1"/>
              </a:solidFill>
              <a:latin typeface="Calibri"/>
              <a:ea typeface="Calibri"/>
              <a:cs typeface="Calibri"/>
              <a:sym typeface="Calibri"/>
            </a:endParaRPr>
          </a:p>
        </p:txBody>
      </p:sp>
      <p:sp>
        <p:nvSpPr>
          <p:cNvPr id="225" name="Google Shape;225;p7"/>
          <p:cNvSpPr txBox="1"/>
          <p:nvPr/>
        </p:nvSpPr>
        <p:spPr>
          <a:xfrm>
            <a:off x="548640" y="5760720"/>
            <a:ext cx="640080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5"/>
              </a:buClr>
              <a:buSzPts val="1200"/>
              <a:buFont typeface="Calibri"/>
              <a:buNone/>
            </a:pPr>
            <a:r>
              <a:rPr b="0" i="1" lang="en-US" sz="1200" u="none" cap="none" strike="noStrike">
                <a:solidFill>
                  <a:schemeClr val="accent5"/>
                </a:solidFill>
                <a:latin typeface="Calibri"/>
                <a:ea typeface="Calibri"/>
                <a:cs typeface="Calibri"/>
                <a:sym typeface="Calibri"/>
              </a:rPr>
              <a:t>Associations in this sample, not causal effects</a:t>
            </a:r>
            <a:endParaRPr b="0" i="0" sz="1200" u="none" cap="none" strike="noStrike">
              <a:solidFill>
                <a:schemeClr val="dk1"/>
              </a:solidFill>
              <a:latin typeface="Calibri"/>
              <a:ea typeface="Calibri"/>
              <a:cs typeface="Calibri"/>
              <a:sym typeface="Calibri"/>
            </a:endParaRPr>
          </a:p>
        </p:txBody>
      </p:sp>
      <p:sp>
        <p:nvSpPr>
          <p:cNvPr id="226" name="Google Shape;226;p7">
            <a:hlinkClick action="ppaction://hlinksldjump" r:id="rId9"/>
          </p:cNvPr>
          <p:cNvSpPr/>
          <p:nvPr/>
        </p:nvSpPr>
        <p:spPr>
          <a:xfrm>
            <a:off x="10680192" y="6336792"/>
            <a:ext cx="960120" cy="365760"/>
          </a:xfrm>
          <a:prstGeom prst="roundRect">
            <a:avLst>
              <a:gd fmla="val 25000" name="adj"/>
            </a:avLst>
          </a:prstGeom>
          <a:solidFill>
            <a:schemeClr val="accent1"/>
          </a:solidFill>
          <a:ln cap="flat" cmpd="sng" w="9525">
            <a:solidFill>
              <a:schemeClr val="accent1"/>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Next ›</a:t>
            </a:r>
            <a:endParaRPr b="0" i="0" sz="1200" u="none" cap="none" strike="noStrike">
              <a:solidFill>
                <a:schemeClr val="dk1"/>
              </a:solidFill>
              <a:latin typeface="Calibri"/>
              <a:ea typeface="Calibri"/>
              <a:cs typeface="Calibri"/>
              <a:sym typeface="Calibri"/>
            </a:endParaRPr>
          </a:p>
        </p:txBody>
      </p:sp>
      <p:sp>
        <p:nvSpPr>
          <p:cNvPr id="227" name="Google Shape;227;p7">
            <a:hlinkClick action="ppaction://hlinksldjump" r:id="rId10"/>
          </p:cNvPr>
          <p:cNvSpPr/>
          <p:nvPr/>
        </p:nvSpPr>
        <p:spPr>
          <a:xfrm>
            <a:off x="9610344" y="6336792"/>
            <a:ext cx="960120" cy="365760"/>
          </a:xfrm>
          <a:prstGeom prst="roundRect">
            <a:avLst>
              <a:gd fmla="val 25000"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1" i="0" lang="en-US" sz="1200" u="none" cap="none" strike="noStrike">
                <a:solidFill>
                  <a:schemeClr val="dk2"/>
                </a:solidFill>
                <a:latin typeface="Calibri"/>
                <a:ea typeface="Calibri"/>
                <a:cs typeface="Calibri"/>
                <a:sym typeface="Calibri"/>
              </a:rPr>
              <a:t>Agenda</a:t>
            </a:r>
            <a:endParaRPr b="0" i="0" sz="1200" u="none" cap="none" strike="noStrike">
              <a:solidFill>
                <a:schemeClr val="dk1"/>
              </a:solidFill>
              <a:latin typeface="Calibri"/>
              <a:ea typeface="Calibri"/>
              <a:cs typeface="Calibri"/>
              <a:sym typeface="Calibri"/>
            </a:endParaRPr>
          </a:p>
        </p:txBody>
      </p:sp>
      <p:sp>
        <p:nvSpPr>
          <p:cNvPr id="228" name="Google Shape;228;p7">
            <a:hlinkClick action="ppaction://hlinksldjump" r:id="rId11"/>
          </p:cNvPr>
          <p:cNvSpPr/>
          <p:nvPr/>
        </p:nvSpPr>
        <p:spPr>
          <a:xfrm>
            <a:off x="8540496" y="6336792"/>
            <a:ext cx="960120" cy="365760"/>
          </a:xfrm>
          <a:prstGeom prst="roundRect">
            <a:avLst>
              <a:gd fmla="val 25000"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1" i="0" lang="en-US" sz="1200" u="none" cap="none" strike="noStrike">
                <a:solidFill>
                  <a:schemeClr val="dk2"/>
                </a:solidFill>
                <a:latin typeface="Calibri"/>
                <a:ea typeface="Calibri"/>
                <a:cs typeface="Calibri"/>
                <a:sym typeface="Calibri"/>
              </a:rPr>
              <a:t>‹ Prev</a:t>
            </a:r>
            <a:endParaRPr b="0" i="0" sz="1200" u="none" cap="none" strike="noStrike">
              <a:solidFill>
                <a:schemeClr val="dk1"/>
              </a:solidFill>
              <a:latin typeface="Calibri"/>
              <a:ea typeface="Calibri"/>
              <a:cs typeface="Calibri"/>
              <a:sym typeface="Calibri"/>
            </a:endParaRPr>
          </a:p>
        </p:txBody>
      </p:sp>
      <p:sp>
        <p:nvSpPr>
          <p:cNvPr id="229" name="Google Shape;229;p7"/>
          <p:cNvSpPr txBox="1"/>
          <p:nvPr>
            <p:ph idx="4294967295" type="sldNum"/>
          </p:nvPr>
        </p:nvSpPr>
        <p:spPr>
          <a:xfrm>
            <a:off x="8732520" y="6382512"/>
            <a:ext cx="502920" cy="292608"/>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accent5"/>
                </a:solidFill>
                <a:latin typeface="Calibri"/>
                <a:ea typeface="Calibri"/>
                <a:cs typeface="Calibri"/>
                <a:sym typeface="Calibri"/>
              </a:rPr>
              <a:t>‹#›</a:t>
            </a:fld>
            <a:endParaRPr b="0" i="0" sz="1000" u="none" cap="none" strike="noStrike">
              <a:solidFill>
                <a:schemeClr val="accent5"/>
              </a:solidFill>
              <a:latin typeface="Calibri"/>
              <a:ea typeface="Calibri"/>
              <a:cs typeface="Calibri"/>
              <a:sym typeface="Calibri"/>
            </a:endParaRPr>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4" name="Shape 234"/>
        <p:cNvGrpSpPr/>
        <p:nvPr/>
      </p:nvGrpSpPr>
      <p:grpSpPr>
        <a:xfrm>
          <a:off x="0" y="0"/>
          <a:ext cx="0" cy="0"/>
          <a:chOff x="0" y="0"/>
          <a:chExt cx="0" cy="0"/>
        </a:xfrm>
      </p:grpSpPr>
      <p:sp>
        <p:nvSpPr>
          <p:cNvPr id="235" name="Google Shape;235;p8"/>
          <p:cNvSpPr txBox="1"/>
          <p:nvPr>
            <p:ph type="title"/>
          </p:nvPr>
        </p:nvSpPr>
        <p:spPr>
          <a:xfrm>
            <a:off x="548640" y="347472"/>
            <a:ext cx="11064240" cy="7315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200"/>
              <a:buFont typeface="Cambria"/>
              <a:buNone/>
            </a:pPr>
            <a:r>
              <a:rPr b="1" lang="en-US" sz="3200">
                <a:solidFill>
                  <a:schemeClr val="dk2"/>
                </a:solidFill>
                <a:latin typeface="Cambria"/>
                <a:ea typeface="Cambria"/>
                <a:cs typeface="Cambria"/>
                <a:sym typeface="Cambria"/>
              </a:rPr>
              <a:t>Preprocessing &amp; SMOTE: a Leak-Free Pipeline</a:t>
            </a:r>
            <a:endParaRPr sz="3200"/>
          </a:p>
        </p:txBody>
      </p:sp>
      <p:sp>
        <p:nvSpPr>
          <p:cNvPr id="236" name="Google Shape;236;p8"/>
          <p:cNvSpPr/>
          <p:nvPr/>
        </p:nvSpPr>
        <p:spPr>
          <a:xfrm>
            <a:off x="548640" y="1325880"/>
            <a:ext cx="1600200" cy="777240"/>
          </a:xfrm>
          <a:prstGeom prst="roundRect">
            <a:avLst>
              <a:gd fmla="val 9412" name="adj"/>
            </a:avLst>
          </a:prstGeom>
          <a:solidFill>
            <a:schemeClr val="accent5"/>
          </a:solidFill>
          <a:ln cap="flat" cmpd="sng" w="9525">
            <a:solidFill>
              <a:schemeClr val="accent5"/>
            </a:solidFill>
            <a:prstDash val="solid"/>
            <a:round/>
            <a:headEnd len="sm" w="sm" type="none"/>
            <a:tailEnd len="sm" w="sm" type="none"/>
          </a:ln>
        </p:spPr>
        <p:txBody>
          <a:bodyPr anchorCtr="0" anchor="ctr" bIns="50800" lIns="50800" spcFirstLastPara="1" rIns="50800" wrap="square" tIns="50800">
            <a:noAutofit/>
          </a:bodyPr>
          <a:lstStyle/>
          <a:p>
            <a:pPr indent="0" lvl="0" marL="0" marR="0" rtl="0" algn="ctr">
              <a:spcBef>
                <a:spcPts val="0"/>
              </a:spcBef>
              <a:spcAft>
                <a:spcPts val="0"/>
              </a:spcAft>
              <a:buClr>
                <a:schemeClr val="lt1"/>
              </a:buClr>
              <a:buSzPts val="1400"/>
              <a:buFont typeface="Calibri"/>
              <a:buNone/>
            </a:pPr>
            <a:r>
              <a:rPr b="1" i="0" lang="en-US" sz="1400" u="none" cap="none" strike="noStrike">
                <a:solidFill>
                  <a:schemeClr val="lt1"/>
                </a:solidFill>
                <a:latin typeface="Calibri"/>
                <a:ea typeface="Calibri"/>
                <a:cs typeface="Calibri"/>
                <a:sym typeface="Calibri"/>
              </a:rPr>
              <a:t>Zeros → NaN</a:t>
            </a:r>
            <a:endParaRPr b="0" i="0" sz="1400" u="none" cap="none" strike="noStrike">
              <a:solidFill>
                <a:schemeClr val="dk1"/>
              </a:solidFill>
              <a:latin typeface="Calibri"/>
              <a:ea typeface="Calibri"/>
              <a:cs typeface="Calibri"/>
              <a:sym typeface="Calibri"/>
            </a:endParaRPr>
          </a:p>
        </p:txBody>
      </p:sp>
      <p:sp>
        <p:nvSpPr>
          <p:cNvPr id="237" name="Google Shape;237;p8"/>
          <p:cNvSpPr/>
          <p:nvPr/>
        </p:nvSpPr>
        <p:spPr>
          <a:xfrm>
            <a:off x="2176272" y="1572768"/>
            <a:ext cx="219456" cy="274320"/>
          </a:xfrm>
          <a:prstGeom prst="rightArrow">
            <a:avLst>
              <a:gd fmla="val 50000" name="adj1"/>
              <a:gd fmla="val 50000" name="adj2"/>
            </a:avLst>
          </a:prstGeom>
          <a:solidFill>
            <a:schemeClr val="accent5"/>
          </a:solidFill>
          <a:ln cap="flat" cmpd="sng" w="1270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 name="Google Shape;238;p8"/>
          <p:cNvSpPr/>
          <p:nvPr/>
        </p:nvSpPr>
        <p:spPr>
          <a:xfrm>
            <a:off x="2423160" y="1325880"/>
            <a:ext cx="1600200" cy="777240"/>
          </a:xfrm>
          <a:prstGeom prst="roundRect">
            <a:avLst>
              <a:gd fmla="val 9412" name="adj"/>
            </a:avLst>
          </a:prstGeom>
          <a:solidFill>
            <a:schemeClr val="dk2"/>
          </a:solidFill>
          <a:ln cap="flat" cmpd="sng" w="9525">
            <a:solidFill>
              <a:schemeClr val="dk2"/>
            </a:solidFill>
            <a:prstDash val="solid"/>
            <a:round/>
            <a:headEnd len="sm" w="sm" type="none"/>
            <a:tailEnd len="sm" w="sm" type="none"/>
          </a:ln>
        </p:spPr>
        <p:txBody>
          <a:bodyPr anchorCtr="0" anchor="ctr" bIns="50800" lIns="50800" spcFirstLastPara="1" rIns="50800" wrap="square" tIns="50800">
            <a:noAutofit/>
          </a:bodyPr>
          <a:lstStyle/>
          <a:p>
            <a:pPr indent="0" lvl="0" marL="0" marR="0" rtl="0" algn="ctr">
              <a:spcBef>
                <a:spcPts val="0"/>
              </a:spcBef>
              <a:spcAft>
                <a:spcPts val="0"/>
              </a:spcAft>
              <a:buClr>
                <a:schemeClr val="lt1"/>
              </a:buClr>
              <a:buSzPts val="1400"/>
              <a:buFont typeface="Calibri"/>
              <a:buNone/>
            </a:pPr>
            <a:r>
              <a:rPr b="1" i="0" lang="en-US" sz="1400" u="none" cap="none" strike="noStrike">
                <a:solidFill>
                  <a:schemeClr val="lt1"/>
                </a:solidFill>
                <a:latin typeface="Calibri"/>
                <a:ea typeface="Calibri"/>
                <a:cs typeface="Calibri"/>
                <a:sym typeface="Calibri"/>
              </a:rPr>
              <a:t>Stratified 80/20 split</a:t>
            </a:r>
            <a:endParaRPr b="0" i="0" sz="1400" u="none" cap="none" strike="noStrike">
              <a:solidFill>
                <a:schemeClr val="dk1"/>
              </a:solidFill>
              <a:latin typeface="Calibri"/>
              <a:ea typeface="Calibri"/>
              <a:cs typeface="Calibri"/>
              <a:sym typeface="Calibri"/>
            </a:endParaRPr>
          </a:p>
        </p:txBody>
      </p:sp>
      <p:sp>
        <p:nvSpPr>
          <p:cNvPr id="239" name="Google Shape;239;p8"/>
          <p:cNvSpPr/>
          <p:nvPr/>
        </p:nvSpPr>
        <p:spPr>
          <a:xfrm>
            <a:off x="4050792" y="1572768"/>
            <a:ext cx="219456" cy="274320"/>
          </a:xfrm>
          <a:prstGeom prst="rightArrow">
            <a:avLst>
              <a:gd fmla="val 50000" name="adj1"/>
              <a:gd fmla="val 50000" name="adj2"/>
            </a:avLst>
          </a:prstGeom>
          <a:solidFill>
            <a:schemeClr val="accent5"/>
          </a:solidFill>
          <a:ln cap="flat" cmpd="sng" w="1270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 name="Google Shape;240;p8"/>
          <p:cNvSpPr/>
          <p:nvPr/>
        </p:nvSpPr>
        <p:spPr>
          <a:xfrm>
            <a:off x="4297680" y="1325880"/>
            <a:ext cx="1600200" cy="777240"/>
          </a:xfrm>
          <a:prstGeom prst="roundRect">
            <a:avLst>
              <a:gd fmla="val 9412" name="adj"/>
            </a:avLst>
          </a:prstGeom>
          <a:solidFill>
            <a:schemeClr val="accent1"/>
          </a:solidFill>
          <a:ln cap="flat" cmpd="sng" w="9525">
            <a:solidFill>
              <a:schemeClr val="accent1"/>
            </a:solidFill>
            <a:prstDash val="solid"/>
            <a:round/>
            <a:headEnd len="sm" w="sm" type="none"/>
            <a:tailEnd len="sm" w="sm" type="none"/>
          </a:ln>
        </p:spPr>
        <p:txBody>
          <a:bodyPr anchorCtr="0" anchor="ctr" bIns="50800" lIns="50800" spcFirstLastPara="1" rIns="50800" wrap="square" tIns="50800">
            <a:noAutofit/>
          </a:bodyPr>
          <a:lstStyle/>
          <a:p>
            <a:pPr indent="0" lvl="0" marL="0" marR="0" rtl="0" algn="ctr">
              <a:spcBef>
                <a:spcPts val="0"/>
              </a:spcBef>
              <a:spcAft>
                <a:spcPts val="0"/>
              </a:spcAft>
              <a:buClr>
                <a:schemeClr val="lt1"/>
              </a:buClr>
              <a:buSzPts val="1400"/>
              <a:buFont typeface="Calibri"/>
              <a:buNone/>
            </a:pPr>
            <a:r>
              <a:rPr b="1" i="0" lang="en-US" sz="1400" u="none" cap="none" strike="noStrike">
                <a:solidFill>
                  <a:schemeClr val="lt1"/>
                </a:solidFill>
                <a:latin typeface="Calibri"/>
                <a:ea typeface="Calibri"/>
                <a:cs typeface="Calibri"/>
                <a:sym typeface="Calibri"/>
              </a:rPr>
              <a:t>Median imputation</a:t>
            </a:r>
            <a:endParaRPr b="0" i="0" sz="1400" u="none" cap="none" strike="noStrike">
              <a:solidFill>
                <a:schemeClr val="dk1"/>
              </a:solidFill>
              <a:latin typeface="Calibri"/>
              <a:ea typeface="Calibri"/>
              <a:cs typeface="Calibri"/>
              <a:sym typeface="Calibri"/>
            </a:endParaRPr>
          </a:p>
        </p:txBody>
      </p:sp>
      <p:sp>
        <p:nvSpPr>
          <p:cNvPr id="241" name="Google Shape;241;p8"/>
          <p:cNvSpPr/>
          <p:nvPr/>
        </p:nvSpPr>
        <p:spPr>
          <a:xfrm>
            <a:off x="5925312" y="1572768"/>
            <a:ext cx="219456" cy="274320"/>
          </a:xfrm>
          <a:prstGeom prst="rightArrow">
            <a:avLst>
              <a:gd fmla="val 50000" name="adj1"/>
              <a:gd fmla="val 50000" name="adj2"/>
            </a:avLst>
          </a:prstGeom>
          <a:solidFill>
            <a:schemeClr val="accent5"/>
          </a:solidFill>
          <a:ln cap="flat" cmpd="sng" w="1270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 name="Google Shape;242;p8"/>
          <p:cNvSpPr/>
          <p:nvPr/>
        </p:nvSpPr>
        <p:spPr>
          <a:xfrm>
            <a:off x="6172200" y="1325880"/>
            <a:ext cx="1600200" cy="777240"/>
          </a:xfrm>
          <a:prstGeom prst="roundRect">
            <a:avLst>
              <a:gd fmla="val 9412" name="adj"/>
            </a:avLst>
          </a:prstGeom>
          <a:solidFill>
            <a:schemeClr val="accent1"/>
          </a:solidFill>
          <a:ln cap="flat" cmpd="sng" w="9525">
            <a:solidFill>
              <a:schemeClr val="accent1"/>
            </a:solidFill>
            <a:prstDash val="solid"/>
            <a:round/>
            <a:headEnd len="sm" w="sm" type="none"/>
            <a:tailEnd len="sm" w="sm" type="none"/>
          </a:ln>
        </p:spPr>
        <p:txBody>
          <a:bodyPr anchorCtr="0" anchor="ctr" bIns="50800" lIns="50800" spcFirstLastPara="1" rIns="50800" wrap="square" tIns="50800">
            <a:noAutofit/>
          </a:bodyPr>
          <a:lstStyle/>
          <a:p>
            <a:pPr indent="0" lvl="0" marL="0" marR="0" rtl="0" algn="ctr">
              <a:spcBef>
                <a:spcPts val="0"/>
              </a:spcBef>
              <a:spcAft>
                <a:spcPts val="0"/>
              </a:spcAft>
              <a:buClr>
                <a:schemeClr val="lt1"/>
              </a:buClr>
              <a:buSzPts val="1400"/>
              <a:buFont typeface="Calibri"/>
              <a:buNone/>
            </a:pPr>
            <a:r>
              <a:rPr b="1" i="0" lang="en-US" sz="1400" u="none" cap="none" strike="noStrike">
                <a:solidFill>
                  <a:schemeClr val="lt1"/>
                </a:solidFill>
                <a:latin typeface="Calibri"/>
                <a:ea typeface="Calibri"/>
                <a:cs typeface="Calibri"/>
                <a:sym typeface="Calibri"/>
              </a:rPr>
              <a:t>Standard scaling</a:t>
            </a:r>
            <a:endParaRPr b="0" i="0" sz="1400" u="none" cap="none" strike="noStrike">
              <a:solidFill>
                <a:schemeClr val="dk1"/>
              </a:solidFill>
              <a:latin typeface="Calibri"/>
              <a:ea typeface="Calibri"/>
              <a:cs typeface="Calibri"/>
              <a:sym typeface="Calibri"/>
            </a:endParaRPr>
          </a:p>
        </p:txBody>
      </p:sp>
      <p:sp>
        <p:nvSpPr>
          <p:cNvPr id="243" name="Google Shape;243;p8"/>
          <p:cNvSpPr/>
          <p:nvPr/>
        </p:nvSpPr>
        <p:spPr>
          <a:xfrm>
            <a:off x="7799832" y="1572768"/>
            <a:ext cx="219456" cy="274320"/>
          </a:xfrm>
          <a:prstGeom prst="rightArrow">
            <a:avLst>
              <a:gd fmla="val 50000" name="adj1"/>
              <a:gd fmla="val 50000" name="adj2"/>
            </a:avLst>
          </a:prstGeom>
          <a:solidFill>
            <a:schemeClr val="accent5"/>
          </a:solidFill>
          <a:ln cap="flat" cmpd="sng" w="1270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 name="Google Shape;244;p8"/>
          <p:cNvSpPr/>
          <p:nvPr/>
        </p:nvSpPr>
        <p:spPr>
          <a:xfrm>
            <a:off x="8046720" y="1325880"/>
            <a:ext cx="1600200" cy="777240"/>
          </a:xfrm>
          <a:prstGeom prst="roundRect">
            <a:avLst>
              <a:gd fmla="val 9412" name="adj"/>
            </a:avLst>
          </a:prstGeom>
          <a:solidFill>
            <a:schemeClr val="accent2"/>
          </a:solidFill>
          <a:ln cap="flat" cmpd="sng" w="9525">
            <a:solidFill>
              <a:schemeClr val="accent2"/>
            </a:solidFill>
            <a:prstDash val="solid"/>
            <a:round/>
            <a:headEnd len="sm" w="sm" type="none"/>
            <a:tailEnd len="sm" w="sm" type="none"/>
          </a:ln>
        </p:spPr>
        <p:txBody>
          <a:bodyPr anchorCtr="0" anchor="ctr" bIns="50800" lIns="50800" spcFirstLastPara="1" rIns="50800" wrap="square" tIns="50800">
            <a:noAutofit/>
          </a:bodyPr>
          <a:lstStyle/>
          <a:p>
            <a:pPr indent="0" lvl="0" marL="0" marR="0" rtl="0" algn="ctr">
              <a:spcBef>
                <a:spcPts val="0"/>
              </a:spcBef>
              <a:spcAft>
                <a:spcPts val="0"/>
              </a:spcAft>
              <a:buClr>
                <a:schemeClr val="lt1"/>
              </a:buClr>
              <a:buSzPts val="1400"/>
              <a:buFont typeface="Calibri"/>
              <a:buNone/>
            </a:pPr>
            <a:r>
              <a:rPr b="1" i="0" lang="en-US" sz="1400" u="none" cap="none" strike="noStrike">
                <a:solidFill>
                  <a:schemeClr val="lt1"/>
                </a:solidFill>
                <a:latin typeface="Calibri"/>
                <a:ea typeface="Calibri"/>
                <a:cs typeface="Calibri"/>
                <a:sym typeface="Calibri"/>
              </a:rPr>
              <a:t>SMOTE (train only)</a:t>
            </a:r>
            <a:endParaRPr b="0" i="0" sz="1400" u="none" cap="none" strike="noStrike">
              <a:solidFill>
                <a:schemeClr val="dk1"/>
              </a:solidFill>
              <a:latin typeface="Calibri"/>
              <a:ea typeface="Calibri"/>
              <a:cs typeface="Calibri"/>
              <a:sym typeface="Calibri"/>
            </a:endParaRPr>
          </a:p>
        </p:txBody>
      </p:sp>
      <p:sp>
        <p:nvSpPr>
          <p:cNvPr id="245" name="Google Shape;245;p8"/>
          <p:cNvSpPr/>
          <p:nvPr/>
        </p:nvSpPr>
        <p:spPr>
          <a:xfrm>
            <a:off x="9674352" y="1572768"/>
            <a:ext cx="219456" cy="274320"/>
          </a:xfrm>
          <a:prstGeom prst="rightArrow">
            <a:avLst>
              <a:gd fmla="val 50000" name="adj1"/>
              <a:gd fmla="val 50000" name="adj2"/>
            </a:avLst>
          </a:prstGeom>
          <a:solidFill>
            <a:schemeClr val="accent5"/>
          </a:solidFill>
          <a:ln cap="flat" cmpd="sng" w="1270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 name="Google Shape;246;p8"/>
          <p:cNvSpPr/>
          <p:nvPr/>
        </p:nvSpPr>
        <p:spPr>
          <a:xfrm>
            <a:off x="9921240" y="1325880"/>
            <a:ext cx="1600200" cy="777240"/>
          </a:xfrm>
          <a:prstGeom prst="roundRect">
            <a:avLst>
              <a:gd fmla="val 9412" name="adj"/>
            </a:avLst>
          </a:prstGeom>
          <a:solidFill>
            <a:schemeClr val="accent4"/>
          </a:solidFill>
          <a:ln cap="flat" cmpd="sng" w="9525">
            <a:solidFill>
              <a:schemeClr val="accent4"/>
            </a:solidFill>
            <a:prstDash val="solid"/>
            <a:round/>
            <a:headEnd len="sm" w="sm" type="none"/>
            <a:tailEnd len="sm" w="sm" type="none"/>
          </a:ln>
        </p:spPr>
        <p:txBody>
          <a:bodyPr anchorCtr="0" anchor="ctr" bIns="50800" lIns="50800" spcFirstLastPara="1" rIns="50800" wrap="square" tIns="50800">
            <a:noAutofit/>
          </a:bodyPr>
          <a:lstStyle/>
          <a:p>
            <a:pPr indent="0" lvl="0" marL="0" marR="0" rtl="0" algn="ctr">
              <a:spcBef>
                <a:spcPts val="0"/>
              </a:spcBef>
              <a:spcAft>
                <a:spcPts val="0"/>
              </a:spcAft>
              <a:buClr>
                <a:schemeClr val="lt1"/>
              </a:buClr>
              <a:buSzPts val="1400"/>
              <a:buFont typeface="Calibri"/>
              <a:buNone/>
            </a:pPr>
            <a:r>
              <a:rPr b="1" i="0" lang="en-US" sz="1400" u="none" cap="none" strike="noStrike">
                <a:solidFill>
                  <a:schemeClr val="lt1"/>
                </a:solidFill>
                <a:latin typeface="Calibri"/>
                <a:ea typeface="Calibri"/>
                <a:cs typeface="Calibri"/>
                <a:sym typeface="Calibri"/>
              </a:rPr>
              <a:t>Classifier</a:t>
            </a:r>
            <a:endParaRPr b="0" i="0" sz="1400" u="none" cap="none" strike="noStrike">
              <a:solidFill>
                <a:schemeClr val="dk1"/>
              </a:solidFill>
              <a:latin typeface="Calibri"/>
              <a:ea typeface="Calibri"/>
              <a:cs typeface="Calibri"/>
              <a:sym typeface="Calibri"/>
            </a:endParaRPr>
          </a:p>
        </p:txBody>
      </p:sp>
      <p:sp>
        <p:nvSpPr>
          <p:cNvPr id="247" name="Google Shape;247;p8"/>
          <p:cNvSpPr txBox="1"/>
          <p:nvPr/>
        </p:nvSpPr>
        <p:spPr>
          <a:xfrm>
            <a:off x="548640" y="2212848"/>
            <a:ext cx="1106424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5"/>
              </a:buClr>
              <a:buSzPts val="1300"/>
              <a:buFont typeface="Calibri"/>
              <a:buNone/>
            </a:pPr>
            <a:r>
              <a:rPr b="0" i="1" lang="en-US" sz="1300" u="none" cap="none" strike="noStrike">
                <a:solidFill>
                  <a:schemeClr val="accent5"/>
                </a:solidFill>
                <a:latin typeface="Calibri"/>
                <a:ea typeface="Calibri"/>
                <a:cs typeface="Calibri"/>
                <a:sym typeface="Calibri"/>
              </a:rPr>
              <a:t>Steps 3–5 are learned from the 614 training rows only, inside one imblearn pipeline (re-fitted in every CV fold)</a:t>
            </a:r>
            <a:endParaRPr b="0" i="0" sz="1300" u="none" cap="none" strike="noStrike">
              <a:solidFill>
                <a:schemeClr val="dk1"/>
              </a:solidFill>
              <a:latin typeface="Calibri"/>
              <a:ea typeface="Calibri"/>
              <a:cs typeface="Calibri"/>
              <a:sym typeface="Calibri"/>
            </a:endParaRPr>
          </a:p>
        </p:txBody>
      </p:sp>
      <p:graphicFrame>
        <p:nvGraphicFramePr>
          <p:cNvPr id="248" name="Google Shape;248;p8"/>
          <p:cNvGraphicFramePr/>
          <p:nvPr/>
        </p:nvGraphicFramePr>
        <p:xfrm>
          <a:off x="548640" y="2697480"/>
          <a:ext cx="5394960" cy="3474720"/>
        </p:xfrm>
        <a:graphic>
          <a:graphicData uri="http://schemas.openxmlformats.org/drawingml/2006/chart">
            <c:chart r:id="rId3"/>
          </a:graphicData>
        </a:graphic>
      </p:graphicFrame>
      <p:sp>
        <p:nvSpPr>
          <p:cNvPr id="249" name="Google Shape;249;p8"/>
          <p:cNvSpPr/>
          <p:nvPr/>
        </p:nvSpPr>
        <p:spPr>
          <a:xfrm>
            <a:off x="6309360" y="2743200"/>
            <a:ext cx="5330952" cy="960120"/>
          </a:xfrm>
          <a:prstGeom prst="roundRect">
            <a:avLst>
              <a:gd fmla="val 7619"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 name="Google Shape;250;p8"/>
          <p:cNvSpPr txBox="1"/>
          <p:nvPr/>
        </p:nvSpPr>
        <p:spPr>
          <a:xfrm>
            <a:off x="6492240" y="2852928"/>
            <a:ext cx="219456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1"/>
              </a:buClr>
              <a:buSzPts val="2400"/>
              <a:buFont typeface="Cambria"/>
              <a:buNone/>
            </a:pPr>
            <a:r>
              <a:rPr b="1" i="0" lang="en-US" sz="2400" u="none" cap="none" strike="noStrike">
                <a:solidFill>
                  <a:schemeClr val="accent1"/>
                </a:solidFill>
                <a:latin typeface="Cambria"/>
                <a:ea typeface="Cambria"/>
                <a:cs typeface="Cambria"/>
                <a:sym typeface="Cambria"/>
              </a:rPr>
              <a:t>614 / 154</a:t>
            </a:r>
            <a:endParaRPr b="0" i="0" sz="2400" u="none" cap="none" strike="noStrike">
              <a:solidFill>
                <a:schemeClr val="dk1"/>
              </a:solidFill>
              <a:latin typeface="Calibri"/>
              <a:ea typeface="Calibri"/>
              <a:cs typeface="Calibri"/>
              <a:sym typeface="Calibri"/>
            </a:endParaRPr>
          </a:p>
        </p:txBody>
      </p:sp>
      <p:sp>
        <p:nvSpPr>
          <p:cNvPr id="251" name="Google Shape;251;p8"/>
          <p:cNvSpPr txBox="1"/>
          <p:nvPr/>
        </p:nvSpPr>
        <p:spPr>
          <a:xfrm>
            <a:off x="8732520" y="2852928"/>
            <a:ext cx="278892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0" i="0" lang="en-US" sz="1400" u="none" cap="none" strike="noStrike">
                <a:solidFill>
                  <a:schemeClr val="dk1"/>
                </a:solidFill>
                <a:latin typeface="Calibri"/>
                <a:ea typeface="Calibri"/>
                <a:cs typeface="Calibri"/>
                <a:sym typeface="Calibri"/>
              </a:rPr>
              <a:t>train / test rows, both ~35 % diabetic</a:t>
            </a:r>
            <a:endParaRPr b="0" i="0" sz="1400" u="none" cap="none" strike="noStrike">
              <a:solidFill>
                <a:schemeClr val="dk1"/>
              </a:solidFill>
              <a:latin typeface="Calibri"/>
              <a:ea typeface="Calibri"/>
              <a:cs typeface="Calibri"/>
              <a:sym typeface="Calibri"/>
            </a:endParaRPr>
          </a:p>
        </p:txBody>
      </p:sp>
      <p:sp>
        <p:nvSpPr>
          <p:cNvPr id="252" name="Google Shape;252;p8"/>
          <p:cNvSpPr/>
          <p:nvPr/>
        </p:nvSpPr>
        <p:spPr>
          <a:xfrm>
            <a:off x="6309360" y="3886200"/>
            <a:ext cx="5330952" cy="960120"/>
          </a:xfrm>
          <a:prstGeom prst="roundRect">
            <a:avLst>
              <a:gd fmla="val 7619"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 name="Google Shape;253;p8"/>
          <p:cNvSpPr txBox="1"/>
          <p:nvPr/>
        </p:nvSpPr>
        <p:spPr>
          <a:xfrm>
            <a:off x="6492240" y="3995928"/>
            <a:ext cx="219456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1"/>
              </a:buClr>
              <a:buSzPts val="2400"/>
              <a:buFont typeface="Cambria"/>
              <a:buNone/>
            </a:pPr>
            <a:r>
              <a:rPr b="1" i="0" lang="en-US" sz="2400" u="none" cap="none" strike="noStrike">
                <a:solidFill>
                  <a:schemeClr val="accent1"/>
                </a:solidFill>
                <a:latin typeface="Cambria"/>
                <a:ea typeface="Cambria"/>
                <a:cs typeface="Cambria"/>
                <a:sym typeface="Cambria"/>
              </a:rPr>
              <a:t>Never resampled</a:t>
            </a:r>
            <a:endParaRPr b="0" i="0" sz="2400" u="none" cap="none" strike="noStrike">
              <a:solidFill>
                <a:schemeClr val="dk1"/>
              </a:solidFill>
              <a:latin typeface="Calibri"/>
              <a:ea typeface="Calibri"/>
              <a:cs typeface="Calibri"/>
              <a:sym typeface="Calibri"/>
            </a:endParaRPr>
          </a:p>
        </p:txBody>
      </p:sp>
      <p:sp>
        <p:nvSpPr>
          <p:cNvPr id="254" name="Google Shape;254;p8"/>
          <p:cNvSpPr txBox="1"/>
          <p:nvPr/>
        </p:nvSpPr>
        <p:spPr>
          <a:xfrm>
            <a:off x="8732520" y="3995928"/>
            <a:ext cx="278892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0" i="0" lang="en-US" sz="1400" u="none" cap="none" strike="noStrike">
                <a:solidFill>
                  <a:schemeClr val="dk1"/>
                </a:solidFill>
                <a:latin typeface="Calibri"/>
                <a:ea typeface="Calibri"/>
                <a:cs typeface="Calibri"/>
                <a:sym typeface="Calibri"/>
              </a:rPr>
              <a:t>the test set keeps its real 100 / 54 split</a:t>
            </a:r>
            <a:endParaRPr b="0" i="0" sz="1400" u="none" cap="none" strike="noStrike">
              <a:solidFill>
                <a:schemeClr val="dk1"/>
              </a:solidFill>
              <a:latin typeface="Calibri"/>
              <a:ea typeface="Calibri"/>
              <a:cs typeface="Calibri"/>
              <a:sym typeface="Calibri"/>
            </a:endParaRPr>
          </a:p>
        </p:txBody>
      </p:sp>
      <p:sp>
        <p:nvSpPr>
          <p:cNvPr id="255" name="Google Shape;255;p8"/>
          <p:cNvSpPr/>
          <p:nvPr/>
        </p:nvSpPr>
        <p:spPr>
          <a:xfrm>
            <a:off x="6309360" y="5029200"/>
            <a:ext cx="5330952" cy="960120"/>
          </a:xfrm>
          <a:prstGeom prst="roundRect">
            <a:avLst>
              <a:gd fmla="val 7619"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 name="Google Shape;256;p8"/>
          <p:cNvSpPr txBox="1"/>
          <p:nvPr/>
        </p:nvSpPr>
        <p:spPr>
          <a:xfrm>
            <a:off x="6492240" y="5138928"/>
            <a:ext cx="219456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2"/>
              </a:buClr>
              <a:buSzPts val="2400"/>
              <a:buFont typeface="Cambria"/>
              <a:buNone/>
            </a:pPr>
            <a:r>
              <a:rPr b="1" i="0" lang="en-US" sz="2400" u="none" cap="none" strike="noStrike">
                <a:solidFill>
                  <a:schemeClr val="accent2"/>
                </a:solidFill>
                <a:latin typeface="Cambria"/>
                <a:ea typeface="Cambria"/>
                <a:cs typeface="Cambria"/>
                <a:sym typeface="Cambria"/>
              </a:rPr>
              <a:t>0.57 → 0.72</a:t>
            </a:r>
            <a:endParaRPr b="0" i="0" sz="2400" u="none" cap="none" strike="noStrike">
              <a:solidFill>
                <a:schemeClr val="dk1"/>
              </a:solidFill>
              <a:latin typeface="Calibri"/>
              <a:ea typeface="Calibri"/>
              <a:cs typeface="Calibri"/>
              <a:sym typeface="Calibri"/>
            </a:endParaRPr>
          </a:p>
        </p:txBody>
      </p:sp>
      <p:sp>
        <p:nvSpPr>
          <p:cNvPr id="257" name="Google Shape;257;p8"/>
          <p:cNvSpPr txBox="1"/>
          <p:nvPr/>
        </p:nvSpPr>
        <p:spPr>
          <a:xfrm>
            <a:off x="8732520" y="5138928"/>
            <a:ext cx="278892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0" i="0" lang="en-US" sz="1400" u="none" cap="none" strike="noStrike">
                <a:solidFill>
                  <a:schemeClr val="dk1"/>
                </a:solidFill>
                <a:latin typeface="Calibri"/>
                <a:ea typeface="Calibri"/>
                <a:cs typeface="Calibri"/>
                <a:sym typeface="Calibri"/>
              </a:rPr>
              <a:t>cross-validated recall of Logistic Regression with SMOTE</a:t>
            </a:r>
            <a:endParaRPr b="0" i="0" sz="1400" u="none" cap="none" strike="noStrike">
              <a:solidFill>
                <a:schemeClr val="dk1"/>
              </a:solidFill>
              <a:latin typeface="Calibri"/>
              <a:ea typeface="Calibri"/>
              <a:cs typeface="Calibri"/>
              <a:sym typeface="Calibri"/>
            </a:endParaRPr>
          </a:p>
        </p:txBody>
      </p:sp>
      <p:sp>
        <p:nvSpPr>
          <p:cNvPr id="258" name="Google Shape;258;p8">
            <a:hlinkClick action="ppaction://hlinksldjump" r:id="rId4"/>
          </p:cNvPr>
          <p:cNvSpPr/>
          <p:nvPr/>
        </p:nvSpPr>
        <p:spPr>
          <a:xfrm>
            <a:off x="10680192" y="6336792"/>
            <a:ext cx="960120" cy="365760"/>
          </a:xfrm>
          <a:prstGeom prst="roundRect">
            <a:avLst>
              <a:gd fmla="val 25000" name="adj"/>
            </a:avLst>
          </a:prstGeom>
          <a:solidFill>
            <a:schemeClr val="accent1"/>
          </a:solidFill>
          <a:ln cap="flat" cmpd="sng" w="9525">
            <a:solidFill>
              <a:schemeClr val="accent1"/>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Next ›</a:t>
            </a:r>
            <a:endParaRPr b="0" i="0" sz="1200" u="none" cap="none" strike="noStrike">
              <a:solidFill>
                <a:schemeClr val="dk1"/>
              </a:solidFill>
              <a:latin typeface="Calibri"/>
              <a:ea typeface="Calibri"/>
              <a:cs typeface="Calibri"/>
              <a:sym typeface="Calibri"/>
            </a:endParaRPr>
          </a:p>
        </p:txBody>
      </p:sp>
      <p:sp>
        <p:nvSpPr>
          <p:cNvPr id="259" name="Google Shape;259;p8">
            <a:hlinkClick action="ppaction://hlinksldjump" r:id="rId5"/>
          </p:cNvPr>
          <p:cNvSpPr/>
          <p:nvPr/>
        </p:nvSpPr>
        <p:spPr>
          <a:xfrm>
            <a:off x="9610344" y="6336792"/>
            <a:ext cx="960120" cy="365760"/>
          </a:xfrm>
          <a:prstGeom prst="roundRect">
            <a:avLst>
              <a:gd fmla="val 25000"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1" i="0" lang="en-US" sz="1200" u="none" cap="none" strike="noStrike">
                <a:solidFill>
                  <a:schemeClr val="dk2"/>
                </a:solidFill>
                <a:latin typeface="Calibri"/>
                <a:ea typeface="Calibri"/>
                <a:cs typeface="Calibri"/>
                <a:sym typeface="Calibri"/>
              </a:rPr>
              <a:t>Agenda</a:t>
            </a:r>
            <a:endParaRPr b="0" i="0" sz="1200" u="none" cap="none" strike="noStrike">
              <a:solidFill>
                <a:schemeClr val="dk1"/>
              </a:solidFill>
              <a:latin typeface="Calibri"/>
              <a:ea typeface="Calibri"/>
              <a:cs typeface="Calibri"/>
              <a:sym typeface="Calibri"/>
            </a:endParaRPr>
          </a:p>
        </p:txBody>
      </p:sp>
      <p:sp>
        <p:nvSpPr>
          <p:cNvPr id="260" name="Google Shape;260;p8">
            <a:hlinkClick action="ppaction://hlinksldjump" r:id="rId6"/>
          </p:cNvPr>
          <p:cNvSpPr/>
          <p:nvPr/>
        </p:nvSpPr>
        <p:spPr>
          <a:xfrm>
            <a:off x="8540496" y="6336792"/>
            <a:ext cx="960120" cy="365760"/>
          </a:xfrm>
          <a:prstGeom prst="roundRect">
            <a:avLst>
              <a:gd fmla="val 25000"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1" i="0" lang="en-US" sz="1200" u="none" cap="none" strike="noStrike">
                <a:solidFill>
                  <a:schemeClr val="dk2"/>
                </a:solidFill>
                <a:latin typeface="Calibri"/>
                <a:ea typeface="Calibri"/>
                <a:cs typeface="Calibri"/>
                <a:sym typeface="Calibri"/>
              </a:rPr>
              <a:t>‹ Prev</a:t>
            </a:r>
            <a:endParaRPr b="0" i="0" sz="1200" u="none" cap="none" strike="noStrike">
              <a:solidFill>
                <a:schemeClr val="dk1"/>
              </a:solidFill>
              <a:latin typeface="Calibri"/>
              <a:ea typeface="Calibri"/>
              <a:cs typeface="Calibri"/>
              <a:sym typeface="Calibri"/>
            </a:endParaRPr>
          </a:p>
        </p:txBody>
      </p:sp>
      <p:sp>
        <p:nvSpPr>
          <p:cNvPr id="261" name="Google Shape;261;p8"/>
          <p:cNvSpPr txBox="1"/>
          <p:nvPr>
            <p:ph idx="4294967295" type="sldNum"/>
          </p:nvPr>
        </p:nvSpPr>
        <p:spPr>
          <a:xfrm>
            <a:off x="8732520" y="6382512"/>
            <a:ext cx="502920" cy="292608"/>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accent5"/>
                </a:solidFill>
                <a:latin typeface="Calibri"/>
                <a:ea typeface="Calibri"/>
                <a:cs typeface="Calibri"/>
                <a:sym typeface="Calibri"/>
              </a:rPr>
              <a:t>‹#›</a:t>
            </a:fld>
            <a:endParaRPr b="0" i="0" sz="1000" u="none" cap="none" strike="noStrike">
              <a:solidFill>
                <a:schemeClr val="accent5"/>
              </a:solidFill>
              <a:latin typeface="Calibri"/>
              <a:ea typeface="Calibri"/>
              <a:cs typeface="Calibri"/>
              <a:sym typeface="Calibri"/>
            </a:endParaRPr>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9"/>
          <p:cNvSpPr txBox="1"/>
          <p:nvPr>
            <p:ph type="title"/>
          </p:nvPr>
        </p:nvSpPr>
        <p:spPr>
          <a:xfrm>
            <a:off x="548640" y="347472"/>
            <a:ext cx="11064240" cy="7315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200"/>
              <a:buFont typeface="Cambria"/>
              <a:buNone/>
            </a:pPr>
            <a:r>
              <a:rPr b="1" lang="en-US" sz="3200">
                <a:solidFill>
                  <a:schemeClr val="dk2"/>
                </a:solidFill>
                <a:latin typeface="Cambria"/>
                <a:ea typeface="Cambria"/>
                <a:cs typeface="Cambria"/>
                <a:sym typeface="Cambria"/>
              </a:rPr>
              <a:t>Five Models, Simple to Complex</a:t>
            </a:r>
            <a:endParaRPr sz="3200"/>
          </a:p>
        </p:txBody>
      </p:sp>
      <p:sp>
        <p:nvSpPr>
          <p:cNvPr id="268" name="Google Shape;268;p9">
            <a:hlinkClick action="ppaction://hlinksldjump" r:id="rId3"/>
          </p:cNvPr>
          <p:cNvSpPr/>
          <p:nvPr/>
        </p:nvSpPr>
        <p:spPr>
          <a:xfrm>
            <a:off x="548640" y="1371600"/>
            <a:ext cx="2057400" cy="4297680"/>
          </a:xfrm>
          <a:prstGeom prst="roundRect">
            <a:avLst>
              <a:gd fmla="val 3556"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 name="Google Shape;269;p9">
            <a:hlinkClick action="ppaction://hlinksldjump" r:id="rId4"/>
          </p:cNvPr>
          <p:cNvSpPr/>
          <p:nvPr/>
        </p:nvSpPr>
        <p:spPr>
          <a:xfrm>
            <a:off x="1120140" y="1600200"/>
            <a:ext cx="914400" cy="914400"/>
          </a:xfrm>
          <a:prstGeom prst="ellipse">
            <a:avLst/>
          </a:prstGeom>
          <a:solidFill>
            <a:srgbClr val="3A5A98"/>
          </a:solidFill>
          <a:ln cap="flat" cmpd="sng" w="12700">
            <a:solidFill>
              <a:srgbClr val="3A5A9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270" name="Google Shape;270;p9">
            <a:hlinkClick action="ppaction://hlinksldjump" r:id="rId5"/>
          </p:cNvPr>
          <p:cNvPicPr preferRelativeResize="0"/>
          <p:nvPr/>
        </p:nvPicPr>
        <p:blipFill rotWithShape="1">
          <a:blip r:embed="rId6">
            <a:alphaModFix/>
          </a:blip>
          <a:srcRect b="0" l="0" r="0" t="0"/>
          <a:stretch/>
        </p:blipFill>
        <p:spPr>
          <a:xfrm>
            <a:off x="1339596" y="1819656"/>
            <a:ext cx="475488" cy="475488"/>
          </a:xfrm>
          <a:prstGeom prst="rect">
            <a:avLst/>
          </a:prstGeom>
          <a:noFill/>
          <a:ln>
            <a:noFill/>
          </a:ln>
        </p:spPr>
      </p:pic>
      <p:sp>
        <p:nvSpPr>
          <p:cNvPr id="271" name="Google Shape;271;p9">
            <a:hlinkClick action="ppaction://hlinksldjump" r:id="rId7"/>
          </p:cNvPr>
          <p:cNvSpPr/>
          <p:nvPr/>
        </p:nvSpPr>
        <p:spPr>
          <a:xfrm>
            <a:off x="685800" y="2697480"/>
            <a:ext cx="1783080" cy="237744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dk2"/>
              </a:buClr>
              <a:buSzPts val="1600"/>
              <a:buFont typeface="Calibri"/>
              <a:buNone/>
            </a:pPr>
            <a:r>
              <a:rPr b="1" i="0" lang="en-US" sz="1600" u="none" cap="none" strike="noStrike">
                <a:solidFill>
                  <a:schemeClr val="dk2"/>
                </a:solidFill>
                <a:latin typeface="Calibri"/>
                <a:ea typeface="Calibri"/>
                <a:cs typeface="Calibri"/>
                <a:sym typeface="Calibri"/>
              </a:rPr>
              <a:t>Logistic Regression</a:t>
            </a:r>
            <a:endParaRPr b="0" i="0" sz="16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chemeClr val="dk1"/>
              </a:buClr>
              <a:buSzPts val="1300"/>
              <a:buFont typeface="Calibri"/>
              <a:buNone/>
            </a:pPr>
            <a:r>
              <a:rPr b="0" i="0" lang="en-US" sz="1300" u="none" cap="none" strike="noStrike">
                <a:solidFill>
                  <a:schemeClr val="dk1"/>
                </a:solidFill>
                <a:latin typeface="Calibri"/>
                <a:ea typeface="Calibri"/>
                <a:cs typeface="Calibri"/>
                <a:sym typeface="Calibri"/>
              </a:rPr>
              <a:t>Linear, interpretable baseline</a:t>
            </a:r>
            <a:endParaRPr b="0" i="0" sz="16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000000"/>
              </a:buClr>
              <a:buSzPts val="800"/>
              <a:buFont typeface="Calibri"/>
              <a:buNone/>
            </a:pPr>
            <a:r>
              <a:rPr b="0" i="0" lang="en-US" sz="800" u="none" cap="none" strike="noStrike">
                <a:solidFill>
                  <a:srgbClr val="000000"/>
                </a:solidFill>
                <a:latin typeface="Calibri"/>
                <a:ea typeface="Calibri"/>
                <a:cs typeface="Calibri"/>
                <a:sym typeface="Calibri"/>
              </a:rPr>
              <a:t> </a:t>
            </a:r>
            <a:endParaRPr b="0" i="0" sz="16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chemeClr val="accent5"/>
              </a:buClr>
              <a:buSzPts val="1200"/>
              <a:buFont typeface="Calibri"/>
              <a:buNone/>
            </a:pPr>
            <a:r>
              <a:rPr b="0" i="1" lang="en-US" sz="1200" u="none" cap="none" strike="noStrike">
                <a:solidFill>
                  <a:schemeClr val="accent5"/>
                </a:solidFill>
                <a:latin typeface="Calibri"/>
                <a:ea typeface="Calibri"/>
                <a:cs typeface="Calibri"/>
                <a:sym typeface="Calibri"/>
              </a:rPr>
              <a:t>max_iter = 1000</a:t>
            </a:r>
            <a:endParaRPr b="0" i="0" sz="1600" u="none" cap="none" strike="noStrike">
              <a:solidFill>
                <a:schemeClr val="dk1"/>
              </a:solidFill>
              <a:latin typeface="Calibri"/>
              <a:ea typeface="Calibri"/>
              <a:cs typeface="Calibri"/>
              <a:sym typeface="Calibri"/>
            </a:endParaRPr>
          </a:p>
        </p:txBody>
      </p:sp>
      <p:sp>
        <p:nvSpPr>
          <p:cNvPr id="272" name="Google Shape;272;p9"/>
          <p:cNvSpPr txBox="1"/>
          <p:nvPr/>
        </p:nvSpPr>
        <p:spPr>
          <a:xfrm>
            <a:off x="685800" y="5166360"/>
            <a:ext cx="1783080" cy="32004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accent1"/>
              </a:buClr>
              <a:buSzPts val="1100"/>
              <a:buFont typeface="Calibri"/>
              <a:buNone/>
            </a:pPr>
            <a:r>
              <a:rPr b="1" i="0" lang="en-US" sz="1100" u="none" cap="none" strike="noStrike">
                <a:solidFill>
                  <a:schemeClr val="accent1"/>
                </a:solidFill>
                <a:latin typeface="Calibri"/>
                <a:ea typeface="Calibri"/>
                <a:cs typeface="Calibri"/>
                <a:sym typeface="Calibri"/>
              </a:rPr>
              <a:t>Click for details ›</a:t>
            </a:r>
            <a:endParaRPr b="0" i="0" sz="1100" u="none" cap="none" strike="noStrike">
              <a:solidFill>
                <a:schemeClr val="dk1"/>
              </a:solidFill>
              <a:latin typeface="Calibri"/>
              <a:ea typeface="Calibri"/>
              <a:cs typeface="Calibri"/>
              <a:sym typeface="Calibri"/>
            </a:endParaRPr>
          </a:p>
        </p:txBody>
      </p:sp>
      <p:sp>
        <p:nvSpPr>
          <p:cNvPr id="273" name="Google Shape;273;p9">
            <a:hlinkClick action="ppaction://hlinksldjump" r:id="rId8"/>
          </p:cNvPr>
          <p:cNvSpPr/>
          <p:nvPr/>
        </p:nvSpPr>
        <p:spPr>
          <a:xfrm>
            <a:off x="2802636" y="1371600"/>
            <a:ext cx="2057400" cy="4297680"/>
          </a:xfrm>
          <a:prstGeom prst="roundRect">
            <a:avLst>
              <a:gd fmla="val 3556"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 name="Google Shape;274;p9">
            <a:hlinkClick action="ppaction://hlinksldjump" r:id="rId9"/>
          </p:cNvPr>
          <p:cNvSpPr/>
          <p:nvPr/>
        </p:nvSpPr>
        <p:spPr>
          <a:xfrm>
            <a:off x="3374136" y="1600200"/>
            <a:ext cx="914400" cy="914400"/>
          </a:xfrm>
          <a:prstGeom prst="ellipse">
            <a:avLst/>
          </a:prstGeom>
          <a:solidFill>
            <a:srgbClr val="F4B942"/>
          </a:solidFill>
          <a:ln cap="flat" cmpd="sng" w="12700">
            <a:solidFill>
              <a:srgbClr val="F4B9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275" name="Google Shape;275;p9">
            <a:hlinkClick action="ppaction://hlinksldjump" r:id="rId10"/>
          </p:cNvPr>
          <p:cNvPicPr preferRelativeResize="0"/>
          <p:nvPr/>
        </p:nvPicPr>
        <p:blipFill rotWithShape="1">
          <a:blip r:embed="rId11">
            <a:alphaModFix/>
          </a:blip>
          <a:srcRect b="0" l="0" r="0" t="0"/>
          <a:stretch/>
        </p:blipFill>
        <p:spPr>
          <a:xfrm>
            <a:off x="3593592" y="1819656"/>
            <a:ext cx="475488" cy="475488"/>
          </a:xfrm>
          <a:prstGeom prst="rect">
            <a:avLst/>
          </a:prstGeom>
          <a:noFill/>
          <a:ln>
            <a:noFill/>
          </a:ln>
        </p:spPr>
      </p:pic>
      <p:sp>
        <p:nvSpPr>
          <p:cNvPr id="276" name="Google Shape;276;p9">
            <a:hlinkClick action="ppaction://hlinksldjump" r:id="rId12"/>
          </p:cNvPr>
          <p:cNvSpPr/>
          <p:nvPr/>
        </p:nvSpPr>
        <p:spPr>
          <a:xfrm>
            <a:off x="2939796" y="2697480"/>
            <a:ext cx="1783080" cy="237744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dk2"/>
              </a:buClr>
              <a:buSzPts val="1600"/>
              <a:buFont typeface="Calibri"/>
              <a:buNone/>
            </a:pPr>
            <a:r>
              <a:rPr b="1" i="0" lang="en-US" sz="1600" u="none" cap="none" strike="noStrike">
                <a:solidFill>
                  <a:schemeClr val="dk2"/>
                </a:solidFill>
                <a:latin typeface="Calibri"/>
                <a:ea typeface="Calibri"/>
                <a:cs typeface="Calibri"/>
                <a:sym typeface="Calibri"/>
              </a:rPr>
              <a:t>K-Nearest Neighbors</a:t>
            </a:r>
            <a:endParaRPr b="0" i="0" sz="16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chemeClr val="dk1"/>
              </a:buClr>
              <a:buSzPts val="1300"/>
              <a:buFont typeface="Calibri"/>
              <a:buNone/>
            </a:pPr>
            <a:r>
              <a:rPr b="0" i="0" lang="en-US" sz="1300" u="none" cap="none" strike="noStrike">
                <a:solidFill>
                  <a:schemeClr val="dk1"/>
                </a:solidFill>
                <a:latin typeface="Calibri"/>
                <a:ea typeface="Calibri"/>
                <a:cs typeface="Calibri"/>
                <a:sym typeface="Calibri"/>
              </a:rPr>
              <a:t>Instance-based (distance)</a:t>
            </a:r>
            <a:endParaRPr b="0" i="0" sz="16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000000"/>
              </a:buClr>
              <a:buSzPts val="800"/>
              <a:buFont typeface="Calibri"/>
              <a:buNone/>
            </a:pPr>
            <a:r>
              <a:rPr b="0" i="0" lang="en-US" sz="800" u="none" cap="none" strike="noStrike">
                <a:solidFill>
                  <a:srgbClr val="000000"/>
                </a:solidFill>
                <a:latin typeface="Calibri"/>
                <a:ea typeface="Calibri"/>
                <a:cs typeface="Calibri"/>
                <a:sym typeface="Calibri"/>
              </a:rPr>
              <a:t> </a:t>
            </a:r>
            <a:endParaRPr b="0" i="0" sz="16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chemeClr val="accent5"/>
              </a:buClr>
              <a:buSzPts val="1200"/>
              <a:buFont typeface="Calibri"/>
              <a:buNone/>
            </a:pPr>
            <a:r>
              <a:rPr b="0" i="1" lang="en-US" sz="1200" u="none" cap="none" strike="noStrike">
                <a:solidFill>
                  <a:schemeClr val="accent5"/>
                </a:solidFill>
                <a:latin typeface="Calibri"/>
                <a:ea typeface="Calibri"/>
                <a:cs typeface="Calibri"/>
                <a:sym typeface="Calibri"/>
              </a:rPr>
              <a:t>k = 15 neighbours</a:t>
            </a:r>
            <a:endParaRPr b="0" i="0" sz="1600" u="none" cap="none" strike="noStrike">
              <a:solidFill>
                <a:schemeClr val="dk1"/>
              </a:solidFill>
              <a:latin typeface="Calibri"/>
              <a:ea typeface="Calibri"/>
              <a:cs typeface="Calibri"/>
              <a:sym typeface="Calibri"/>
            </a:endParaRPr>
          </a:p>
        </p:txBody>
      </p:sp>
      <p:sp>
        <p:nvSpPr>
          <p:cNvPr id="277" name="Google Shape;277;p9"/>
          <p:cNvSpPr txBox="1"/>
          <p:nvPr/>
        </p:nvSpPr>
        <p:spPr>
          <a:xfrm>
            <a:off x="2939796" y="5166360"/>
            <a:ext cx="1783080" cy="32004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accent1"/>
              </a:buClr>
              <a:buSzPts val="1100"/>
              <a:buFont typeface="Calibri"/>
              <a:buNone/>
            </a:pPr>
            <a:r>
              <a:rPr b="1" i="0" lang="en-US" sz="1100" u="none" cap="none" strike="noStrike">
                <a:solidFill>
                  <a:schemeClr val="accent1"/>
                </a:solidFill>
                <a:latin typeface="Calibri"/>
                <a:ea typeface="Calibri"/>
                <a:cs typeface="Calibri"/>
                <a:sym typeface="Calibri"/>
              </a:rPr>
              <a:t>Click for details ›</a:t>
            </a:r>
            <a:endParaRPr b="0" i="0" sz="1100" u="none" cap="none" strike="noStrike">
              <a:solidFill>
                <a:schemeClr val="dk1"/>
              </a:solidFill>
              <a:latin typeface="Calibri"/>
              <a:ea typeface="Calibri"/>
              <a:cs typeface="Calibri"/>
              <a:sym typeface="Calibri"/>
            </a:endParaRPr>
          </a:p>
        </p:txBody>
      </p:sp>
      <p:sp>
        <p:nvSpPr>
          <p:cNvPr id="278" name="Google Shape;278;p9">
            <a:hlinkClick action="ppaction://hlinksldjump" r:id="rId13"/>
          </p:cNvPr>
          <p:cNvSpPr/>
          <p:nvPr/>
        </p:nvSpPr>
        <p:spPr>
          <a:xfrm>
            <a:off x="5056632" y="1371600"/>
            <a:ext cx="2057400" cy="4297680"/>
          </a:xfrm>
          <a:prstGeom prst="roundRect">
            <a:avLst>
              <a:gd fmla="val 3556"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 name="Google Shape;279;p9">
            <a:hlinkClick action="ppaction://hlinksldjump" r:id="rId14"/>
          </p:cNvPr>
          <p:cNvSpPr/>
          <p:nvPr/>
        </p:nvSpPr>
        <p:spPr>
          <a:xfrm>
            <a:off x="5628132" y="1600200"/>
            <a:ext cx="914400" cy="914400"/>
          </a:xfrm>
          <a:prstGeom prst="ellipse">
            <a:avLst/>
          </a:prstGeom>
          <a:solidFill>
            <a:srgbClr val="7A8B94"/>
          </a:solidFill>
          <a:ln cap="flat" cmpd="sng" w="12700">
            <a:solidFill>
              <a:srgbClr val="7A8B9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280" name="Google Shape;280;p9">
            <a:hlinkClick action="ppaction://hlinksldjump" r:id="rId15"/>
          </p:cNvPr>
          <p:cNvPicPr preferRelativeResize="0"/>
          <p:nvPr/>
        </p:nvPicPr>
        <p:blipFill rotWithShape="1">
          <a:blip r:embed="rId16">
            <a:alphaModFix/>
          </a:blip>
          <a:srcRect b="0" l="0" r="0" t="0"/>
          <a:stretch/>
        </p:blipFill>
        <p:spPr>
          <a:xfrm>
            <a:off x="5847588" y="1819656"/>
            <a:ext cx="475488" cy="475488"/>
          </a:xfrm>
          <a:prstGeom prst="rect">
            <a:avLst/>
          </a:prstGeom>
          <a:noFill/>
          <a:ln>
            <a:noFill/>
          </a:ln>
        </p:spPr>
      </p:pic>
      <p:sp>
        <p:nvSpPr>
          <p:cNvPr id="281" name="Google Shape;281;p9">
            <a:hlinkClick action="ppaction://hlinksldjump" r:id="rId17"/>
          </p:cNvPr>
          <p:cNvSpPr/>
          <p:nvPr/>
        </p:nvSpPr>
        <p:spPr>
          <a:xfrm>
            <a:off x="5193792" y="2697480"/>
            <a:ext cx="1783080" cy="237744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dk2"/>
              </a:buClr>
              <a:buSzPts val="1600"/>
              <a:buFont typeface="Calibri"/>
              <a:buNone/>
            </a:pPr>
            <a:r>
              <a:rPr b="1" i="0" lang="en-US" sz="1600" u="none" cap="none" strike="noStrike">
                <a:solidFill>
                  <a:schemeClr val="dk2"/>
                </a:solidFill>
                <a:latin typeface="Calibri"/>
                <a:ea typeface="Calibri"/>
                <a:cs typeface="Calibri"/>
                <a:sym typeface="Calibri"/>
              </a:rPr>
              <a:t>Decision Tree</a:t>
            </a:r>
            <a:endParaRPr b="0" i="0" sz="16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chemeClr val="dk1"/>
              </a:buClr>
              <a:buSzPts val="1300"/>
              <a:buFont typeface="Calibri"/>
              <a:buNone/>
            </a:pPr>
            <a:r>
              <a:rPr b="0" i="0" lang="en-US" sz="1300" u="none" cap="none" strike="noStrike">
                <a:solidFill>
                  <a:schemeClr val="dk1"/>
                </a:solidFill>
                <a:latin typeface="Calibri"/>
                <a:ea typeface="Calibri"/>
                <a:cs typeface="Calibri"/>
                <a:sym typeface="Calibri"/>
              </a:rPr>
              <a:t>Rule-based tree</a:t>
            </a:r>
            <a:endParaRPr b="0" i="0" sz="16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000000"/>
              </a:buClr>
              <a:buSzPts val="800"/>
              <a:buFont typeface="Calibri"/>
              <a:buNone/>
            </a:pPr>
            <a:r>
              <a:rPr b="0" i="0" lang="en-US" sz="800" u="none" cap="none" strike="noStrike">
                <a:solidFill>
                  <a:srgbClr val="000000"/>
                </a:solidFill>
                <a:latin typeface="Calibri"/>
                <a:ea typeface="Calibri"/>
                <a:cs typeface="Calibri"/>
                <a:sym typeface="Calibri"/>
              </a:rPr>
              <a:t> </a:t>
            </a:r>
            <a:endParaRPr b="0" i="0" sz="16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chemeClr val="accent5"/>
              </a:buClr>
              <a:buSzPts val="1200"/>
              <a:buFont typeface="Calibri"/>
              <a:buNone/>
            </a:pPr>
            <a:r>
              <a:rPr b="0" i="1" lang="en-US" sz="1200" u="none" cap="none" strike="noStrike">
                <a:solidFill>
                  <a:schemeClr val="accent5"/>
                </a:solidFill>
                <a:latin typeface="Calibri"/>
                <a:ea typeface="Calibri"/>
                <a:cs typeface="Calibri"/>
                <a:sym typeface="Calibri"/>
              </a:rPr>
              <a:t>max_depth = 5, min_samples_leaf = 5</a:t>
            </a:r>
            <a:endParaRPr b="0" i="0" sz="1600" u="none" cap="none" strike="noStrike">
              <a:solidFill>
                <a:schemeClr val="dk1"/>
              </a:solidFill>
              <a:latin typeface="Calibri"/>
              <a:ea typeface="Calibri"/>
              <a:cs typeface="Calibri"/>
              <a:sym typeface="Calibri"/>
            </a:endParaRPr>
          </a:p>
        </p:txBody>
      </p:sp>
      <p:sp>
        <p:nvSpPr>
          <p:cNvPr id="282" name="Google Shape;282;p9"/>
          <p:cNvSpPr txBox="1"/>
          <p:nvPr/>
        </p:nvSpPr>
        <p:spPr>
          <a:xfrm>
            <a:off x="5193792" y="5166360"/>
            <a:ext cx="1783080" cy="32004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accent1"/>
              </a:buClr>
              <a:buSzPts val="1100"/>
              <a:buFont typeface="Calibri"/>
              <a:buNone/>
            </a:pPr>
            <a:r>
              <a:rPr b="1" i="0" lang="en-US" sz="1100" u="none" cap="none" strike="noStrike">
                <a:solidFill>
                  <a:schemeClr val="accent1"/>
                </a:solidFill>
                <a:latin typeface="Calibri"/>
                <a:ea typeface="Calibri"/>
                <a:cs typeface="Calibri"/>
                <a:sym typeface="Calibri"/>
              </a:rPr>
              <a:t>Click for details ›</a:t>
            </a:r>
            <a:endParaRPr b="0" i="0" sz="1100" u="none" cap="none" strike="noStrike">
              <a:solidFill>
                <a:schemeClr val="dk1"/>
              </a:solidFill>
              <a:latin typeface="Calibri"/>
              <a:ea typeface="Calibri"/>
              <a:cs typeface="Calibri"/>
              <a:sym typeface="Calibri"/>
            </a:endParaRPr>
          </a:p>
        </p:txBody>
      </p:sp>
      <p:sp>
        <p:nvSpPr>
          <p:cNvPr id="283" name="Google Shape;283;p9">
            <a:hlinkClick action="ppaction://hlinksldjump" r:id="rId18"/>
          </p:cNvPr>
          <p:cNvSpPr/>
          <p:nvPr/>
        </p:nvSpPr>
        <p:spPr>
          <a:xfrm>
            <a:off x="7310628" y="1371600"/>
            <a:ext cx="2057400" cy="4297680"/>
          </a:xfrm>
          <a:prstGeom prst="roundRect">
            <a:avLst>
              <a:gd fmla="val 3556"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 name="Google Shape;284;p9">
            <a:hlinkClick action="ppaction://hlinksldjump" r:id="rId19"/>
          </p:cNvPr>
          <p:cNvSpPr/>
          <p:nvPr/>
        </p:nvSpPr>
        <p:spPr>
          <a:xfrm>
            <a:off x="7882128" y="1600200"/>
            <a:ext cx="914400" cy="914400"/>
          </a:xfrm>
          <a:prstGeom prst="ellipse">
            <a:avLst/>
          </a:prstGeom>
          <a:solidFill>
            <a:srgbClr val="0E7C86"/>
          </a:solidFill>
          <a:ln cap="flat" cmpd="sng" w="12700">
            <a:solidFill>
              <a:srgbClr val="0E7C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285" name="Google Shape;285;p9">
            <a:hlinkClick action="ppaction://hlinksldjump" r:id="rId20"/>
          </p:cNvPr>
          <p:cNvPicPr preferRelativeResize="0"/>
          <p:nvPr/>
        </p:nvPicPr>
        <p:blipFill rotWithShape="1">
          <a:blip r:embed="rId21">
            <a:alphaModFix/>
          </a:blip>
          <a:srcRect b="0" l="0" r="0" t="0"/>
          <a:stretch/>
        </p:blipFill>
        <p:spPr>
          <a:xfrm>
            <a:off x="8101584" y="1819656"/>
            <a:ext cx="475488" cy="475488"/>
          </a:xfrm>
          <a:prstGeom prst="rect">
            <a:avLst/>
          </a:prstGeom>
          <a:noFill/>
          <a:ln>
            <a:noFill/>
          </a:ln>
        </p:spPr>
      </p:pic>
      <p:sp>
        <p:nvSpPr>
          <p:cNvPr id="286" name="Google Shape;286;p9">
            <a:hlinkClick action="ppaction://hlinksldjump" r:id="rId22"/>
          </p:cNvPr>
          <p:cNvSpPr/>
          <p:nvPr/>
        </p:nvSpPr>
        <p:spPr>
          <a:xfrm>
            <a:off x="7447788" y="2697480"/>
            <a:ext cx="1783080" cy="237744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dk2"/>
              </a:buClr>
              <a:buSzPts val="1600"/>
              <a:buFont typeface="Calibri"/>
              <a:buNone/>
            </a:pPr>
            <a:r>
              <a:rPr b="1" i="0" lang="en-US" sz="1600" u="none" cap="none" strike="noStrike">
                <a:solidFill>
                  <a:schemeClr val="dk2"/>
                </a:solidFill>
                <a:latin typeface="Calibri"/>
                <a:ea typeface="Calibri"/>
                <a:cs typeface="Calibri"/>
                <a:sym typeface="Calibri"/>
              </a:rPr>
              <a:t>Random Forest</a:t>
            </a:r>
            <a:endParaRPr b="0" i="0" sz="16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chemeClr val="dk1"/>
              </a:buClr>
              <a:buSzPts val="1300"/>
              <a:buFont typeface="Calibri"/>
              <a:buNone/>
            </a:pPr>
            <a:r>
              <a:rPr b="0" i="0" lang="en-US" sz="1300" u="none" cap="none" strike="noStrike">
                <a:solidFill>
                  <a:schemeClr val="dk1"/>
                </a:solidFill>
                <a:latin typeface="Calibri"/>
                <a:ea typeface="Calibri"/>
                <a:cs typeface="Calibri"/>
                <a:sym typeface="Calibri"/>
              </a:rPr>
              <a:t>Bagging ensemble</a:t>
            </a:r>
            <a:endParaRPr b="0" i="0" sz="16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000000"/>
              </a:buClr>
              <a:buSzPts val="800"/>
              <a:buFont typeface="Calibri"/>
              <a:buNone/>
            </a:pPr>
            <a:r>
              <a:rPr b="0" i="0" lang="en-US" sz="800" u="none" cap="none" strike="noStrike">
                <a:solidFill>
                  <a:srgbClr val="000000"/>
                </a:solidFill>
                <a:latin typeface="Calibri"/>
                <a:ea typeface="Calibri"/>
                <a:cs typeface="Calibri"/>
                <a:sym typeface="Calibri"/>
              </a:rPr>
              <a:t> </a:t>
            </a:r>
            <a:endParaRPr b="0" i="0" sz="16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chemeClr val="accent5"/>
              </a:buClr>
              <a:buSzPts val="1200"/>
              <a:buFont typeface="Calibri"/>
              <a:buNone/>
            </a:pPr>
            <a:r>
              <a:rPr b="0" i="1" lang="en-US" sz="1200" u="none" cap="none" strike="noStrike">
                <a:solidFill>
                  <a:schemeClr val="accent5"/>
                </a:solidFill>
                <a:latin typeface="Calibri"/>
                <a:ea typeface="Calibri"/>
                <a:cs typeface="Calibri"/>
                <a:sym typeface="Calibri"/>
              </a:rPr>
              <a:t>300 trees, min_samples_leaf = 2</a:t>
            </a:r>
            <a:endParaRPr b="0" i="0" sz="1600" u="none" cap="none" strike="noStrike">
              <a:solidFill>
                <a:schemeClr val="dk1"/>
              </a:solidFill>
              <a:latin typeface="Calibri"/>
              <a:ea typeface="Calibri"/>
              <a:cs typeface="Calibri"/>
              <a:sym typeface="Calibri"/>
            </a:endParaRPr>
          </a:p>
        </p:txBody>
      </p:sp>
      <p:sp>
        <p:nvSpPr>
          <p:cNvPr id="287" name="Google Shape;287;p9"/>
          <p:cNvSpPr txBox="1"/>
          <p:nvPr/>
        </p:nvSpPr>
        <p:spPr>
          <a:xfrm>
            <a:off x="7447788" y="5166360"/>
            <a:ext cx="1783080" cy="32004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accent1"/>
              </a:buClr>
              <a:buSzPts val="1100"/>
              <a:buFont typeface="Calibri"/>
              <a:buNone/>
            </a:pPr>
            <a:r>
              <a:rPr b="1" i="0" lang="en-US" sz="1100" u="none" cap="none" strike="noStrike">
                <a:solidFill>
                  <a:schemeClr val="accent1"/>
                </a:solidFill>
                <a:latin typeface="Calibri"/>
                <a:ea typeface="Calibri"/>
                <a:cs typeface="Calibri"/>
                <a:sym typeface="Calibri"/>
              </a:rPr>
              <a:t>Click for details ›</a:t>
            </a:r>
            <a:endParaRPr b="0" i="0" sz="1100" u="none" cap="none" strike="noStrike">
              <a:solidFill>
                <a:schemeClr val="dk1"/>
              </a:solidFill>
              <a:latin typeface="Calibri"/>
              <a:ea typeface="Calibri"/>
              <a:cs typeface="Calibri"/>
              <a:sym typeface="Calibri"/>
            </a:endParaRPr>
          </a:p>
        </p:txBody>
      </p:sp>
      <p:sp>
        <p:nvSpPr>
          <p:cNvPr id="288" name="Google Shape;288;p9">
            <a:hlinkClick action="ppaction://hlinksldjump" r:id="rId23"/>
          </p:cNvPr>
          <p:cNvSpPr/>
          <p:nvPr/>
        </p:nvSpPr>
        <p:spPr>
          <a:xfrm>
            <a:off x="9564624" y="1371600"/>
            <a:ext cx="2057400" cy="4297680"/>
          </a:xfrm>
          <a:prstGeom prst="roundRect">
            <a:avLst>
              <a:gd fmla="val 3556"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 name="Google Shape;289;p9">
            <a:hlinkClick action="ppaction://hlinksldjump" r:id="rId24"/>
          </p:cNvPr>
          <p:cNvSpPr/>
          <p:nvPr/>
        </p:nvSpPr>
        <p:spPr>
          <a:xfrm>
            <a:off x="10136124" y="1600200"/>
            <a:ext cx="914400" cy="914400"/>
          </a:xfrm>
          <a:prstGeom prst="ellipse">
            <a:avLst/>
          </a:prstGeom>
          <a:solidFill>
            <a:srgbClr val="6B4E9B"/>
          </a:solidFill>
          <a:ln cap="flat" cmpd="sng" w="12700">
            <a:solidFill>
              <a:srgbClr val="6B4E9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290" name="Google Shape;290;p9">
            <a:hlinkClick action="ppaction://hlinksldjump" r:id="rId25"/>
          </p:cNvPr>
          <p:cNvPicPr preferRelativeResize="0"/>
          <p:nvPr/>
        </p:nvPicPr>
        <p:blipFill rotWithShape="1">
          <a:blip r:embed="rId26">
            <a:alphaModFix/>
          </a:blip>
          <a:srcRect b="0" l="0" r="0" t="0"/>
          <a:stretch/>
        </p:blipFill>
        <p:spPr>
          <a:xfrm>
            <a:off x="10355580" y="1819656"/>
            <a:ext cx="475488" cy="475488"/>
          </a:xfrm>
          <a:prstGeom prst="rect">
            <a:avLst/>
          </a:prstGeom>
          <a:noFill/>
          <a:ln>
            <a:noFill/>
          </a:ln>
        </p:spPr>
      </p:pic>
      <p:sp>
        <p:nvSpPr>
          <p:cNvPr id="291" name="Google Shape;291;p9">
            <a:hlinkClick action="ppaction://hlinksldjump" r:id="rId27"/>
          </p:cNvPr>
          <p:cNvSpPr/>
          <p:nvPr/>
        </p:nvSpPr>
        <p:spPr>
          <a:xfrm>
            <a:off x="9701784" y="2697480"/>
            <a:ext cx="1783080" cy="237744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dk2"/>
              </a:buClr>
              <a:buSzPts val="1600"/>
              <a:buFont typeface="Calibri"/>
              <a:buNone/>
            </a:pPr>
            <a:r>
              <a:rPr b="1" i="0" lang="en-US" sz="1600" u="none" cap="none" strike="noStrike">
                <a:solidFill>
                  <a:schemeClr val="dk2"/>
                </a:solidFill>
                <a:latin typeface="Calibri"/>
                <a:ea typeface="Calibri"/>
                <a:cs typeface="Calibri"/>
                <a:sym typeface="Calibri"/>
              </a:rPr>
              <a:t>XGBoost</a:t>
            </a:r>
            <a:endParaRPr b="0" i="0" sz="16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chemeClr val="dk1"/>
              </a:buClr>
              <a:buSzPts val="1300"/>
              <a:buFont typeface="Calibri"/>
              <a:buNone/>
            </a:pPr>
            <a:r>
              <a:rPr b="0" i="0" lang="en-US" sz="1300" u="none" cap="none" strike="noStrike">
                <a:solidFill>
                  <a:schemeClr val="dk1"/>
                </a:solidFill>
                <a:latin typeface="Calibri"/>
                <a:ea typeface="Calibri"/>
                <a:cs typeface="Calibri"/>
                <a:sym typeface="Calibri"/>
              </a:rPr>
              <a:t>Gradient-boosting ensemble</a:t>
            </a:r>
            <a:endParaRPr b="0" i="0" sz="16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000000"/>
              </a:buClr>
              <a:buSzPts val="800"/>
              <a:buFont typeface="Calibri"/>
              <a:buNone/>
            </a:pPr>
            <a:r>
              <a:rPr b="0" i="0" lang="en-US" sz="800" u="none" cap="none" strike="noStrike">
                <a:solidFill>
                  <a:srgbClr val="000000"/>
                </a:solidFill>
                <a:latin typeface="Calibri"/>
                <a:ea typeface="Calibri"/>
                <a:cs typeface="Calibri"/>
                <a:sym typeface="Calibri"/>
              </a:rPr>
              <a:t> </a:t>
            </a:r>
            <a:endParaRPr b="0" i="0" sz="16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chemeClr val="accent5"/>
              </a:buClr>
              <a:buSzPts val="1200"/>
              <a:buFont typeface="Calibri"/>
              <a:buNone/>
            </a:pPr>
            <a:r>
              <a:rPr b="0" i="1" lang="en-US" sz="1200" u="none" cap="none" strike="noStrike">
                <a:solidFill>
                  <a:schemeClr val="accent5"/>
                </a:solidFill>
                <a:latin typeface="Calibri"/>
                <a:ea typeface="Calibri"/>
                <a:cs typeface="Calibri"/>
                <a:sym typeface="Calibri"/>
              </a:rPr>
              <a:t>200 trees, depth 3, lr 0.05</a:t>
            </a:r>
            <a:endParaRPr b="0" i="0" sz="1600" u="none" cap="none" strike="noStrike">
              <a:solidFill>
                <a:schemeClr val="dk1"/>
              </a:solidFill>
              <a:latin typeface="Calibri"/>
              <a:ea typeface="Calibri"/>
              <a:cs typeface="Calibri"/>
              <a:sym typeface="Calibri"/>
            </a:endParaRPr>
          </a:p>
        </p:txBody>
      </p:sp>
      <p:sp>
        <p:nvSpPr>
          <p:cNvPr id="292" name="Google Shape;292;p9"/>
          <p:cNvSpPr txBox="1"/>
          <p:nvPr/>
        </p:nvSpPr>
        <p:spPr>
          <a:xfrm>
            <a:off x="9701784" y="5166360"/>
            <a:ext cx="1783080" cy="32004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accent1"/>
              </a:buClr>
              <a:buSzPts val="1100"/>
              <a:buFont typeface="Calibri"/>
              <a:buNone/>
            </a:pPr>
            <a:r>
              <a:rPr b="1" i="0" lang="en-US" sz="1100" u="none" cap="none" strike="noStrike">
                <a:solidFill>
                  <a:schemeClr val="accent1"/>
                </a:solidFill>
                <a:latin typeface="Calibri"/>
                <a:ea typeface="Calibri"/>
                <a:cs typeface="Calibri"/>
                <a:sym typeface="Calibri"/>
              </a:rPr>
              <a:t>Click for details ›</a:t>
            </a:r>
            <a:endParaRPr b="0" i="0" sz="1100" u="none" cap="none" strike="noStrike">
              <a:solidFill>
                <a:schemeClr val="dk1"/>
              </a:solidFill>
              <a:latin typeface="Calibri"/>
              <a:ea typeface="Calibri"/>
              <a:cs typeface="Calibri"/>
              <a:sym typeface="Calibri"/>
            </a:endParaRPr>
          </a:p>
        </p:txBody>
      </p:sp>
      <p:sp>
        <p:nvSpPr>
          <p:cNvPr id="293" name="Google Shape;293;p9"/>
          <p:cNvSpPr txBox="1"/>
          <p:nvPr/>
        </p:nvSpPr>
        <p:spPr>
          <a:xfrm>
            <a:off x="548640" y="5806440"/>
            <a:ext cx="11064240" cy="32004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accent5"/>
              </a:buClr>
              <a:buSzPts val="1300"/>
              <a:buFont typeface="Calibri"/>
              <a:buNone/>
            </a:pPr>
            <a:r>
              <a:rPr b="0" i="1" lang="en-US" sz="1300" u="none" cap="none" strike="noStrike">
                <a:solidFill>
                  <a:schemeClr val="accent5"/>
                </a:solidFill>
                <a:latin typeface="Calibri"/>
                <a:ea typeface="Calibri"/>
                <a:cs typeface="Calibri"/>
                <a:sym typeface="Calibri"/>
              </a:rPr>
              <a:t>Same pipeline for every model  |  random_state = 42  |  no tuning on the test set</a:t>
            </a:r>
            <a:endParaRPr b="0" i="0" sz="1300" u="none" cap="none" strike="noStrike">
              <a:solidFill>
                <a:schemeClr val="dk1"/>
              </a:solidFill>
              <a:latin typeface="Calibri"/>
              <a:ea typeface="Calibri"/>
              <a:cs typeface="Calibri"/>
              <a:sym typeface="Calibri"/>
            </a:endParaRPr>
          </a:p>
        </p:txBody>
      </p:sp>
      <p:sp>
        <p:nvSpPr>
          <p:cNvPr id="294" name="Google Shape;294;p9">
            <a:hlinkClick action="ppaction://hlinksldjump" r:id="rId28"/>
          </p:cNvPr>
          <p:cNvSpPr/>
          <p:nvPr/>
        </p:nvSpPr>
        <p:spPr>
          <a:xfrm>
            <a:off x="10680192" y="6336792"/>
            <a:ext cx="960120" cy="365760"/>
          </a:xfrm>
          <a:prstGeom prst="roundRect">
            <a:avLst>
              <a:gd fmla="val 25000" name="adj"/>
            </a:avLst>
          </a:prstGeom>
          <a:solidFill>
            <a:schemeClr val="accent1"/>
          </a:solidFill>
          <a:ln cap="flat" cmpd="sng" w="9525">
            <a:solidFill>
              <a:schemeClr val="accent1"/>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Next ›</a:t>
            </a:r>
            <a:endParaRPr b="0" i="0" sz="1200" u="none" cap="none" strike="noStrike">
              <a:solidFill>
                <a:schemeClr val="dk1"/>
              </a:solidFill>
              <a:latin typeface="Calibri"/>
              <a:ea typeface="Calibri"/>
              <a:cs typeface="Calibri"/>
              <a:sym typeface="Calibri"/>
            </a:endParaRPr>
          </a:p>
        </p:txBody>
      </p:sp>
      <p:sp>
        <p:nvSpPr>
          <p:cNvPr id="295" name="Google Shape;295;p9">
            <a:hlinkClick action="ppaction://hlinksldjump" r:id="rId29"/>
          </p:cNvPr>
          <p:cNvSpPr/>
          <p:nvPr/>
        </p:nvSpPr>
        <p:spPr>
          <a:xfrm>
            <a:off x="9610344" y="6336792"/>
            <a:ext cx="960120" cy="365760"/>
          </a:xfrm>
          <a:prstGeom prst="roundRect">
            <a:avLst>
              <a:gd fmla="val 25000"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1" i="0" lang="en-US" sz="1200" u="none" cap="none" strike="noStrike">
                <a:solidFill>
                  <a:schemeClr val="dk2"/>
                </a:solidFill>
                <a:latin typeface="Calibri"/>
                <a:ea typeface="Calibri"/>
                <a:cs typeface="Calibri"/>
                <a:sym typeface="Calibri"/>
              </a:rPr>
              <a:t>Agenda</a:t>
            </a:r>
            <a:endParaRPr b="0" i="0" sz="1200" u="none" cap="none" strike="noStrike">
              <a:solidFill>
                <a:schemeClr val="dk1"/>
              </a:solidFill>
              <a:latin typeface="Calibri"/>
              <a:ea typeface="Calibri"/>
              <a:cs typeface="Calibri"/>
              <a:sym typeface="Calibri"/>
            </a:endParaRPr>
          </a:p>
        </p:txBody>
      </p:sp>
      <p:sp>
        <p:nvSpPr>
          <p:cNvPr id="296" name="Google Shape;296;p9">
            <a:hlinkClick action="ppaction://hlinksldjump" r:id="rId30"/>
          </p:cNvPr>
          <p:cNvSpPr/>
          <p:nvPr/>
        </p:nvSpPr>
        <p:spPr>
          <a:xfrm>
            <a:off x="8540496" y="6336792"/>
            <a:ext cx="960120" cy="365760"/>
          </a:xfrm>
          <a:prstGeom prst="roundRect">
            <a:avLst>
              <a:gd fmla="val 25000"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1" i="0" lang="en-US" sz="1200" u="none" cap="none" strike="noStrike">
                <a:solidFill>
                  <a:schemeClr val="dk2"/>
                </a:solidFill>
                <a:latin typeface="Calibri"/>
                <a:ea typeface="Calibri"/>
                <a:cs typeface="Calibri"/>
                <a:sym typeface="Calibri"/>
              </a:rPr>
              <a:t>‹ Prev</a:t>
            </a:r>
            <a:endParaRPr b="0" i="0" sz="1200" u="none" cap="none" strike="noStrike">
              <a:solidFill>
                <a:schemeClr val="dk1"/>
              </a:solidFill>
              <a:latin typeface="Calibri"/>
              <a:ea typeface="Calibri"/>
              <a:cs typeface="Calibri"/>
              <a:sym typeface="Calibri"/>
            </a:endParaRPr>
          </a:p>
        </p:txBody>
      </p:sp>
      <p:sp>
        <p:nvSpPr>
          <p:cNvPr id="297" name="Google Shape;297;p9"/>
          <p:cNvSpPr txBox="1"/>
          <p:nvPr>
            <p:ph idx="4294967295" type="sldNum"/>
          </p:nvPr>
        </p:nvSpPr>
        <p:spPr>
          <a:xfrm>
            <a:off x="8732520" y="6382512"/>
            <a:ext cx="502920" cy="292608"/>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accent5"/>
                </a:solidFill>
                <a:latin typeface="Calibri"/>
                <a:ea typeface="Calibri"/>
                <a:cs typeface="Calibri"/>
                <a:sym typeface="Calibri"/>
              </a:rPr>
              <a:t>‹#›</a:t>
            </a:fld>
            <a:endParaRPr b="0" i="0" sz="1000" u="none" cap="none" strike="noStrike">
              <a:solidFill>
                <a:schemeClr val="accent5"/>
              </a:solidFill>
              <a:latin typeface="Calibri"/>
              <a:ea typeface="Calibri"/>
              <a:cs typeface="Calibri"/>
              <a:sym typeface="Calibri"/>
            </a:endParaRPr>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10"/>
          <p:cNvSpPr txBox="1"/>
          <p:nvPr>
            <p:ph type="title"/>
          </p:nvPr>
        </p:nvSpPr>
        <p:spPr>
          <a:xfrm>
            <a:off x="548640" y="347472"/>
            <a:ext cx="11064240" cy="7315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200"/>
              <a:buFont typeface="Cambria"/>
              <a:buNone/>
            </a:pPr>
            <a:r>
              <a:rPr b="1" lang="en-US" sz="3200">
                <a:solidFill>
                  <a:schemeClr val="dk2"/>
                </a:solidFill>
                <a:latin typeface="Cambria"/>
                <a:ea typeface="Cambria"/>
                <a:cs typeface="Cambria"/>
                <a:sym typeface="Cambria"/>
              </a:rPr>
              <a:t>Evaluation Metrics</a:t>
            </a:r>
            <a:endParaRPr sz="3200"/>
          </a:p>
        </p:txBody>
      </p:sp>
      <p:sp>
        <p:nvSpPr>
          <p:cNvPr id="304" name="Google Shape;304;p10"/>
          <p:cNvSpPr/>
          <p:nvPr/>
        </p:nvSpPr>
        <p:spPr>
          <a:xfrm>
            <a:off x="548640" y="1325880"/>
            <a:ext cx="6309360" cy="749808"/>
          </a:xfrm>
          <a:prstGeom prst="roundRect">
            <a:avLst>
              <a:gd fmla="val 9756"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 name="Google Shape;305;p10"/>
          <p:cNvSpPr txBox="1"/>
          <p:nvPr/>
        </p:nvSpPr>
        <p:spPr>
          <a:xfrm>
            <a:off x="731520" y="1417320"/>
            <a:ext cx="146304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700"/>
              <a:buFont typeface="Calibri"/>
              <a:buNone/>
            </a:pPr>
            <a:r>
              <a:rPr b="1" i="0" lang="en-US" sz="1700" u="none" cap="none" strike="noStrike">
                <a:solidFill>
                  <a:schemeClr val="dk2"/>
                </a:solidFill>
                <a:latin typeface="Calibri"/>
                <a:ea typeface="Calibri"/>
                <a:cs typeface="Calibri"/>
                <a:sym typeface="Calibri"/>
              </a:rPr>
              <a:t>Accuracy</a:t>
            </a:r>
            <a:endParaRPr b="0" i="0" sz="1700" u="none" cap="none" strike="noStrike">
              <a:solidFill>
                <a:schemeClr val="dk1"/>
              </a:solidFill>
              <a:latin typeface="Calibri"/>
              <a:ea typeface="Calibri"/>
              <a:cs typeface="Calibri"/>
              <a:sym typeface="Calibri"/>
            </a:endParaRPr>
          </a:p>
        </p:txBody>
      </p:sp>
      <p:sp>
        <p:nvSpPr>
          <p:cNvPr id="306" name="Google Shape;306;p10"/>
          <p:cNvSpPr txBox="1"/>
          <p:nvPr/>
        </p:nvSpPr>
        <p:spPr>
          <a:xfrm>
            <a:off x="2240280" y="1417320"/>
            <a:ext cx="292608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0" i="0" lang="en-US" sz="1400" u="none" cap="none" strike="noStrike">
                <a:solidFill>
                  <a:schemeClr val="dk1"/>
                </a:solidFill>
                <a:latin typeface="Calibri"/>
                <a:ea typeface="Calibri"/>
                <a:cs typeface="Calibri"/>
                <a:sym typeface="Calibri"/>
              </a:rPr>
              <a:t>Share of correct predictions</a:t>
            </a:r>
            <a:endParaRPr b="0" i="0" sz="1400" u="none" cap="none" strike="noStrike">
              <a:solidFill>
                <a:schemeClr val="dk1"/>
              </a:solidFill>
              <a:latin typeface="Calibri"/>
              <a:ea typeface="Calibri"/>
              <a:cs typeface="Calibri"/>
              <a:sym typeface="Calibri"/>
            </a:endParaRPr>
          </a:p>
        </p:txBody>
      </p:sp>
      <p:sp>
        <p:nvSpPr>
          <p:cNvPr id="307" name="Google Shape;307;p10"/>
          <p:cNvSpPr txBox="1"/>
          <p:nvPr/>
        </p:nvSpPr>
        <p:spPr>
          <a:xfrm>
            <a:off x="5212080" y="1417320"/>
            <a:ext cx="150876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5"/>
              </a:buClr>
              <a:buSzPts val="1300"/>
              <a:buFont typeface="Calibri"/>
              <a:buNone/>
            </a:pPr>
            <a:r>
              <a:rPr b="0" i="1" lang="en-US" sz="1300" u="none" cap="none" strike="noStrike">
                <a:solidFill>
                  <a:schemeClr val="accent5"/>
                </a:solidFill>
                <a:latin typeface="Calibri"/>
                <a:ea typeface="Calibri"/>
                <a:cs typeface="Calibri"/>
                <a:sym typeface="Calibri"/>
              </a:rPr>
              <a:t>(TP + TN) / all</a:t>
            </a:r>
            <a:endParaRPr b="0" i="0" sz="1300" u="none" cap="none" strike="noStrike">
              <a:solidFill>
                <a:schemeClr val="dk1"/>
              </a:solidFill>
              <a:latin typeface="Calibri"/>
              <a:ea typeface="Calibri"/>
              <a:cs typeface="Calibri"/>
              <a:sym typeface="Calibri"/>
            </a:endParaRPr>
          </a:p>
        </p:txBody>
      </p:sp>
      <p:sp>
        <p:nvSpPr>
          <p:cNvPr id="308" name="Google Shape;308;p10"/>
          <p:cNvSpPr/>
          <p:nvPr/>
        </p:nvSpPr>
        <p:spPr>
          <a:xfrm>
            <a:off x="548640" y="2221992"/>
            <a:ext cx="6309360" cy="749808"/>
          </a:xfrm>
          <a:prstGeom prst="roundRect">
            <a:avLst>
              <a:gd fmla="val 9756"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 name="Google Shape;309;p10"/>
          <p:cNvSpPr txBox="1"/>
          <p:nvPr/>
        </p:nvSpPr>
        <p:spPr>
          <a:xfrm>
            <a:off x="731520" y="2313432"/>
            <a:ext cx="146304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700"/>
              <a:buFont typeface="Calibri"/>
              <a:buNone/>
            </a:pPr>
            <a:r>
              <a:rPr b="1" i="0" lang="en-US" sz="1700" u="none" cap="none" strike="noStrike">
                <a:solidFill>
                  <a:schemeClr val="dk2"/>
                </a:solidFill>
                <a:latin typeface="Calibri"/>
                <a:ea typeface="Calibri"/>
                <a:cs typeface="Calibri"/>
                <a:sym typeface="Calibri"/>
              </a:rPr>
              <a:t>Precision</a:t>
            </a:r>
            <a:endParaRPr b="0" i="0" sz="1700" u="none" cap="none" strike="noStrike">
              <a:solidFill>
                <a:schemeClr val="dk1"/>
              </a:solidFill>
              <a:latin typeface="Calibri"/>
              <a:ea typeface="Calibri"/>
              <a:cs typeface="Calibri"/>
              <a:sym typeface="Calibri"/>
            </a:endParaRPr>
          </a:p>
        </p:txBody>
      </p:sp>
      <p:sp>
        <p:nvSpPr>
          <p:cNvPr id="310" name="Google Shape;310;p10"/>
          <p:cNvSpPr txBox="1"/>
          <p:nvPr/>
        </p:nvSpPr>
        <p:spPr>
          <a:xfrm>
            <a:off x="2240280" y="2313432"/>
            <a:ext cx="292608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0" i="0" lang="en-US" sz="1400" u="none" cap="none" strike="noStrike">
                <a:solidFill>
                  <a:schemeClr val="dk1"/>
                </a:solidFill>
                <a:latin typeface="Calibri"/>
                <a:ea typeface="Calibri"/>
                <a:cs typeface="Calibri"/>
                <a:sym typeface="Calibri"/>
              </a:rPr>
              <a:t>Of those flagged, how many are diabetic</a:t>
            </a:r>
            <a:endParaRPr b="0" i="0" sz="1400" u="none" cap="none" strike="noStrike">
              <a:solidFill>
                <a:schemeClr val="dk1"/>
              </a:solidFill>
              <a:latin typeface="Calibri"/>
              <a:ea typeface="Calibri"/>
              <a:cs typeface="Calibri"/>
              <a:sym typeface="Calibri"/>
            </a:endParaRPr>
          </a:p>
        </p:txBody>
      </p:sp>
      <p:sp>
        <p:nvSpPr>
          <p:cNvPr id="311" name="Google Shape;311;p10"/>
          <p:cNvSpPr txBox="1"/>
          <p:nvPr/>
        </p:nvSpPr>
        <p:spPr>
          <a:xfrm>
            <a:off x="5212080" y="2313432"/>
            <a:ext cx="150876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5"/>
              </a:buClr>
              <a:buSzPts val="1300"/>
              <a:buFont typeface="Calibri"/>
              <a:buNone/>
            </a:pPr>
            <a:r>
              <a:rPr b="0" i="1" lang="en-US" sz="1300" u="none" cap="none" strike="noStrike">
                <a:solidFill>
                  <a:schemeClr val="accent5"/>
                </a:solidFill>
                <a:latin typeface="Calibri"/>
                <a:ea typeface="Calibri"/>
                <a:cs typeface="Calibri"/>
                <a:sym typeface="Calibri"/>
              </a:rPr>
              <a:t>TP / (TP + FP)</a:t>
            </a:r>
            <a:endParaRPr b="0" i="0" sz="1300" u="none" cap="none" strike="noStrike">
              <a:solidFill>
                <a:schemeClr val="dk1"/>
              </a:solidFill>
              <a:latin typeface="Calibri"/>
              <a:ea typeface="Calibri"/>
              <a:cs typeface="Calibri"/>
              <a:sym typeface="Calibri"/>
            </a:endParaRPr>
          </a:p>
        </p:txBody>
      </p:sp>
      <p:sp>
        <p:nvSpPr>
          <p:cNvPr id="312" name="Google Shape;312;p10"/>
          <p:cNvSpPr/>
          <p:nvPr/>
        </p:nvSpPr>
        <p:spPr>
          <a:xfrm>
            <a:off x="548640" y="3118104"/>
            <a:ext cx="6309360" cy="749808"/>
          </a:xfrm>
          <a:prstGeom prst="roundRect">
            <a:avLst>
              <a:gd fmla="val 9756" name="adj"/>
            </a:avLst>
          </a:prstGeom>
          <a:solidFill>
            <a:srgbClr val="FDE3E1"/>
          </a:solidFill>
          <a:ln cap="flat" cmpd="sng" w="12700">
            <a:solidFill>
              <a:srgbClr val="FDE3E1"/>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 name="Google Shape;313;p10"/>
          <p:cNvSpPr txBox="1"/>
          <p:nvPr/>
        </p:nvSpPr>
        <p:spPr>
          <a:xfrm>
            <a:off x="731520" y="3209544"/>
            <a:ext cx="146304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2"/>
              </a:buClr>
              <a:buSzPts val="1700"/>
              <a:buFont typeface="Calibri"/>
              <a:buNone/>
            </a:pPr>
            <a:r>
              <a:rPr b="1" i="0" lang="en-US" sz="1700" u="none" cap="none" strike="noStrike">
                <a:solidFill>
                  <a:schemeClr val="accent2"/>
                </a:solidFill>
                <a:latin typeface="Calibri"/>
                <a:ea typeface="Calibri"/>
                <a:cs typeface="Calibri"/>
                <a:sym typeface="Calibri"/>
              </a:rPr>
              <a:t>Recall</a:t>
            </a:r>
            <a:endParaRPr b="0" i="0" sz="1700" u="none" cap="none" strike="noStrike">
              <a:solidFill>
                <a:schemeClr val="dk1"/>
              </a:solidFill>
              <a:latin typeface="Calibri"/>
              <a:ea typeface="Calibri"/>
              <a:cs typeface="Calibri"/>
              <a:sym typeface="Calibri"/>
            </a:endParaRPr>
          </a:p>
        </p:txBody>
      </p:sp>
      <p:sp>
        <p:nvSpPr>
          <p:cNvPr id="314" name="Google Shape;314;p10"/>
          <p:cNvSpPr txBox="1"/>
          <p:nvPr/>
        </p:nvSpPr>
        <p:spPr>
          <a:xfrm>
            <a:off x="2240280" y="3209544"/>
            <a:ext cx="292608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0" i="0" lang="en-US" sz="1400" u="none" cap="none" strike="noStrike">
                <a:solidFill>
                  <a:schemeClr val="dk1"/>
                </a:solidFill>
                <a:latin typeface="Calibri"/>
                <a:ea typeface="Calibri"/>
                <a:cs typeface="Calibri"/>
                <a:sym typeface="Calibri"/>
              </a:rPr>
              <a:t>Of diabetic patients, how many are caught</a:t>
            </a:r>
            <a:endParaRPr b="0" i="0" sz="1400" u="none" cap="none" strike="noStrike">
              <a:solidFill>
                <a:schemeClr val="dk1"/>
              </a:solidFill>
              <a:latin typeface="Calibri"/>
              <a:ea typeface="Calibri"/>
              <a:cs typeface="Calibri"/>
              <a:sym typeface="Calibri"/>
            </a:endParaRPr>
          </a:p>
        </p:txBody>
      </p:sp>
      <p:sp>
        <p:nvSpPr>
          <p:cNvPr id="315" name="Google Shape;315;p10"/>
          <p:cNvSpPr txBox="1"/>
          <p:nvPr/>
        </p:nvSpPr>
        <p:spPr>
          <a:xfrm>
            <a:off x="5212080" y="3209544"/>
            <a:ext cx="150876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5"/>
              </a:buClr>
              <a:buSzPts val="1300"/>
              <a:buFont typeface="Calibri"/>
              <a:buNone/>
            </a:pPr>
            <a:r>
              <a:rPr b="0" i="1" lang="en-US" sz="1300" u="none" cap="none" strike="noStrike">
                <a:solidFill>
                  <a:schemeClr val="accent5"/>
                </a:solidFill>
                <a:latin typeface="Calibri"/>
                <a:ea typeface="Calibri"/>
                <a:cs typeface="Calibri"/>
                <a:sym typeface="Calibri"/>
              </a:rPr>
              <a:t>TP / (TP + FN)</a:t>
            </a:r>
            <a:endParaRPr b="0" i="0" sz="1300" u="none" cap="none" strike="noStrike">
              <a:solidFill>
                <a:schemeClr val="dk1"/>
              </a:solidFill>
              <a:latin typeface="Calibri"/>
              <a:ea typeface="Calibri"/>
              <a:cs typeface="Calibri"/>
              <a:sym typeface="Calibri"/>
            </a:endParaRPr>
          </a:p>
        </p:txBody>
      </p:sp>
      <p:sp>
        <p:nvSpPr>
          <p:cNvPr id="316" name="Google Shape;316;p10"/>
          <p:cNvSpPr/>
          <p:nvPr/>
        </p:nvSpPr>
        <p:spPr>
          <a:xfrm>
            <a:off x="548640" y="4014216"/>
            <a:ext cx="6309360" cy="749808"/>
          </a:xfrm>
          <a:prstGeom prst="roundRect">
            <a:avLst>
              <a:gd fmla="val 9756"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 name="Google Shape;317;p10"/>
          <p:cNvSpPr txBox="1"/>
          <p:nvPr/>
        </p:nvSpPr>
        <p:spPr>
          <a:xfrm>
            <a:off x="731520" y="4105656"/>
            <a:ext cx="146304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700"/>
              <a:buFont typeface="Calibri"/>
              <a:buNone/>
            </a:pPr>
            <a:r>
              <a:rPr b="1" i="0" lang="en-US" sz="1700" u="none" cap="none" strike="noStrike">
                <a:solidFill>
                  <a:schemeClr val="dk2"/>
                </a:solidFill>
                <a:latin typeface="Calibri"/>
                <a:ea typeface="Calibri"/>
                <a:cs typeface="Calibri"/>
                <a:sym typeface="Calibri"/>
              </a:rPr>
              <a:t>F1 score</a:t>
            </a:r>
            <a:endParaRPr b="0" i="0" sz="1700" u="none" cap="none" strike="noStrike">
              <a:solidFill>
                <a:schemeClr val="dk1"/>
              </a:solidFill>
              <a:latin typeface="Calibri"/>
              <a:ea typeface="Calibri"/>
              <a:cs typeface="Calibri"/>
              <a:sym typeface="Calibri"/>
            </a:endParaRPr>
          </a:p>
        </p:txBody>
      </p:sp>
      <p:sp>
        <p:nvSpPr>
          <p:cNvPr id="318" name="Google Shape;318;p10"/>
          <p:cNvSpPr txBox="1"/>
          <p:nvPr/>
        </p:nvSpPr>
        <p:spPr>
          <a:xfrm>
            <a:off x="2240280" y="4105656"/>
            <a:ext cx="292608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0" i="0" lang="en-US" sz="1400" u="none" cap="none" strike="noStrike">
                <a:solidFill>
                  <a:schemeClr val="dk1"/>
                </a:solidFill>
                <a:latin typeface="Calibri"/>
                <a:ea typeface="Calibri"/>
                <a:cs typeface="Calibri"/>
                <a:sym typeface="Calibri"/>
              </a:rPr>
              <a:t>Balance of precision and recall</a:t>
            </a:r>
            <a:endParaRPr b="0" i="0" sz="1400" u="none" cap="none" strike="noStrike">
              <a:solidFill>
                <a:schemeClr val="dk1"/>
              </a:solidFill>
              <a:latin typeface="Calibri"/>
              <a:ea typeface="Calibri"/>
              <a:cs typeface="Calibri"/>
              <a:sym typeface="Calibri"/>
            </a:endParaRPr>
          </a:p>
        </p:txBody>
      </p:sp>
      <p:sp>
        <p:nvSpPr>
          <p:cNvPr id="319" name="Google Shape;319;p10"/>
          <p:cNvSpPr txBox="1"/>
          <p:nvPr/>
        </p:nvSpPr>
        <p:spPr>
          <a:xfrm>
            <a:off x="5212080" y="4105656"/>
            <a:ext cx="150876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5"/>
              </a:buClr>
              <a:buSzPts val="1300"/>
              <a:buFont typeface="Calibri"/>
              <a:buNone/>
            </a:pPr>
            <a:r>
              <a:rPr b="0" i="1" lang="en-US" sz="1300" u="none" cap="none" strike="noStrike">
                <a:solidFill>
                  <a:schemeClr val="accent5"/>
                </a:solidFill>
                <a:latin typeface="Calibri"/>
                <a:ea typeface="Calibri"/>
                <a:cs typeface="Calibri"/>
                <a:sym typeface="Calibri"/>
              </a:rPr>
              <a:t>2PR / (P + R)</a:t>
            </a:r>
            <a:endParaRPr b="0" i="0" sz="1300" u="none" cap="none" strike="noStrike">
              <a:solidFill>
                <a:schemeClr val="dk1"/>
              </a:solidFill>
              <a:latin typeface="Calibri"/>
              <a:ea typeface="Calibri"/>
              <a:cs typeface="Calibri"/>
              <a:sym typeface="Calibri"/>
            </a:endParaRPr>
          </a:p>
        </p:txBody>
      </p:sp>
      <p:sp>
        <p:nvSpPr>
          <p:cNvPr id="320" name="Google Shape;320;p10"/>
          <p:cNvSpPr/>
          <p:nvPr/>
        </p:nvSpPr>
        <p:spPr>
          <a:xfrm>
            <a:off x="548640" y="4910328"/>
            <a:ext cx="6309360" cy="749808"/>
          </a:xfrm>
          <a:prstGeom prst="roundRect">
            <a:avLst>
              <a:gd fmla="val 9756"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 name="Google Shape;321;p10"/>
          <p:cNvSpPr txBox="1"/>
          <p:nvPr/>
        </p:nvSpPr>
        <p:spPr>
          <a:xfrm>
            <a:off x="731520" y="5001768"/>
            <a:ext cx="146304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700"/>
              <a:buFont typeface="Calibri"/>
              <a:buNone/>
            </a:pPr>
            <a:r>
              <a:rPr b="1" i="0" lang="en-US" sz="1700" u="none" cap="none" strike="noStrike">
                <a:solidFill>
                  <a:schemeClr val="dk2"/>
                </a:solidFill>
                <a:latin typeface="Calibri"/>
                <a:ea typeface="Calibri"/>
                <a:cs typeface="Calibri"/>
                <a:sym typeface="Calibri"/>
              </a:rPr>
              <a:t>ROC-AUC</a:t>
            </a:r>
            <a:endParaRPr b="0" i="0" sz="1700" u="none" cap="none" strike="noStrike">
              <a:solidFill>
                <a:schemeClr val="dk1"/>
              </a:solidFill>
              <a:latin typeface="Calibri"/>
              <a:ea typeface="Calibri"/>
              <a:cs typeface="Calibri"/>
              <a:sym typeface="Calibri"/>
            </a:endParaRPr>
          </a:p>
        </p:txBody>
      </p:sp>
      <p:sp>
        <p:nvSpPr>
          <p:cNvPr id="322" name="Google Shape;322;p10"/>
          <p:cNvSpPr txBox="1"/>
          <p:nvPr/>
        </p:nvSpPr>
        <p:spPr>
          <a:xfrm>
            <a:off x="2240280" y="5001768"/>
            <a:ext cx="292608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0" i="0" lang="en-US" sz="1400" u="none" cap="none" strike="noStrike">
                <a:solidFill>
                  <a:schemeClr val="dk1"/>
                </a:solidFill>
                <a:latin typeface="Calibri"/>
                <a:ea typeface="Calibri"/>
                <a:cs typeface="Calibri"/>
                <a:sym typeface="Calibri"/>
              </a:rPr>
              <a:t>Ranking quality across all thresholds</a:t>
            </a:r>
            <a:endParaRPr b="0" i="0" sz="1400" u="none" cap="none" strike="noStrike">
              <a:solidFill>
                <a:schemeClr val="dk1"/>
              </a:solidFill>
              <a:latin typeface="Calibri"/>
              <a:ea typeface="Calibri"/>
              <a:cs typeface="Calibri"/>
              <a:sym typeface="Calibri"/>
            </a:endParaRPr>
          </a:p>
        </p:txBody>
      </p:sp>
      <p:sp>
        <p:nvSpPr>
          <p:cNvPr id="323" name="Google Shape;323;p10"/>
          <p:cNvSpPr txBox="1"/>
          <p:nvPr/>
        </p:nvSpPr>
        <p:spPr>
          <a:xfrm>
            <a:off x="5212080" y="5001768"/>
            <a:ext cx="150876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5"/>
              </a:buClr>
              <a:buSzPts val="1300"/>
              <a:buFont typeface="Calibri"/>
              <a:buNone/>
            </a:pPr>
            <a:r>
              <a:rPr b="0" i="1" lang="en-US" sz="1300" u="none" cap="none" strike="noStrike">
                <a:solidFill>
                  <a:schemeClr val="accent5"/>
                </a:solidFill>
                <a:latin typeface="Calibri"/>
                <a:ea typeface="Calibri"/>
                <a:cs typeface="Calibri"/>
                <a:sym typeface="Calibri"/>
              </a:rPr>
              <a:t>area under ROC</a:t>
            </a:r>
            <a:endParaRPr b="0" i="0" sz="1300" u="none" cap="none" strike="noStrike">
              <a:solidFill>
                <a:schemeClr val="dk1"/>
              </a:solidFill>
              <a:latin typeface="Calibri"/>
              <a:ea typeface="Calibri"/>
              <a:cs typeface="Calibri"/>
              <a:sym typeface="Calibri"/>
            </a:endParaRPr>
          </a:p>
        </p:txBody>
      </p:sp>
      <p:sp>
        <p:nvSpPr>
          <p:cNvPr id="324" name="Google Shape;324;p10"/>
          <p:cNvSpPr txBox="1"/>
          <p:nvPr/>
        </p:nvSpPr>
        <p:spPr>
          <a:xfrm>
            <a:off x="7315200" y="1325880"/>
            <a:ext cx="429768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800"/>
              <a:buFont typeface="Cambria"/>
              <a:buNone/>
            </a:pPr>
            <a:r>
              <a:rPr b="1" i="0" lang="en-US" sz="1800" u="none" cap="none" strike="noStrike">
                <a:solidFill>
                  <a:schemeClr val="dk2"/>
                </a:solidFill>
                <a:latin typeface="Cambria"/>
                <a:ea typeface="Cambria"/>
                <a:cs typeface="Cambria"/>
                <a:sym typeface="Cambria"/>
              </a:rPr>
              <a:t>Confusion matrix</a:t>
            </a:r>
            <a:endParaRPr b="0" i="0" sz="1800" u="none" cap="none" strike="noStrike">
              <a:solidFill>
                <a:schemeClr val="dk1"/>
              </a:solidFill>
              <a:latin typeface="Calibri"/>
              <a:ea typeface="Calibri"/>
              <a:cs typeface="Calibri"/>
              <a:sym typeface="Calibri"/>
            </a:endParaRPr>
          </a:p>
        </p:txBody>
      </p:sp>
      <p:sp>
        <p:nvSpPr>
          <p:cNvPr id="325" name="Google Shape;325;p10"/>
          <p:cNvSpPr txBox="1"/>
          <p:nvPr/>
        </p:nvSpPr>
        <p:spPr>
          <a:xfrm>
            <a:off x="8001000" y="1783080"/>
            <a:ext cx="1737360" cy="27432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accent5"/>
              </a:buClr>
              <a:buSzPts val="1200"/>
              <a:buFont typeface="Calibri"/>
              <a:buNone/>
            </a:pPr>
            <a:r>
              <a:rPr b="1" i="0" lang="en-US" sz="1200" u="none" cap="none" strike="noStrike">
                <a:solidFill>
                  <a:schemeClr val="accent5"/>
                </a:solidFill>
                <a:latin typeface="Calibri"/>
                <a:ea typeface="Calibri"/>
                <a:cs typeface="Calibri"/>
                <a:sym typeface="Calibri"/>
              </a:rPr>
              <a:t>Predicted −</a:t>
            </a:r>
            <a:endParaRPr b="0" i="0" sz="1200" u="none" cap="none" strike="noStrike">
              <a:solidFill>
                <a:schemeClr val="dk1"/>
              </a:solidFill>
              <a:latin typeface="Calibri"/>
              <a:ea typeface="Calibri"/>
              <a:cs typeface="Calibri"/>
              <a:sym typeface="Calibri"/>
            </a:endParaRPr>
          </a:p>
        </p:txBody>
      </p:sp>
      <p:sp>
        <p:nvSpPr>
          <p:cNvPr id="326" name="Google Shape;326;p10"/>
          <p:cNvSpPr txBox="1"/>
          <p:nvPr/>
        </p:nvSpPr>
        <p:spPr>
          <a:xfrm>
            <a:off x="9829800" y="1783080"/>
            <a:ext cx="1737360" cy="27432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accent5"/>
              </a:buClr>
              <a:buSzPts val="1200"/>
              <a:buFont typeface="Calibri"/>
              <a:buNone/>
            </a:pPr>
            <a:r>
              <a:rPr b="1" i="0" lang="en-US" sz="1200" u="none" cap="none" strike="noStrike">
                <a:solidFill>
                  <a:schemeClr val="accent5"/>
                </a:solidFill>
                <a:latin typeface="Calibri"/>
                <a:ea typeface="Calibri"/>
                <a:cs typeface="Calibri"/>
                <a:sym typeface="Calibri"/>
              </a:rPr>
              <a:t>Predicted +</a:t>
            </a:r>
            <a:endParaRPr b="0" i="0" sz="1200" u="none" cap="none" strike="noStrike">
              <a:solidFill>
                <a:schemeClr val="dk1"/>
              </a:solidFill>
              <a:latin typeface="Calibri"/>
              <a:ea typeface="Calibri"/>
              <a:cs typeface="Calibri"/>
              <a:sym typeface="Calibri"/>
            </a:endParaRPr>
          </a:p>
        </p:txBody>
      </p:sp>
      <p:sp>
        <p:nvSpPr>
          <p:cNvPr id="327" name="Google Shape;327;p10"/>
          <p:cNvSpPr txBox="1"/>
          <p:nvPr/>
        </p:nvSpPr>
        <p:spPr>
          <a:xfrm>
            <a:off x="7269480" y="2103120"/>
            <a:ext cx="685800" cy="1463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accent5"/>
              </a:buClr>
              <a:buSzPts val="1200"/>
              <a:buFont typeface="Calibri"/>
              <a:buNone/>
            </a:pPr>
            <a:r>
              <a:rPr b="1" i="0" lang="en-US" sz="1200" u="none" cap="none" strike="noStrike">
                <a:solidFill>
                  <a:schemeClr val="accent5"/>
                </a:solidFill>
                <a:latin typeface="Calibri"/>
                <a:ea typeface="Calibri"/>
                <a:cs typeface="Calibri"/>
                <a:sym typeface="Calibri"/>
              </a:rPr>
              <a:t>Actual −</a:t>
            </a:r>
            <a:endParaRPr b="0" i="0" sz="1200" u="none" cap="none" strike="noStrike">
              <a:solidFill>
                <a:schemeClr val="dk1"/>
              </a:solidFill>
              <a:latin typeface="Calibri"/>
              <a:ea typeface="Calibri"/>
              <a:cs typeface="Calibri"/>
              <a:sym typeface="Calibri"/>
            </a:endParaRPr>
          </a:p>
        </p:txBody>
      </p:sp>
      <p:sp>
        <p:nvSpPr>
          <p:cNvPr id="328" name="Google Shape;328;p10"/>
          <p:cNvSpPr txBox="1"/>
          <p:nvPr/>
        </p:nvSpPr>
        <p:spPr>
          <a:xfrm>
            <a:off x="7269480" y="3657600"/>
            <a:ext cx="685800" cy="1463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accent5"/>
              </a:buClr>
              <a:buSzPts val="1200"/>
              <a:buFont typeface="Calibri"/>
              <a:buNone/>
            </a:pPr>
            <a:r>
              <a:rPr b="1" i="0" lang="en-US" sz="1200" u="none" cap="none" strike="noStrike">
                <a:solidFill>
                  <a:schemeClr val="accent5"/>
                </a:solidFill>
                <a:latin typeface="Calibri"/>
                <a:ea typeface="Calibri"/>
                <a:cs typeface="Calibri"/>
                <a:sym typeface="Calibri"/>
              </a:rPr>
              <a:t>Actual +</a:t>
            </a:r>
            <a:endParaRPr b="0" i="0" sz="1200" u="none" cap="none" strike="noStrike">
              <a:solidFill>
                <a:schemeClr val="dk1"/>
              </a:solidFill>
              <a:latin typeface="Calibri"/>
              <a:ea typeface="Calibri"/>
              <a:cs typeface="Calibri"/>
              <a:sym typeface="Calibri"/>
            </a:endParaRPr>
          </a:p>
        </p:txBody>
      </p:sp>
      <p:sp>
        <p:nvSpPr>
          <p:cNvPr id="329" name="Google Shape;329;p10"/>
          <p:cNvSpPr/>
          <p:nvPr/>
        </p:nvSpPr>
        <p:spPr>
          <a:xfrm>
            <a:off x="8001000" y="2103120"/>
            <a:ext cx="1737360" cy="1463040"/>
          </a:xfrm>
          <a:prstGeom prst="roundRect">
            <a:avLst>
              <a:gd fmla="val 3750" name="adj"/>
            </a:avLst>
          </a:prstGeom>
          <a:solidFill>
            <a:schemeClr val="lt2"/>
          </a:solidFill>
          <a:ln cap="flat" cmpd="sng" w="9525">
            <a:solidFill>
              <a:schemeClr val="lt2"/>
            </a:solidFill>
            <a:prstDash val="solid"/>
            <a:round/>
            <a:headEnd len="sm" w="sm" type="none"/>
            <a:tailEnd len="sm" w="sm" type="none"/>
          </a:ln>
        </p:spPr>
        <p:txBody>
          <a:bodyPr anchorCtr="0" anchor="ctr" bIns="50800" lIns="50800" spcFirstLastPara="1" rIns="50800" wrap="square" tIns="50800">
            <a:noAutofit/>
          </a:bodyPr>
          <a:lstStyle/>
          <a:p>
            <a:pPr indent="0" lvl="0" marL="0" marR="0" rtl="0" algn="ctr">
              <a:spcBef>
                <a:spcPts val="0"/>
              </a:spcBef>
              <a:spcAft>
                <a:spcPts val="0"/>
              </a:spcAft>
              <a:buClr>
                <a:schemeClr val="dk2"/>
              </a:buClr>
              <a:buSzPts val="2600"/>
              <a:buFont typeface="Calibri"/>
              <a:buNone/>
            </a:pPr>
            <a:r>
              <a:rPr b="1" i="0" lang="en-US" sz="2600" u="none" cap="none" strike="noStrike">
                <a:solidFill>
                  <a:schemeClr val="dk2"/>
                </a:solidFill>
                <a:latin typeface="Calibri"/>
                <a:ea typeface="Calibri"/>
                <a:cs typeface="Calibri"/>
                <a:sym typeface="Calibri"/>
              </a:rPr>
              <a:t>TN</a:t>
            </a:r>
            <a:endParaRPr b="0" i="0" sz="26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chemeClr val="dk2"/>
              </a:buClr>
              <a:buSzPts val="1200"/>
              <a:buFont typeface="Calibri"/>
              <a:buNone/>
            </a:pPr>
            <a:r>
              <a:rPr b="0" i="0" lang="en-US" sz="1200" u="none" cap="none" strike="noStrike">
                <a:solidFill>
                  <a:schemeClr val="dk2"/>
                </a:solidFill>
                <a:latin typeface="Calibri"/>
                <a:ea typeface="Calibri"/>
                <a:cs typeface="Calibri"/>
                <a:sym typeface="Calibri"/>
              </a:rPr>
              <a:t>correct: no diabetes</a:t>
            </a:r>
            <a:endParaRPr b="0" i="0" sz="2600" u="none" cap="none" strike="noStrike">
              <a:solidFill>
                <a:schemeClr val="dk1"/>
              </a:solidFill>
              <a:latin typeface="Calibri"/>
              <a:ea typeface="Calibri"/>
              <a:cs typeface="Calibri"/>
              <a:sym typeface="Calibri"/>
            </a:endParaRPr>
          </a:p>
        </p:txBody>
      </p:sp>
      <p:sp>
        <p:nvSpPr>
          <p:cNvPr id="330" name="Google Shape;330;p10"/>
          <p:cNvSpPr/>
          <p:nvPr/>
        </p:nvSpPr>
        <p:spPr>
          <a:xfrm>
            <a:off x="9829800" y="2103120"/>
            <a:ext cx="1737360" cy="1463040"/>
          </a:xfrm>
          <a:prstGeom prst="roundRect">
            <a:avLst>
              <a:gd fmla="val 3750" name="adj"/>
            </a:avLst>
          </a:prstGeom>
          <a:solidFill>
            <a:schemeClr val="lt2"/>
          </a:solidFill>
          <a:ln cap="flat" cmpd="sng" w="9525">
            <a:solidFill>
              <a:schemeClr val="lt2"/>
            </a:solidFill>
            <a:prstDash val="solid"/>
            <a:round/>
            <a:headEnd len="sm" w="sm" type="none"/>
            <a:tailEnd len="sm" w="sm" type="none"/>
          </a:ln>
        </p:spPr>
        <p:txBody>
          <a:bodyPr anchorCtr="0" anchor="ctr" bIns="50800" lIns="50800" spcFirstLastPara="1" rIns="50800" wrap="square" tIns="50800">
            <a:noAutofit/>
          </a:bodyPr>
          <a:lstStyle/>
          <a:p>
            <a:pPr indent="0" lvl="0" marL="0" marR="0" rtl="0" algn="ctr">
              <a:spcBef>
                <a:spcPts val="0"/>
              </a:spcBef>
              <a:spcAft>
                <a:spcPts val="0"/>
              </a:spcAft>
              <a:buClr>
                <a:schemeClr val="dk2"/>
              </a:buClr>
              <a:buSzPts val="2600"/>
              <a:buFont typeface="Calibri"/>
              <a:buNone/>
            </a:pPr>
            <a:r>
              <a:rPr b="1" i="0" lang="en-US" sz="2600" u="none" cap="none" strike="noStrike">
                <a:solidFill>
                  <a:schemeClr val="dk2"/>
                </a:solidFill>
                <a:latin typeface="Calibri"/>
                <a:ea typeface="Calibri"/>
                <a:cs typeface="Calibri"/>
                <a:sym typeface="Calibri"/>
              </a:rPr>
              <a:t>FP</a:t>
            </a:r>
            <a:endParaRPr b="0" i="0" sz="26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chemeClr val="dk2"/>
              </a:buClr>
              <a:buSzPts val="1200"/>
              <a:buFont typeface="Calibri"/>
              <a:buNone/>
            </a:pPr>
            <a:r>
              <a:rPr b="0" i="0" lang="en-US" sz="1200" u="none" cap="none" strike="noStrike">
                <a:solidFill>
                  <a:schemeClr val="dk2"/>
                </a:solidFill>
                <a:latin typeface="Calibri"/>
                <a:ea typeface="Calibri"/>
                <a:cs typeface="Calibri"/>
                <a:sym typeface="Calibri"/>
              </a:rPr>
              <a:t>false alarm → extra test</a:t>
            </a:r>
            <a:endParaRPr b="0" i="0" sz="2600" u="none" cap="none" strike="noStrike">
              <a:solidFill>
                <a:schemeClr val="dk1"/>
              </a:solidFill>
              <a:latin typeface="Calibri"/>
              <a:ea typeface="Calibri"/>
              <a:cs typeface="Calibri"/>
              <a:sym typeface="Calibri"/>
            </a:endParaRPr>
          </a:p>
        </p:txBody>
      </p:sp>
      <p:sp>
        <p:nvSpPr>
          <p:cNvPr id="331" name="Google Shape;331;p10"/>
          <p:cNvSpPr/>
          <p:nvPr/>
        </p:nvSpPr>
        <p:spPr>
          <a:xfrm>
            <a:off x="8001000" y="3657600"/>
            <a:ext cx="1737360" cy="1463040"/>
          </a:xfrm>
          <a:prstGeom prst="roundRect">
            <a:avLst>
              <a:gd fmla="val 3750" name="adj"/>
            </a:avLst>
          </a:prstGeom>
          <a:solidFill>
            <a:schemeClr val="accent2"/>
          </a:solidFill>
          <a:ln cap="flat" cmpd="sng" w="9525">
            <a:solidFill>
              <a:schemeClr val="accent2"/>
            </a:solidFill>
            <a:prstDash val="solid"/>
            <a:round/>
            <a:headEnd len="sm" w="sm" type="none"/>
            <a:tailEnd len="sm" w="sm" type="none"/>
          </a:ln>
        </p:spPr>
        <p:txBody>
          <a:bodyPr anchorCtr="0" anchor="ctr" bIns="50800" lIns="50800" spcFirstLastPara="1" rIns="50800" wrap="square" tIns="50800">
            <a:noAutofit/>
          </a:bodyPr>
          <a:lstStyle/>
          <a:p>
            <a:pPr indent="0" lvl="0" marL="0" marR="0" rtl="0" algn="ctr">
              <a:spcBef>
                <a:spcPts val="0"/>
              </a:spcBef>
              <a:spcAft>
                <a:spcPts val="0"/>
              </a:spcAft>
              <a:buClr>
                <a:schemeClr val="lt1"/>
              </a:buClr>
              <a:buSzPts val="2600"/>
              <a:buFont typeface="Calibri"/>
              <a:buNone/>
            </a:pPr>
            <a:r>
              <a:rPr b="1" i="0" lang="en-US" sz="2600" u="none" cap="none" strike="noStrike">
                <a:solidFill>
                  <a:schemeClr val="lt1"/>
                </a:solidFill>
                <a:latin typeface="Calibri"/>
                <a:ea typeface="Calibri"/>
                <a:cs typeface="Calibri"/>
                <a:sym typeface="Calibri"/>
              </a:rPr>
              <a:t>FN</a:t>
            </a:r>
            <a:endParaRPr b="0" i="0" sz="26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chemeClr val="lt1"/>
              </a:buClr>
              <a:buSzPts val="1200"/>
              <a:buFont typeface="Calibri"/>
              <a:buNone/>
            </a:pPr>
            <a:r>
              <a:rPr b="0" i="0" lang="en-US" sz="1200" u="none" cap="none" strike="noStrike">
                <a:solidFill>
                  <a:schemeClr val="lt1"/>
                </a:solidFill>
                <a:latin typeface="Calibri"/>
                <a:ea typeface="Calibri"/>
                <a:cs typeface="Calibri"/>
                <a:sym typeface="Calibri"/>
              </a:rPr>
              <a:t>missed diabetic patient</a:t>
            </a:r>
            <a:endParaRPr b="0" i="0" sz="2600" u="none" cap="none" strike="noStrike">
              <a:solidFill>
                <a:schemeClr val="dk1"/>
              </a:solidFill>
              <a:latin typeface="Calibri"/>
              <a:ea typeface="Calibri"/>
              <a:cs typeface="Calibri"/>
              <a:sym typeface="Calibri"/>
            </a:endParaRPr>
          </a:p>
        </p:txBody>
      </p:sp>
      <p:sp>
        <p:nvSpPr>
          <p:cNvPr id="332" name="Google Shape;332;p10"/>
          <p:cNvSpPr/>
          <p:nvPr/>
        </p:nvSpPr>
        <p:spPr>
          <a:xfrm>
            <a:off x="9829800" y="3657600"/>
            <a:ext cx="1737360" cy="1463040"/>
          </a:xfrm>
          <a:prstGeom prst="roundRect">
            <a:avLst>
              <a:gd fmla="val 3750" name="adj"/>
            </a:avLst>
          </a:prstGeom>
          <a:solidFill>
            <a:schemeClr val="accent1"/>
          </a:solidFill>
          <a:ln cap="flat" cmpd="sng" w="9525">
            <a:solidFill>
              <a:schemeClr val="accent1"/>
            </a:solidFill>
            <a:prstDash val="solid"/>
            <a:round/>
            <a:headEnd len="sm" w="sm" type="none"/>
            <a:tailEnd len="sm" w="sm" type="none"/>
          </a:ln>
        </p:spPr>
        <p:txBody>
          <a:bodyPr anchorCtr="0" anchor="ctr" bIns="50800" lIns="50800" spcFirstLastPara="1" rIns="50800" wrap="square" tIns="50800">
            <a:noAutofit/>
          </a:bodyPr>
          <a:lstStyle/>
          <a:p>
            <a:pPr indent="0" lvl="0" marL="0" marR="0" rtl="0" algn="ctr">
              <a:spcBef>
                <a:spcPts val="0"/>
              </a:spcBef>
              <a:spcAft>
                <a:spcPts val="0"/>
              </a:spcAft>
              <a:buClr>
                <a:schemeClr val="lt1"/>
              </a:buClr>
              <a:buSzPts val="2600"/>
              <a:buFont typeface="Calibri"/>
              <a:buNone/>
            </a:pPr>
            <a:r>
              <a:rPr b="1" i="0" lang="en-US" sz="2600" u="none" cap="none" strike="noStrike">
                <a:solidFill>
                  <a:schemeClr val="lt1"/>
                </a:solidFill>
                <a:latin typeface="Calibri"/>
                <a:ea typeface="Calibri"/>
                <a:cs typeface="Calibri"/>
                <a:sym typeface="Calibri"/>
              </a:rPr>
              <a:t>TP</a:t>
            </a:r>
            <a:endParaRPr b="0" i="0" sz="26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chemeClr val="lt1"/>
              </a:buClr>
              <a:buSzPts val="1200"/>
              <a:buFont typeface="Calibri"/>
              <a:buNone/>
            </a:pPr>
            <a:r>
              <a:rPr b="0" i="0" lang="en-US" sz="1200" u="none" cap="none" strike="noStrike">
                <a:solidFill>
                  <a:schemeClr val="lt1"/>
                </a:solidFill>
                <a:latin typeface="Calibri"/>
                <a:ea typeface="Calibri"/>
                <a:cs typeface="Calibri"/>
                <a:sym typeface="Calibri"/>
              </a:rPr>
              <a:t>diabetic patient caught</a:t>
            </a:r>
            <a:endParaRPr b="0" i="0" sz="2600" u="none" cap="none" strike="noStrike">
              <a:solidFill>
                <a:schemeClr val="dk1"/>
              </a:solidFill>
              <a:latin typeface="Calibri"/>
              <a:ea typeface="Calibri"/>
              <a:cs typeface="Calibri"/>
              <a:sym typeface="Calibri"/>
            </a:endParaRPr>
          </a:p>
        </p:txBody>
      </p:sp>
      <p:sp>
        <p:nvSpPr>
          <p:cNvPr id="333" name="Google Shape;333;p10"/>
          <p:cNvSpPr txBox="1"/>
          <p:nvPr/>
        </p:nvSpPr>
        <p:spPr>
          <a:xfrm>
            <a:off x="7269480" y="5349240"/>
            <a:ext cx="4370832" cy="685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300"/>
              <a:buFont typeface="Calibri"/>
              <a:buNone/>
            </a:pPr>
            <a:r>
              <a:rPr b="0" i="1" lang="en-US" sz="1300" u="none" cap="none" strike="noStrike">
                <a:solidFill>
                  <a:schemeClr val="dk2"/>
                </a:solidFill>
                <a:latin typeface="Calibri"/>
                <a:ea typeface="Calibri"/>
                <a:cs typeface="Calibri"/>
                <a:sym typeface="Calibri"/>
              </a:rPr>
              <a:t>In screening, FN is the costliest error, so recall matters most; precision keeps false alarms in check</a:t>
            </a:r>
            <a:endParaRPr b="0" i="0" sz="1300" u="none" cap="none" strike="noStrike">
              <a:solidFill>
                <a:schemeClr val="dk1"/>
              </a:solidFill>
              <a:latin typeface="Calibri"/>
              <a:ea typeface="Calibri"/>
              <a:cs typeface="Calibri"/>
              <a:sym typeface="Calibri"/>
            </a:endParaRPr>
          </a:p>
        </p:txBody>
      </p:sp>
      <p:sp>
        <p:nvSpPr>
          <p:cNvPr id="334" name="Google Shape;334;p10">
            <a:hlinkClick action="ppaction://hlinksldjump" r:id="rId3"/>
          </p:cNvPr>
          <p:cNvSpPr/>
          <p:nvPr/>
        </p:nvSpPr>
        <p:spPr>
          <a:xfrm>
            <a:off x="10680192" y="6336792"/>
            <a:ext cx="960120" cy="365760"/>
          </a:xfrm>
          <a:prstGeom prst="roundRect">
            <a:avLst>
              <a:gd fmla="val 25000" name="adj"/>
            </a:avLst>
          </a:prstGeom>
          <a:solidFill>
            <a:schemeClr val="accent1"/>
          </a:solidFill>
          <a:ln cap="flat" cmpd="sng" w="9525">
            <a:solidFill>
              <a:schemeClr val="accent1"/>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Next ›</a:t>
            </a:r>
            <a:endParaRPr b="0" i="0" sz="1200" u="none" cap="none" strike="noStrike">
              <a:solidFill>
                <a:schemeClr val="dk1"/>
              </a:solidFill>
              <a:latin typeface="Calibri"/>
              <a:ea typeface="Calibri"/>
              <a:cs typeface="Calibri"/>
              <a:sym typeface="Calibri"/>
            </a:endParaRPr>
          </a:p>
        </p:txBody>
      </p:sp>
      <p:sp>
        <p:nvSpPr>
          <p:cNvPr id="335" name="Google Shape;335;p10">
            <a:hlinkClick action="ppaction://hlinksldjump" r:id="rId4"/>
          </p:cNvPr>
          <p:cNvSpPr/>
          <p:nvPr/>
        </p:nvSpPr>
        <p:spPr>
          <a:xfrm>
            <a:off x="9610344" y="6336792"/>
            <a:ext cx="960120" cy="365760"/>
          </a:xfrm>
          <a:prstGeom prst="roundRect">
            <a:avLst>
              <a:gd fmla="val 25000"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1" i="0" lang="en-US" sz="1200" u="none" cap="none" strike="noStrike">
                <a:solidFill>
                  <a:schemeClr val="dk2"/>
                </a:solidFill>
                <a:latin typeface="Calibri"/>
                <a:ea typeface="Calibri"/>
                <a:cs typeface="Calibri"/>
                <a:sym typeface="Calibri"/>
              </a:rPr>
              <a:t>Agenda</a:t>
            </a:r>
            <a:endParaRPr b="0" i="0" sz="1200" u="none" cap="none" strike="noStrike">
              <a:solidFill>
                <a:schemeClr val="dk1"/>
              </a:solidFill>
              <a:latin typeface="Calibri"/>
              <a:ea typeface="Calibri"/>
              <a:cs typeface="Calibri"/>
              <a:sym typeface="Calibri"/>
            </a:endParaRPr>
          </a:p>
        </p:txBody>
      </p:sp>
      <p:sp>
        <p:nvSpPr>
          <p:cNvPr id="336" name="Google Shape;336;p10">
            <a:hlinkClick action="ppaction://hlinksldjump" r:id="rId5"/>
          </p:cNvPr>
          <p:cNvSpPr/>
          <p:nvPr/>
        </p:nvSpPr>
        <p:spPr>
          <a:xfrm>
            <a:off x="8540496" y="6336792"/>
            <a:ext cx="960120" cy="365760"/>
          </a:xfrm>
          <a:prstGeom prst="roundRect">
            <a:avLst>
              <a:gd fmla="val 25000"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1" i="0" lang="en-US" sz="1200" u="none" cap="none" strike="noStrike">
                <a:solidFill>
                  <a:schemeClr val="dk2"/>
                </a:solidFill>
                <a:latin typeface="Calibri"/>
                <a:ea typeface="Calibri"/>
                <a:cs typeface="Calibri"/>
                <a:sym typeface="Calibri"/>
              </a:rPr>
              <a:t>‹ Prev</a:t>
            </a:r>
            <a:endParaRPr b="0" i="0" sz="1200" u="none" cap="none" strike="noStrike">
              <a:solidFill>
                <a:schemeClr val="dk1"/>
              </a:solidFill>
              <a:latin typeface="Calibri"/>
              <a:ea typeface="Calibri"/>
              <a:cs typeface="Calibri"/>
              <a:sym typeface="Calibri"/>
            </a:endParaRPr>
          </a:p>
        </p:txBody>
      </p:sp>
      <p:sp>
        <p:nvSpPr>
          <p:cNvPr id="337" name="Google Shape;337;p10"/>
          <p:cNvSpPr txBox="1"/>
          <p:nvPr>
            <p:ph idx="4294967295" type="sldNum"/>
          </p:nvPr>
        </p:nvSpPr>
        <p:spPr>
          <a:xfrm>
            <a:off x="8732520" y="6382512"/>
            <a:ext cx="502920" cy="292608"/>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accent5"/>
                </a:solidFill>
                <a:latin typeface="Calibri"/>
                <a:ea typeface="Calibri"/>
                <a:cs typeface="Calibri"/>
                <a:sym typeface="Calibri"/>
              </a:rPr>
              <a:t>‹#›</a:t>
            </a:fld>
            <a:endParaRPr b="0" i="0" sz="1000" u="none" cap="none" strike="noStrike">
              <a:solidFill>
                <a:schemeClr val="accent5"/>
              </a:solidFill>
              <a:latin typeface="Calibri"/>
              <a:ea typeface="Calibri"/>
              <a:cs typeface="Calibri"/>
              <a:sym typeface="Calibri"/>
            </a:endParaRPr>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2" name="Shape 342"/>
        <p:cNvGrpSpPr/>
        <p:nvPr/>
      </p:nvGrpSpPr>
      <p:grpSpPr>
        <a:xfrm>
          <a:off x="0" y="0"/>
          <a:ext cx="0" cy="0"/>
          <a:chOff x="0" y="0"/>
          <a:chExt cx="0" cy="0"/>
        </a:xfrm>
      </p:grpSpPr>
      <p:sp>
        <p:nvSpPr>
          <p:cNvPr id="343" name="Google Shape;343;p11"/>
          <p:cNvSpPr txBox="1"/>
          <p:nvPr>
            <p:ph type="title"/>
          </p:nvPr>
        </p:nvSpPr>
        <p:spPr>
          <a:xfrm>
            <a:off x="548640" y="347472"/>
            <a:ext cx="11064240" cy="7315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200"/>
              <a:buFont typeface="Cambria"/>
              <a:buNone/>
            </a:pPr>
            <a:r>
              <a:rPr b="1" lang="en-US" sz="3200">
                <a:solidFill>
                  <a:schemeClr val="dk2"/>
                </a:solidFill>
                <a:latin typeface="Cambria"/>
                <a:ea typeface="Cambria"/>
                <a:cs typeface="Cambria"/>
                <a:sym typeface="Cambria"/>
              </a:rPr>
              <a:t>Results: Test-Set Comparison</a:t>
            </a:r>
            <a:endParaRPr sz="3200"/>
          </a:p>
        </p:txBody>
      </p:sp>
      <p:graphicFrame>
        <p:nvGraphicFramePr>
          <p:cNvPr id="344" name="Google Shape;344;p11"/>
          <p:cNvGraphicFramePr/>
          <p:nvPr/>
        </p:nvGraphicFramePr>
        <p:xfrm>
          <a:off x="457200" y="1234440"/>
          <a:ext cx="7040880" cy="4937760"/>
        </p:xfrm>
        <a:graphic>
          <a:graphicData uri="http://schemas.openxmlformats.org/drawingml/2006/chart">
            <c:chart r:id="rId3"/>
          </a:graphicData>
        </a:graphic>
      </p:graphicFrame>
      <p:sp>
        <p:nvSpPr>
          <p:cNvPr id="345" name="Google Shape;345;p11"/>
          <p:cNvSpPr/>
          <p:nvPr/>
        </p:nvSpPr>
        <p:spPr>
          <a:xfrm>
            <a:off x="7772400" y="1234440"/>
            <a:ext cx="3867912" cy="3337560"/>
          </a:xfrm>
          <a:prstGeom prst="roundRect">
            <a:avLst>
              <a:gd fmla="val 2192" name="adj"/>
            </a:avLst>
          </a:prstGeom>
          <a:solidFill>
            <a:schemeClr val="dk2"/>
          </a:solidFill>
          <a:ln cap="flat" cmpd="sng" w="12700">
            <a:solidFill>
              <a:schemeClr val="dk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 name="Google Shape;346;p11"/>
          <p:cNvSpPr/>
          <p:nvPr/>
        </p:nvSpPr>
        <p:spPr>
          <a:xfrm>
            <a:off x="8001000" y="1463040"/>
            <a:ext cx="685800" cy="685800"/>
          </a:xfrm>
          <a:prstGeom prst="ellipse">
            <a:avLst/>
          </a:prstGeom>
          <a:solidFill>
            <a:schemeClr val="accent3"/>
          </a:solidFill>
          <a:ln cap="flat" cmpd="sng" w="12700">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347" name="Google Shape;347;p11"/>
          <p:cNvPicPr preferRelativeResize="0"/>
          <p:nvPr/>
        </p:nvPicPr>
        <p:blipFill rotWithShape="1">
          <a:blip r:embed="rId4">
            <a:alphaModFix/>
          </a:blip>
          <a:srcRect b="0" l="0" r="0" t="0"/>
          <a:stretch/>
        </p:blipFill>
        <p:spPr>
          <a:xfrm>
            <a:off x="8165592" y="1627632"/>
            <a:ext cx="356616" cy="356616"/>
          </a:xfrm>
          <a:prstGeom prst="rect">
            <a:avLst/>
          </a:prstGeom>
          <a:noFill/>
          <a:ln>
            <a:noFill/>
          </a:ln>
        </p:spPr>
      </p:pic>
      <p:sp>
        <p:nvSpPr>
          <p:cNvPr id="348" name="Google Shape;348;p11"/>
          <p:cNvSpPr txBox="1"/>
          <p:nvPr/>
        </p:nvSpPr>
        <p:spPr>
          <a:xfrm>
            <a:off x="8823960" y="1463040"/>
            <a:ext cx="274320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3"/>
              </a:buClr>
              <a:buSzPts val="1300"/>
              <a:buFont typeface="Cambria"/>
              <a:buNone/>
            </a:pPr>
            <a:r>
              <a:rPr b="1" i="0" lang="en-US" sz="1300" u="none" cap="none" strike="noStrike">
                <a:solidFill>
                  <a:schemeClr val="accent3"/>
                </a:solidFill>
                <a:latin typeface="Cambria"/>
                <a:ea typeface="Cambria"/>
                <a:cs typeface="Cambria"/>
                <a:sym typeface="Cambria"/>
              </a:rPr>
              <a:t>Final model</a:t>
            </a:r>
            <a:endParaRPr b="0" i="0" sz="15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lt1"/>
              </a:buClr>
              <a:buSzPts val="2200"/>
              <a:buFont typeface="Cambria"/>
              <a:buNone/>
            </a:pPr>
            <a:r>
              <a:rPr b="1" i="0" lang="en-US" sz="2200" u="none" cap="none" strike="noStrike">
                <a:solidFill>
                  <a:schemeClr val="lt1"/>
                </a:solidFill>
                <a:latin typeface="Cambria"/>
                <a:ea typeface="Cambria"/>
                <a:cs typeface="Cambria"/>
                <a:sym typeface="Cambria"/>
              </a:rPr>
              <a:t>Random Forest</a:t>
            </a:r>
            <a:endParaRPr b="0" i="0" sz="1500" u="none" cap="none" strike="noStrike">
              <a:solidFill>
                <a:schemeClr val="dk1"/>
              </a:solidFill>
              <a:latin typeface="Calibri"/>
              <a:ea typeface="Calibri"/>
              <a:cs typeface="Calibri"/>
              <a:sym typeface="Calibri"/>
            </a:endParaRPr>
          </a:p>
        </p:txBody>
      </p:sp>
      <p:sp>
        <p:nvSpPr>
          <p:cNvPr id="349" name="Google Shape;349;p11"/>
          <p:cNvSpPr txBox="1"/>
          <p:nvPr/>
        </p:nvSpPr>
        <p:spPr>
          <a:xfrm>
            <a:off x="8001000" y="2377440"/>
            <a:ext cx="3520440" cy="2103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1400"/>
              <a:buFont typeface="Calibri"/>
              <a:buNone/>
            </a:pPr>
            <a:r>
              <a:rPr b="1" i="0" lang="en-US" sz="1400" u="none" cap="none" strike="noStrike">
                <a:solidFill>
                  <a:schemeClr val="lt1"/>
                </a:solidFill>
                <a:latin typeface="Calibri"/>
                <a:ea typeface="Calibri"/>
                <a:cs typeface="Calibri"/>
                <a:sym typeface="Calibri"/>
              </a:rPr>
              <a:t>Recall 0.741 </a:t>
            </a:r>
            <a:r>
              <a:rPr b="0" i="0" lang="en-US" sz="1400" u="none" cap="none" strike="noStrike">
                <a:solidFill>
                  <a:schemeClr val="lt1"/>
                </a:solidFill>
                <a:latin typeface="Calibri"/>
                <a:ea typeface="Calibri"/>
                <a:cs typeface="Calibri"/>
                <a:sym typeface="Calibri"/>
              </a:rPr>
              <a:t>(40 of 54 caught)</a:t>
            </a:r>
            <a:endParaRPr b="0" i="0" sz="1500" u="none" cap="none" strike="noStrike">
              <a:solidFill>
                <a:schemeClr val="dk1"/>
              </a:solidFill>
              <a:latin typeface="Calibri"/>
              <a:ea typeface="Calibri"/>
              <a:cs typeface="Calibri"/>
              <a:sym typeface="Calibri"/>
            </a:endParaRPr>
          </a:p>
          <a:p>
            <a:pPr indent="0" lvl="0" marL="0" marR="0" rtl="0" algn="l">
              <a:spcBef>
                <a:spcPts val="600"/>
              </a:spcBef>
              <a:spcAft>
                <a:spcPts val="0"/>
              </a:spcAft>
              <a:buClr>
                <a:schemeClr val="lt1"/>
              </a:buClr>
              <a:buSzPts val="1400"/>
              <a:buFont typeface="Calibri"/>
              <a:buNone/>
            </a:pPr>
            <a:r>
              <a:rPr b="1" i="0" lang="en-US" sz="1400" u="none" cap="none" strike="noStrike">
                <a:solidFill>
                  <a:schemeClr val="lt1"/>
                </a:solidFill>
                <a:latin typeface="Calibri"/>
                <a:ea typeface="Calibri"/>
                <a:cs typeface="Calibri"/>
                <a:sym typeface="Calibri"/>
              </a:rPr>
              <a:t>ROC-AUC 0.809 </a:t>
            </a:r>
            <a:r>
              <a:rPr b="0" i="0" lang="en-US" sz="1400" u="none" cap="none" strike="noStrike">
                <a:solidFill>
                  <a:schemeClr val="lt1"/>
                </a:solidFill>
                <a:latin typeface="Calibri"/>
                <a:ea typeface="Calibri"/>
                <a:cs typeface="Calibri"/>
                <a:sym typeface="Calibri"/>
              </a:rPr>
              <a:t>(CV 0.829)</a:t>
            </a:r>
            <a:endParaRPr b="0" i="0" sz="1500" u="none" cap="none" strike="noStrike">
              <a:solidFill>
                <a:schemeClr val="dk1"/>
              </a:solidFill>
              <a:latin typeface="Calibri"/>
              <a:ea typeface="Calibri"/>
              <a:cs typeface="Calibri"/>
              <a:sym typeface="Calibri"/>
            </a:endParaRPr>
          </a:p>
          <a:p>
            <a:pPr indent="0" lvl="0" marL="0" marR="0" rtl="0" algn="l">
              <a:spcBef>
                <a:spcPts val="600"/>
              </a:spcBef>
              <a:spcAft>
                <a:spcPts val="0"/>
              </a:spcAft>
              <a:buClr>
                <a:schemeClr val="lt1"/>
              </a:buClr>
              <a:buSzPts val="1400"/>
              <a:buFont typeface="Calibri"/>
              <a:buNone/>
            </a:pPr>
            <a:r>
              <a:rPr b="1" i="0" lang="en-US" sz="1400" u="none" cap="none" strike="noStrike">
                <a:solidFill>
                  <a:schemeClr val="lt1"/>
                </a:solidFill>
                <a:latin typeface="Calibri"/>
                <a:ea typeface="Calibri"/>
                <a:cs typeface="Calibri"/>
                <a:sym typeface="Calibri"/>
              </a:rPr>
              <a:t>Precision 0.615, </a:t>
            </a:r>
            <a:r>
              <a:rPr b="0" i="0" lang="en-US" sz="1400" u="none" cap="none" strike="noStrike">
                <a:solidFill>
                  <a:schemeClr val="lt1"/>
                </a:solidFill>
                <a:latin typeface="Calibri"/>
                <a:ea typeface="Calibri"/>
                <a:cs typeface="Calibri"/>
                <a:sym typeface="Calibri"/>
              </a:rPr>
              <a:t>specificity 0.75</a:t>
            </a:r>
            <a:endParaRPr b="0" i="0" sz="1500" u="none" cap="none" strike="noStrike">
              <a:solidFill>
                <a:schemeClr val="dk1"/>
              </a:solidFill>
              <a:latin typeface="Calibri"/>
              <a:ea typeface="Calibri"/>
              <a:cs typeface="Calibri"/>
              <a:sym typeface="Calibri"/>
            </a:endParaRPr>
          </a:p>
          <a:p>
            <a:pPr indent="-203200" lvl="0" marL="203200" marR="0" rtl="0" algn="l">
              <a:spcBef>
                <a:spcPts val="600"/>
              </a:spcBef>
              <a:spcAft>
                <a:spcPts val="0"/>
              </a:spcAft>
              <a:buClr>
                <a:schemeClr val="lt1"/>
              </a:buClr>
              <a:buSzPts val="1400"/>
              <a:buFont typeface="Calibri"/>
              <a:buChar char="•"/>
            </a:pPr>
            <a:r>
              <a:rPr b="0" i="0" lang="en-US" sz="1400" u="none" cap="none" strike="noStrike">
                <a:solidFill>
                  <a:schemeClr val="lt1"/>
                </a:solidFill>
                <a:latin typeface="Calibri"/>
                <a:ea typeface="Calibri"/>
                <a:cs typeface="Calibri"/>
                <a:sym typeface="Calibri"/>
              </a:rPr>
              <a:t>Recall ≥ 0.70 in both CV and test, highest overall score</a:t>
            </a:r>
            <a:endParaRPr b="0" i="0" sz="1500" u="none" cap="none" strike="noStrike">
              <a:solidFill>
                <a:schemeClr val="dk1"/>
              </a:solidFill>
              <a:latin typeface="Calibri"/>
              <a:ea typeface="Calibri"/>
              <a:cs typeface="Calibri"/>
              <a:sym typeface="Calibri"/>
            </a:endParaRPr>
          </a:p>
        </p:txBody>
      </p:sp>
      <p:sp>
        <p:nvSpPr>
          <p:cNvPr id="350" name="Google Shape;350;p11"/>
          <p:cNvSpPr txBox="1"/>
          <p:nvPr/>
        </p:nvSpPr>
        <p:spPr>
          <a:xfrm>
            <a:off x="7772400" y="4709160"/>
            <a:ext cx="3867912" cy="7315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300"/>
              <a:buFont typeface="Calibri"/>
              <a:buNone/>
            </a:pPr>
            <a:r>
              <a:rPr b="0" i="1" lang="en-US" sz="1300" u="none" cap="none" strike="noStrike">
                <a:solidFill>
                  <a:schemeClr val="dk2"/>
                </a:solidFill>
                <a:latin typeface="Calibri"/>
                <a:ea typeface="Calibri"/>
                <a:cs typeface="Calibri"/>
                <a:sym typeface="Calibri"/>
              </a:rPr>
              <a:t>XGBoost had the best test scores, but its cross-validated recall (0.687) failed the 0.70 screening rule</a:t>
            </a:r>
            <a:endParaRPr b="0" i="0" sz="1300" u="none" cap="none" strike="noStrike">
              <a:solidFill>
                <a:schemeClr val="dk1"/>
              </a:solidFill>
              <a:latin typeface="Calibri"/>
              <a:ea typeface="Calibri"/>
              <a:cs typeface="Calibri"/>
              <a:sym typeface="Calibri"/>
            </a:endParaRPr>
          </a:p>
        </p:txBody>
      </p:sp>
      <p:sp>
        <p:nvSpPr>
          <p:cNvPr id="351" name="Google Shape;351;p11">
            <a:hlinkClick action="ppaction://hlinksldjump" r:id="rId5"/>
          </p:cNvPr>
          <p:cNvSpPr/>
          <p:nvPr/>
        </p:nvSpPr>
        <p:spPr>
          <a:xfrm>
            <a:off x="7772400" y="5577840"/>
            <a:ext cx="3867912" cy="457200"/>
          </a:xfrm>
          <a:prstGeom prst="roundRect">
            <a:avLst>
              <a:gd fmla="val 20000" name="adj"/>
            </a:avLst>
          </a:prstGeom>
          <a:solidFill>
            <a:schemeClr val="accent2"/>
          </a:solidFill>
          <a:ln cap="flat" cmpd="sng" w="9525">
            <a:solidFill>
              <a:schemeClr val="accen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400"/>
              <a:buFont typeface="Calibri"/>
              <a:buNone/>
            </a:pPr>
            <a:r>
              <a:rPr b="1" i="0" lang="en-US" sz="1400" u="none" cap="none" strike="noStrike">
                <a:solidFill>
                  <a:schemeClr val="lt1"/>
                </a:solidFill>
                <a:latin typeface="Calibri"/>
                <a:ea typeface="Calibri"/>
                <a:cs typeface="Calibri"/>
                <a:sym typeface="Calibri"/>
              </a:rPr>
              <a:t>Open the Model Explorer  ›</a:t>
            </a:r>
            <a:endParaRPr b="0" i="0" sz="1400" u="none" cap="none" strike="noStrike">
              <a:solidFill>
                <a:schemeClr val="dk1"/>
              </a:solidFill>
              <a:latin typeface="Calibri"/>
              <a:ea typeface="Calibri"/>
              <a:cs typeface="Calibri"/>
              <a:sym typeface="Calibri"/>
            </a:endParaRPr>
          </a:p>
        </p:txBody>
      </p:sp>
      <p:sp>
        <p:nvSpPr>
          <p:cNvPr id="352" name="Google Shape;352;p11">
            <a:hlinkClick action="ppaction://hlinksldjump" r:id="rId6"/>
          </p:cNvPr>
          <p:cNvSpPr/>
          <p:nvPr/>
        </p:nvSpPr>
        <p:spPr>
          <a:xfrm>
            <a:off x="10680192" y="6336792"/>
            <a:ext cx="960120" cy="365760"/>
          </a:xfrm>
          <a:prstGeom prst="roundRect">
            <a:avLst>
              <a:gd fmla="val 25000" name="adj"/>
            </a:avLst>
          </a:prstGeom>
          <a:solidFill>
            <a:schemeClr val="accent1"/>
          </a:solidFill>
          <a:ln cap="flat" cmpd="sng" w="9525">
            <a:solidFill>
              <a:schemeClr val="accent1"/>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Next ›</a:t>
            </a:r>
            <a:endParaRPr b="0" i="0" sz="1200" u="none" cap="none" strike="noStrike">
              <a:solidFill>
                <a:schemeClr val="dk1"/>
              </a:solidFill>
              <a:latin typeface="Calibri"/>
              <a:ea typeface="Calibri"/>
              <a:cs typeface="Calibri"/>
              <a:sym typeface="Calibri"/>
            </a:endParaRPr>
          </a:p>
        </p:txBody>
      </p:sp>
      <p:sp>
        <p:nvSpPr>
          <p:cNvPr id="353" name="Google Shape;353;p11">
            <a:hlinkClick action="ppaction://hlinksldjump" r:id="rId7"/>
          </p:cNvPr>
          <p:cNvSpPr/>
          <p:nvPr/>
        </p:nvSpPr>
        <p:spPr>
          <a:xfrm>
            <a:off x="9610344" y="6336792"/>
            <a:ext cx="960120" cy="365760"/>
          </a:xfrm>
          <a:prstGeom prst="roundRect">
            <a:avLst>
              <a:gd fmla="val 25000"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1" i="0" lang="en-US" sz="1200" u="none" cap="none" strike="noStrike">
                <a:solidFill>
                  <a:schemeClr val="dk2"/>
                </a:solidFill>
                <a:latin typeface="Calibri"/>
                <a:ea typeface="Calibri"/>
                <a:cs typeface="Calibri"/>
                <a:sym typeface="Calibri"/>
              </a:rPr>
              <a:t>Agenda</a:t>
            </a:r>
            <a:endParaRPr b="0" i="0" sz="1200" u="none" cap="none" strike="noStrike">
              <a:solidFill>
                <a:schemeClr val="dk1"/>
              </a:solidFill>
              <a:latin typeface="Calibri"/>
              <a:ea typeface="Calibri"/>
              <a:cs typeface="Calibri"/>
              <a:sym typeface="Calibri"/>
            </a:endParaRPr>
          </a:p>
        </p:txBody>
      </p:sp>
      <p:sp>
        <p:nvSpPr>
          <p:cNvPr id="354" name="Google Shape;354;p11">
            <a:hlinkClick action="ppaction://hlinksldjump" r:id="rId8"/>
          </p:cNvPr>
          <p:cNvSpPr/>
          <p:nvPr/>
        </p:nvSpPr>
        <p:spPr>
          <a:xfrm>
            <a:off x="8540496" y="6336792"/>
            <a:ext cx="960120" cy="365760"/>
          </a:xfrm>
          <a:prstGeom prst="roundRect">
            <a:avLst>
              <a:gd fmla="val 25000"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1" i="0" lang="en-US" sz="1200" u="none" cap="none" strike="noStrike">
                <a:solidFill>
                  <a:schemeClr val="dk2"/>
                </a:solidFill>
                <a:latin typeface="Calibri"/>
                <a:ea typeface="Calibri"/>
                <a:cs typeface="Calibri"/>
                <a:sym typeface="Calibri"/>
              </a:rPr>
              <a:t>‹ Prev</a:t>
            </a:r>
            <a:endParaRPr b="0" i="0" sz="1200" u="none" cap="none" strike="noStrike">
              <a:solidFill>
                <a:schemeClr val="dk1"/>
              </a:solidFill>
              <a:latin typeface="Calibri"/>
              <a:ea typeface="Calibri"/>
              <a:cs typeface="Calibri"/>
              <a:sym typeface="Calibri"/>
            </a:endParaRPr>
          </a:p>
        </p:txBody>
      </p:sp>
      <p:sp>
        <p:nvSpPr>
          <p:cNvPr id="355" name="Google Shape;355;p11"/>
          <p:cNvSpPr txBox="1"/>
          <p:nvPr>
            <p:ph idx="4294967295" type="sldNum"/>
          </p:nvPr>
        </p:nvSpPr>
        <p:spPr>
          <a:xfrm>
            <a:off x="8732520" y="6382512"/>
            <a:ext cx="502920" cy="292608"/>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accent5"/>
                </a:solidFill>
                <a:latin typeface="Calibri"/>
                <a:ea typeface="Calibri"/>
                <a:cs typeface="Calibri"/>
                <a:sym typeface="Calibri"/>
              </a:rPr>
              <a:t>‹#›</a:t>
            </a:fld>
            <a:endParaRPr b="0" i="0" sz="1000" u="none" cap="none" strike="noStrike">
              <a:solidFill>
                <a:schemeClr val="accent5"/>
              </a:solidFill>
              <a:latin typeface="Calibri"/>
              <a:ea typeface="Calibri"/>
              <a:cs typeface="Calibri"/>
              <a:sym typeface="Calibri"/>
            </a:endParaRPr>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12"/>
          <p:cNvSpPr txBox="1"/>
          <p:nvPr>
            <p:ph type="title"/>
          </p:nvPr>
        </p:nvSpPr>
        <p:spPr>
          <a:xfrm>
            <a:off x="548640" y="347472"/>
            <a:ext cx="11064240" cy="7315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200"/>
              <a:buFont typeface="Cambria"/>
              <a:buNone/>
            </a:pPr>
            <a:r>
              <a:rPr b="1" lang="en-US" sz="3200">
                <a:solidFill>
                  <a:schemeClr val="dk2"/>
                </a:solidFill>
                <a:latin typeface="Cambria"/>
                <a:ea typeface="Cambria"/>
                <a:cs typeface="Cambria"/>
                <a:sym typeface="Cambria"/>
              </a:rPr>
              <a:t>Model Explorer: click a model</a:t>
            </a:r>
            <a:endParaRPr sz="3200"/>
          </a:p>
        </p:txBody>
      </p:sp>
      <p:pic>
        <p:nvPicPr>
          <p:cNvPr descr="ROC curves of all five models" id="362" name="Google Shape;362;p12"/>
          <p:cNvPicPr preferRelativeResize="0"/>
          <p:nvPr/>
        </p:nvPicPr>
        <p:blipFill rotWithShape="1">
          <a:blip r:embed="rId3">
            <a:alphaModFix/>
          </a:blip>
          <a:srcRect b="0" l="0" r="0" t="0"/>
          <a:stretch/>
        </p:blipFill>
        <p:spPr>
          <a:xfrm>
            <a:off x="548640" y="1234440"/>
            <a:ext cx="5120640" cy="4139563"/>
          </a:xfrm>
          <a:prstGeom prst="rect">
            <a:avLst/>
          </a:prstGeom>
          <a:noFill/>
          <a:ln>
            <a:noFill/>
          </a:ln>
        </p:spPr>
      </p:pic>
      <p:sp>
        <p:nvSpPr>
          <p:cNvPr id="363" name="Google Shape;363;p12">
            <a:hlinkClick action="ppaction://hlinksldjump" r:id="rId4"/>
          </p:cNvPr>
          <p:cNvSpPr/>
          <p:nvPr/>
        </p:nvSpPr>
        <p:spPr>
          <a:xfrm>
            <a:off x="5989320" y="1234440"/>
            <a:ext cx="5650992" cy="841248"/>
          </a:xfrm>
          <a:prstGeom prst="roundRect">
            <a:avLst>
              <a:gd fmla="val 8696"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 name="Google Shape;364;p12">
            <a:hlinkClick action="ppaction://hlinksldjump" r:id="rId5"/>
          </p:cNvPr>
          <p:cNvSpPr/>
          <p:nvPr/>
        </p:nvSpPr>
        <p:spPr>
          <a:xfrm>
            <a:off x="6144768" y="1362456"/>
            <a:ext cx="585216" cy="585216"/>
          </a:xfrm>
          <a:prstGeom prst="ellipse">
            <a:avLst/>
          </a:prstGeom>
          <a:solidFill>
            <a:srgbClr val="3A5A98"/>
          </a:solidFill>
          <a:ln cap="flat" cmpd="sng" w="12700">
            <a:solidFill>
              <a:srgbClr val="3A5A9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365" name="Google Shape;365;p12">
            <a:hlinkClick action="ppaction://hlinksldjump" r:id="rId6"/>
          </p:cNvPr>
          <p:cNvPicPr preferRelativeResize="0"/>
          <p:nvPr/>
        </p:nvPicPr>
        <p:blipFill rotWithShape="1">
          <a:blip r:embed="rId7">
            <a:alphaModFix/>
          </a:blip>
          <a:srcRect b="0" l="0" r="0" t="0"/>
          <a:stretch/>
        </p:blipFill>
        <p:spPr>
          <a:xfrm>
            <a:off x="6285220" y="1502908"/>
            <a:ext cx="304312" cy="304312"/>
          </a:xfrm>
          <a:prstGeom prst="rect">
            <a:avLst/>
          </a:prstGeom>
          <a:noFill/>
          <a:ln>
            <a:noFill/>
          </a:ln>
        </p:spPr>
      </p:pic>
      <p:sp>
        <p:nvSpPr>
          <p:cNvPr id="366" name="Google Shape;366;p12">
            <a:hlinkClick action="ppaction://hlinksldjump" r:id="rId8"/>
          </p:cNvPr>
          <p:cNvSpPr/>
          <p:nvPr/>
        </p:nvSpPr>
        <p:spPr>
          <a:xfrm>
            <a:off x="6858000" y="1307592"/>
            <a:ext cx="3246120"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600"/>
              <a:buFont typeface="Calibri"/>
              <a:buNone/>
            </a:pPr>
            <a:r>
              <a:rPr b="1" i="0" lang="en-US" sz="1600" u="none" cap="none" strike="noStrike">
                <a:solidFill>
                  <a:schemeClr val="dk2"/>
                </a:solidFill>
                <a:latin typeface="Calibri"/>
                <a:ea typeface="Calibri"/>
                <a:cs typeface="Calibri"/>
                <a:sym typeface="Calibri"/>
              </a:rPr>
              <a:t>Logistic Regression</a:t>
            </a:r>
            <a:endParaRPr b="0" i="0" sz="16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300"/>
              <a:buFont typeface="Calibri"/>
              <a:buNone/>
            </a:pPr>
            <a:r>
              <a:rPr b="0" i="0" lang="en-US" sz="1300" u="none" cap="none" strike="noStrike">
                <a:solidFill>
                  <a:schemeClr val="dk1"/>
                </a:solidFill>
                <a:latin typeface="Calibri"/>
                <a:ea typeface="Calibri"/>
                <a:cs typeface="Calibri"/>
                <a:sym typeface="Calibri"/>
              </a:rPr>
              <a:t>ROC-AUC 0.811   |   Recall 0.648   |   FN 19</a:t>
            </a:r>
            <a:endParaRPr b="0" i="0" sz="1600" u="none" cap="none" strike="noStrike">
              <a:solidFill>
                <a:schemeClr val="dk1"/>
              </a:solidFill>
              <a:latin typeface="Calibri"/>
              <a:ea typeface="Calibri"/>
              <a:cs typeface="Calibri"/>
              <a:sym typeface="Calibri"/>
            </a:endParaRPr>
          </a:p>
        </p:txBody>
      </p:sp>
      <p:sp>
        <p:nvSpPr>
          <p:cNvPr id="367" name="Google Shape;367;p12">
            <a:hlinkClick action="ppaction://hlinksldjump" r:id="rId9"/>
          </p:cNvPr>
          <p:cNvSpPr/>
          <p:nvPr/>
        </p:nvSpPr>
        <p:spPr>
          <a:xfrm>
            <a:off x="10195560" y="1453896"/>
            <a:ext cx="1280160" cy="402336"/>
          </a:xfrm>
          <a:prstGeom prst="roundRect">
            <a:avLst>
              <a:gd fmla="val 22727" name="adj"/>
            </a:avLst>
          </a:prstGeom>
          <a:solidFill>
            <a:schemeClr val="accent5"/>
          </a:solidFill>
          <a:ln cap="flat" cmpd="sng" w="9525">
            <a:solidFill>
              <a:schemeClr val="accent5"/>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Rule failed</a:t>
            </a:r>
            <a:endParaRPr b="0" i="0" sz="1200" u="none" cap="none" strike="noStrike">
              <a:solidFill>
                <a:schemeClr val="dk1"/>
              </a:solidFill>
              <a:latin typeface="Calibri"/>
              <a:ea typeface="Calibri"/>
              <a:cs typeface="Calibri"/>
              <a:sym typeface="Calibri"/>
            </a:endParaRPr>
          </a:p>
        </p:txBody>
      </p:sp>
      <p:sp>
        <p:nvSpPr>
          <p:cNvPr id="368" name="Google Shape;368;p12">
            <a:hlinkClick action="ppaction://hlinksldjump" r:id="rId10"/>
          </p:cNvPr>
          <p:cNvSpPr/>
          <p:nvPr/>
        </p:nvSpPr>
        <p:spPr>
          <a:xfrm>
            <a:off x="5989320" y="2212848"/>
            <a:ext cx="5650992" cy="841248"/>
          </a:xfrm>
          <a:prstGeom prst="roundRect">
            <a:avLst>
              <a:gd fmla="val 8696"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 name="Google Shape;369;p12">
            <a:hlinkClick action="ppaction://hlinksldjump" r:id="rId11"/>
          </p:cNvPr>
          <p:cNvSpPr/>
          <p:nvPr/>
        </p:nvSpPr>
        <p:spPr>
          <a:xfrm>
            <a:off x="6144768" y="2340864"/>
            <a:ext cx="585216" cy="585216"/>
          </a:xfrm>
          <a:prstGeom prst="ellipse">
            <a:avLst/>
          </a:prstGeom>
          <a:solidFill>
            <a:srgbClr val="F4B942"/>
          </a:solidFill>
          <a:ln cap="flat" cmpd="sng" w="12700">
            <a:solidFill>
              <a:srgbClr val="F4B9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370" name="Google Shape;370;p12">
            <a:hlinkClick action="ppaction://hlinksldjump" r:id="rId12"/>
          </p:cNvPr>
          <p:cNvPicPr preferRelativeResize="0"/>
          <p:nvPr/>
        </p:nvPicPr>
        <p:blipFill rotWithShape="1">
          <a:blip r:embed="rId13">
            <a:alphaModFix/>
          </a:blip>
          <a:srcRect b="0" l="0" r="0" t="0"/>
          <a:stretch/>
        </p:blipFill>
        <p:spPr>
          <a:xfrm>
            <a:off x="6285220" y="2481316"/>
            <a:ext cx="304312" cy="304312"/>
          </a:xfrm>
          <a:prstGeom prst="rect">
            <a:avLst/>
          </a:prstGeom>
          <a:noFill/>
          <a:ln>
            <a:noFill/>
          </a:ln>
        </p:spPr>
      </p:pic>
      <p:sp>
        <p:nvSpPr>
          <p:cNvPr id="371" name="Google Shape;371;p12">
            <a:hlinkClick action="ppaction://hlinksldjump" r:id="rId14"/>
          </p:cNvPr>
          <p:cNvSpPr/>
          <p:nvPr/>
        </p:nvSpPr>
        <p:spPr>
          <a:xfrm>
            <a:off x="6858000" y="2286000"/>
            <a:ext cx="3246120"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600"/>
              <a:buFont typeface="Calibri"/>
              <a:buNone/>
            </a:pPr>
            <a:r>
              <a:rPr b="1" i="0" lang="en-US" sz="1600" u="none" cap="none" strike="noStrike">
                <a:solidFill>
                  <a:schemeClr val="dk2"/>
                </a:solidFill>
                <a:latin typeface="Calibri"/>
                <a:ea typeface="Calibri"/>
                <a:cs typeface="Calibri"/>
                <a:sym typeface="Calibri"/>
              </a:rPr>
              <a:t>K-Nearest Neighbors</a:t>
            </a:r>
            <a:endParaRPr b="0" i="0" sz="16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300"/>
              <a:buFont typeface="Calibri"/>
              <a:buNone/>
            </a:pPr>
            <a:r>
              <a:rPr b="0" i="0" lang="en-US" sz="1300" u="none" cap="none" strike="noStrike">
                <a:solidFill>
                  <a:schemeClr val="dk1"/>
                </a:solidFill>
                <a:latin typeface="Calibri"/>
                <a:ea typeface="Calibri"/>
                <a:cs typeface="Calibri"/>
                <a:sym typeface="Calibri"/>
              </a:rPr>
              <a:t>ROC-AUC 0.797   |   Recall 0.778   |   FN 12</a:t>
            </a:r>
            <a:endParaRPr b="0" i="0" sz="1600" u="none" cap="none" strike="noStrike">
              <a:solidFill>
                <a:schemeClr val="dk1"/>
              </a:solidFill>
              <a:latin typeface="Calibri"/>
              <a:ea typeface="Calibri"/>
              <a:cs typeface="Calibri"/>
              <a:sym typeface="Calibri"/>
            </a:endParaRPr>
          </a:p>
        </p:txBody>
      </p:sp>
      <p:sp>
        <p:nvSpPr>
          <p:cNvPr id="372" name="Google Shape;372;p12">
            <a:hlinkClick action="ppaction://hlinksldjump" r:id="rId15"/>
          </p:cNvPr>
          <p:cNvSpPr/>
          <p:nvPr/>
        </p:nvSpPr>
        <p:spPr>
          <a:xfrm>
            <a:off x="10195560" y="2432304"/>
            <a:ext cx="1280160" cy="402336"/>
          </a:xfrm>
          <a:prstGeom prst="roundRect">
            <a:avLst>
              <a:gd fmla="val 22727" name="adj"/>
            </a:avLst>
          </a:prstGeom>
          <a:solidFill>
            <a:schemeClr val="accent3"/>
          </a:solidFill>
          <a:ln cap="flat" cmpd="sng" w="9525">
            <a:solidFill>
              <a:schemeClr val="accent3"/>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Eligible</a:t>
            </a:r>
            <a:endParaRPr b="0" i="0" sz="1200" u="none" cap="none" strike="noStrike">
              <a:solidFill>
                <a:schemeClr val="dk1"/>
              </a:solidFill>
              <a:latin typeface="Calibri"/>
              <a:ea typeface="Calibri"/>
              <a:cs typeface="Calibri"/>
              <a:sym typeface="Calibri"/>
            </a:endParaRPr>
          </a:p>
        </p:txBody>
      </p:sp>
      <p:sp>
        <p:nvSpPr>
          <p:cNvPr id="373" name="Google Shape;373;p12">
            <a:hlinkClick action="ppaction://hlinksldjump" r:id="rId16"/>
          </p:cNvPr>
          <p:cNvSpPr/>
          <p:nvPr/>
        </p:nvSpPr>
        <p:spPr>
          <a:xfrm>
            <a:off x="5989320" y="3191256"/>
            <a:ext cx="5650992" cy="841248"/>
          </a:xfrm>
          <a:prstGeom prst="roundRect">
            <a:avLst>
              <a:gd fmla="val 8696"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 name="Google Shape;374;p12">
            <a:hlinkClick action="ppaction://hlinksldjump" r:id="rId17"/>
          </p:cNvPr>
          <p:cNvSpPr/>
          <p:nvPr/>
        </p:nvSpPr>
        <p:spPr>
          <a:xfrm>
            <a:off x="6144768" y="3319272"/>
            <a:ext cx="585216" cy="585216"/>
          </a:xfrm>
          <a:prstGeom prst="ellipse">
            <a:avLst/>
          </a:prstGeom>
          <a:solidFill>
            <a:srgbClr val="7A8B94"/>
          </a:solidFill>
          <a:ln cap="flat" cmpd="sng" w="12700">
            <a:solidFill>
              <a:srgbClr val="7A8B9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375" name="Google Shape;375;p12">
            <a:hlinkClick action="ppaction://hlinksldjump" r:id="rId18"/>
          </p:cNvPr>
          <p:cNvPicPr preferRelativeResize="0"/>
          <p:nvPr/>
        </p:nvPicPr>
        <p:blipFill rotWithShape="1">
          <a:blip r:embed="rId19">
            <a:alphaModFix/>
          </a:blip>
          <a:srcRect b="0" l="0" r="0" t="0"/>
          <a:stretch/>
        </p:blipFill>
        <p:spPr>
          <a:xfrm>
            <a:off x="6285220" y="3459724"/>
            <a:ext cx="304312" cy="304312"/>
          </a:xfrm>
          <a:prstGeom prst="rect">
            <a:avLst/>
          </a:prstGeom>
          <a:noFill/>
          <a:ln>
            <a:noFill/>
          </a:ln>
        </p:spPr>
      </p:pic>
      <p:sp>
        <p:nvSpPr>
          <p:cNvPr id="376" name="Google Shape;376;p12">
            <a:hlinkClick action="ppaction://hlinksldjump" r:id="rId20"/>
          </p:cNvPr>
          <p:cNvSpPr/>
          <p:nvPr/>
        </p:nvSpPr>
        <p:spPr>
          <a:xfrm>
            <a:off x="6858000" y="3264408"/>
            <a:ext cx="3246120"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600"/>
              <a:buFont typeface="Calibri"/>
              <a:buNone/>
            </a:pPr>
            <a:r>
              <a:rPr b="1" i="0" lang="en-US" sz="1600" u="none" cap="none" strike="noStrike">
                <a:solidFill>
                  <a:schemeClr val="dk2"/>
                </a:solidFill>
                <a:latin typeface="Calibri"/>
                <a:ea typeface="Calibri"/>
                <a:cs typeface="Calibri"/>
                <a:sym typeface="Calibri"/>
              </a:rPr>
              <a:t>Decision Tree</a:t>
            </a:r>
            <a:endParaRPr b="0" i="0" sz="16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300"/>
              <a:buFont typeface="Calibri"/>
              <a:buNone/>
            </a:pPr>
            <a:r>
              <a:rPr b="0" i="0" lang="en-US" sz="1300" u="none" cap="none" strike="noStrike">
                <a:solidFill>
                  <a:schemeClr val="dk1"/>
                </a:solidFill>
                <a:latin typeface="Calibri"/>
                <a:ea typeface="Calibri"/>
                <a:cs typeface="Calibri"/>
                <a:sym typeface="Calibri"/>
              </a:rPr>
              <a:t>ROC-AUC 0.762   |   Recall 0.778   |   FN 12</a:t>
            </a:r>
            <a:endParaRPr b="0" i="0" sz="1600" u="none" cap="none" strike="noStrike">
              <a:solidFill>
                <a:schemeClr val="dk1"/>
              </a:solidFill>
              <a:latin typeface="Calibri"/>
              <a:ea typeface="Calibri"/>
              <a:cs typeface="Calibri"/>
              <a:sym typeface="Calibri"/>
            </a:endParaRPr>
          </a:p>
        </p:txBody>
      </p:sp>
      <p:sp>
        <p:nvSpPr>
          <p:cNvPr id="377" name="Google Shape;377;p12">
            <a:hlinkClick action="ppaction://hlinksldjump" r:id="rId21"/>
          </p:cNvPr>
          <p:cNvSpPr/>
          <p:nvPr/>
        </p:nvSpPr>
        <p:spPr>
          <a:xfrm>
            <a:off x="10195560" y="3410712"/>
            <a:ext cx="1280160" cy="402336"/>
          </a:xfrm>
          <a:prstGeom prst="roundRect">
            <a:avLst>
              <a:gd fmla="val 22727" name="adj"/>
            </a:avLst>
          </a:prstGeom>
          <a:solidFill>
            <a:schemeClr val="accent5"/>
          </a:solidFill>
          <a:ln cap="flat" cmpd="sng" w="9525">
            <a:solidFill>
              <a:schemeClr val="accent5"/>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Rule failed</a:t>
            </a:r>
            <a:endParaRPr b="0" i="0" sz="1200" u="none" cap="none" strike="noStrike">
              <a:solidFill>
                <a:schemeClr val="dk1"/>
              </a:solidFill>
              <a:latin typeface="Calibri"/>
              <a:ea typeface="Calibri"/>
              <a:cs typeface="Calibri"/>
              <a:sym typeface="Calibri"/>
            </a:endParaRPr>
          </a:p>
        </p:txBody>
      </p:sp>
      <p:sp>
        <p:nvSpPr>
          <p:cNvPr id="378" name="Google Shape;378;p12">
            <a:hlinkClick action="ppaction://hlinksldjump" r:id="rId22"/>
          </p:cNvPr>
          <p:cNvSpPr/>
          <p:nvPr/>
        </p:nvSpPr>
        <p:spPr>
          <a:xfrm>
            <a:off x="5989320" y="4169664"/>
            <a:ext cx="5650992" cy="841248"/>
          </a:xfrm>
          <a:prstGeom prst="roundRect">
            <a:avLst>
              <a:gd fmla="val 8696" name="adj"/>
            </a:avLst>
          </a:prstGeom>
          <a:solidFill>
            <a:srgbClr val="D8EFEF"/>
          </a:solidFill>
          <a:ln cap="flat" cmpd="sng" w="12700">
            <a:solidFill>
              <a:srgbClr val="D8EFEF"/>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 name="Google Shape;379;p12">
            <a:hlinkClick action="ppaction://hlinksldjump" r:id="rId23"/>
          </p:cNvPr>
          <p:cNvSpPr/>
          <p:nvPr/>
        </p:nvSpPr>
        <p:spPr>
          <a:xfrm>
            <a:off x="6144768" y="4297680"/>
            <a:ext cx="585216" cy="585216"/>
          </a:xfrm>
          <a:prstGeom prst="ellipse">
            <a:avLst/>
          </a:prstGeom>
          <a:solidFill>
            <a:srgbClr val="0E7C86"/>
          </a:solidFill>
          <a:ln cap="flat" cmpd="sng" w="12700">
            <a:solidFill>
              <a:srgbClr val="0E7C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380" name="Google Shape;380;p12">
            <a:hlinkClick action="ppaction://hlinksldjump" r:id="rId24"/>
          </p:cNvPr>
          <p:cNvPicPr preferRelativeResize="0"/>
          <p:nvPr/>
        </p:nvPicPr>
        <p:blipFill rotWithShape="1">
          <a:blip r:embed="rId25">
            <a:alphaModFix/>
          </a:blip>
          <a:srcRect b="0" l="0" r="0" t="0"/>
          <a:stretch/>
        </p:blipFill>
        <p:spPr>
          <a:xfrm>
            <a:off x="6285220" y="4438132"/>
            <a:ext cx="304312" cy="304312"/>
          </a:xfrm>
          <a:prstGeom prst="rect">
            <a:avLst/>
          </a:prstGeom>
          <a:noFill/>
          <a:ln>
            <a:noFill/>
          </a:ln>
        </p:spPr>
      </p:pic>
      <p:sp>
        <p:nvSpPr>
          <p:cNvPr id="381" name="Google Shape;381;p12">
            <a:hlinkClick action="ppaction://hlinksldjump" r:id="rId26"/>
          </p:cNvPr>
          <p:cNvSpPr/>
          <p:nvPr/>
        </p:nvSpPr>
        <p:spPr>
          <a:xfrm>
            <a:off x="6858000" y="4242816"/>
            <a:ext cx="3246120"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600"/>
              <a:buFont typeface="Calibri"/>
              <a:buNone/>
            </a:pPr>
            <a:r>
              <a:rPr b="1" i="0" lang="en-US" sz="1600" u="none" cap="none" strike="noStrike">
                <a:solidFill>
                  <a:schemeClr val="dk2"/>
                </a:solidFill>
                <a:latin typeface="Calibri"/>
                <a:ea typeface="Calibri"/>
                <a:cs typeface="Calibri"/>
                <a:sym typeface="Calibri"/>
              </a:rPr>
              <a:t>Random Forest</a:t>
            </a:r>
            <a:endParaRPr b="0" i="0" sz="16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300"/>
              <a:buFont typeface="Calibri"/>
              <a:buNone/>
            </a:pPr>
            <a:r>
              <a:rPr b="0" i="0" lang="en-US" sz="1300" u="none" cap="none" strike="noStrike">
                <a:solidFill>
                  <a:schemeClr val="dk1"/>
                </a:solidFill>
                <a:latin typeface="Calibri"/>
                <a:ea typeface="Calibri"/>
                <a:cs typeface="Calibri"/>
                <a:sym typeface="Calibri"/>
              </a:rPr>
              <a:t>ROC-AUC 0.809   |   Recall 0.741   |   FN 14</a:t>
            </a:r>
            <a:endParaRPr b="0" i="0" sz="1600" u="none" cap="none" strike="noStrike">
              <a:solidFill>
                <a:schemeClr val="dk1"/>
              </a:solidFill>
              <a:latin typeface="Calibri"/>
              <a:ea typeface="Calibri"/>
              <a:cs typeface="Calibri"/>
              <a:sym typeface="Calibri"/>
            </a:endParaRPr>
          </a:p>
        </p:txBody>
      </p:sp>
      <p:sp>
        <p:nvSpPr>
          <p:cNvPr id="382" name="Google Shape;382;p12">
            <a:hlinkClick action="ppaction://hlinksldjump" r:id="rId27"/>
          </p:cNvPr>
          <p:cNvSpPr/>
          <p:nvPr/>
        </p:nvSpPr>
        <p:spPr>
          <a:xfrm>
            <a:off x="10195560" y="4389120"/>
            <a:ext cx="1280160" cy="402336"/>
          </a:xfrm>
          <a:prstGeom prst="roundRect">
            <a:avLst>
              <a:gd fmla="val 22727" name="adj"/>
            </a:avLst>
          </a:prstGeom>
          <a:solidFill>
            <a:schemeClr val="accent1"/>
          </a:solidFill>
          <a:ln cap="flat" cmpd="sng" w="9525">
            <a:solidFill>
              <a:schemeClr val="accent1"/>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Selected</a:t>
            </a:r>
            <a:endParaRPr b="0" i="0" sz="1200" u="none" cap="none" strike="noStrike">
              <a:solidFill>
                <a:schemeClr val="dk1"/>
              </a:solidFill>
              <a:latin typeface="Calibri"/>
              <a:ea typeface="Calibri"/>
              <a:cs typeface="Calibri"/>
              <a:sym typeface="Calibri"/>
            </a:endParaRPr>
          </a:p>
        </p:txBody>
      </p:sp>
      <p:sp>
        <p:nvSpPr>
          <p:cNvPr id="383" name="Google Shape;383;p12">
            <a:hlinkClick action="ppaction://hlinksldjump" r:id="rId28"/>
          </p:cNvPr>
          <p:cNvSpPr/>
          <p:nvPr/>
        </p:nvSpPr>
        <p:spPr>
          <a:xfrm>
            <a:off x="5989320" y="5148072"/>
            <a:ext cx="5650992" cy="841248"/>
          </a:xfrm>
          <a:prstGeom prst="roundRect">
            <a:avLst>
              <a:gd fmla="val 8696"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 name="Google Shape;384;p12">
            <a:hlinkClick action="ppaction://hlinksldjump" r:id="rId29"/>
          </p:cNvPr>
          <p:cNvSpPr/>
          <p:nvPr/>
        </p:nvSpPr>
        <p:spPr>
          <a:xfrm>
            <a:off x="6144768" y="5276088"/>
            <a:ext cx="585216" cy="585216"/>
          </a:xfrm>
          <a:prstGeom prst="ellipse">
            <a:avLst/>
          </a:prstGeom>
          <a:solidFill>
            <a:srgbClr val="6B4E9B"/>
          </a:solidFill>
          <a:ln cap="flat" cmpd="sng" w="12700">
            <a:solidFill>
              <a:srgbClr val="6B4E9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385" name="Google Shape;385;p12">
            <a:hlinkClick action="ppaction://hlinksldjump" r:id="rId30"/>
          </p:cNvPr>
          <p:cNvPicPr preferRelativeResize="0"/>
          <p:nvPr/>
        </p:nvPicPr>
        <p:blipFill rotWithShape="1">
          <a:blip r:embed="rId31">
            <a:alphaModFix/>
          </a:blip>
          <a:srcRect b="0" l="0" r="0" t="0"/>
          <a:stretch/>
        </p:blipFill>
        <p:spPr>
          <a:xfrm>
            <a:off x="6285220" y="5416540"/>
            <a:ext cx="304312" cy="304312"/>
          </a:xfrm>
          <a:prstGeom prst="rect">
            <a:avLst/>
          </a:prstGeom>
          <a:noFill/>
          <a:ln>
            <a:noFill/>
          </a:ln>
        </p:spPr>
      </p:pic>
      <p:sp>
        <p:nvSpPr>
          <p:cNvPr id="386" name="Google Shape;386;p12">
            <a:hlinkClick action="ppaction://hlinksldjump" r:id="rId32"/>
          </p:cNvPr>
          <p:cNvSpPr/>
          <p:nvPr/>
        </p:nvSpPr>
        <p:spPr>
          <a:xfrm>
            <a:off x="6858000" y="5221224"/>
            <a:ext cx="3246120"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600"/>
              <a:buFont typeface="Calibri"/>
              <a:buNone/>
            </a:pPr>
            <a:r>
              <a:rPr b="1" i="0" lang="en-US" sz="1600" u="none" cap="none" strike="noStrike">
                <a:solidFill>
                  <a:schemeClr val="dk2"/>
                </a:solidFill>
                <a:latin typeface="Calibri"/>
                <a:ea typeface="Calibri"/>
                <a:cs typeface="Calibri"/>
                <a:sym typeface="Calibri"/>
              </a:rPr>
              <a:t>XGBoost</a:t>
            </a:r>
            <a:endParaRPr b="0" i="0" sz="16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300"/>
              <a:buFont typeface="Calibri"/>
              <a:buNone/>
            </a:pPr>
            <a:r>
              <a:rPr b="0" i="0" lang="en-US" sz="1300" u="none" cap="none" strike="noStrike">
                <a:solidFill>
                  <a:schemeClr val="dk1"/>
                </a:solidFill>
                <a:latin typeface="Calibri"/>
                <a:ea typeface="Calibri"/>
                <a:cs typeface="Calibri"/>
                <a:sym typeface="Calibri"/>
              </a:rPr>
              <a:t>ROC-AUC 0.826   |   Recall 0.741   |   FN 14</a:t>
            </a:r>
            <a:endParaRPr b="0" i="0" sz="1600" u="none" cap="none" strike="noStrike">
              <a:solidFill>
                <a:schemeClr val="dk1"/>
              </a:solidFill>
              <a:latin typeface="Calibri"/>
              <a:ea typeface="Calibri"/>
              <a:cs typeface="Calibri"/>
              <a:sym typeface="Calibri"/>
            </a:endParaRPr>
          </a:p>
        </p:txBody>
      </p:sp>
      <p:sp>
        <p:nvSpPr>
          <p:cNvPr id="387" name="Google Shape;387;p12">
            <a:hlinkClick action="ppaction://hlinksldjump" r:id="rId33"/>
          </p:cNvPr>
          <p:cNvSpPr/>
          <p:nvPr/>
        </p:nvSpPr>
        <p:spPr>
          <a:xfrm>
            <a:off x="10195560" y="5367528"/>
            <a:ext cx="1280160" cy="402336"/>
          </a:xfrm>
          <a:prstGeom prst="roundRect">
            <a:avLst>
              <a:gd fmla="val 22727" name="adj"/>
            </a:avLst>
          </a:prstGeom>
          <a:solidFill>
            <a:schemeClr val="accent5"/>
          </a:solidFill>
          <a:ln cap="flat" cmpd="sng" w="9525">
            <a:solidFill>
              <a:schemeClr val="accent5"/>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Rule failed</a:t>
            </a:r>
            <a:endParaRPr b="0" i="0" sz="1200" u="none" cap="none" strike="noStrike">
              <a:solidFill>
                <a:schemeClr val="dk1"/>
              </a:solidFill>
              <a:latin typeface="Calibri"/>
              <a:ea typeface="Calibri"/>
              <a:cs typeface="Calibri"/>
              <a:sym typeface="Calibri"/>
            </a:endParaRPr>
          </a:p>
        </p:txBody>
      </p:sp>
      <p:sp>
        <p:nvSpPr>
          <p:cNvPr id="388" name="Google Shape;388;p12">
            <a:hlinkClick action="ppaction://hlinksldjump" r:id="rId34"/>
          </p:cNvPr>
          <p:cNvSpPr/>
          <p:nvPr/>
        </p:nvSpPr>
        <p:spPr>
          <a:xfrm>
            <a:off x="10680192" y="6336792"/>
            <a:ext cx="960120" cy="365760"/>
          </a:xfrm>
          <a:prstGeom prst="roundRect">
            <a:avLst>
              <a:gd fmla="val 25000" name="adj"/>
            </a:avLst>
          </a:prstGeom>
          <a:solidFill>
            <a:schemeClr val="accent1"/>
          </a:solidFill>
          <a:ln cap="flat" cmpd="sng" w="9525">
            <a:solidFill>
              <a:schemeClr val="accent1"/>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Next ›</a:t>
            </a:r>
            <a:endParaRPr b="0" i="0" sz="1200" u="none" cap="none" strike="noStrike">
              <a:solidFill>
                <a:schemeClr val="dk1"/>
              </a:solidFill>
              <a:latin typeface="Calibri"/>
              <a:ea typeface="Calibri"/>
              <a:cs typeface="Calibri"/>
              <a:sym typeface="Calibri"/>
            </a:endParaRPr>
          </a:p>
        </p:txBody>
      </p:sp>
      <p:sp>
        <p:nvSpPr>
          <p:cNvPr id="389" name="Google Shape;389;p12">
            <a:hlinkClick action="ppaction://hlinksldjump" r:id="rId35"/>
          </p:cNvPr>
          <p:cNvSpPr/>
          <p:nvPr/>
        </p:nvSpPr>
        <p:spPr>
          <a:xfrm>
            <a:off x="9610344" y="6336792"/>
            <a:ext cx="960120" cy="365760"/>
          </a:xfrm>
          <a:prstGeom prst="roundRect">
            <a:avLst>
              <a:gd fmla="val 25000"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1" i="0" lang="en-US" sz="1200" u="none" cap="none" strike="noStrike">
                <a:solidFill>
                  <a:schemeClr val="dk2"/>
                </a:solidFill>
                <a:latin typeface="Calibri"/>
                <a:ea typeface="Calibri"/>
                <a:cs typeface="Calibri"/>
                <a:sym typeface="Calibri"/>
              </a:rPr>
              <a:t>Agenda</a:t>
            </a:r>
            <a:endParaRPr b="0" i="0" sz="1200" u="none" cap="none" strike="noStrike">
              <a:solidFill>
                <a:schemeClr val="dk1"/>
              </a:solidFill>
              <a:latin typeface="Calibri"/>
              <a:ea typeface="Calibri"/>
              <a:cs typeface="Calibri"/>
              <a:sym typeface="Calibri"/>
            </a:endParaRPr>
          </a:p>
        </p:txBody>
      </p:sp>
      <p:sp>
        <p:nvSpPr>
          <p:cNvPr id="390" name="Google Shape;390;p12">
            <a:hlinkClick action="ppaction://hlinksldjump" r:id="rId36"/>
          </p:cNvPr>
          <p:cNvSpPr/>
          <p:nvPr/>
        </p:nvSpPr>
        <p:spPr>
          <a:xfrm>
            <a:off x="8540496" y="6336792"/>
            <a:ext cx="960120" cy="365760"/>
          </a:xfrm>
          <a:prstGeom prst="roundRect">
            <a:avLst>
              <a:gd fmla="val 25000"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1" i="0" lang="en-US" sz="1200" u="none" cap="none" strike="noStrike">
                <a:solidFill>
                  <a:schemeClr val="dk2"/>
                </a:solidFill>
                <a:latin typeface="Calibri"/>
                <a:ea typeface="Calibri"/>
                <a:cs typeface="Calibri"/>
                <a:sym typeface="Calibri"/>
              </a:rPr>
              <a:t>‹ Prev</a:t>
            </a:r>
            <a:endParaRPr b="0" i="0" sz="1200" u="none" cap="none" strike="noStrike">
              <a:solidFill>
                <a:schemeClr val="dk1"/>
              </a:solidFill>
              <a:latin typeface="Calibri"/>
              <a:ea typeface="Calibri"/>
              <a:cs typeface="Calibri"/>
              <a:sym typeface="Calibri"/>
            </a:endParaRPr>
          </a:p>
        </p:txBody>
      </p:sp>
      <p:sp>
        <p:nvSpPr>
          <p:cNvPr id="391" name="Google Shape;391;p12"/>
          <p:cNvSpPr txBox="1"/>
          <p:nvPr>
            <p:ph idx="4294967295" type="sldNum"/>
          </p:nvPr>
        </p:nvSpPr>
        <p:spPr>
          <a:xfrm>
            <a:off x="8732520" y="6382512"/>
            <a:ext cx="502920" cy="292608"/>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accent5"/>
                </a:solidFill>
                <a:latin typeface="Calibri"/>
                <a:ea typeface="Calibri"/>
                <a:cs typeface="Calibri"/>
                <a:sym typeface="Calibri"/>
              </a:rPr>
              <a:t>‹#›</a:t>
            </a:fld>
            <a:endParaRPr b="0" i="0" sz="1000" u="none" cap="none" strike="noStrike">
              <a:solidFill>
                <a:schemeClr val="accent5"/>
              </a:solidFill>
              <a:latin typeface="Calibri"/>
              <a:ea typeface="Calibri"/>
              <a:cs typeface="Calibri"/>
              <a:sym typeface="Calibri"/>
            </a:endParaRPr>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13"/>
          <p:cNvSpPr txBox="1"/>
          <p:nvPr>
            <p:ph type="title"/>
          </p:nvPr>
        </p:nvSpPr>
        <p:spPr>
          <a:xfrm>
            <a:off x="548640" y="347472"/>
            <a:ext cx="11064240" cy="7315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200"/>
              <a:buFont typeface="Cambria"/>
              <a:buNone/>
            </a:pPr>
            <a:r>
              <a:rPr b="1" lang="en-US" sz="3200">
                <a:solidFill>
                  <a:schemeClr val="dk2"/>
                </a:solidFill>
                <a:latin typeface="Cambria"/>
                <a:ea typeface="Cambria"/>
                <a:cs typeface="Cambria"/>
                <a:sym typeface="Cambria"/>
              </a:rPr>
              <a:t>Interpretation: What Drives the Predictions?</a:t>
            </a:r>
            <a:endParaRPr sz="3200"/>
          </a:p>
        </p:txBody>
      </p:sp>
      <p:pic>
        <p:nvPicPr>
          <p:cNvPr descr="SHAP summary plot for the Random Forest" id="398" name="Google Shape;398;p13"/>
          <p:cNvPicPr preferRelativeResize="0"/>
          <p:nvPr/>
        </p:nvPicPr>
        <p:blipFill rotWithShape="1">
          <a:blip r:embed="rId3">
            <a:alphaModFix/>
          </a:blip>
          <a:srcRect b="0" l="0" r="0" t="0"/>
          <a:stretch/>
        </p:blipFill>
        <p:spPr>
          <a:xfrm>
            <a:off x="457200" y="1234440"/>
            <a:ext cx="6309360" cy="4041871"/>
          </a:xfrm>
          <a:prstGeom prst="rect">
            <a:avLst/>
          </a:prstGeom>
          <a:noFill/>
          <a:ln>
            <a:noFill/>
          </a:ln>
        </p:spPr>
      </p:pic>
      <p:graphicFrame>
        <p:nvGraphicFramePr>
          <p:cNvPr id="399" name="Google Shape;399;p13"/>
          <p:cNvGraphicFramePr/>
          <p:nvPr/>
        </p:nvGraphicFramePr>
        <p:xfrm>
          <a:off x="6995160" y="1234440"/>
          <a:ext cx="4663440" cy="3017520"/>
        </p:xfrm>
        <a:graphic>
          <a:graphicData uri="http://schemas.openxmlformats.org/drawingml/2006/chart">
            <c:chart r:id="rId4"/>
          </a:graphicData>
        </a:graphic>
      </p:graphicFrame>
      <p:sp>
        <p:nvSpPr>
          <p:cNvPr id="400" name="Google Shape;400;p13"/>
          <p:cNvSpPr txBox="1"/>
          <p:nvPr/>
        </p:nvSpPr>
        <p:spPr>
          <a:xfrm>
            <a:off x="7086600" y="4343400"/>
            <a:ext cx="4526280" cy="12801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1" i="0" lang="en-US" sz="1400" u="none" cap="none" strike="noStrike">
                <a:solidFill>
                  <a:schemeClr val="dk1"/>
                </a:solidFill>
                <a:latin typeface="Calibri"/>
                <a:ea typeface="Calibri"/>
                <a:cs typeface="Calibri"/>
                <a:sym typeface="Calibri"/>
              </a:rPr>
              <a:t>Glucose dominates: </a:t>
            </a:r>
            <a:r>
              <a:rPr b="0" i="0" lang="en-US" sz="1400" u="none" cap="none" strike="noStrike">
                <a:solidFill>
                  <a:schemeClr val="dk1"/>
                </a:solidFill>
                <a:latin typeface="Calibri"/>
                <a:ea typeface="Calibri"/>
                <a:cs typeface="Calibri"/>
                <a:sym typeface="Calibri"/>
              </a:rPr>
              <a:t>high values push risk up by up to ~30 points</a:t>
            </a:r>
            <a:endParaRPr b="0" i="0" sz="1500" u="none" cap="none" strike="noStrike">
              <a:solidFill>
                <a:schemeClr val="dk1"/>
              </a:solidFill>
              <a:latin typeface="Calibri"/>
              <a:ea typeface="Calibri"/>
              <a:cs typeface="Calibri"/>
              <a:sym typeface="Calibri"/>
            </a:endParaRPr>
          </a:p>
          <a:p>
            <a:pPr indent="0" lvl="0" marL="0" marR="0" rtl="0" algn="l">
              <a:spcBef>
                <a:spcPts val="600"/>
              </a:spcBef>
              <a:spcAft>
                <a:spcPts val="0"/>
              </a:spcAft>
              <a:buClr>
                <a:schemeClr val="dk1"/>
              </a:buClr>
              <a:buSzPts val="1400"/>
              <a:buFont typeface="Calibri"/>
              <a:buNone/>
            </a:pPr>
            <a:r>
              <a:rPr b="1" i="0" lang="en-US" sz="1400" u="none" cap="none" strike="noStrike">
                <a:solidFill>
                  <a:schemeClr val="dk1"/>
                </a:solidFill>
                <a:latin typeface="Calibri"/>
                <a:ea typeface="Calibri"/>
                <a:cs typeface="Calibri"/>
                <a:sym typeface="Calibri"/>
              </a:rPr>
              <a:t>BMI, Age, pedigree </a:t>
            </a:r>
            <a:r>
              <a:rPr b="0" i="0" lang="en-US" sz="1400" u="none" cap="none" strike="noStrike">
                <a:solidFill>
                  <a:schemeClr val="dk1"/>
                </a:solidFill>
                <a:latin typeface="Calibri"/>
                <a:ea typeface="Calibri"/>
                <a:cs typeface="Calibri"/>
                <a:sym typeface="Calibri"/>
              </a:rPr>
              <a:t>form the next tier</a:t>
            </a:r>
            <a:endParaRPr b="0" i="0" sz="1500" u="none" cap="none" strike="noStrike">
              <a:solidFill>
                <a:schemeClr val="dk1"/>
              </a:solidFill>
              <a:latin typeface="Calibri"/>
              <a:ea typeface="Calibri"/>
              <a:cs typeface="Calibri"/>
              <a:sym typeface="Calibri"/>
            </a:endParaRPr>
          </a:p>
          <a:p>
            <a:pPr indent="-203200" lvl="0" marL="203200" marR="0" rtl="0" algn="l">
              <a:spcBef>
                <a:spcPts val="600"/>
              </a:spcBef>
              <a:spcAft>
                <a:spcPts val="0"/>
              </a:spcAft>
              <a:buClr>
                <a:schemeClr val="dk1"/>
              </a:buClr>
              <a:buSzPts val="1400"/>
              <a:buFont typeface="Calibri"/>
              <a:buChar char="•"/>
            </a:pPr>
            <a:r>
              <a:rPr b="0" i="0" lang="en-US" sz="1400" u="none" cap="none" strike="noStrike">
                <a:solidFill>
                  <a:schemeClr val="dk1"/>
                </a:solidFill>
                <a:latin typeface="Calibri"/>
                <a:ea typeface="Calibri"/>
                <a:cs typeface="Calibri"/>
                <a:sym typeface="Calibri"/>
              </a:rPr>
              <a:t>Four methods agree; this explains the model, not biology</a:t>
            </a:r>
            <a:endParaRPr b="0" i="0" sz="1500" u="none" cap="none" strike="noStrike">
              <a:solidFill>
                <a:schemeClr val="dk1"/>
              </a:solidFill>
              <a:latin typeface="Calibri"/>
              <a:ea typeface="Calibri"/>
              <a:cs typeface="Calibri"/>
              <a:sym typeface="Calibri"/>
            </a:endParaRPr>
          </a:p>
        </p:txBody>
      </p:sp>
      <p:sp>
        <p:nvSpPr>
          <p:cNvPr id="401" name="Google Shape;401;p13">
            <a:hlinkClick action="ppaction://hlinksldjump" r:id="rId5"/>
          </p:cNvPr>
          <p:cNvSpPr/>
          <p:nvPr/>
        </p:nvSpPr>
        <p:spPr>
          <a:xfrm>
            <a:off x="7086600" y="5623560"/>
            <a:ext cx="4553712" cy="411480"/>
          </a:xfrm>
          <a:prstGeom prst="roundRect">
            <a:avLst>
              <a:gd fmla="val 22222" name="adj"/>
            </a:avLst>
          </a:prstGeom>
          <a:solidFill>
            <a:schemeClr val="accent2"/>
          </a:solidFill>
          <a:ln cap="flat" cmpd="sng" w="9525">
            <a:solidFill>
              <a:schemeClr val="accen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300"/>
              <a:buFont typeface="Calibri"/>
              <a:buNone/>
            </a:pPr>
            <a:r>
              <a:rPr b="1" i="0" lang="en-US" sz="1300" u="none" cap="none" strike="noStrike">
                <a:solidFill>
                  <a:schemeClr val="lt1"/>
                </a:solidFill>
                <a:latin typeface="Calibri"/>
                <a:ea typeface="Calibri"/>
                <a:cs typeface="Calibri"/>
                <a:sym typeface="Calibri"/>
              </a:rPr>
              <a:t>All-model feature importance  ›</a:t>
            </a:r>
            <a:endParaRPr b="0" i="0" sz="1300" u="none" cap="none" strike="noStrike">
              <a:solidFill>
                <a:schemeClr val="dk1"/>
              </a:solidFill>
              <a:latin typeface="Calibri"/>
              <a:ea typeface="Calibri"/>
              <a:cs typeface="Calibri"/>
              <a:sym typeface="Calibri"/>
            </a:endParaRPr>
          </a:p>
        </p:txBody>
      </p:sp>
      <p:sp>
        <p:nvSpPr>
          <p:cNvPr id="402" name="Google Shape;402;p13">
            <a:hlinkClick action="ppaction://hlinksldjump" r:id="rId6"/>
          </p:cNvPr>
          <p:cNvSpPr/>
          <p:nvPr/>
        </p:nvSpPr>
        <p:spPr>
          <a:xfrm>
            <a:off x="10680192" y="6336792"/>
            <a:ext cx="960120" cy="365760"/>
          </a:xfrm>
          <a:prstGeom prst="roundRect">
            <a:avLst>
              <a:gd fmla="val 25000" name="adj"/>
            </a:avLst>
          </a:prstGeom>
          <a:solidFill>
            <a:schemeClr val="accent1"/>
          </a:solidFill>
          <a:ln cap="flat" cmpd="sng" w="9525">
            <a:solidFill>
              <a:schemeClr val="accent1"/>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Next ›</a:t>
            </a:r>
            <a:endParaRPr b="0" i="0" sz="1200" u="none" cap="none" strike="noStrike">
              <a:solidFill>
                <a:schemeClr val="dk1"/>
              </a:solidFill>
              <a:latin typeface="Calibri"/>
              <a:ea typeface="Calibri"/>
              <a:cs typeface="Calibri"/>
              <a:sym typeface="Calibri"/>
            </a:endParaRPr>
          </a:p>
        </p:txBody>
      </p:sp>
      <p:sp>
        <p:nvSpPr>
          <p:cNvPr id="403" name="Google Shape;403;p13">
            <a:hlinkClick action="ppaction://hlinksldjump" r:id="rId7"/>
          </p:cNvPr>
          <p:cNvSpPr/>
          <p:nvPr/>
        </p:nvSpPr>
        <p:spPr>
          <a:xfrm>
            <a:off x="9610344" y="6336792"/>
            <a:ext cx="960120" cy="365760"/>
          </a:xfrm>
          <a:prstGeom prst="roundRect">
            <a:avLst>
              <a:gd fmla="val 25000"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1" i="0" lang="en-US" sz="1200" u="none" cap="none" strike="noStrike">
                <a:solidFill>
                  <a:schemeClr val="dk2"/>
                </a:solidFill>
                <a:latin typeface="Calibri"/>
                <a:ea typeface="Calibri"/>
                <a:cs typeface="Calibri"/>
                <a:sym typeface="Calibri"/>
              </a:rPr>
              <a:t>Agenda</a:t>
            </a:r>
            <a:endParaRPr b="0" i="0" sz="1200" u="none" cap="none" strike="noStrike">
              <a:solidFill>
                <a:schemeClr val="dk1"/>
              </a:solidFill>
              <a:latin typeface="Calibri"/>
              <a:ea typeface="Calibri"/>
              <a:cs typeface="Calibri"/>
              <a:sym typeface="Calibri"/>
            </a:endParaRPr>
          </a:p>
        </p:txBody>
      </p:sp>
      <p:sp>
        <p:nvSpPr>
          <p:cNvPr id="404" name="Google Shape;404;p13">
            <a:hlinkClick action="ppaction://hlinksldjump" r:id="rId8"/>
          </p:cNvPr>
          <p:cNvSpPr/>
          <p:nvPr/>
        </p:nvSpPr>
        <p:spPr>
          <a:xfrm>
            <a:off x="8540496" y="6336792"/>
            <a:ext cx="960120" cy="365760"/>
          </a:xfrm>
          <a:prstGeom prst="roundRect">
            <a:avLst>
              <a:gd fmla="val 25000"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1" i="0" lang="en-US" sz="1200" u="none" cap="none" strike="noStrike">
                <a:solidFill>
                  <a:schemeClr val="dk2"/>
                </a:solidFill>
                <a:latin typeface="Calibri"/>
                <a:ea typeface="Calibri"/>
                <a:cs typeface="Calibri"/>
                <a:sym typeface="Calibri"/>
              </a:rPr>
              <a:t>‹ Prev</a:t>
            </a:r>
            <a:endParaRPr b="0" i="0" sz="1200" u="none" cap="none" strike="noStrike">
              <a:solidFill>
                <a:schemeClr val="dk1"/>
              </a:solidFill>
              <a:latin typeface="Calibri"/>
              <a:ea typeface="Calibri"/>
              <a:cs typeface="Calibri"/>
              <a:sym typeface="Calibri"/>
            </a:endParaRPr>
          </a:p>
        </p:txBody>
      </p:sp>
      <p:sp>
        <p:nvSpPr>
          <p:cNvPr id="405" name="Google Shape;405;p13"/>
          <p:cNvSpPr txBox="1"/>
          <p:nvPr>
            <p:ph idx="4294967295" type="sldNum"/>
          </p:nvPr>
        </p:nvSpPr>
        <p:spPr>
          <a:xfrm>
            <a:off x="8732520" y="6382512"/>
            <a:ext cx="502920" cy="292608"/>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accent5"/>
                </a:solidFill>
                <a:latin typeface="Calibri"/>
                <a:ea typeface="Calibri"/>
                <a:cs typeface="Calibri"/>
                <a:sym typeface="Calibri"/>
              </a:rPr>
              <a:t>‹#›</a:t>
            </a:fld>
            <a:endParaRPr b="0" i="0" sz="1000" u="none" cap="none" strike="noStrike">
              <a:solidFill>
                <a:schemeClr val="accent5"/>
              </a:solidFill>
              <a:latin typeface="Calibri"/>
              <a:ea typeface="Calibri"/>
              <a:cs typeface="Calibri"/>
              <a:sym typeface="Calibri"/>
            </a:endParaRPr>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0" name="Shape 410"/>
        <p:cNvGrpSpPr/>
        <p:nvPr/>
      </p:nvGrpSpPr>
      <p:grpSpPr>
        <a:xfrm>
          <a:off x="0" y="0"/>
          <a:ext cx="0" cy="0"/>
          <a:chOff x="0" y="0"/>
          <a:chExt cx="0" cy="0"/>
        </a:xfrm>
      </p:grpSpPr>
      <p:sp>
        <p:nvSpPr>
          <p:cNvPr id="411" name="Google Shape;411;p14"/>
          <p:cNvSpPr txBox="1"/>
          <p:nvPr>
            <p:ph type="title"/>
          </p:nvPr>
        </p:nvSpPr>
        <p:spPr>
          <a:xfrm>
            <a:off x="640080" y="548640"/>
            <a:ext cx="7315200" cy="173736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lt1"/>
              </a:buClr>
              <a:buSzPts val="4000"/>
              <a:buFont typeface="Cambria"/>
              <a:buNone/>
            </a:pPr>
            <a:r>
              <a:rPr b="1" lang="en-US" sz="4000">
                <a:solidFill>
                  <a:schemeClr val="lt1"/>
                </a:solidFill>
                <a:latin typeface="Cambria"/>
                <a:ea typeface="Cambria"/>
                <a:cs typeface="Cambria"/>
                <a:sym typeface="Cambria"/>
              </a:rPr>
              <a:t>Conclusion &amp; Future Scope</a:t>
            </a:r>
            <a:endParaRPr sz="4000"/>
          </a:p>
        </p:txBody>
      </p:sp>
      <p:sp>
        <p:nvSpPr>
          <p:cNvPr id="412" name="Google Shape;412;p14"/>
          <p:cNvSpPr/>
          <p:nvPr/>
        </p:nvSpPr>
        <p:spPr>
          <a:xfrm>
            <a:off x="640080" y="1600200"/>
            <a:ext cx="2103120" cy="1280160"/>
          </a:xfrm>
          <a:prstGeom prst="roundRect">
            <a:avLst>
              <a:gd fmla="val 5714" name="adj"/>
            </a:avLst>
          </a:prstGeom>
          <a:solidFill>
            <a:srgbClr val="134E5C"/>
          </a:solidFill>
          <a:ln cap="flat" cmpd="sng" w="12700">
            <a:solidFill>
              <a:srgbClr val="134E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 name="Google Shape;413;p14"/>
          <p:cNvSpPr txBox="1"/>
          <p:nvPr/>
        </p:nvSpPr>
        <p:spPr>
          <a:xfrm>
            <a:off x="777240" y="1691640"/>
            <a:ext cx="1828800" cy="685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accent3"/>
              </a:buClr>
              <a:buSzPts val="3600"/>
              <a:buFont typeface="Cambria"/>
              <a:buNone/>
            </a:pPr>
            <a:r>
              <a:rPr b="1" i="0" lang="en-US" sz="3600" u="none" cap="none" strike="noStrike">
                <a:solidFill>
                  <a:schemeClr val="accent3"/>
                </a:solidFill>
                <a:latin typeface="Cambria"/>
                <a:ea typeface="Cambria"/>
                <a:cs typeface="Cambria"/>
                <a:sym typeface="Cambria"/>
              </a:rPr>
              <a:t>0.741</a:t>
            </a:r>
            <a:endParaRPr b="0" i="0" sz="3600" u="none" cap="none" strike="noStrike">
              <a:solidFill>
                <a:schemeClr val="dk1"/>
              </a:solidFill>
              <a:latin typeface="Calibri"/>
              <a:ea typeface="Calibri"/>
              <a:cs typeface="Calibri"/>
              <a:sym typeface="Calibri"/>
            </a:endParaRPr>
          </a:p>
        </p:txBody>
      </p:sp>
      <p:sp>
        <p:nvSpPr>
          <p:cNvPr id="414" name="Google Shape;414;p14"/>
          <p:cNvSpPr txBox="1"/>
          <p:nvPr/>
        </p:nvSpPr>
        <p:spPr>
          <a:xfrm>
            <a:off x="777240" y="2377440"/>
            <a:ext cx="1828800" cy="36576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lt1"/>
              </a:buClr>
              <a:buSzPts val="1300"/>
              <a:buFont typeface="Calibri"/>
              <a:buNone/>
            </a:pPr>
            <a:r>
              <a:rPr b="0" i="0" lang="en-US" sz="1300" u="none" cap="none" strike="noStrike">
                <a:solidFill>
                  <a:schemeClr val="lt1"/>
                </a:solidFill>
                <a:latin typeface="Calibri"/>
                <a:ea typeface="Calibri"/>
                <a:cs typeface="Calibri"/>
                <a:sym typeface="Calibri"/>
              </a:rPr>
              <a:t>Random Forest recall</a:t>
            </a:r>
            <a:endParaRPr b="0" i="0" sz="1300" u="none" cap="none" strike="noStrike">
              <a:solidFill>
                <a:schemeClr val="dk1"/>
              </a:solidFill>
              <a:latin typeface="Calibri"/>
              <a:ea typeface="Calibri"/>
              <a:cs typeface="Calibri"/>
              <a:sym typeface="Calibri"/>
            </a:endParaRPr>
          </a:p>
        </p:txBody>
      </p:sp>
      <p:sp>
        <p:nvSpPr>
          <p:cNvPr id="415" name="Google Shape;415;p14"/>
          <p:cNvSpPr/>
          <p:nvPr/>
        </p:nvSpPr>
        <p:spPr>
          <a:xfrm>
            <a:off x="2971800" y="1600200"/>
            <a:ext cx="2103120" cy="1280160"/>
          </a:xfrm>
          <a:prstGeom prst="roundRect">
            <a:avLst>
              <a:gd fmla="val 5714" name="adj"/>
            </a:avLst>
          </a:prstGeom>
          <a:solidFill>
            <a:srgbClr val="134E5C"/>
          </a:solidFill>
          <a:ln cap="flat" cmpd="sng" w="12700">
            <a:solidFill>
              <a:srgbClr val="134E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 name="Google Shape;416;p14"/>
          <p:cNvSpPr txBox="1"/>
          <p:nvPr/>
        </p:nvSpPr>
        <p:spPr>
          <a:xfrm>
            <a:off x="3108960" y="1691640"/>
            <a:ext cx="1828800" cy="685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accent3"/>
              </a:buClr>
              <a:buSzPts val="3600"/>
              <a:buFont typeface="Cambria"/>
              <a:buNone/>
            </a:pPr>
            <a:r>
              <a:rPr b="1" i="0" lang="en-US" sz="3600" u="none" cap="none" strike="noStrike">
                <a:solidFill>
                  <a:schemeClr val="accent3"/>
                </a:solidFill>
                <a:latin typeface="Cambria"/>
                <a:ea typeface="Cambria"/>
                <a:cs typeface="Cambria"/>
                <a:sym typeface="Cambria"/>
              </a:rPr>
              <a:t>0.809</a:t>
            </a:r>
            <a:endParaRPr b="0" i="0" sz="3600" u="none" cap="none" strike="noStrike">
              <a:solidFill>
                <a:schemeClr val="dk1"/>
              </a:solidFill>
              <a:latin typeface="Calibri"/>
              <a:ea typeface="Calibri"/>
              <a:cs typeface="Calibri"/>
              <a:sym typeface="Calibri"/>
            </a:endParaRPr>
          </a:p>
        </p:txBody>
      </p:sp>
      <p:sp>
        <p:nvSpPr>
          <p:cNvPr id="417" name="Google Shape;417;p14"/>
          <p:cNvSpPr txBox="1"/>
          <p:nvPr/>
        </p:nvSpPr>
        <p:spPr>
          <a:xfrm>
            <a:off x="3108960" y="2377440"/>
            <a:ext cx="1828800" cy="36576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lt1"/>
              </a:buClr>
              <a:buSzPts val="1300"/>
              <a:buFont typeface="Calibri"/>
              <a:buNone/>
            </a:pPr>
            <a:r>
              <a:rPr b="0" i="0" lang="en-US" sz="1300" u="none" cap="none" strike="noStrike">
                <a:solidFill>
                  <a:schemeClr val="lt1"/>
                </a:solidFill>
                <a:latin typeface="Calibri"/>
                <a:ea typeface="Calibri"/>
                <a:cs typeface="Calibri"/>
                <a:sym typeface="Calibri"/>
              </a:rPr>
              <a:t>Random Forest ROC-AUC</a:t>
            </a:r>
            <a:endParaRPr b="0" i="0" sz="1300" u="none" cap="none" strike="noStrike">
              <a:solidFill>
                <a:schemeClr val="dk1"/>
              </a:solidFill>
              <a:latin typeface="Calibri"/>
              <a:ea typeface="Calibri"/>
              <a:cs typeface="Calibri"/>
              <a:sym typeface="Calibri"/>
            </a:endParaRPr>
          </a:p>
        </p:txBody>
      </p:sp>
      <p:sp>
        <p:nvSpPr>
          <p:cNvPr id="418" name="Google Shape;418;p14"/>
          <p:cNvSpPr/>
          <p:nvPr/>
        </p:nvSpPr>
        <p:spPr>
          <a:xfrm>
            <a:off x="5303520" y="1600200"/>
            <a:ext cx="2103120" cy="1280160"/>
          </a:xfrm>
          <a:prstGeom prst="roundRect">
            <a:avLst>
              <a:gd fmla="val 5714" name="adj"/>
            </a:avLst>
          </a:prstGeom>
          <a:solidFill>
            <a:srgbClr val="134E5C"/>
          </a:solidFill>
          <a:ln cap="flat" cmpd="sng" w="12700">
            <a:solidFill>
              <a:srgbClr val="134E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 name="Google Shape;419;p14"/>
          <p:cNvSpPr txBox="1"/>
          <p:nvPr/>
        </p:nvSpPr>
        <p:spPr>
          <a:xfrm>
            <a:off x="5440680" y="1691640"/>
            <a:ext cx="1828800" cy="685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accent3"/>
              </a:buClr>
              <a:buSzPts val="3600"/>
              <a:buFont typeface="Cambria"/>
              <a:buNone/>
            </a:pPr>
            <a:r>
              <a:rPr b="1" i="0" lang="en-US" sz="3600" u="none" cap="none" strike="noStrike">
                <a:solidFill>
                  <a:schemeClr val="accent3"/>
                </a:solidFill>
                <a:latin typeface="Cambria"/>
                <a:ea typeface="Cambria"/>
                <a:cs typeface="Cambria"/>
                <a:sym typeface="Cambria"/>
              </a:rPr>
              <a:t>0.747</a:t>
            </a:r>
            <a:endParaRPr b="0" i="0" sz="3600" u="none" cap="none" strike="noStrike">
              <a:solidFill>
                <a:schemeClr val="dk1"/>
              </a:solidFill>
              <a:latin typeface="Calibri"/>
              <a:ea typeface="Calibri"/>
              <a:cs typeface="Calibri"/>
              <a:sym typeface="Calibri"/>
            </a:endParaRPr>
          </a:p>
        </p:txBody>
      </p:sp>
      <p:sp>
        <p:nvSpPr>
          <p:cNvPr id="420" name="Google Shape;420;p14"/>
          <p:cNvSpPr txBox="1"/>
          <p:nvPr/>
        </p:nvSpPr>
        <p:spPr>
          <a:xfrm>
            <a:off x="5440680" y="2377440"/>
            <a:ext cx="1828800" cy="36576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lt1"/>
              </a:buClr>
              <a:buSzPts val="1300"/>
              <a:buFont typeface="Calibri"/>
              <a:buNone/>
            </a:pPr>
            <a:r>
              <a:rPr b="0" i="0" lang="en-US" sz="1300" u="none" cap="none" strike="noStrike">
                <a:solidFill>
                  <a:schemeClr val="lt1"/>
                </a:solidFill>
                <a:latin typeface="Calibri"/>
                <a:ea typeface="Calibri"/>
                <a:cs typeface="Calibri"/>
                <a:sym typeface="Calibri"/>
              </a:rPr>
              <a:t>Random Forest accuracy</a:t>
            </a:r>
            <a:endParaRPr b="0" i="0" sz="1300" u="none" cap="none" strike="noStrike">
              <a:solidFill>
                <a:schemeClr val="dk1"/>
              </a:solidFill>
              <a:latin typeface="Calibri"/>
              <a:ea typeface="Calibri"/>
              <a:cs typeface="Calibri"/>
              <a:sym typeface="Calibri"/>
            </a:endParaRPr>
          </a:p>
        </p:txBody>
      </p:sp>
      <p:sp>
        <p:nvSpPr>
          <p:cNvPr id="421" name="Google Shape;421;p14"/>
          <p:cNvSpPr txBox="1"/>
          <p:nvPr/>
        </p:nvSpPr>
        <p:spPr>
          <a:xfrm>
            <a:off x="640080" y="3154680"/>
            <a:ext cx="6766560" cy="1828800"/>
          </a:xfrm>
          <a:prstGeom prst="rect">
            <a:avLst/>
          </a:prstGeom>
          <a:noFill/>
          <a:ln>
            <a:noFill/>
          </a:ln>
        </p:spPr>
        <p:txBody>
          <a:bodyPr anchorCtr="0" anchor="t" bIns="0" lIns="0" spcFirstLastPara="1" rIns="0" wrap="square" tIns="0">
            <a:noAutofit/>
          </a:bodyPr>
          <a:lstStyle/>
          <a:p>
            <a:pPr indent="-203200" lvl="0" marL="203200" marR="0" rtl="0" algn="l">
              <a:spcBef>
                <a:spcPts val="0"/>
              </a:spcBef>
              <a:spcAft>
                <a:spcPts val="0"/>
              </a:spcAft>
              <a:buClr>
                <a:schemeClr val="lt1"/>
              </a:buClr>
              <a:buSzPts val="1500"/>
              <a:buFont typeface="Calibri"/>
              <a:buChar char="•"/>
            </a:pPr>
            <a:r>
              <a:rPr b="0" i="0" lang="en-US" sz="1500" u="none" cap="none" strike="noStrike">
                <a:solidFill>
                  <a:schemeClr val="lt1"/>
                </a:solidFill>
                <a:latin typeface="Calibri"/>
                <a:ea typeface="Calibri"/>
                <a:cs typeface="Calibri"/>
                <a:sym typeface="Calibri"/>
              </a:rPr>
              <a:t>Leak-free, reproducible KDD pipeline; all 5 models clearly beat chance (AUC 0.76–0.83)</a:t>
            </a:r>
            <a:endParaRPr b="0" i="0" sz="1500" u="none" cap="none" strike="noStrike">
              <a:solidFill>
                <a:schemeClr val="dk1"/>
              </a:solidFill>
              <a:latin typeface="Calibri"/>
              <a:ea typeface="Calibri"/>
              <a:cs typeface="Calibri"/>
              <a:sym typeface="Calibri"/>
            </a:endParaRPr>
          </a:p>
          <a:p>
            <a:pPr indent="-203200" lvl="0" marL="203200" marR="0" rtl="0" algn="l">
              <a:spcBef>
                <a:spcPts val="600"/>
              </a:spcBef>
              <a:spcAft>
                <a:spcPts val="0"/>
              </a:spcAft>
              <a:buClr>
                <a:schemeClr val="lt1"/>
              </a:buClr>
              <a:buSzPts val="1500"/>
              <a:buFont typeface="Calibri"/>
              <a:buChar char="•"/>
            </a:pPr>
            <a:r>
              <a:rPr b="0" i="0" lang="en-US" sz="1500" u="none" cap="none" strike="noStrike">
                <a:solidFill>
                  <a:schemeClr val="lt1"/>
                </a:solidFill>
                <a:latin typeface="Calibri"/>
                <a:ea typeface="Calibri"/>
                <a:cs typeface="Calibri"/>
                <a:sym typeface="Calibri"/>
              </a:rPr>
              <a:t>Glucose, BMI, Age and pedigree function are the key predictors</a:t>
            </a:r>
            <a:endParaRPr b="0" i="0" sz="1500" u="none" cap="none" strike="noStrike">
              <a:solidFill>
                <a:schemeClr val="dk1"/>
              </a:solidFill>
              <a:latin typeface="Calibri"/>
              <a:ea typeface="Calibri"/>
              <a:cs typeface="Calibri"/>
              <a:sym typeface="Calibri"/>
            </a:endParaRPr>
          </a:p>
          <a:p>
            <a:pPr indent="-203200" lvl="0" marL="203200" marR="0" rtl="0" algn="l">
              <a:spcBef>
                <a:spcPts val="600"/>
              </a:spcBef>
              <a:spcAft>
                <a:spcPts val="0"/>
              </a:spcAft>
              <a:buClr>
                <a:schemeClr val="lt1"/>
              </a:buClr>
              <a:buSzPts val="1500"/>
              <a:buFont typeface="Calibri"/>
              <a:buChar char="•"/>
            </a:pPr>
            <a:r>
              <a:rPr b="0" i="0" lang="en-US" sz="1500" u="none" cap="none" strike="noStrike">
                <a:solidFill>
                  <a:schemeClr val="lt1"/>
                </a:solidFill>
                <a:latin typeface="Calibri"/>
                <a:ea typeface="Calibri"/>
                <a:cs typeface="Calibri"/>
                <a:sym typeface="Calibri"/>
              </a:rPr>
              <a:t>Limitations: small, narrow, historical dataset; imputed values; no external validation</a:t>
            </a:r>
            <a:endParaRPr b="0" i="0" sz="1500" u="none" cap="none" strike="noStrike">
              <a:solidFill>
                <a:schemeClr val="dk1"/>
              </a:solidFill>
              <a:latin typeface="Calibri"/>
              <a:ea typeface="Calibri"/>
              <a:cs typeface="Calibri"/>
              <a:sym typeface="Calibri"/>
            </a:endParaRPr>
          </a:p>
        </p:txBody>
      </p:sp>
      <p:sp>
        <p:nvSpPr>
          <p:cNvPr id="422" name="Google Shape;422;p14"/>
          <p:cNvSpPr txBox="1"/>
          <p:nvPr/>
        </p:nvSpPr>
        <p:spPr>
          <a:xfrm>
            <a:off x="8001000" y="1600200"/>
            <a:ext cx="3566160" cy="411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3"/>
              </a:buClr>
              <a:buSzPts val="1800"/>
              <a:buFont typeface="Cambria"/>
              <a:buNone/>
            </a:pPr>
            <a:r>
              <a:rPr b="1" i="0" lang="en-US" sz="1800" u="none" cap="none" strike="noStrike">
                <a:solidFill>
                  <a:schemeClr val="accent3"/>
                </a:solidFill>
                <a:latin typeface="Cambria"/>
                <a:ea typeface="Cambria"/>
                <a:cs typeface="Cambria"/>
                <a:sym typeface="Cambria"/>
              </a:rPr>
              <a:t>Future scope</a:t>
            </a:r>
            <a:endParaRPr b="0" i="0" sz="1800" u="none" cap="none" strike="noStrike">
              <a:solidFill>
                <a:schemeClr val="dk1"/>
              </a:solidFill>
              <a:latin typeface="Calibri"/>
              <a:ea typeface="Calibri"/>
              <a:cs typeface="Calibri"/>
              <a:sym typeface="Calibri"/>
            </a:endParaRPr>
          </a:p>
        </p:txBody>
      </p:sp>
      <p:sp>
        <p:nvSpPr>
          <p:cNvPr id="423" name="Google Shape;423;p14"/>
          <p:cNvSpPr/>
          <p:nvPr/>
        </p:nvSpPr>
        <p:spPr>
          <a:xfrm>
            <a:off x="8001000" y="2103120"/>
            <a:ext cx="3566160" cy="457200"/>
          </a:xfrm>
          <a:prstGeom prst="roundRect">
            <a:avLst>
              <a:gd fmla="val 20000" name="adj"/>
            </a:avLst>
          </a:prstGeom>
          <a:solidFill>
            <a:srgbClr val="134E5C"/>
          </a:solidFill>
          <a:ln cap="flat" cmpd="sng" w="9525">
            <a:solidFill>
              <a:srgbClr val="134E5C"/>
            </a:solidFill>
            <a:prstDash val="solid"/>
            <a:round/>
            <a:headEnd len="sm" w="sm" type="none"/>
            <a:tailEnd len="sm" w="sm" type="none"/>
          </a:ln>
        </p:spPr>
        <p:txBody>
          <a:bodyPr anchorCtr="0" anchor="ctr" bIns="127000" lIns="127000" spcFirstLastPara="1" rIns="127000" wrap="square" tIns="127000">
            <a:noAutofit/>
          </a:bodyPr>
          <a:lstStyle/>
          <a:p>
            <a:pPr indent="0" lvl="0" marL="0" marR="0" rtl="0" algn="l">
              <a:spcBef>
                <a:spcPts val="0"/>
              </a:spcBef>
              <a:spcAft>
                <a:spcPts val="0"/>
              </a:spcAft>
              <a:buClr>
                <a:schemeClr val="lt1"/>
              </a:buClr>
              <a:buSzPts val="1400"/>
              <a:buFont typeface="Calibri"/>
              <a:buNone/>
            </a:pPr>
            <a:r>
              <a:rPr b="0" i="0" lang="en-US" sz="1400" u="none" cap="none" strike="noStrike">
                <a:solidFill>
                  <a:schemeClr val="lt1"/>
                </a:solidFill>
                <a:latin typeface="Calibri"/>
                <a:ea typeface="Calibri"/>
                <a:cs typeface="Calibri"/>
                <a:sym typeface="Calibri"/>
              </a:rPr>
              <a:t>Larger, diverse datasets</a:t>
            </a:r>
            <a:endParaRPr b="0" i="0" sz="1400" u="none" cap="none" strike="noStrike">
              <a:solidFill>
                <a:schemeClr val="dk1"/>
              </a:solidFill>
              <a:latin typeface="Calibri"/>
              <a:ea typeface="Calibri"/>
              <a:cs typeface="Calibri"/>
              <a:sym typeface="Calibri"/>
            </a:endParaRPr>
          </a:p>
        </p:txBody>
      </p:sp>
      <p:sp>
        <p:nvSpPr>
          <p:cNvPr id="424" name="Google Shape;424;p14"/>
          <p:cNvSpPr/>
          <p:nvPr/>
        </p:nvSpPr>
        <p:spPr>
          <a:xfrm>
            <a:off x="8001000" y="2670048"/>
            <a:ext cx="3566160" cy="457200"/>
          </a:xfrm>
          <a:prstGeom prst="roundRect">
            <a:avLst>
              <a:gd fmla="val 20000" name="adj"/>
            </a:avLst>
          </a:prstGeom>
          <a:solidFill>
            <a:srgbClr val="134E5C"/>
          </a:solidFill>
          <a:ln cap="flat" cmpd="sng" w="9525">
            <a:solidFill>
              <a:srgbClr val="134E5C"/>
            </a:solidFill>
            <a:prstDash val="solid"/>
            <a:round/>
            <a:headEnd len="sm" w="sm" type="none"/>
            <a:tailEnd len="sm" w="sm" type="none"/>
          </a:ln>
        </p:spPr>
        <p:txBody>
          <a:bodyPr anchorCtr="0" anchor="ctr" bIns="127000" lIns="127000" spcFirstLastPara="1" rIns="127000" wrap="square" tIns="127000">
            <a:noAutofit/>
          </a:bodyPr>
          <a:lstStyle/>
          <a:p>
            <a:pPr indent="0" lvl="0" marL="0" marR="0" rtl="0" algn="l">
              <a:spcBef>
                <a:spcPts val="0"/>
              </a:spcBef>
              <a:spcAft>
                <a:spcPts val="0"/>
              </a:spcAft>
              <a:buClr>
                <a:schemeClr val="lt1"/>
              </a:buClr>
              <a:buSzPts val="1400"/>
              <a:buFont typeface="Calibri"/>
              <a:buNone/>
            </a:pPr>
            <a:r>
              <a:rPr b="0" i="0" lang="en-US" sz="1400" u="none" cap="none" strike="noStrike">
                <a:solidFill>
                  <a:schemeClr val="lt1"/>
                </a:solidFill>
                <a:latin typeface="Calibri"/>
                <a:ea typeface="Calibri"/>
                <a:cs typeface="Calibri"/>
                <a:sym typeface="Calibri"/>
              </a:rPr>
              <a:t>External validation</a:t>
            </a:r>
            <a:endParaRPr b="0" i="0" sz="1400" u="none" cap="none" strike="noStrike">
              <a:solidFill>
                <a:schemeClr val="dk1"/>
              </a:solidFill>
              <a:latin typeface="Calibri"/>
              <a:ea typeface="Calibri"/>
              <a:cs typeface="Calibri"/>
              <a:sym typeface="Calibri"/>
            </a:endParaRPr>
          </a:p>
        </p:txBody>
      </p:sp>
      <p:sp>
        <p:nvSpPr>
          <p:cNvPr id="425" name="Google Shape;425;p14"/>
          <p:cNvSpPr/>
          <p:nvPr/>
        </p:nvSpPr>
        <p:spPr>
          <a:xfrm>
            <a:off x="8001000" y="3236976"/>
            <a:ext cx="3566160" cy="457200"/>
          </a:xfrm>
          <a:prstGeom prst="roundRect">
            <a:avLst>
              <a:gd fmla="val 20000" name="adj"/>
            </a:avLst>
          </a:prstGeom>
          <a:solidFill>
            <a:srgbClr val="134E5C"/>
          </a:solidFill>
          <a:ln cap="flat" cmpd="sng" w="9525">
            <a:solidFill>
              <a:srgbClr val="134E5C"/>
            </a:solidFill>
            <a:prstDash val="solid"/>
            <a:round/>
            <a:headEnd len="sm" w="sm" type="none"/>
            <a:tailEnd len="sm" w="sm" type="none"/>
          </a:ln>
        </p:spPr>
        <p:txBody>
          <a:bodyPr anchorCtr="0" anchor="ctr" bIns="127000" lIns="127000" spcFirstLastPara="1" rIns="127000" wrap="square" tIns="127000">
            <a:noAutofit/>
          </a:bodyPr>
          <a:lstStyle/>
          <a:p>
            <a:pPr indent="0" lvl="0" marL="0" marR="0" rtl="0" algn="l">
              <a:spcBef>
                <a:spcPts val="0"/>
              </a:spcBef>
              <a:spcAft>
                <a:spcPts val="0"/>
              </a:spcAft>
              <a:buClr>
                <a:schemeClr val="lt1"/>
              </a:buClr>
              <a:buSzPts val="1400"/>
              <a:buFont typeface="Calibri"/>
              <a:buNone/>
            </a:pPr>
            <a:r>
              <a:rPr b="0" i="0" lang="en-US" sz="1400" u="none" cap="none" strike="noStrike">
                <a:solidFill>
                  <a:schemeClr val="lt1"/>
                </a:solidFill>
                <a:latin typeface="Calibri"/>
                <a:ea typeface="Calibri"/>
                <a:cs typeface="Calibri"/>
                <a:sym typeface="Calibri"/>
              </a:rPr>
              <a:t>Hyperparameter tuning</a:t>
            </a:r>
            <a:endParaRPr b="0" i="0" sz="1400" u="none" cap="none" strike="noStrike">
              <a:solidFill>
                <a:schemeClr val="dk1"/>
              </a:solidFill>
              <a:latin typeface="Calibri"/>
              <a:ea typeface="Calibri"/>
              <a:cs typeface="Calibri"/>
              <a:sym typeface="Calibri"/>
            </a:endParaRPr>
          </a:p>
        </p:txBody>
      </p:sp>
      <p:sp>
        <p:nvSpPr>
          <p:cNvPr id="426" name="Google Shape;426;p14"/>
          <p:cNvSpPr/>
          <p:nvPr/>
        </p:nvSpPr>
        <p:spPr>
          <a:xfrm>
            <a:off x="8001000" y="3803904"/>
            <a:ext cx="3566160" cy="457200"/>
          </a:xfrm>
          <a:prstGeom prst="roundRect">
            <a:avLst>
              <a:gd fmla="val 20000" name="adj"/>
            </a:avLst>
          </a:prstGeom>
          <a:solidFill>
            <a:srgbClr val="134E5C"/>
          </a:solidFill>
          <a:ln cap="flat" cmpd="sng" w="9525">
            <a:solidFill>
              <a:srgbClr val="134E5C"/>
            </a:solidFill>
            <a:prstDash val="solid"/>
            <a:round/>
            <a:headEnd len="sm" w="sm" type="none"/>
            <a:tailEnd len="sm" w="sm" type="none"/>
          </a:ln>
        </p:spPr>
        <p:txBody>
          <a:bodyPr anchorCtr="0" anchor="ctr" bIns="127000" lIns="127000" spcFirstLastPara="1" rIns="127000" wrap="square" tIns="127000">
            <a:noAutofit/>
          </a:bodyPr>
          <a:lstStyle/>
          <a:p>
            <a:pPr indent="0" lvl="0" marL="0" marR="0" rtl="0" algn="l">
              <a:spcBef>
                <a:spcPts val="0"/>
              </a:spcBef>
              <a:spcAft>
                <a:spcPts val="0"/>
              </a:spcAft>
              <a:buClr>
                <a:schemeClr val="lt1"/>
              </a:buClr>
              <a:buSzPts val="1400"/>
              <a:buFont typeface="Calibri"/>
              <a:buNone/>
            </a:pPr>
            <a:r>
              <a:rPr b="0" i="0" lang="en-US" sz="1400" u="none" cap="none" strike="noStrike">
                <a:solidFill>
                  <a:schemeClr val="lt1"/>
                </a:solidFill>
                <a:latin typeface="Calibri"/>
                <a:ea typeface="Calibri"/>
                <a:cs typeface="Calibri"/>
                <a:sym typeface="Calibri"/>
              </a:rPr>
              <a:t>Calibration &amp; thresholds</a:t>
            </a:r>
            <a:endParaRPr b="0" i="0" sz="1400" u="none" cap="none" strike="noStrike">
              <a:solidFill>
                <a:schemeClr val="dk1"/>
              </a:solidFill>
              <a:latin typeface="Calibri"/>
              <a:ea typeface="Calibri"/>
              <a:cs typeface="Calibri"/>
              <a:sym typeface="Calibri"/>
            </a:endParaRPr>
          </a:p>
        </p:txBody>
      </p:sp>
      <p:sp>
        <p:nvSpPr>
          <p:cNvPr id="427" name="Google Shape;427;p14"/>
          <p:cNvSpPr/>
          <p:nvPr/>
        </p:nvSpPr>
        <p:spPr>
          <a:xfrm>
            <a:off x="8001000" y="4370832"/>
            <a:ext cx="3566160" cy="457200"/>
          </a:xfrm>
          <a:prstGeom prst="roundRect">
            <a:avLst>
              <a:gd fmla="val 20000" name="adj"/>
            </a:avLst>
          </a:prstGeom>
          <a:solidFill>
            <a:srgbClr val="134E5C"/>
          </a:solidFill>
          <a:ln cap="flat" cmpd="sng" w="9525">
            <a:solidFill>
              <a:srgbClr val="134E5C"/>
            </a:solidFill>
            <a:prstDash val="solid"/>
            <a:round/>
            <a:headEnd len="sm" w="sm" type="none"/>
            <a:tailEnd len="sm" w="sm" type="none"/>
          </a:ln>
        </p:spPr>
        <p:txBody>
          <a:bodyPr anchorCtr="0" anchor="ctr" bIns="127000" lIns="127000" spcFirstLastPara="1" rIns="127000" wrap="square" tIns="127000">
            <a:noAutofit/>
          </a:bodyPr>
          <a:lstStyle/>
          <a:p>
            <a:pPr indent="0" lvl="0" marL="0" marR="0" rtl="0" algn="l">
              <a:spcBef>
                <a:spcPts val="0"/>
              </a:spcBef>
              <a:spcAft>
                <a:spcPts val="0"/>
              </a:spcAft>
              <a:buClr>
                <a:schemeClr val="lt1"/>
              </a:buClr>
              <a:buSzPts val="1400"/>
              <a:buFont typeface="Calibri"/>
              <a:buNone/>
            </a:pPr>
            <a:r>
              <a:rPr b="0" i="0" lang="en-US" sz="1400" u="none" cap="none" strike="noStrike">
                <a:solidFill>
                  <a:schemeClr val="lt1"/>
                </a:solidFill>
                <a:latin typeface="Calibri"/>
                <a:ea typeface="Calibri"/>
                <a:cs typeface="Calibri"/>
                <a:sym typeface="Calibri"/>
              </a:rPr>
              <a:t>Drift monitoring</a:t>
            </a:r>
            <a:endParaRPr b="0" i="0" sz="1400" u="none" cap="none" strike="noStrike">
              <a:solidFill>
                <a:schemeClr val="dk1"/>
              </a:solidFill>
              <a:latin typeface="Calibri"/>
              <a:ea typeface="Calibri"/>
              <a:cs typeface="Calibri"/>
              <a:sym typeface="Calibri"/>
            </a:endParaRPr>
          </a:p>
        </p:txBody>
      </p:sp>
      <p:sp>
        <p:nvSpPr>
          <p:cNvPr id="428" name="Google Shape;428;p14"/>
          <p:cNvSpPr txBox="1"/>
          <p:nvPr/>
        </p:nvSpPr>
        <p:spPr>
          <a:xfrm>
            <a:off x="640080" y="5120640"/>
            <a:ext cx="676656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2600"/>
              <a:buFont typeface="Cambria"/>
              <a:buNone/>
            </a:pPr>
            <a:r>
              <a:rPr b="1" i="0" lang="en-US" sz="2600" u="none" cap="none" strike="noStrike">
                <a:solidFill>
                  <a:schemeClr val="lt1"/>
                </a:solidFill>
                <a:latin typeface="Cambria"/>
                <a:ea typeface="Cambria"/>
                <a:cs typeface="Cambria"/>
                <a:sym typeface="Cambria"/>
              </a:rPr>
              <a:t>Thank you. Questions?</a:t>
            </a:r>
            <a:endParaRPr b="0" i="0" sz="2600" u="none" cap="none" strike="noStrike">
              <a:solidFill>
                <a:schemeClr val="dk1"/>
              </a:solidFill>
              <a:latin typeface="Calibri"/>
              <a:ea typeface="Calibri"/>
              <a:cs typeface="Calibri"/>
              <a:sym typeface="Calibri"/>
            </a:endParaRPr>
          </a:p>
        </p:txBody>
      </p:sp>
      <p:sp>
        <p:nvSpPr>
          <p:cNvPr id="429" name="Google Shape;429;p14">
            <a:hlinkClick action="ppaction://hlinksldjump" r:id="rId3"/>
          </p:cNvPr>
          <p:cNvSpPr/>
          <p:nvPr/>
        </p:nvSpPr>
        <p:spPr>
          <a:xfrm>
            <a:off x="640080" y="5897880"/>
            <a:ext cx="1554480" cy="411480"/>
          </a:xfrm>
          <a:prstGeom prst="roundRect">
            <a:avLst>
              <a:gd fmla="val 22222" name="adj"/>
            </a:avLst>
          </a:prstGeom>
          <a:solidFill>
            <a:schemeClr val="accent2"/>
          </a:solidFill>
          <a:ln cap="flat" cmpd="sng" w="9525">
            <a:solidFill>
              <a:schemeClr val="accen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300"/>
              <a:buFont typeface="Calibri"/>
              <a:buNone/>
            </a:pPr>
            <a:r>
              <a:rPr b="1" i="0" lang="en-US" sz="1300" u="none" cap="none" strike="noStrike">
                <a:solidFill>
                  <a:schemeClr val="lt1"/>
                </a:solidFill>
                <a:latin typeface="Calibri"/>
                <a:ea typeface="Calibri"/>
                <a:cs typeface="Calibri"/>
                <a:sym typeface="Calibri"/>
              </a:rPr>
              <a:t>Viva Q&amp;A</a:t>
            </a:r>
            <a:endParaRPr b="0" i="0" sz="1300" u="none" cap="none" strike="noStrike">
              <a:solidFill>
                <a:schemeClr val="dk1"/>
              </a:solidFill>
              <a:latin typeface="Calibri"/>
              <a:ea typeface="Calibri"/>
              <a:cs typeface="Calibri"/>
              <a:sym typeface="Calibri"/>
            </a:endParaRPr>
          </a:p>
        </p:txBody>
      </p:sp>
      <p:sp>
        <p:nvSpPr>
          <p:cNvPr id="430" name="Google Shape;430;p14">
            <a:hlinkClick r:id="rId4"/>
          </p:cNvPr>
          <p:cNvSpPr/>
          <p:nvPr/>
        </p:nvSpPr>
        <p:spPr>
          <a:xfrm>
            <a:off x="2331720" y="5897880"/>
            <a:ext cx="1554480" cy="411480"/>
          </a:xfrm>
          <a:prstGeom prst="roundRect">
            <a:avLst>
              <a:gd fmla="val 22222" name="adj"/>
            </a:avLst>
          </a:prstGeom>
          <a:solidFill>
            <a:schemeClr val="dk2"/>
          </a:solidFill>
          <a:ln cap="flat" cmpd="sng" w="15875">
            <a:solidFill>
              <a:srgbClr val="EAF3F4"/>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300"/>
              <a:buFont typeface="Calibri"/>
              <a:buNone/>
            </a:pPr>
            <a:r>
              <a:rPr b="1" i="0" lang="en-US" sz="1300" u="none" cap="none" strike="noStrike">
                <a:solidFill>
                  <a:schemeClr val="lt1"/>
                </a:solidFill>
                <a:latin typeface="Calibri"/>
                <a:ea typeface="Calibri"/>
                <a:cs typeface="Calibri"/>
                <a:sym typeface="Calibri"/>
              </a:rPr>
              <a:t>GitHub repo</a:t>
            </a:r>
            <a:endParaRPr b="0" i="0" sz="1300" u="none" cap="none" strike="noStrike">
              <a:solidFill>
                <a:schemeClr val="dk1"/>
              </a:solidFill>
              <a:latin typeface="Calibri"/>
              <a:ea typeface="Calibri"/>
              <a:cs typeface="Calibri"/>
              <a:sym typeface="Calibri"/>
            </a:endParaRPr>
          </a:p>
        </p:txBody>
      </p:sp>
      <p:sp>
        <p:nvSpPr>
          <p:cNvPr id="431" name="Google Shape;431;p14">
            <a:hlinkClick r:id="rId5"/>
          </p:cNvPr>
          <p:cNvSpPr/>
          <p:nvPr/>
        </p:nvSpPr>
        <p:spPr>
          <a:xfrm>
            <a:off x="4023360" y="5897880"/>
            <a:ext cx="1554480" cy="411480"/>
          </a:xfrm>
          <a:prstGeom prst="roundRect">
            <a:avLst>
              <a:gd fmla="val 22222" name="adj"/>
            </a:avLst>
          </a:prstGeom>
          <a:solidFill>
            <a:schemeClr val="dk2"/>
          </a:solidFill>
          <a:ln cap="flat" cmpd="sng" w="15875">
            <a:solidFill>
              <a:srgbClr val="EAF3F4"/>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300"/>
              <a:buFont typeface="Calibri"/>
              <a:buNone/>
            </a:pPr>
            <a:r>
              <a:rPr b="1" i="0" lang="en-US" sz="1300" u="none" cap="none" strike="noStrike">
                <a:solidFill>
                  <a:schemeClr val="lt1"/>
                </a:solidFill>
                <a:latin typeface="Calibri"/>
                <a:ea typeface="Calibri"/>
                <a:cs typeface="Calibri"/>
                <a:sym typeface="Calibri"/>
              </a:rPr>
              <a:t>Open in Colab</a:t>
            </a:r>
            <a:endParaRPr b="0" i="0" sz="1300" u="none" cap="none" strike="noStrike">
              <a:solidFill>
                <a:schemeClr val="dk1"/>
              </a:solidFill>
              <a:latin typeface="Calibri"/>
              <a:ea typeface="Calibri"/>
              <a:cs typeface="Calibri"/>
              <a:sym typeface="Calibri"/>
            </a:endParaRPr>
          </a:p>
        </p:txBody>
      </p:sp>
      <p:sp>
        <p:nvSpPr>
          <p:cNvPr id="432" name="Google Shape;432;p14">
            <a:hlinkClick action="ppaction://hlinksldjump" r:id="rId6"/>
          </p:cNvPr>
          <p:cNvSpPr/>
          <p:nvPr/>
        </p:nvSpPr>
        <p:spPr>
          <a:xfrm>
            <a:off x="5715000" y="5897880"/>
            <a:ext cx="1554480" cy="411480"/>
          </a:xfrm>
          <a:prstGeom prst="roundRect">
            <a:avLst>
              <a:gd fmla="val 22222" name="adj"/>
            </a:avLst>
          </a:prstGeom>
          <a:solidFill>
            <a:schemeClr val="dk2"/>
          </a:solidFill>
          <a:ln cap="flat" cmpd="sng" w="15875">
            <a:solidFill>
              <a:srgbClr val="EAF3F4"/>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300"/>
              <a:buFont typeface="Calibri"/>
              <a:buNone/>
            </a:pPr>
            <a:r>
              <a:rPr b="1" i="0" lang="en-US" sz="1300" u="none" cap="none" strike="noStrike">
                <a:solidFill>
                  <a:schemeClr val="lt1"/>
                </a:solidFill>
                <a:latin typeface="Calibri"/>
                <a:ea typeface="Calibri"/>
                <a:cs typeface="Calibri"/>
                <a:sym typeface="Calibri"/>
              </a:rPr>
              <a:t>Agenda</a:t>
            </a:r>
            <a:endParaRPr b="0" i="0" sz="1300" u="none" cap="none" strike="noStrike">
              <a:solidFill>
                <a:schemeClr val="dk1"/>
              </a:solidFill>
              <a:latin typeface="Calibri"/>
              <a:ea typeface="Calibri"/>
              <a:cs typeface="Calibri"/>
              <a:sym typeface="Calibri"/>
            </a:endParaRPr>
          </a:p>
        </p:txBody>
      </p:sp>
      <p:sp>
        <p:nvSpPr>
          <p:cNvPr id="433" name="Google Shape;433;p14"/>
          <p:cNvSpPr txBox="1"/>
          <p:nvPr/>
        </p:nvSpPr>
        <p:spPr>
          <a:xfrm>
            <a:off x="8001000" y="5120640"/>
            <a:ext cx="356616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5"/>
              </a:buClr>
              <a:buSzPts val="1200"/>
              <a:buFont typeface="Calibri"/>
              <a:buNone/>
            </a:pPr>
            <a:r>
              <a:rPr b="0" i="1" lang="en-US" sz="1200" u="none" cap="none" strike="noStrike">
                <a:solidFill>
                  <a:schemeClr val="accent5"/>
                </a:solidFill>
                <a:latin typeface="Calibri"/>
                <a:ea typeface="Calibri"/>
                <a:cs typeface="Calibri"/>
                <a:sym typeface="Calibri"/>
              </a:rPr>
              <a:t>Academic screening demonstration, not a diagnostic tool</a:t>
            </a:r>
            <a:endParaRPr b="0" i="0" sz="1200" u="none" cap="none" strike="noStrike">
              <a:solidFill>
                <a:schemeClr val="dk1"/>
              </a:solidFill>
              <a:latin typeface="Calibri"/>
              <a:ea typeface="Calibri"/>
              <a:cs typeface="Calibri"/>
              <a:sym typeface="Calibri"/>
            </a:endParaRPr>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38" name="Shape 438"/>
        <p:cNvGrpSpPr/>
        <p:nvPr/>
      </p:nvGrpSpPr>
      <p:grpSpPr>
        <a:xfrm>
          <a:off x="0" y="0"/>
          <a:ext cx="0" cy="0"/>
          <a:chOff x="0" y="0"/>
          <a:chExt cx="0" cy="0"/>
        </a:xfrm>
      </p:grpSpPr>
      <p:sp>
        <p:nvSpPr>
          <p:cNvPr id="439" name="Google Shape;439;p15"/>
          <p:cNvSpPr txBox="1"/>
          <p:nvPr>
            <p:ph type="title"/>
          </p:nvPr>
        </p:nvSpPr>
        <p:spPr>
          <a:xfrm>
            <a:off x="548640" y="347472"/>
            <a:ext cx="11064240" cy="7315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accent5"/>
              </a:buClr>
              <a:buSzPts val="3200"/>
              <a:buFont typeface="Cambria"/>
              <a:buNone/>
            </a:pPr>
            <a:r>
              <a:rPr b="1" lang="en-US" sz="3200">
                <a:solidFill>
                  <a:schemeClr val="accent5"/>
                </a:solidFill>
                <a:latin typeface="Cambria"/>
                <a:ea typeface="Cambria"/>
                <a:cs typeface="Cambria"/>
                <a:sym typeface="Cambria"/>
              </a:rPr>
              <a:t>Model Explorer  |  </a:t>
            </a:r>
            <a:r>
              <a:rPr b="1" lang="en-US" sz="3200">
                <a:solidFill>
                  <a:schemeClr val="dk2"/>
                </a:solidFill>
                <a:latin typeface="Cambria"/>
                <a:ea typeface="Cambria"/>
                <a:cs typeface="Cambria"/>
                <a:sym typeface="Cambria"/>
              </a:rPr>
              <a:t>Logistic Regression</a:t>
            </a:r>
            <a:endParaRPr sz="3200"/>
          </a:p>
        </p:txBody>
      </p:sp>
      <p:sp>
        <p:nvSpPr>
          <p:cNvPr id="440" name="Google Shape;440;p15"/>
          <p:cNvSpPr/>
          <p:nvPr/>
        </p:nvSpPr>
        <p:spPr>
          <a:xfrm>
            <a:off x="548640" y="1280160"/>
            <a:ext cx="868680" cy="868680"/>
          </a:xfrm>
          <a:prstGeom prst="ellipse">
            <a:avLst/>
          </a:prstGeom>
          <a:solidFill>
            <a:srgbClr val="3A5A98"/>
          </a:solidFill>
          <a:ln cap="flat" cmpd="sng" w="12700">
            <a:solidFill>
              <a:srgbClr val="3A5A9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441" name="Google Shape;441;p15"/>
          <p:cNvPicPr preferRelativeResize="0"/>
          <p:nvPr/>
        </p:nvPicPr>
        <p:blipFill rotWithShape="1">
          <a:blip r:embed="rId3">
            <a:alphaModFix/>
          </a:blip>
          <a:srcRect b="0" l="0" r="0" t="0"/>
          <a:stretch/>
        </p:blipFill>
        <p:spPr>
          <a:xfrm>
            <a:off x="757123" y="1488643"/>
            <a:ext cx="451714" cy="451714"/>
          </a:xfrm>
          <a:prstGeom prst="rect">
            <a:avLst/>
          </a:prstGeom>
          <a:noFill/>
          <a:ln>
            <a:noFill/>
          </a:ln>
        </p:spPr>
      </p:pic>
      <p:sp>
        <p:nvSpPr>
          <p:cNvPr id="442" name="Google Shape;442;p15"/>
          <p:cNvSpPr txBox="1"/>
          <p:nvPr/>
        </p:nvSpPr>
        <p:spPr>
          <a:xfrm>
            <a:off x="1600200" y="1325880"/>
            <a:ext cx="5029200" cy="7772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700"/>
              <a:buFont typeface="Calibri"/>
              <a:buNone/>
            </a:pPr>
            <a:r>
              <a:rPr b="1" i="0" lang="en-US" sz="1700" u="none" cap="none" strike="noStrike">
                <a:solidFill>
                  <a:schemeClr val="dk2"/>
                </a:solidFill>
                <a:latin typeface="Calibri"/>
                <a:ea typeface="Calibri"/>
                <a:cs typeface="Calibri"/>
                <a:sym typeface="Calibri"/>
              </a:rPr>
              <a:t>Linear, interpretable baseline</a:t>
            </a:r>
            <a:endParaRPr b="0" i="0" sz="15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accent5"/>
              </a:buClr>
              <a:buSzPts val="1400"/>
              <a:buFont typeface="Calibri"/>
              <a:buNone/>
            </a:pPr>
            <a:r>
              <a:rPr b="0" i="1" lang="en-US" sz="1400" u="none" cap="none" strike="noStrike">
                <a:solidFill>
                  <a:schemeClr val="accent5"/>
                </a:solidFill>
                <a:latin typeface="Calibri"/>
                <a:ea typeface="Calibri"/>
                <a:cs typeface="Calibri"/>
                <a:sym typeface="Calibri"/>
              </a:rPr>
              <a:t>max_iter = 1000</a:t>
            </a:r>
            <a:endParaRPr b="0" i="0" sz="1500" u="none" cap="none" strike="noStrike">
              <a:solidFill>
                <a:schemeClr val="dk1"/>
              </a:solidFill>
              <a:latin typeface="Calibri"/>
              <a:ea typeface="Calibri"/>
              <a:cs typeface="Calibri"/>
              <a:sym typeface="Calibri"/>
            </a:endParaRPr>
          </a:p>
        </p:txBody>
      </p:sp>
      <p:sp>
        <p:nvSpPr>
          <p:cNvPr id="443" name="Google Shape;443;p15"/>
          <p:cNvSpPr/>
          <p:nvPr/>
        </p:nvSpPr>
        <p:spPr>
          <a:xfrm>
            <a:off x="548640" y="2377440"/>
            <a:ext cx="1188720" cy="1188720"/>
          </a:xfrm>
          <a:prstGeom prst="roundRect">
            <a:avLst>
              <a:gd fmla="val 6154"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 name="Google Shape;444;p15"/>
          <p:cNvSpPr txBox="1"/>
          <p:nvPr/>
        </p:nvSpPr>
        <p:spPr>
          <a:xfrm>
            <a:off x="548640" y="2487168"/>
            <a:ext cx="11887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2"/>
              </a:buClr>
              <a:buSzPts val="2200"/>
              <a:buFont typeface="Cambria"/>
              <a:buNone/>
            </a:pPr>
            <a:r>
              <a:rPr b="1" i="0" lang="en-US" sz="2200" u="none" cap="none" strike="noStrike">
                <a:solidFill>
                  <a:schemeClr val="dk2"/>
                </a:solidFill>
                <a:latin typeface="Cambria"/>
                <a:ea typeface="Cambria"/>
                <a:cs typeface="Cambria"/>
                <a:sym typeface="Cambria"/>
              </a:rPr>
              <a:t>0.708</a:t>
            </a:r>
            <a:endParaRPr b="0" i="0" sz="2200" u="none" cap="none" strike="noStrike">
              <a:solidFill>
                <a:schemeClr val="dk1"/>
              </a:solidFill>
              <a:latin typeface="Calibri"/>
              <a:ea typeface="Calibri"/>
              <a:cs typeface="Calibri"/>
              <a:sym typeface="Calibri"/>
            </a:endParaRPr>
          </a:p>
        </p:txBody>
      </p:sp>
      <p:sp>
        <p:nvSpPr>
          <p:cNvPr id="445" name="Google Shape;445;p15"/>
          <p:cNvSpPr txBox="1"/>
          <p:nvPr/>
        </p:nvSpPr>
        <p:spPr>
          <a:xfrm>
            <a:off x="548640" y="3063240"/>
            <a:ext cx="1188720" cy="36576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dk1"/>
              </a:buClr>
              <a:buSzPts val="1200"/>
              <a:buFont typeface="Calibri"/>
              <a:buNone/>
            </a:pPr>
            <a:r>
              <a:rPr b="0" i="0" lang="en-US" sz="1200" u="none" cap="none" strike="noStrike">
                <a:solidFill>
                  <a:schemeClr val="dk1"/>
                </a:solidFill>
                <a:latin typeface="Calibri"/>
                <a:ea typeface="Calibri"/>
                <a:cs typeface="Calibri"/>
                <a:sym typeface="Calibri"/>
              </a:rPr>
              <a:t>Accuracy</a:t>
            </a:r>
            <a:endParaRPr b="0" i="0" sz="1200" u="none" cap="none" strike="noStrike">
              <a:solidFill>
                <a:schemeClr val="dk1"/>
              </a:solidFill>
              <a:latin typeface="Calibri"/>
              <a:ea typeface="Calibri"/>
              <a:cs typeface="Calibri"/>
              <a:sym typeface="Calibri"/>
            </a:endParaRPr>
          </a:p>
        </p:txBody>
      </p:sp>
      <p:sp>
        <p:nvSpPr>
          <p:cNvPr id="446" name="Google Shape;446;p15"/>
          <p:cNvSpPr/>
          <p:nvPr/>
        </p:nvSpPr>
        <p:spPr>
          <a:xfrm>
            <a:off x="1856232" y="2377440"/>
            <a:ext cx="1188720" cy="1188720"/>
          </a:xfrm>
          <a:prstGeom prst="roundRect">
            <a:avLst>
              <a:gd fmla="val 6154"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7" name="Google Shape;447;p15"/>
          <p:cNvSpPr txBox="1"/>
          <p:nvPr/>
        </p:nvSpPr>
        <p:spPr>
          <a:xfrm>
            <a:off x="1856232" y="2487168"/>
            <a:ext cx="11887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2"/>
              </a:buClr>
              <a:buSzPts val="2200"/>
              <a:buFont typeface="Cambria"/>
              <a:buNone/>
            </a:pPr>
            <a:r>
              <a:rPr b="1" i="0" lang="en-US" sz="2200" u="none" cap="none" strike="noStrike">
                <a:solidFill>
                  <a:schemeClr val="dk2"/>
                </a:solidFill>
                <a:latin typeface="Cambria"/>
                <a:ea typeface="Cambria"/>
                <a:cs typeface="Cambria"/>
                <a:sym typeface="Cambria"/>
              </a:rPr>
              <a:t>0.574</a:t>
            </a:r>
            <a:endParaRPr b="0" i="0" sz="2200" u="none" cap="none" strike="noStrike">
              <a:solidFill>
                <a:schemeClr val="dk1"/>
              </a:solidFill>
              <a:latin typeface="Calibri"/>
              <a:ea typeface="Calibri"/>
              <a:cs typeface="Calibri"/>
              <a:sym typeface="Calibri"/>
            </a:endParaRPr>
          </a:p>
        </p:txBody>
      </p:sp>
      <p:sp>
        <p:nvSpPr>
          <p:cNvPr id="448" name="Google Shape;448;p15"/>
          <p:cNvSpPr txBox="1"/>
          <p:nvPr/>
        </p:nvSpPr>
        <p:spPr>
          <a:xfrm>
            <a:off x="1856232" y="3063240"/>
            <a:ext cx="1188720" cy="36576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dk1"/>
              </a:buClr>
              <a:buSzPts val="1200"/>
              <a:buFont typeface="Calibri"/>
              <a:buNone/>
            </a:pPr>
            <a:r>
              <a:rPr b="0" i="0" lang="en-US" sz="1200" u="none" cap="none" strike="noStrike">
                <a:solidFill>
                  <a:schemeClr val="dk1"/>
                </a:solidFill>
                <a:latin typeface="Calibri"/>
                <a:ea typeface="Calibri"/>
                <a:cs typeface="Calibri"/>
                <a:sym typeface="Calibri"/>
              </a:rPr>
              <a:t>Precision</a:t>
            </a:r>
            <a:endParaRPr b="0" i="0" sz="1200" u="none" cap="none" strike="noStrike">
              <a:solidFill>
                <a:schemeClr val="dk1"/>
              </a:solidFill>
              <a:latin typeface="Calibri"/>
              <a:ea typeface="Calibri"/>
              <a:cs typeface="Calibri"/>
              <a:sym typeface="Calibri"/>
            </a:endParaRPr>
          </a:p>
        </p:txBody>
      </p:sp>
      <p:sp>
        <p:nvSpPr>
          <p:cNvPr id="449" name="Google Shape;449;p15"/>
          <p:cNvSpPr/>
          <p:nvPr/>
        </p:nvSpPr>
        <p:spPr>
          <a:xfrm>
            <a:off x="3163824" y="2377440"/>
            <a:ext cx="1188720" cy="1188720"/>
          </a:xfrm>
          <a:prstGeom prst="roundRect">
            <a:avLst>
              <a:gd fmla="val 6154" name="adj"/>
            </a:avLst>
          </a:prstGeom>
          <a:solidFill>
            <a:srgbClr val="FDE3E1"/>
          </a:solidFill>
          <a:ln cap="flat" cmpd="sng" w="12700">
            <a:solidFill>
              <a:srgbClr val="FDE3E1"/>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 name="Google Shape;450;p15"/>
          <p:cNvSpPr txBox="1"/>
          <p:nvPr/>
        </p:nvSpPr>
        <p:spPr>
          <a:xfrm>
            <a:off x="3163824" y="2487168"/>
            <a:ext cx="11887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accent2"/>
              </a:buClr>
              <a:buSzPts val="2200"/>
              <a:buFont typeface="Cambria"/>
              <a:buNone/>
            </a:pPr>
            <a:r>
              <a:rPr b="1" i="0" lang="en-US" sz="2200" u="none" cap="none" strike="noStrike">
                <a:solidFill>
                  <a:schemeClr val="accent2"/>
                </a:solidFill>
                <a:latin typeface="Cambria"/>
                <a:ea typeface="Cambria"/>
                <a:cs typeface="Cambria"/>
                <a:sym typeface="Cambria"/>
              </a:rPr>
              <a:t>0.648</a:t>
            </a:r>
            <a:endParaRPr b="0" i="0" sz="2200" u="none" cap="none" strike="noStrike">
              <a:solidFill>
                <a:schemeClr val="dk1"/>
              </a:solidFill>
              <a:latin typeface="Calibri"/>
              <a:ea typeface="Calibri"/>
              <a:cs typeface="Calibri"/>
              <a:sym typeface="Calibri"/>
            </a:endParaRPr>
          </a:p>
        </p:txBody>
      </p:sp>
      <p:sp>
        <p:nvSpPr>
          <p:cNvPr id="451" name="Google Shape;451;p15"/>
          <p:cNvSpPr txBox="1"/>
          <p:nvPr/>
        </p:nvSpPr>
        <p:spPr>
          <a:xfrm>
            <a:off x="3163824" y="3063240"/>
            <a:ext cx="1188720" cy="36576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dk1"/>
              </a:buClr>
              <a:buSzPts val="1200"/>
              <a:buFont typeface="Calibri"/>
              <a:buNone/>
            </a:pPr>
            <a:r>
              <a:rPr b="0" i="0" lang="en-US" sz="1200" u="none" cap="none" strike="noStrike">
                <a:solidFill>
                  <a:schemeClr val="dk1"/>
                </a:solidFill>
                <a:latin typeface="Calibri"/>
                <a:ea typeface="Calibri"/>
                <a:cs typeface="Calibri"/>
                <a:sym typeface="Calibri"/>
              </a:rPr>
              <a:t>Recall</a:t>
            </a:r>
            <a:endParaRPr b="0" i="0" sz="1200" u="none" cap="none" strike="noStrike">
              <a:solidFill>
                <a:schemeClr val="dk1"/>
              </a:solidFill>
              <a:latin typeface="Calibri"/>
              <a:ea typeface="Calibri"/>
              <a:cs typeface="Calibri"/>
              <a:sym typeface="Calibri"/>
            </a:endParaRPr>
          </a:p>
        </p:txBody>
      </p:sp>
      <p:sp>
        <p:nvSpPr>
          <p:cNvPr id="452" name="Google Shape;452;p15"/>
          <p:cNvSpPr/>
          <p:nvPr/>
        </p:nvSpPr>
        <p:spPr>
          <a:xfrm>
            <a:off x="4471416" y="2377440"/>
            <a:ext cx="1188720" cy="1188720"/>
          </a:xfrm>
          <a:prstGeom prst="roundRect">
            <a:avLst>
              <a:gd fmla="val 6154"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 name="Google Shape;453;p15"/>
          <p:cNvSpPr txBox="1"/>
          <p:nvPr/>
        </p:nvSpPr>
        <p:spPr>
          <a:xfrm>
            <a:off x="4471416" y="2487168"/>
            <a:ext cx="11887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2"/>
              </a:buClr>
              <a:buSzPts val="2200"/>
              <a:buFont typeface="Cambria"/>
              <a:buNone/>
            </a:pPr>
            <a:r>
              <a:rPr b="1" i="0" lang="en-US" sz="2200" u="none" cap="none" strike="noStrike">
                <a:solidFill>
                  <a:schemeClr val="dk2"/>
                </a:solidFill>
                <a:latin typeface="Cambria"/>
                <a:ea typeface="Cambria"/>
                <a:cs typeface="Cambria"/>
                <a:sym typeface="Cambria"/>
              </a:rPr>
              <a:t>0.609</a:t>
            </a:r>
            <a:endParaRPr b="0" i="0" sz="2200" u="none" cap="none" strike="noStrike">
              <a:solidFill>
                <a:schemeClr val="dk1"/>
              </a:solidFill>
              <a:latin typeface="Calibri"/>
              <a:ea typeface="Calibri"/>
              <a:cs typeface="Calibri"/>
              <a:sym typeface="Calibri"/>
            </a:endParaRPr>
          </a:p>
        </p:txBody>
      </p:sp>
      <p:sp>
        <p:nvSpPr>
          <p:cNvPr id="454" name="Google Shape;454;p15"/>
          <p:cNvSpPr txBox="1"/>
          <p:nvPr/>
        </p:nvSpPr>
        <p:spPr>
          <a:xfrm>
            <a:off x="4471416" y="3063240"/>
            <a:ext cx="1188720" cy="36576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dk1"/>
              </a:buClr>
              <a:buSzPts val="1200"/>
              <a:buFont typeface="Calibri"/>
              <a:buNone/>
            </a:pPr>
            <a:r>
              <a:rPr b="0" i="0" lang="en-US" sz="1200" u="none" cap="none" strike="noStrike">
                <a:solidFill>
                  <a:schemeClr val="dk1"/>
                </a:solidFill>
                <a:latin typeface="Calibri"/>
                <a:ea typeface="Calibri"/>
                <a:cs typeface="Calibri"/>
                <a:sym typeface="Calibri"/>
              </a:rPr>
              <a:t>F1</a:t>
            </a:r>
            <a:endParaRPr b="0" i="0" sz="1200" u="none" cap="none" strike="noStrike">
              <a:solidFill>
                <a:schemeClr val="dk1"/>
              </a:solidFill>
              <a:latin typeface="Calibri"/>
              <a:ea typeface="Calibri"/>
              <a:cs typeface="Calibri"/>
              <a:sym typeface="Calibri"/>
            </a:endParaRPr>
          </a:p>
        </p:txBody>
      </p:sp>
      <p:sp>
        <p:nvSpPr>
          <p:cNvPr id="455" name="Google Shape;455;p15"/>
          <p:cNvSpPr/>
          <p:nvPr/>
        </p:nvSpPr>
        <p:spPr>
          <a:xfrm>
            <a:off x="5779008" y="2377440"/>
            <a:ext cx="1188720" cy="1188720"/>
          </a:xfrm>
          <a:prstGeom prst="roundRect">
            <a:avLst>
              <a:gd fmla="val 6154"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 name="Google Shape;456;p15"/>
          <p:cNvSpPr txBox="1"/>
          <p:nvPr/>
        </p:nvSpPr>
        <p:spPr>
          <a:xfrm>
            <a:off x="5779008" y="2487168"/>
            <a:ext cx="11887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2"/>
              </a:buClr>
              <a:buSzPts val="2200"/>
              <a:buFont typeface="Cambria"/>
              <a:buNone/>
            </a:pPr>
            <a:r>
              <a:rPr b="1" i="0" lang="en-US" sz="2200" u="none" cap="none" strike="noStrike">
                <a:solidFill>
                  <a:schemeClr val="dk2"/>
                </a:solidFill>
                <a:latin typeface="Cambria"/>
                <a:ea typeface="Cambria"/>
                <a:cs typeface="Cambria"/>
                <a:sym typeface="Cambria"/>
              </a:rPr>
              <a:t>0.811</a:t>
            </a:r>
            <a:endParaRPr b="0" i="0" sz="2200" u="none" cap="none" strike="noStrike">
              <a:solidFill>
                <a:schemeClr val="dk1"/>
              </a:solidFill>
              <a:latin typeface="Calibri"/>
              <a:ea typeface="Calibri"/>
              <a:cs typeface="Calibri"/>
              <a:sym typeface="Calibri"/>
            </a:endParaRPr>
          </a:p>
        </p:txBody>
      </p:sp>
      <p:sp>
        <p:nvSpPr>
          <p:cNvPr id="457" name="Google Shape;457;p15"/>
          <p:cNvSpPr txBox="1"/>
          <p:nvPr/>
        </p:nvSpPr>
        <p:spPr>
          <a:xfrm>
            <a:off x="5779008" y="3063240"/>
            <a:ext cx="1188720" cy="36576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dk1"/>
              </a:buClr>
              <a:buSzPts val="1200"/>
              <a:buFont typeface="Calibri"/>
              <a:buNone/>
            </a:pPr>
            <a:r>
              <a:rPr b="0" i="0" lang="en-US" sz="1200" u="none" cap="none" strike="noStrike">
                <a:solidFill>
                  <a:schemeClr val="dk1"/>
                </a:solidFill>
                <a:latin typeface="Calibri"/>
                <a:ea typeface="Calibri"/>
                <a:cs typeface="Calibri"/>
                <a:sym typeface="Calibri"/>
              </a:rPr>
              <a:t>ROC-AUC</a:t>
            </a:r>
            <a:endParaRPr b="0" i="0" sz="1200" u="none" cap="none" strike="noStrike">
              <a:solidFill>
                <a:schemeClr val="dk1"/>
              </a:solidFill>
              <a:latin typeface="Calibri"/>
              <a:ea typeface="Calibri"/>
              <a:cs typeface="Calibri"/>
              <a:sym typeface="Calibri"/>
            </a:endParaRPr>
          </a:p>
        </p:txBody>
      </p:sp>
      <p:sp>
        <p:nvSpPr>
          <p:cNvPr id="458" name="Google Shape;458;p15"/>
          <p:cNvSpPr txBox="1"/>
          <p:nvPr/>
        </p:nvSpPr>
        <p:spPr>
          <a:xfrm>
            <a:off x="548640" y="3703320"/>
            <a:ext cx="640080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5"/>
              </a:buClr>
              <a:buSzPts val="1200"/>
              <a:buFont typeface="Calibri"/>
              <a:buNone/>
            </a:pPr>
            <a:r>
              <a:rPr b="0" i="1" lang="en-US" sz="1200" u="none" cap="none" strike="noStrike">
                <a:solidFill>
                  <a:schemeClr val="accent5"/>
                </a:solidFill>
                <a:latin typeface="Calibri"/>
                <a:ea typeface="Calibri"/>
                <a:cs typeface="Calibri"/>
                <a:sym typeface="Calibri"/>
              </a:rPr>
              <a:t>Test set (154 patients)  |  specificity 0.74  |  5-fold CV ROC-AUC 0.843 ± 0.020, CV recall 0.724</a:t>
            </a:r>
            <a:endParaRPr b="0" i="0" sz="1200" u="none" cap="none" strike="noStrike">
              <a:solidFill>
                <a:schemeClr val="dk1"/>
              </a:solidFill>
              <a:latin typeface="Calibri"/>
              <a:ea typeface="Calibri"/>
              <a:cs typeface="Calibri"/>
              <a:sym typeface="Calibri"/>
            </a:endParaRPr>
          </a:p>
        </p:txBody>
      </p:sp>
      <p:sp>
        <p:nvSpPr>
          <p:cNvPr id="459" name="Google Shape;459;p15"/>
          <p:cNvSpPr txBox="1"/>
          <p:nvPr/>
        </p:nvSpPr>
        <p:spPr>
          <a:xfrm>
            <a:off x="548640" y="4069080"/>
            <a:ext cx="3657600" cy="29260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400"/>
              <a:buFont typeface="Calibri"/>
              <a:buNone/>
            </a:pPr>
            <a:r>
              <a:rPr b="1" i="0" lang="en-US" sz="1400" u="none" cap="none" strike="noStrike">
                <a:solidFill>
                  <a:schemeClr val="dk2"/>
                </a:solidFill>
                <a:latin typeface="Calibri"/>
                <a:ea typeface="Calibri"/>
                <a:cs typeface="Calibri"/>
                <a:sym typeface="Calibri"/>
              </a:rPr>
              <a:t>Confusion matrix (test)</a:t>
            </a:r>
            <a:endParaRPr b="0" i="0" sz="1400" u="none" cap="none" strike="noStrike">
              <a:solidFill>
                <a:schemeClr val="dk1"/>
              </a:solidFill>
              <a:latin typeface="Calibri"/>
              <a:ea typeface="Calibri"/>
              <a:cs typeface="Calibri"/>
              <a:sym typeface="Calibri"/>
            </a:endParaRPr>
          </a:p>
        </p:txBody>
      </p:sp>
      <p:sp>
        <p:nvSpPr>
          <p:cNvPr id="460" name="Google Shape;460;p15"/>
          <p:cNvSpPr txBox="1"/>
          <p:nvPr/>
        </p:nvSpPr>
        <p:spPr>
          <a:xfrm>
            <a:off x="1417320" y="4389120"/>
            <a:ext cx="1325880" cy="237744"/>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accent5"/>
              </a:buClr>
              <a:buSzPts val="1100"/>
              <a:buFont typeface="Calibri"/>
              <a:buNone/>
            </a:pPr>
            <a:r>
              <a:rPr b="0" i="0" lang="en-US" sz="1100" u="none" cap="none" strike="noStrike">
                <a:solidFill>
                  <a:schemeClr val="accent5"/>
                </a:solidFill>
                <a:latin typeface="Calibri"/>
                <a:ea typeface="Calibri"/>
                <a:cs typeface="Calibri"/>
                <a:sym typeface="Calibri"/>
              </a:rPr>
              <a:t>Predicted −</a:t>
            </a:r>
            <a:endParaRPr b="0" i="0" sz="1100" u="none" cap="none" strike="noStrike">
              <a:solidFill>
                <a:schemeClr val="dk1"/>
              </a:solidFill>
              <a:latin typeface="Calibri"/>
              <a:ea typeface="Calibri"/>
              <a:cs typeface="Calibri"/>
              <a:sym typeface="Calibri"/>
            </a:endParaRPr>
          </a:p>
        </p:txBody>
      </p:sp>
      <p:sp>
        <p:nvSpPr>
          <p:cNvPr id="461" name="Google Shape;461;p15"/>
          <p:cNvSpPr txBox="1"/>
          <p:nvPr/>
        </p:nvSpPr>
        <p:spPr>
          <a:xfrm>
            <a:off x="2834640" y="4389120"/>
            <a:ext cx="1325880" cy="237744"/>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accent5"/>
              </a:buClr>
              <a:buSzPts val="1100"/>
              <a:buFont typeface="Calibri"/>
              <a:buNone/>
            </a:pPr>
            <a:r>
              <a:rPr b="0" i="0" lang="en-US" sz="1100" u="none" cap="none" strike="noStrike">
                <a:solidFill>
                  <a:schemeClr val="accent5"/>
                </a:solidFill>
                <a:latin typeface="Calibri"/>
                <a:ea typeface="Calibri"/>
                <a:cs typeface="Calibri"/>
                <a:sym typeface="Calibri"/>
              </a:rPr>
              <a:t>Predicted +</a:t>
            </a:r>
            <a:endParaRPr b="0" i="0" sz="1100" u="none" cap="none" strike="noStrike">
              <a:solidFill>
                <a:schemeClr val="dk1"/>
              </a:solidFill>
              <a:latin typeface="Calibri"/>
              <a:ea typeface="Calibri"/>
              <a:cs typeface="Calibri"/>
              <a:sym typeface="Calibri"/>
            </a:endParaRPr>
          </a:p>
        </p:txBody>
      </p:sp>
      <p:sp>
        <p:nvSpPr>
          <p:cNvPr id="462" name="Google Shape;462;p15"/>
          <p:cNvSpPr/>
          <p:nvPr/>
        </p:nvSpPr>
        <p:spPr>
          <a:xfrm>
            <a:off x="1417320" y="4663440"/>
            <a:ext cx="1325880" cy="713232"/>
          </a:xfrm>
          <a:prstGeom prst="roundRect">
            <a:avLst>
              <a:gd fmla="val 7692"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2000"/>
              <a:buFont typeface="Calibri"/>
              <a:buNone/>
            </a:pPr>
            <a:r>
              <a:rPr b="1" i="0" lang="en-US" sz="2000" u="none" cap="none" strike="noStrike">
                <a:solidFill>
                  <a:schemeClr val="dk2"/>
                </a:solidFill>
                <a:latin typeface="Calibri"/>
                <a:ea typeface="Calibri"/>
                <a:cs typeface="Calibri"/>
                <a:sym typeface="Calibri"/>
              </a:rPr>
              <a:t>74</a:t>
            </a:r>
            <a:endParaRPr b="0" i="0" sz="2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chemeClr val="dk2"/>
              </a:buClr>
              <a:buSzPts val="1100"/>
              <a:buFont typeface="Calibri"/>
              <a:buNone/>
            </a:pPr>
            <a:r>
              <a:rPr b="0" i="0" lang="en-US" sz="1100" u="none" cap="none" strike="noStrike">
                <a:solidFill>
                  <a:schemeClr val="dk2"/>
                </a:solidFill>
                <a:latin typeface="Calibri"/>
                <a:ea typeface="Calibri"/>
                <a:cs typeface="Calibri"/>
                <a:sym typeface="Calibri"/>
              </a:rPr>
              <a:t>TN</a:t>
            </a:r>
            <a:endParaRPr b="0" i="0" sz="2000" u="none" cap="none" strike="noStrike">
              <a:solidFill>
                <a:schemeClr val="dk1"/>
              </a:solidFill>
              <a:latin typeface="Calibri"/>
              <a:ea typeface="Calibri"/>
              <a:cs typeface="Calibri"/>
              <a:sym typeface="Calibri"/>
            </a:endParaRPr>
          </a:p>
        </p:txBody>
      </p:sp>
      <p:sp>
        <p:nvSpPr>
          <p:cNvPr id="463" name="Google Shape;463;p15"/>
          <p:cNvSpPr/>
          <p:nvPr/>
        </p:nvSpPr>
        <p:spPr>
          <a:xfrm>
            <a:off x="2834640" y="4663440"/>
            <a:ext cx="1325880" cy="713232"/>
          </a:xfrm>
          <a:prstGeom prst="roundRect">
            <a:avLst>
              <a:gd fmla="val 7692"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2000"/>
              <a:buFont typeface="Calibri"/>
              <a:buNone/>
            </a:pPr>
            <a:r>
              <a:rPr b="1" i="0" lang="en-US" sz="2000" u="none" cap="none" strike="noStrike">
                <a:solidFill>
                  <a:schemeClr val="dk2"/>
                </a:solidFill>
                <a:latin typeface="Calibri"/>
                <a:ea typeface="Calibri"/>
                <a:cs typeface="Calibri"/>
                <a:sym typeface="Calibri"/>
              </a:rPr>
              <a:t>26</a:t>
            </a:r>
            <a:endParaRPr b="0" i="0" sz="2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chemeClr val="dk2"/>
              </a:buClr>
              <a:buSzPts val="1100"/>
              <a:buFont typeface="Calibri"/>
              <a:buNone/>
            </a:pPr>
            <a:r>
              <a:rPr b="0" i="0" lang="en-US" sz="1100" u="none" cap="none" strike="noStrike">
                <a:solidFill>
                  <a:schemeClr val="dk2"/>
                </a:solidFill>
                <a:latin typeface="Calibri"/>
                <a:ea typeface="Calibri"/>
                <a:cs typeface="Calibri"/>
                <a:sym typeface="Calibri"/>
              </a:rPr>
              <a:t>FP</a:t>
            </a:r>
            <a:endParaRPr b="0" i="0" sz="2000" u="none" cap="none" strike="noStrike">
              <a:solidFill>
                <a:schemeClr val="dk1"/>
              </a:solidFill>
              <a:latin typeface="Calibri"/>
              <a:ea typeface="Calibri"/>
              <a:cs typeface="Calibri"/>
              <a:sym typeface="Calibri"/>
            </a:endParaRPr>
          </a:p>
        </p:txBody>
      </p:sp>
      <p:sp>
        <p:nvSpPr>
          <p:cNvPr id="464" name="Google Shape;464;p15"/>
          <p:cNvSpPr/>
          <p:nvPr/>
        </p:nvSpPr>
        <p:spPr>
          <a:xfrm>
            <a:off x="1417320" y="5449824"/>
            <a:ext cx="1325880" cy="713232"/>
          </a:xfrm>
          <a:prstGeom prst="roundRect">
            <a:avLst>
              <a:gd fmla="val 7692" name="adj"/>
            </a:avLst>
          </a:prstGeom>
          <a:solidFill>
            <a:schemeClr val="accent2"/>
          </a:solidFill>
          <a:ln cap="flat" cmpd="sng" w="9525">
            <a:solidFill>
              <a:schemeClr val="accen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2000"/>
              <a:buFont typeface="Calibri"/>
              <a:buNone/>
            </a:pPr>
            <a:r>
              <a:rPr b="1" i="0" lang="en-US" sz="2000" u="none" cap="none" strike="noStrike">
                <a:solidFill>
                  <a:schemeClr val="lt1"/>
                </a:solidFill>
                <a:latin typeface="Calibri"/>
                <a:ea typeface="Calibri"/>
                <a:cs typeface="Calibri"/>
                <a:sym typeface="Calibri"/>
              </a:rPr>
              <a:t>19</a:t>
            </a:r>
            <a:endParaRPr b="0" i="0" sz="2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chemeClr val="lt1"/>
              </a:buClr>
              <a:buSzPts val="1100"/>
              <a:buFont typeface="Calibri"/>
              <a:buNone/>
            </a:pPr>
            <a:r>
              <a:rPr b="0" i="0" lang="en-US" sz="1100" u="none" cap="none" strike="noStrike">
                <a:solidFill>
                  <a:schemeClr val="lt1"/>
                </a:solidFill>
                <a:latin typeface="Calibri"/>
                <a:ea typeface="Calibri"/>
                <a:cs typeface="Calibri"/>
                <a:sym typeface="Calibri"/>
              </a:rPr>
              <a:t>FN</a:t>
            </a:r>
            <a:endParaRPr b="0" i="0" sz="2000" u="none" cap="none" strike="noStrike">
              <a:solidFill>
                <a:schemeClr val="dk1"/>
              </a:solidFill>
              <a:latin typeface="Calibri"/>
              <a:ea typeface="Calibri"/>
              <a:cs typeface="Calibri"/>
              <a:sym typeface="Calibri"/>
            </a:endParaRPr>
          </a:p>
        </p:txBody>
      </p:sp>
      <p:sp>
        <p:nvSpPr>
          <p:cNvPr id="465" name="Google Shape;465;p15"/>
          <p:cNvSpPr/>
          <p:nvPr/>
        </p:nvSpPr>
        <p:spPr>
          <a:xfrm>
            <a:off x="2834640" y="5449824"/>
            <a:ext cx="1325880" cy="713232"/>
          </a:xfrm>
          <a:prstGeom prst="roundRect">
            <a:avLst>
              <a:gd fmla="val 7692" name="adj"/>
            </a:avLst>
          </a:prstGeom>
          <a:solidFill>
            <a:schemeClr val="accent1"/>
          </a:solidFill>
          <a:ln cap="flat" cmpd="sng" w="9525">
            <a:solidFill>
              <a:schemeClr val="accent1"/>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2000"/>
              <a:buFont typeface="Calibri"/>
              <a:buNone/>
            </a:pPr>
            <a:r>
              <a:rPr b="1" i="0" lang="en-US" sz="2000" u="none" cap="none" strike="noStrike">
                <a:solidFill>
                  <a:schemeClr val="lt1"/>
                </a:solidFill>
                <a:latin typeface="Calibri"/>
                <a:ea typeface="Calibri"/>
                <a:cs typeface="Calibri"/>
                <a:sym typeface="Calibri"/>
              </a:rPr>
              <a:t>35</a:t>
            </a:r>
            <a:endParaRPr b="0" i="0" sz="2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chemeClr val="lt1"/>
              </a:buClr>
              <a:buSzPts val="1100"/>
              <a:buFont typeface="Calibri"/>
              <a:buNone/>
            </a:pPr>
            <a:r>
              <a:rPr b="0" i="0" lang="en-US" sz="1100" u="none" cap="none" strike="noStrike">
                <a:solidFill>
                  <a:schemeClr val="lt1"/>
                </a:solidFill>
                <a:latin typeface="Calibri"/>
                <a:ea typeface="Calibri"/>
                <a:cs typeface="Calibri"/>
                <a:sym typeface="Calibri"/>
              </a:rPr>
              <a:t>TP</a:t>
            </a:r>
            <a:endParaRPr b="0" i="0" sz="2000" u="none" cap="none" strike="noStrike">
              <a:solidFill>
                <a:schemeClr val="dk1"/>
              </a:solidFill>
              <a:latin typeface="Calibri"/>
              <a:ea typeface="Calibri"/>
              <a:cs typeface="Calibri"/>
              <a:sym typeface="Calibri"/>
            </a:endParaRPr>
          </a:p>
        </p:txBody>
      </p:sp>
      <p:sp>
        <p:nvSpPr>
          <p:cNvPr id="466" name="Google Shape;466;p15"/>
          <p:cNvSpPr txBox="1"/>
          <p:nvPr/>
        </p:nvSpPr>
        <p:spPr>
          <a:xfrm>
            <a:off x="548640" y="4663440"/>
            <a:ext cx="822960" cy="7132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5"/>
              </a:buClr>
              <a:buSzPts val="1100"/>
              <a:buFont typeface="Calibri"/>
              <a:buNone/>
            </a:pPr>
            <a:r>
              <a:rPr b="0" i="0" lang="en-US" sz="1100" u="none" cap="none" strike="noStrike">
                <a:solidFill>
                  <a:schemeClr val="accent5"/>
                </a:solidFill>
                <a:latin typeface="Calibri"/>
                <a:ea typeface="Calibri"/>
                <a:cs typeface="Calibri"/>
                <a:sym typeface="Calibri"/>
              </a:rPr>
              <a:t>Actual −</a:t>
            </a:r>
            <a:endParaRPr b="0" i="0" sz="1100" u="none" cap="none" strike="noStrike">
              <a:solidFill>
                <a:schemeClr val="dk1"/>
              </a:solidFill>
              <a:latin typeface="Calibri"/>
              <a:ea typeface="Calibri"/>
              <a:cs typeface="Calibri"/>
              <a:sym typeface="Calibri"/>
            </a:endParaRPr>
          </a:p>
        </p:txBody>
      </p:sp>
      <p:sp>
        <p:nvSpPr>
          <p:cNvPr id="467" name="Google Shape;467;p15"/>
          <p:cNvSpPr txBox="1"/>
          <p:nvPr/>
        </p:nvSpPr>
        <p:spPr>
          <a:xfrm>
            <a:off x="548640" y="5449824"/>
            <a:ext cx="822960" cy="7132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5"/>
              </a:buClr>
              <a:buSzPts val="1100"/>
              <a:buFont typeface="Calibri"/>
              <a:buNone/>
            </a:pPr>
            <a:r>
              <a:rPr b="0" i="0" lang="en-US" sz="1100" u="none" cap="none" strike="noStrike">
                <a:solidFill>
                  <a:schemeClr val="accent5"/>
                </a:solidFill>
                <a:latin typeface="Calibri"/>
                <a:ea typeface="Calibri"/>
                <a:cs typeface="Calibri"/>
                <a:sym typeface="Calibri"/>
              </a:rPr>
              <a:t>Actual +</a:t>
            </a:r>
            <a:endParaRPr b="0" i="0" sz="1100" u="none" cap="none" strike="noStrike">
              <a:solidFill>
                <a:schemeClr val="dk1"/>
              </a:solidFill>
              <a:latin typeface="Calibri"/>
              <a:ea typeface="Calibri"/>
              <a:cs typeface="Calibri"/>
              <a:sym typeface="Calibri"/>
            </a:endParaRPr>
          </a:p>
        </p:txBody>
      </p:sp>
      <p:sp>
        <p:nvSpPr>
          <p:cNvPr id="468" name="Google Shape;468;p15"/>
          <p:cNvSpPr/>
          <p:nvPr/>
        </p:nvSpPr>
        <p:spPr>
          <a:xfrm>
            <a:off x="7223760" y="1280160"/>
            <a:ext cx="4416552" cy="4754880"/>
          </a:xfrm>
          <a:prstGeom prst="roundRect">
            <a:avLst>
              <a:gd fmla="val 1656"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 name="Google Shape;469;p15"/>
          <p:cNvSpPr/>
          <p:nvPr/>
        </p:nvSpPr>
        <p:spPr>
          <a:xfrm>
            <a:off x="7452360" y="1508760"/>
            <a:ext cx="3959352" cy="548640"/>
          </a:xfrm>
          <a:prstGeom prst="roundRect">
            <a:avLst>
              <a:gd fmla="val 16667" name="adj"/>
            </a:avLst>
          </a:prstGeom>
          <a:solidFill>
            <a:schemeClr val="accent5"/>
          </a:solidFill>
          <a:ln cap="flat" cmpd="sng" w="9525">
            <a:solidFill>
              <a:schemeClr val="accent5"/>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700"/>
              <a:buFont typeface="Calibri"/>
              <a:buNone/>
            </a:pPr>
            <a:r>
              <a:rPr b="1" i="0" lang="en-US" sz="1700" u="none" cap="none" strike="noStrike">
                <a:solidFill>
                  <a:schemeClr val="lt1"/>
                </a:solidFill>
                <a:latin typeface="Calibri"/>
                <a:ea typeface="Calibri"/>
                <a:cs typeface="Calibri"/>
                <a:sym typeface="Calibri"/>
              </a:rPr>
              <a:t>Not selected</a:t>
            </a:r>
            <a:endParaRPr b="0" i="0" sz="1700" u="none" cap="none" strike="noStrike">
              <a:solidFill>
                <a:schemeClr val="dk1"/>
              </a:solidFill>
              <a:latin typeface="Calibri"/>
              <a:ea typeface="Calibri"/>
              <a:cs typeface="Calibri"/>
              <a:sym typeface="Calibri"/>
            </a:endParaRPr>
          </a:p>
        </p:txBody>
      </p:sp>
      <p:sp>
        <p:nvSpPr>
          <p:cNvPr id="470" name="Google Shape;470;p15"/>
          <p:cNvSpPr txBox="1"/>
          <p:nvPr/>
        </p:nvSpPr>
        <p:spPr>
          <a:xfrm>
            <a:off x="7452360" y="2286000"/>
            <a:ext cx="3959352" cy="2377440"/>
          </a:xfrm>
          <a:prstGeom prst="rect">
            <a:avLst/>
          </a:prstGeom>
          <a:noFill/>
          <a:ln>
            <a:noFill/>
          </a:ln>
        </p:spPr>
        <p:txBody>
          <a:bodyPr anchorCtr="0" anchor="t" bIns="0" lIns="0" spcFirstLastPara="1" rIns="0" wrap="square" tIns="0">
            <a:noAutofit/>
          </a:bodyPr>
          <a:lstStyle/>
          <a:p>
            <a:pPr indent="-203200" lvl="0" marL="203200" marR="0" rtl="0" algn="l">
              <a:spcBef>
                <a:spcPts val="0"/>
              </a:spcBef>
              <a:spcAft>
                <a:spcPts val="0"/>
              </a:spcAft>
              <a:buClr>
                <a:schemeClr val="dk1"/>
              </a:buClr>
              <a:buSzPts val="1500"/>
              <a:buFont typeface="Calibri"/>
              <a:buChar char="•"/>
            </a:pPr>
            <a:r>
              <a:rPr b="0" i="0" lang="en-US" sz="1500" u="none" cap="none" strike="noStrike">
                <a:solidFill>
                  <a:schemeClr val="dk1"/>
                </a:solidFill>
                <a:latin typeface="Calibri"/>
                <a:ea typeface="Calibri"/>
                <a:cs typeface="Calibri"/>
                <a:sym typeface="Calibri"/>
              </a:rPr>
              <a:t>Best cross-validated ROC-AUC (0.843)</a:t>
            </a:r>
            <a:endParaRPr b="0" i="0" sz="1500" u="none" cap="none" strike="noStrike">
              <a:solidFill>
                <a:schemeClr val="dk1"/>
              </a:solidFill>
              <a:latin typeface="Calibri"/>
              <a:ea typeface="Calibri"/>
              <a:cs typeface="Calibri"/>
              <a:sym typeface="Calibri"/>
            </a:endParaRPr>
          </a:p>
          <a:p>
            <a:pPr indent="-203200" lvl="0" marL="203200" marR="0" rtl="0" algn="l">
              <a:spcBef>
                <a:spcPts val="600"/>
              </a:spcBef>
              <a:spcAft>
                <a:spcPts val="0"/>
              </a:spcAft>
              <a:buClr>
                <a:schemeClr val="dk1"/>
              </a:buClr>
              <a:buSzPts val="1500"/>
              <a:buFont typeface="Calibri"/>
              <a:buChar char="•"/>
            </a:pPr>
            <a:r>
              <a:rPr b="0" i="0" lang="en-US" sz="1500" u="none" cap="none" strike="noStrike">
                <a:solidFill>
                  <a:schemeClr val="dk1"/>
                </a:solidFill>
                <a:latin typeface="Calibri"/>
                <a:ea typeface="Calibri"/>
                <a:cs typeface="Calibri"/>
                <a:sym typeface="Calibri"/>
              </a:rPr>
              <a:t>But the lowest test recall: missed 19 of 54 diabetic patients</a:t>
            </a:r>
            <a:endParaRPr b="0" i="0" sz="1500" u="none" cap="none" strike="noStrike">
              <a:solidFill>
                <a:schemeClr val="dk1"/>
              </a:solidFill>
              <a:latin typeface="Calibri"/>
              <a:ea typeface="Calibri"/>
              <a:cs typeface="Calibri"/>
              <a:sym typeface="Calibri"/>
            </a:endParaRPr>
          </a:p>
          <a:p>
            <a:pPr indent="-203200" lvl="0" marL="203200" marR="0" rtl="0" algn="l">
              <a:spcBef>
                <a:spcPts val="600"/>
              </a:spcBef>
              <a:spcAft>
                <a:spcPts val="0"/>
              </a:spcAft>
              <a:buClr>
                <a:schemeClr val="dk1"/>
              </a:buClr>
              <a:buSzPts val="1500"/>
              <a:buFont typeface="Calibri"/>
              <a:buChar char="•"/>
            </a:pPr>
            <a:r>
              <a:rPr b="0" i="0" lang="en-US" sz="1500" u="none" cap="none" strike="noStrike">
                <a:solidFill>
                  <a:schemeClr val="dk1"/>
                </a:solidFill>
                <a:latin typeface="Calibri"/>
                <a:ea typeface="Calibri"/>
                <a:cs typeface="Calibri"/>
                <a:sym typeface="Calibri"/>
              </a:rPr>
              <a:t>Fails the recall ≥ 0.70 rule on the test set</a:t>
            </a:r>
            <a:endParaRPr b="0" i="0" sz="1500" u="none" cap="none" strike="noStrike">
              <a:solidFill>
                <a:schemeClr val="dk1"/>
              </a:solidFill>
              <a:latin typeface="Calibri"/>
              <a:ea typeface="Calibri"/>
              <a:cs typeface="Calibri"/>
              <a:sym typeface="Calibri"/>
            </a:endParaRPr>
          </a:p>
        </p:txBody>
      </p:sp>
      <p:sp>
        <p:nvSpPr>
          <p:cNvPr id="471" name="Google Shape;471;p15"/>
          <p:cNvSpPr txBox="1"/>
          <p:nvPr/>
        </p:nvSpPr>
        <p:spPr>
          <a:xfrm>
            <a:off x="7452360" y="4754880"/>
            <a:ext cx="3959352"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300"/>
              <a:buFont typeface="Calibri"/>
              <a:buNone/>
            </a:pPr>
            <a:r>
              <a:rPr b="1" i="0" lang="en-US" sz="1300" u="none" cap="none" strike="noStrike">
                <a:solidFill>
                  <a:schemeClr val="dk2"/>
                </a:solidFill>
                <a:latin typeface="Calibri"/>
                <a:ea typeface="Calibri"/>
                <a:cs typeface="Calibri"/>
                <a:sym typeface="Calibri"/>
              </a:rPr>
              <a:t>Overall score: </a:t>
            </a:r>
            <a:r>
              <a:rPr b="0" i="0" lang="en-US" sz="1300" u="none" cap="none" strike="noStrike">
                <a:solidFill>
                  <a:schemeClr val="dk2"/>
                </a:solidFill>
                <a:latin typeface="Calibri"/>
                <a:ea typeface="Calibri"/>
                <a:cs typeface="Calibri"/>
                <a:sym typeface="Calibri"/>
              </a:rPr>
              <a:t>0.7036  (mean of 5 metrics, CV + test)</a:t>
            </a:r>
            <a:endParaRPr b="0" i="0" sz="1300" u="none" cap="none" strike="noStrike">
              <a:solidFill>
                <a:schemeClr val="dk1"/>
              </a:solidFill>
              <a:latin typeface="Calibri"/>
              <a:ea typeface="Calibri"/>
              <a:cs typeface="Calibri"/>
              <a:sym typeface="Calibri"/>
            </a:endParaRPr>
          </a:p>
        </p:txBody>
      </p:sp>
      <p:sp>
        <p:nvSpPr>
          <p:cNvPr id="472" name="Google Shape;472;p15">
            <a:hlinkClick action="ppaction://hlinksldjump" r:id="rId4"/>
          </p:cNvPr>
          <p:cNvSpPr/>
          <p:nvPr/>
        </p:nvSpPr>
        <p:spPr>
          <a:xfrm>
            <a:off x="10680192" y="6336792"/>
            <a:ext cx="960120" cy="365760"/>
          </a:xfrm>
          <a:prstGeom prst="roundRect">
            <a:avLst>
              <a:gd fmla="val 25000" name="adj"/>
            </a:avLst>
          </a:prstGeom>
          <a:solidFill>
            <a:schemeClr val="accent1"/>
          </a:solidFill>
          <a:ln cap="flat" cmpd="sng" w="9525">
            <a:solidFill>
              <a:schemeClr val="accent1"/>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KNN ›</a:t>
            </a:r>
            <a:endParaRPr b="0" i="0" sz="1200" u="none" cap="none" strike="noStrike">
              <a:solidFill>
                <a:schemeClr val="dk1"/>
              </a:solidFill>
              <a:latin typeface="Calibri"/>
              <a:ea typeface="Calibri"/>
              <a:cs typeface="Calibri"/>
              <a:sym typeface="Calibri"/>
            </a:endParaRPr>
          </a:p>
        </p:txBody>
      </p:sp>
      <p:sp>
        <p:nvSpPr>
          <p:cNvPr id="473" name="Google Shape;473;p15">
            <a:hlinkClick action="ppaction://hlinksldjump" r:id="rId5"/>
          </p:cNvPr>
          <p:cNvSpPr/>
          <p:nvPr/>
        </p:nvSpPr>
        <p:spPr>
          <a:xfrm>
            <a:off x="9610344" y="6336792"/>
            <a:ext cx="960120" cy="365760"/>
          </a:xfrm>
          <a:prstGeom prst="roundRect">
            <a:avLst>
              <a:gd fmla="val 25000"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1" i="0" lang="en-US" sz="1200" u="none" cap="none" strike="noStrike">
                <a:solidFill>
                  <a:schemeClr val="dk2"/>
                </a:solidFill>
                <a:latin typeface="Calibri"/>
                <a:ea typeface="Calibri"/>
                <a:cs typeface="Calibri"/>
                <a:sym typeface="Calibri"/>
              </a:rPr>
              <a:t>Agenda</a:t>
            </a:r>
            <a:endParaRPr b="0" i="0" sz="1200" u="none" cap="none" strike="noStrike">
              <a:solidFill>
                <a:schemeClr val="dk1"/>
              </a:solidFill>
              <a:latin typeface="Calibri"/>
              <a:ea typeface="Calibri"/>
              <a:cs typeface="Calibri"/>
              <a:sym typeface="Calibri"/>
            </a:endParaRPr>
          </a:p>
        </p:txBody>
      </p:sp>
      <p:sp>
        <p:nvSpPr>
          <p:cNvPr id="474" name="Google Shape;474;p15">
            <a:hlinkClick action="ppaction://hlinksldjump" r:id="rId6"/>
          </p:cNvPr>
          <p:cNvSpPr/>
          <p:nvPr/>
        </p:nvSpPr>
        <p:spPr>
          <a:xfrm>
            <a:off x="8540496" y="6336792"/>
            <a:ext cx="960120" cy="365760"/>
          </a:xfrm>
          <a:prstGeom prst="roundRect">
            <a:avLst>
              <a:gd fmla="val 25000"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1" i="0" lang="en-US" sz="1200" u="none" cap="none" strike="noStrike">
                <a:solidFill>
                  <a:schemeClr val="dk2"/>
                </a:solidFill>
                <a:latin typeface="Calibri"/>
                <a:ea typeface="Calibri"/>
                <a:cs typeface="Calibri"/>
                <a:sym typeface="Calibri"/>
              </a:rPr>
              <a:t>‹ XGB</a:t>
            </a:r>
            <a:endParaRPr b="0" i="0" sz="1200" u="none" cap="none" strike="noStrike">
              <a:solidFill>
                <a:schemeClr val="dk1"/>
              </a:solidFill>
              <a:latin typeface="Calibri"/>
              <a:ea typeface="Calibri"/>
              <a:cs typeface="Calibri"/>
              <a:sym typeface="Calibri"/>
            </a:endParaRPr>
          </a:p>
        </p:txBody>
      </p:sp>
      <p:sp>
        <p:nvSpPr>
          <p:cNvPr id="475" name="Google Shape;475;p15">
            <a:hlinkClick action="ppaction://hlinksldjump" r:id="rId7"/>
          </p:cNvPr>
          <p:cNvSpPr/>
          <p:nvPr/>
        </p:nvSpPr>
        <p:spPr>
          <a:xfrm>
            <a:off x="6693408" y="6336792"/>
            <a:ext cx="1737360" cy="365760"/>
          </a:xfrm>
          <a:prstGeom prst="roundRect">
            <a:avLst>
              <a:gd fmla="val 25000" name="adj"/>
            </a:avLst>
          </a:prstGeom>
          <a:solidFill>
            <a:schemeClr val="accent2"/>
          </a:solidFill>
          <a:ln cap="flat" cmpd="sng" w="9525">
            <a:solidFill>
              <a:schemeClr val="accen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 Model Explorer</a:t>
            </a:r>
            <a:endParaRPr b="0" i="0" sz="1200" u="none" cap="none" strike="noStrike">
              <a:solidFill>
                <a:schemeClr val="dk1"/>
              </a:solidFill>
              <a:latin typeface="Calibri"/>
              <a:ea typeface="Calibri"/>
              <a:cs typeface="Calibri"/>
              <a:sym typeface="Calibri"/>
            </a:endParaRPr>
          </a:p>
        </p:txBody>
      </p:sp>
      <p:sp>
        <p:nvSpPr>
          <p:cNvPr id="476" name="Google Shape;476;p15"/>
          <p:cNvSpPr txBox="1"/>
          <p:nvPr>
            <p:ph idx="4294967295" type="sldNum"/>
          </p:nvPr>
        </p:nvSpPr>
        <p:spPr>
          <a:xfrm>
            <a:off x="8732520" y="6382512"/>
            <a:ext cx="502920" cy="292608"/>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accent5"/>
                </a:solidFill>
                <a:latin typeface="Calibri"/>
                <a:ea typeface="Calibri"/>
                <a:cs typeface="Calibri"/>
                <a:sym typeface="Calibri"/>
              </a:rPr>
              <a:t>‹#›</a:t>
            </a:fld>
            <a:endParaRPr b="0" i="0" sz="1000" u="none" cap="none" strike="noStrike">
              <a:solidFill>
                <a:schemeClr val="accent5"/>
              </a:solidFill>
              <a:latin typeface="Calibri"/>
              <a:ea typeface="Calibri"/>
              <a:cs typeface="Calibri"/>
              <a:sym typeface="Calibri"/>
            </a:endParaRPr>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81" name="Shape 481"/>
        <p:cNvGrpSpPr/>
        <p:nvPr/>
      </p:nvGrpSpPr>
      <p:grpSpPr>
        <a:xfrm>
          <a:off x="0" y="0"/>
          <a:ext cx="0" cy="0"/>
          <a:chOff x="0" y="0"/>
          <a:chExt cx="0" cy="0"/>
        </a:xfrm>
      </p:grpSpPr>
      <p:sp>
        <p:nvSpPr>
          <p:cNvPr id="482" name="Google Shape;482;p16"/>
          <p:cNvSpPr txBox="1"/>
          <p:nvPr>
            <p:ph type="title"/>
          </p:nvPr>
        </p:nvSpPr>
        <p:spPr>
          <a:xfrm>
            <a:off x="548640" y="347472"/>
            <a:ext cx="11064240" cy="7315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accent5"/>
              </a:buClr>
              <a:buSzPts val="3200"/>
              <a:buFont typeface="Cambria"/>
              <a:buNone/>
            </a:pPr>
            <a:r>
              <a:rPr b="1" lang="en-US" sz="3200">
                <a:solidFill>
                  <a:schemeClr val="accent5"/>
                </a:solidFill>
                <a:latin typeface="Cambria"/>
                <a:ea typeface="Cambria"/>
                <a:cs typeface="Cambria"/>
                <a:sym typeface="Cambria"/>
              </a:rPr>
              <a:t>Model Explorer  |  </a:t>
            </a:r>
            <a:r>
              <a:rPr b="1" lang="en-US" sz="3200">
                <a:solidFill>
                  <a:schemeClr val="dk2"/>
                </a:solidFill>
                <a:latin typeface="Cambria"/>
                <a:ea typeface="Cambria"/>
                <a:cs typeface="Cambria"/>
                <a:sym typeface="Cambria"/>
              </a:rPr>
              <a:t>K-Nearest Neighbors</a:t>
            </a:r>
            <a:endParaRPr sz="3200"/>
          </a:p>
        </p:txBody>
      </p:sp>
      <p:sp>
        <p:nvSpPr>
          <p:cNvPr id="483" name="Google Shape;483;p16"/>
          <p:cNvSpPr/>
          <p:nvPr/>
        </p:nvSpPr>
        <p:spPr>
          <a:xfrm>
            <a:off x="548640" y="1280160"/>
            <a:ext cx="868680" cy="868680"/>
          </a:xfrm>
          <a:prstGeom prst="ellipse">
            <a:avLst/>
          </a:prstGeom>
          <a:solidFill>
            <a:srgbClr val="F4B942"/>
          </a:solidFill>
          <a:ln cap="flat" cmpd="sng" w="12700">
            <a:solidFill>
              <a:srgbClr val="F4B9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484" name="Google Shape;484;p16"/>
          <p:cNvPicPr preferRelativeResize="0"/>
          <p:nvPr/>
        </p:nvPicPr>
        <p:blipFill rotWithShape="1">
          <a:blip r:embed="rId3">
            <a:alphaModFix/>
          </a:blip>
          <a:srcRect b="0" l="0" r="0" t="0"/>
          <a:stretch/>
        </p:blipFill>
        <p:spPr>
          <a:xfrm>
            <a:off x="757123" y="1488643"/>
            <a:ext cx="451714" cy="451714"/>
          </a:xfrm>
          <a:prstGeom prst="rect">
            <a:avLst/>
          </a:prstGeom>
          <a:noFill/>
          <a:ln>
            <a:noFill/>
          </a:ln>
        </p:spPr>
      </p:pic>
      <p:sp>
        <p:nvSpPr>
          <p:cNvPr id="485" name="Google Shape;485;p16"/>
          <p:cNvSpPr txBox="1"/>
          <p:nvPr/>
        </p:nvSpPr>
        <p:spPr>
          <a:xfrm>
            <a:off x="1600200" y="1325880"/>
            <a:ext cx="5029200" cy="7772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700"/>
              <a:buFont typeface="Calibri"/>
              <a:buNone/>
            </a:pPr>
            <a:r>
              <a:rPr b="1" i="0" lang="en-US" sz="1700" u="none" cap="none" strike="noStrike">
                <a:solidFill>
                  <a:schemeClr val="dk2"/>
                </a:solidFill>
                <a:latin typeface="Calibri"/>
                <a:ea typeface="Calibri"/>
                <a:cs typeface="Calibri"/>
                <a:sym typeface="Calibri"/>
              </a:rPr>
              <a:t>Instance-based (distance)</a:t>
            </a:r>
            <a:endParaRPr b="0" i="0" sz="15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accent5"/>
              </a:buClr>
              <a:buSzPts val="1400"/>
              <a:buFont typeface="Calibri"/>
              <a:buNone/>
            </a:pPr>
            <a:r>
              <a:rPr b="0" i="1" lang="en-US" sz="1400" u="none" cap="none" strike="noStrike">
                <a:solidFill>
                  <a:schemeClr val="accent5"/>
                </a:solidFill>
                <a:latin typeface="Calibri"/>
                <a:ea typeface="Calibri"/>
                <a:cs typeface="Calibri"/>
                <a:sym typeface="Calibri"/>
              </a:rPr>
              <a:t>k = 15 neighbours</a:t>
            </a:r>
            <a:endParaRPr b="0" i="0" sz="1500" u="none" cap="none" strike="noStrike">
              <a:solidFill>
                <a:schemeClr val="dk1"/>
              </a:solidFill>
              <a:latin typeface="Calibri"/>
              <a:ea typeface="Calibri"/>
              <a:cs typeface="Calibri"/>
              <a:sym typeface="Calibri"/>
            </a:endParaRPr>
          </a:p>
        </p:txBody>
      </p:sp>
      <p:sp>
        <p:nvSpPr>
          <p:cNvPr id="486" name="Google Shape;486;p16"/>
          <p:cNvSpPr/>
          <p:nvPr/>
        </p:nvSpPr>
        <p:spPr>
          <a:xfrm>
            <a:off x="548640" y="2377440"/>
            <a:ext cx="1188720" cy="1188720"/>
          </a:xfrm>
          <a:prstGeom prst="roundRect">
            <a:avLst>
              <a:gd fmla="val 6154"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 name="Google Shape;487;p16"/>
          <p:cNvSpPr txBox="1"/>
          <p:nvPr/>
        </p:nvSpPr>
        <p:spPr>
          <a:xfrm>
            <a:off x="548640" y="2487168"/>
            <a:ext cx="11887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2"/>
              </a:buClr>
              <a:buSzPts val="2200"/>
              <a:buFont typeface="Cambria"/>
              <a:buNone/>
            </a:pPr>
            <a:r>
              <a:rPr b="1" i="0" lang="en-US" sz="2200" u="none" cap="none" strike="noStrike">
                <a:solidFill>
                  <a:schemeClr val="dk2"/>
                </a:solidFill>
                <a:latin typeface="Cambria"/>
                <a:ea typeface="Cambria"/>
                <a:cs typeface="Cambria"/>
                <a:sym typeface="Cambria"/>
              </a:rPr>
              <a:t>0.695</a:t>
            </a:r>
            <a:endParaRPr b="0" i="0" sz="2200" u="none" cap="none" strike="noStrike">
              <a:solidFill>
                <a:schemeClr val="dk1"/>
              </a:solidFill>
              <a:latin typeface="Calibri"/>
              <a:ea typeface="Calibri"/>
              <a:cs typeface="Calibri"/>
              <a:sym typeface="Calibri"/>
            </a:endParaRPr>
          </a:p>
        </p:txBody>
      </p:sp>
      <p:sp>
        <p:nvSpPr>
          <p:cNvPr id="488" name="Google Shape;488;p16"/>
          <p:cNvSpPr txBox="1"/>
          <p:nvPr/>
        </p:nvSpPr>
        <p:spPr>
          <a:xfrm>
            <a:off x="548640" y="3063240"/>
            <a:ext cx="1188720" cy="36576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dk1"/>
              </a:buClr>
              <a:buSzPts val="1200"/>
              <a:buFont typeface="Calibri"/>
              <a:buNone/>
            </a:pPr>
            <a:r>
              <a:rPr b="0" i="0" lang="en-US" sz="1200" u="none" cap="none" strike="noStrike">
                <a:solidFill>
                  <a:schemeClr val="dk1"/>
                </a:solidFill>
                <a:latin typeface="Calibri"/>
                <a:ea typeface="Calibri"/>
                <a:cs typeface="Calibri"/>
                <a:sym typeface="Calibri"/>
              </a:rPr>
              <a:t>Accuracy</a:t>
            </a:r>
            <a:endParaRPr b="0" i="0" sz="1200" u="none" cap="none" strike="noStrike">
              <a:solidFill>
                <a:schemeClr val="dk1"/>
              </a:solidFill>
              <a:latin typeface="Calibri"/>
              <a:ea typeface="Calibri"/>
              <a:cs typeface="Calibri"/>
              <a:sym typeface="Calibri"/>
            </a:endParaRPr>
          </a:p>
        </p:txBody>
      </p:sp>
      <p:sp>
        <p:nvSpPr>
          <p:cNvPr id="489" name="Google Shape;489;p16"/>
          <p:cNvSpPr/>
          <p:nvPr/>
        </p:nvSpPr>
        <p:spPr>
          <a:xfrm>
            <a:off x="1856232" y="2377440"/>
            <a:ext cx="1188720" cy="1188720"/>
          </a:xfrm>
          <a:prstGeom prst="roundRect">
            <a:avLst>
              <a:gd fmla="val 6154"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p16"/>
          <p:cNvSpPr txBox="1"/>
          <p:nvPr/>
        </p:nvSpPr>
        <p:spPr>
          <a:xfrm>
            <a:off x="1856232" y="2487168"/>
            <a:ext cx="11887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2"/>
              </a:buClr>
              <a:buSzPts val="2200"/>
              <a:buFont typeface="Cambria"/>
              <a:buNone/>
            </a:pPr>
            <a:r>
              <a:rPr b="1" i="0" lang="en-US" sz="2200" u="none" cap="none" strike="noStrike">
                <a:solidFill>
                  <a:schemeClr val="dk2"/>
                </a:solidFill>
                <a:latin typeface="Cambria"/>
                <a:ea typeface="Cambria"/>
                <a:cs typeface="Cambria"/>
                <a:sym typeface="Cambria"/>
              </a:rPr>
              <a:t>0.545</a:t>
            </a:r>
            <a:endParaRPr b="0" i="0" sz="2200" u="none" cap="none" strike="noStrike">
              <a:solidFill>
                <a:schemeClr val="dk1"/>
              </a:solidFill>
              <a:latin typeface="Calibri"/>
              <a:ea typeface="Calibri"/>
              <a:cs typeface="Calibri"/>
              <a:sym typeface="Calibri"/>
            </a:endParaRPr>
          </a:p>
        </p:txBody>
      </p:sp>
      <p:sp>
        <p:nvSpPr>
          <p:cNvPr id="491" name="Google Shape;491;p16"/>
          <p:cNvSpPr txBox="1"/>
          <p:nvPr/>
        </p:nvSpPr>
        <p:spPr>
          <a:xfrm>
            <a:off x="1856232" y="3063240"/>
            <a:ext cx="1188720" cy="36576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dk1"/>
              </a:buClr>
              <a:buSzPts val="1200"/>
              <a:buFont typeface="Calibri"/>
              <a:buNone/>
            </a:pPr>
            <a:r>
              <a:rPr b="0" i="0" lang="en-US" sz="1200" u="none" cap="none" strike="noStrike">
                <a:solidFill>
                  <a:schemeClr val="dk1"/>
                </a:solidFill>
                <a:latin typeface="Calibri"/>
                <a:ea typeface="Calibri"/>
                <a:cs typeface="Calibri"/>
                <a:sym typeface="Calibri"/>
              </a:rPr>
              <a:t>Precision</a:t>
            </a:r>
            <a:endParaRPr b="0" i="0" sz="1200" u="none" cap="none" strike="noStrike">
              <a:solidFill>
                <a:schemeClr val="dk1"/>
              </a:solidFill>
              <a:latin typeface="Calibri"/>
              <a:ea typeface="Calibri"/>
              <a:cs typeface="Calibri"/>
              <a:sym typeface="Calibri"/>
            </a:endParaRPr>
          </a:p>
        </p:txBody>
      </p:sp>
      <p:sp>
        <p:nvSpPr>
          <p:cNvPr id="492" name="Google Shape;492;p16"/>
          <p:cNvSpPr/>
          <p:nvPr/>
        </p:nvSpPr>
        <p:spPr>
          <a:xfrm>
            <a:off x="3163824" y="2377440"/>
            <a:ext cx="1188720" cy="1188720"/>
          </a:xfrm>
          <a:prstGeom prst="roundRect">
            <a:avLst>
              <a:gd fmla="val 6154" name="adj"/>
            </a:avLst>
          </a:prstGeom>
          <a:solidFill>
            <a:srgbClr val="FDE3E1"/>
          </a:solidFill>
          <a:ln cap="flat" cmpd="sng" w="12700">
            <a:solidFill>
              <a:srgbClr val="FDE3E1"/>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 name="Google Shape;493;p16"/>
          <p:cNvSpPr txBox="1"/>
          <p:nvPr/>
        </p:nvSpPr>
        <p:spPr>
          <a:xfrm>
            <a:off x="3163824" y="2487168"/>
            <a:ext cx="11887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accent2"/>
              </a:buClr>
              <a:buSzPts val="2200"/>
              <a:buFont typeface="Cambria"/>
              <a:buNone/>
            </a:pPr>
            <a:r>
              <a:rPr b="1" i="0" lang="en-US" sz="2200" u="none" cap="none" strike="noStrike">
                <a:solidFill>
                  <a:schemeClr val="accent2"/>
                </a:solidFill>
                <a:latin typeface="Cambria"/>
                <a:ea typeface="Cambria"/>
                <a:cs typeface="Cambria"/>
                <a:sym typeface="Cambria"/>
              </a:rPr>
              <a:t>0.778</a:t>
            </a:r>
            <a:endParaRPr b="0" i="0" sz="2200" u="none" cap="none" strike="noStrike">
              <a:solidFill>
                <a:schemeClr val="dk1"/>
              </a:solidFill>
              <a:latin typeface="Calibri"/>
              <a:ea typeface="Calibri"/>
              <a:cs typeface="Calibri"/>
              <a:sym typeface="Calibri"/>
            </a:endParaRPr>
          </a:p>
        </p:txBody>
      </p:sp>
      <p:sp>
        <p:nvSpPr>
          <p:cNvPr id="494" name="Google Shape;494;p16"/>
          <p:cNvSpPr txBox="1"/>
          <p:nvPr/>
        </p:nvSpPr>
        <p:spPr>
          <a:xfrm>
            <a:off x="3163824" y="3063240"/>
            <a:ext cx="1188720" cy="36576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dk1"/>
              </a:buClr>
              <a:buSzPts val="1200"/>
              <a:buFont typeface="Calibri"/>
              <a:buNone/>
            </a:pPr>
            <a:r>
              <a:rPr b="0" i="0" lang="en-US" sz="1200" u="none" cap="none" strike="noStrike">
                <a:solidFill>
                  <a:schemeClr val="dk1"/>
                </a:solidFill>
                <a:latin typeface="Calibri"/>
                <a:ea typeface="Calibri"/>
                <a:cs typeface="Calibri"/>
                <a:sym typeface="Calibri"/>
              </a:rPr>
              <a:t>Recall</a:t>
            </a:r>
            <a:endParaRPr b="0" i="0" sz="1200" u="none" cap="none" strike="noStrike">
              <a:solidFill>
                <a:schemeClr val="dk1"/>
              </a:solidFill>
              <a:latin typeface="Calibri"/>
              <a:ea typeface="Calibri"/>
              <a:cs typeface="Calibri"/>
              <a:sym typeface="Calibri"/>
            </a:endParaRPr>
          </a:p>
        </p:txBody>
      </p:sp>
      <p:sp>
        <p:nvSpPr>
          <p:cNvPr id="495" name="Google Shape;495;p16"/>
          <p:cNvSpPr/>
          <p:nvPr/>
        </p:nvSpPr>
        <p:spPr>
          <a:xfrm>
            <a:off x="4471416" y="2377440"/>
            <a:ext cx="1188720" cy="1188720"/>
          </a:xfrm>
          <a:prstGeom prst="roundRect">
            <a:avLst>
              <a:gd fmla="val 6154"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 name="Google Shape;496;p16"/>
          <p:cNvSpPr txBox="1"/>
          <p:nvPr/>
        </p:nvSpPr>
        <p:spPr>
          <a:xfrm>
            <a:off x="4471416" y="2487168"/>
            <a:ext cx="11887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2"/>
              </a:buClr>
              <a:buSzPts val="2200"/>
              <a:buFont typeface="Cambria"/>
              <a:buNone/>
            </a:pPr>
            <a:r>
              <a:rPr b="1" i="0" lang="en-US" sz="2200" u="none" cap="none" strike="noStrike">
                <a:solidFill>
                  <a:schemeClr val="dk2"/>
                </a:solidFill>
                <a:latin typeface="Cambria"/>
                <a:ea typeface="Cambria"/>
                <a:cs typeface="Cambria"/>
                <a:sym typeface="Cambria"/>
              </a:rPr>
              <a:t>0.641</a:t>
            </a:r>
            <a:endParaRPr b="0" i="0" sz="2200" u="none" cap="none" strike="noStrike">
              <a:solidFill>
                <a:schemeClr val="dk1"/>
              </a:solidFill>
              <a:latin typeface="Calibri"/>
              <a:ea typeface="Calibri"/>
              <a:cs typeface="Calibri"/>
              <a:sym typeface="Calibri"/>
            </a:endParaRPr>
          </a:p>
        </p:txBody>
      </p:sp>
      <p:sp>
        <p:nvSpPr>
          <p:cNvPr id="497" name="Google Shape;497;p16"/>
          <p:cNvSpPr txBox="1"/>
          <p:nvPr/>
        </p:nvSpPr>
        <p:spPr>
          <a:xfrm>
            <a:off x="4471416" y="3063240"/>
            <a:ext cx="1188720" cy="36576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dk1"/>
              </a:buClr>
              <a:buSzPts val="1200"/>
              <a:buFont typeface="Calibri"/>
              <a:buNone/>
            </a:pPr>
            <a:r>
              <a:rPr b="0" i="0" lang="en-US" sz="1200" u="none" cap="none" strike="noStrike">
                <a:solidFill>
                  <a:schemeClr val="dk1"/>
                </a:solidFill>
                <a:latin typeface="Calibri"/>
                <a:ea typeface="Calibri"/>
                <a:cs typeface="Calibri"/>
                <a:sym typeface="Calibri"/>
              </a:rPr>
              <a:t>F1</a:t>
            </a:r>
            <a:endParaRPr b="0" i="0" sz="1200" u="none" cap="none" strike="noStrike">
              <a:solidFill>
                <a:schemeClr val="dk1"/>
              </a:solidFill>
              <a:latin typeface="Calibri"/>
              <a:ea typeface="Calibri"/>
              <a:cs typeface="Calibri"/>
              <a:sym typeface="Calibri"/>
            </a:endParaRPr>
          </a:p>
        </p:txBody>
      </p:sp>
      <p:sp>
        <p:nvSpPr>
          <p:cNvPr id="498" name="Google Shape;498;p16"/>
          <p:cNvSpPr/>
          <p:nvPr/>
        </p:nvSpPr>
        <p:spPr>
          <a:xfrm>
            <a:off x="5779008" y="2377440"/>
            <a:ext cx="1188720" cy="1188720"/>
          </a:xfrm>
          <a:prstGeom prst="roundRect">
            <a:avLst>
              <a:gd fmla="val 6154"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 name="Google Shape;499;p16"/>
          <p:cNvSpPr txBox="1"/>
          <p:nvPr/>
        </p:nvSpPr>
        <p:spPr>
          <a:xfrm>
            <a:off x="5779008" y="2487168"/>
            <a:ext cx="11887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2"/>
              </a:buClr>
              <a:buSzPts val="2200"/>
              <a:buFont typeface="Cambria"/>
              <a:buNone/>
            </a:pPr>
            <a:r>
              <a:rPr b="1" i="0" lang="en-US" sz="2200" u="none" cap="none" strike="noStrike">
                <a:solidFill>
                  <a:schemeClr val="dk2"/>
                </a:solidFill>
                <a:latin typeface="Cambria"/>
                <a:ea typeface="Cambria"/>
                <a:cs typeface="Cambria"/>
                <a:sym typeface="Cambria"/>
              </a:rPr>
              <a:t>0.797</a:t>
            </a:r>
            <a:endParaRPr b="0" i="0" sz="2200" u="none" cap="none" strike="noStrike">
              <a:solidFill>
                <a:schemeClr val="dk1"/>
              </a:solidFill>
              <a:latin typeface="Calibri"/>
              <a:ea typeface="Calibri"/>
              <a:cs typeface="Calibri"/>
              <a:sym typeface="Calibri"/>
            </a:endParaRPr>
          </a:p>
        </p:txBody>
      </p:sp>
      <p:sp>
        <p:nvSpPr>
          <p:cNvPr id="500" name="Google Shape;500;p16"/>
          <p:cNvSpPr txBox="1"/>
          <p:nvPr/>
        </p:nvSpPr>
        <p:spPr>
          <a:xfrm>
            <a:off x="5779008" y="3063240"/>
            <a:ext cx="1188720" cy="36576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dk1"/>
              </a:buClr>
              <a:buSzPts val="1200"/>
              <a:buFont typeface="Calibri"/>
              <a:buNone/>
            </a:pPr>
            <a:r>
              <a:rPr b="0" i="0" lang="en-US" sz="1200" u="none" cap="none" strike="noStrike">
                <a:solidFill>
                  <a:schemeClr val="dk1"/>
                </a:solidFill>
                <a:latin typeface="Calibri"/>
                <a:ea typeface="Calibri"/>
                <a:cs typeface="Calibri"/>
                <a:sym typeface="Calibri"/>
              </a:rPr>
              <a:t>ROC-AUC</a:t>
            </a:r>
            <a:endParaRPr b="0" i="0" sz="1200" u="none" cap="none" strike="noStrike">
              <a:solidFill>
                <a:schemeClr val="dk1"/>
              </a:solidFill>
              <a:latin typeface="Calibri"/>
              <a:ea typeface="Calibri"/>
              <a:cs typeface="Calibri"/>
              <a:sym typeface="Calibri"/>
            </a:endParaRPr>
          </a:p>
        </p:txBody>
      </p:sp>
      <p:sp>
        <p:nvSpPr>
          <p:cNvPr id="501" name="Google Shape;501;p16"/>
          <p:cNvSpPr txBox="1"/>
          <p:nvPr/>
        </p:nvSpPr>
        <p:spPr>
          <a:xfrm>
            <a:off x="548640" y="3703320"/>
            <a:ext cx="640080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5"/>
              </a:buClr>
              <a:buSzPts val="1200"/>
              <a:buFont typeface="Calibri"/>
              <a:buNone/>
            </a:pPr>
            <a:r>
              <a:rPr b="0" i="1" lang="en-US" sz="1200" u="none" cap="none" strike="noStrike">
                <a:solidFill>
                  <a:schemeClr val="accent5"/>
                </a:solidFill>
                <a:latin typeface="Calibri"/>
                <a:ea typeface="Calibri"/>
                <a:cs typeface="Calibri"/>
                <a:sym typeface="Calibri"/>
              </a:rPr>
              <a:t>Test set (154 patients)  |  specificity 0.65  |  5-fold CV ROC-AUC 0.820 ± 0.045, CV recall 0.790</a:t>
            </a:r>
            <a:endParaRPr b="0" i="0" sz="1200" u="none" cap="none" strike="noStrike">
              <a:solidFill>
                <a:schemeClr val="dk1"/>
              </a:solidFill>
              <a:latin typeface="Calibri"/>
              <a:ea typeface="Calibri"/>
              <a:cs typeface="Calibri"/>
              <a:sym typeface="Calibri"/>
            </a:endParaRPr>
          </a:p>
        </p:txBody>
      </p:sp>
      <p:sp>
        <p:nvSpPr>
          <p:cNvPr id="502" name="Google Shape;502;p16"/>
          <p:cNvSpPr txBox="1"/>
          <p:nvPr/>
        </p:nvSpPr>
        <p:spPr>
          <a:xfrm>
            <a:off x="548640" y="4069080"/>
            <a:ext cx="3657600" cy="29260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400"/>
              <a:buFont typeface="Calibri"/>
              <a:buNone/>
            </a:pPr>
            <a:r>
              <a:rPr b="1" i="0" lang="en-US" sz="1400" u="none" cap="none" strike="noStrike">
                <a:solidFill>
                  <a:schemeClr val="dk2"/>
                </a:solidFill>
                <a:latin typeface="Calibri"/>
                <a:ea typeface="Calibri"/>
                <a:cs typeface="Calibri"/>
                <a:sym typeface="Calibri"/>
              </a:rPr>
              <a:t>Confusion matrix (test)</a:t>
            </a:r>
            <a:endParaRPr b="0" i="0" sz="1400" u="none" cap="none" strike="noStrike">
              <a:solidFill>
                <a:schemeClr val="dk1"/>
              </a:solidFill>
              <a:latin typeface="Calibri"/>
              <a:ea typeface="Calibri"/>
              <a:cs typeface="Calibri"/>
              <a:sym typeface="Calibri"/>
            </a:endParaRPr>
          </a:p>
        </p:txBody>
      </p:sp>
      <p:sp>
        <p:nvSpPr>
          <p:cNvPr id="503" name="Google Shape;503;p16"/>
          <p:cNvSpPr txBox="1"/>
          <p:nvPr/>
        </p:nvSpPr>
        <p:spPr>
          <a:xfrm>
            <a:off x="1417320" y="4389120"/>
            <a:ext cx="1325880" cy="237744"/>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accent5"/>
              </a:buClr>
              <a:buSzPts val="1100"/>
              <a:buFont typeface="Calibri"/>
              <a:buNone/>
            </a:pPr>
            <a:r>
              <a:rPr b="0" i="0" lang="en-US" sz="1100" u="none" cap="none" strike="noStrike">
                <a:solidFill>
                  <a:schemeClr val="accent5"/>
                </a:solidFill>
                <a:latin typeface="Calibri"/>
                <a:ea typeface="Calibri"/>
                <a:cs typeface="Calibri"/>
                <a:sym typeface="Calibri"/>
              </a:rPr>
              <a:t>Predicted −</a:t>
            </a:r>
            <a:endParaRPr b="0" i="0" sz="1100" u="none" cap="none" strike="noStrike">
              <a:solidFill>
                <a:schemeClr val="dk1"/>
              </a:solidFill>
              <a:latin typeface="Calibri"/>
              <a:ea typeface="Calibri"/>
              <a:cs typeface="Calibri"/>
              <a:sym typeface="Calibri"/>
            </a:endParaRPr>
          </a:p>
        </p:txBody>
      </p:sp>
      <p:sp>
        <p:nvSpPr>
          <p:cNvPr id="504" name="Google Shape;504;p16"/>
          <p:cNvSpPr txBox="1"/>
          <p:nvPr/>
        </p:nvSpPr>
        <p:spPr>
          <a:xfrm>
            <a:off x="2834640" y="4389120"/>
            <a:ext cx="1325880" cy="237744"/>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accent5"/>
              </a:buClr>
              <a:buSzPts val="1100"/>
              <a:buFont typeface="Calibri"/>
              <a:buNone/>
            </a:pPr>
            <a:r>
              <a:rPr b="0" i="0" lang="en-US" sz="1100" u="none" cap="none" strike="noStrike">
                <a:solidFill>
                  <a:schemeClr val="accent5"/>
                </a:solidFill>
                <a:latin typeface="Calibri"/>
                <a:ea typeface="Calibri"/>
                <a:cs typeface="Calibri"/>
                <a:sym typeface="Calibri"/>
              </a:rPr>
              <a:t>Predicted +</a:t>
            </a:r>
            <a:endParaRPr b="0" i="0" sz="1100" u="none" cap="none" strike="noStrike">
              <a:solidFill>
                <a:schemeClr val="dk1"/>
              </a:solidFill>
              <a:latin typeface="Calibri"/>
              <a:ea typeface="Calibri"/>
              <a:cs typeface="Calibri"/>
              <a:sym typeface="Calibri"/>
            </a:endParaRPr>
          </a:p>
        </p:txBody>
      </p:sp>
      <p:sp>
        <p:nvSpPr>
          <p:cNvPr id="505" name="Google Shape;505;p16"/>
          <p:cNvSpPr/>
          <p:nvPr/>
        </p:nvSpPr>
        <p:spPr>
          <a:xfrm>
            <a:off x="1417320" y="4663440"/>
            <a:ext cx="1325880" cy="713232"/>
          </a:xfrm>
          <a:prstGeom prst="roundRect">
            <a:avLst>
              <a:gd fmla="val 7692"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2000"/>
              <a:buFont typeface="Calibri"/>
              <a:buNone/>
            </a:pPr>
            <a:r>
              <a:rPr b="1" i="0" lang="en-US" sz="2000" u="none" cap="none" strike="noStrike">
                <a:solidFill>
                  <a:schemeClr val="dk2"/>
                </a:solidFill>
                <a:latin typeface="Calibri"/>
                <a:ea typeface="Calibri"/>
                <a:cs typeface="Calibri"/>
                <a:sym typeface="Calibri"/>
              </a:rPr>
              <a:t>65</a:t>
            </a:r>
            <a:endParaRPr b="0" i="0" sz="2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chemeClr val="dk2"/>
              </a:buClr>
              <a:buSzPts val="1100"/>
              <a:buFont typeface="Calibri"/>
              <a:buNone/>
            </a:pPr>
            <a:r>
              <a:rPr b="0" i="0" lang="en-US" sz="1100" u="none" cap="none" strike="noStrike">
                <a:solidFill>
                  <a:schemeClr val="dk2"/>
                </a:solidFill>
                <a:latin typeface="Calibri"/>
                <a:ea typeface="Calibri"/>
                <a:cs typeface="Calibri"/>
                <a:sym typeface="Calibri"/>
              </a:rPr>
              <a:t>TN</a:t>
            </a:r>
            <a:endParaRPr b="0" i="0" sz="2000" u="none" cap="none" strike="noStrike">
              <a:solidFill>
                <a:schemeClr val="dk1"/>
              </a:solidFill>
              <a:latin typeface="Calibri"/>
              <a:ea typeface="Calibri"/>
              <a:cs typeface="Calibri"/>
              <a:sym typeface="Calibri"/>
            </a:endParaRPr>
          </a:p>
        </p:txBody>
      </p:sp>
      <p:sp>
        <p:nvSpPr>
          <p:cNvPr id="506" name="Google Shape;506;p16"/>
          <p:cNvSpPr/>
          <p:nvPr/>
        </p:nvSpPr>
        <p:spPr>
          <a:xfrm>
            <a:off x="2834640" y="4663440"/>
            <a:ext cx="1325880" cy="713232"/>
          </a:xfrm>
          <a:prstGeom prst="roundRect">
            <a:avLst>
              <a:gd fmla="val 7692"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2000"/>
              <a:buFont typeface="Calibri"/>
              <a:buNone/>
            </a:pPr>
            <a:r>
              <a:rPr b="1" i="0" lang="en-US" sz="2000" u="none" cap="none" strike="noStrike">
                <a:solidFill>
                  <a:schemeClr val="dk2"/>
                </a:solidFill>
                <a:latin typeface="Calibri"/>
                <a:ea typeface="Calibri"/>
                <a:cs typeface="Calibri"/>
                <a:sym typeface="Calibri"/>
              </a:rPr>
              <a:t>35</a:t>
            </a:r>
            <a:endParaRPr b="0" i="0" sz="2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chemeClr val="dk2"/>
              </a:buClr>
              <a:buSzPts val="1100"/>
              <a:buFont typeface="Calibri"/>
              <a:buNone/>
            </a:pPr>
            <a:r>
              <a:rPr b="0" i="0" lang="en-US" sz="1100" u="none" cap="none" strike="noStrike">
                <a:solidFill>
                  <a:schemeClr val="dk2"/>
                </a:solidFill>
                <a:latin typeface="Calibri"/>
                <a:ea typeface="Calibri"/>
                <a:cs typeface="Calibri"/>
                <a:sym typeface="Calibri"/>
              </a:rPr>
              <a:t>FP</a:t>
            </a:r>
            <a:endParaRPr b="0" i="0" sz="2000" u="none" cap="none" strike="noStrike">
              <a:solidFill>
                <a:schemeClr val="dk1"/>
              </a:solidFill>
              <a:latin typeface="Calibri"/>
              <a:ea typeface="Calibri"/>
              <a:cs typeface="Calibri"/>
              <a:sym typeface="Calibri"/>
            </a:endParaRPr>
          </a:p>
        </p:txBody>
      </p:sp>
      <p:sp>
        <p:nvSpPr>
          <p:cNvPr id="507" name="Google Shape;507;p16"/>
          <p:cNvSpPr/>
          <p:nvPr/>
        </p:nvSpPr>
        <p:spPr>
          <a:xfrm>
            <a:off x="1417320" y="5449824"/>
            <a:ext cx="1325880" cy="713232"/>
          </a:xfrm>
          <a:prstGeom prst="roundRect">
            <a:avLst>
              <a:gd fmla="val 7692" name="adj"/>
            </a:avLst>
          </a:prstGeom>
          <a:solidFill>
            <a:schemeClr val="accent2"/>
          </a:solidFill>
          <a:ln cap="flat" cmpd="sng" w="9525">
            <a:solidFill>
              <a:schemeClr val="accen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2000"/>
              <a:buFont typeface="Calibri"/>
              <a:buNone/>
            </a:pPr>
            <a:r>
              <a:rPr b="1" i="0" lang="en-US" sz="2000" u="none" cap="none" strike="noStrike">
                <a:solidFill>
                  <a:schemeClr val="lt1"/>
                </a:solidFill>
                <a:latin typeface="Calibri"/>
                <a:ea typeface="Calibri"/>
                <a:cs typeface="Calibri"/>
                <a:sym typeface="Calibri"/>
              </a:rPr>
              <a:t>12</a:t>
            </a:r>
            <a:endParaRPr b="0" i="0" sz="2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chemeClr val="lt1"/>
              </a:buClr>
              <a:buSzPts val="1100"/>
              <a:buFont typeface="Calibri"/>
              <a:buNone/>
            </a:pPr>
            <a:r>
              <a:rPr b="0" i="0" lang="en-US" sz="1100" u="none" cap="none" strike="noStrike">
                <a:solidFill>
                  <a:schemeClr val="lt1"/>
                </a:solidFill>
                <a:latin typeface="Calibri"/>
                <a:ea typeface="Calibri"/>
                <a:cs typeface="Calibri"/>
                <a:sym typeface="Calibri"/>
              </a:rPr>
              <a:t>FN</a:t>
            </a:r>
            <a:endParaRPr b="0" i="0" sz="2000" u="none" cap="none" strike="noStrike">
              <a:solidFill>
                <a:schemeClr val="dk1"/>
              </a:solidFill>
              <a:latin typeface="Calibri"/>
              <a:ea typeface="Calibri"/>
              <a:cs typeface="Calibri"/>
              <a:sym typeface="Calibri"/>
            </a:endParaRPr>
          </a:p>
        </p:txBody>
      </p:sp>
      <p:sp>
        <p:nvSpPr>
          <p:cNvPr id="508" name="Google Shape;508;p16"/>
          <p:cNvSpPr/>
          <p:nvPr/>
        </p:nvSpPr>
        <p:spPr>
          <a:xfrm>
            <a:off x="2834640" y="5449824"/>
            <a:ext cx="1325880" cy="713232"/>
          </a:xfrm>
          <a:prstGeom prst="roundRect">
            <a:avLst>
              <a:gd fmla="val 7692" name="adj"/>
            </a:avLst>
          </a:prstGeom>
          <a:solidFill>
            <a:schemeClr val="accent1"/>
          </a:solidFill>
          <a:ln cap="flat" cmpd="sng" w="9525">
            <a:solidFill>
              <a:schemeClr val="accent1"/>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2000"/>
              <a:buFont typeface="Calibri"/>
              <a:buNone/>
            </a:pPr>
            <a:r>
              <a:rPr b="1" i="0" lang="en-US" sz="2000" u="none" cap="none" strike="noStrike">
                <a:solidFill>
                  <a:schemeClr val="lt1"/>
                </a:solidFill>
                <a:latin typeface="Calibri"/>
                <a:ea typeface="Calibri"/>
                <a:cs typeface="Calibri"/>
                <a:sym typeface="Calibri"/>
              </a:rPr>
              <a:t>42</a:t>
            </a:r>
            <a:endParaRPr b="0" i="0" sz="2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chemeClr val="lt1"/>
              </a:buClr>
              <a:buSzPts val="1100"/>
              <a:buFont typeface="Calibri"/>
              <a:buNone/>
            </a:pPr>
            <a:r>
              <a:rPr b="0" i="0" lang="en-US" sz="1100" u="none" cap="none" strike="noStrike">
                <a:solidFill>
                  <a:schemeClr val="lt1"/>
                </a:solidFill>
                <a:latin typeface="Calibri"/>
                <a:ea typeface="Calibri"/>
                <a:cs typeface="Calibri"/>
                <a:sym typeface="Calibri"/>
              </a:rPr>
              <a:t>TP</a:t>
            </a:r>
            <a:endParaRPr b="0" i="0" sz="2000" u="none" cap="none" strike="noStrike">
              <a:solidFill>
                <a:schemeClr val="dk1"/>
              </a:solidFill>
              <a:latin typeface="Calibri"/>
              <a:ea typeface="Calibri"/>
              <a:cs typeface="Calibri"/>
              <a:sym typeface="Calibri"/>
            </a:endParaRPr>
          </a:p>
        </p:txBody>
      </p:sp>
      <p:sp>
        <p:nvSpPr>
          <p:cNvPr id="509" name="Google Shape;509;p16"/>
          <p:cNvSpPr txBox="1"/>
          <p:nvPr/>
        </p:nvSpPr>
        <p:spPr>
          <a:xfrm>
            <a:off x="548640" y="4663440"/>
            <a:ext cx="822960" cy="7132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5"/>
              </a:buClr>
              <a:buSzPts val="1100"/>
              <a:buFont typeface="Calibri"/>
              <a:buNone/>
            </a:pPr>
            <a:r>
              <a:rPr b="0" i="0" lang="en-US" sz="1100" u="none" cap="none" strike="noStrike">
                <a:solidFill>
                  <a:schemeClr val="accent5"/>
                </a:solidFill>
                <a:latin typeface="Calibri"/>
                <a:ea typeface="Calibri"/>
                <a:cs typeface="Calibri"/>
                <a:sym typeface="Calibri"/>
              </a:rPr>
              <a:t>Actual −</a:t>
            </a:r>
            <a:endParaRPr b="0" i="0" sz="1100" u="none" cap="none" strike="noStrike">
              <a:solidFill>
                <a:schemeClr val="dk1"/>
              </a:solidFill>
              <a:latin typeface="Calibri"/>
              <a:ea typeface="Calibri"/>
              <a:cs typeface="Calibri"/>
              <a:sym typeface="Calibri"/>
            </a:endParaRPr>
          </a:p>
        </p:txBody>
      </p:sp>
      <p:sp>
        <p:nvSpPr>
          <p:cNvPr id="510" name="Google Shape;510;p16"/>
          <p:cNvSpPr txBox="1"/>
          <p:nvPr/>
        </p:nvSpPr>
        <p:spPr>
          <a:xfrm>
            <a:off x="548640" y="5449824"/>
            <a:ext cx="822960" cy="7132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5"/>
              </a:buClr>
              <a:buSzPts val="1100"/>
              <a:buFont typeface="Calibri"/>
              <a:buNone/>
            </a:pPr>
            <a:r>
              <a:rPr b="0" i="0" lang="en-US" sz="1100" u="none" cap="none" strike="noStrike">
                <a:solidFill>
                  <a:schemeClr val="accent5"/>
                </a:solidFill>
                <a:latin typeface="Calibri"/>
                <a:ea typeface="Calibri"/>
                <a:cs typeface="Calibri"/>
                <a:sym typeface="Calibri"/>
              </a:rPr>
              <a:t>Actual +</a:t>
            </a:r>
            <a:endParaRPr b="0" i="0" sz="1100" u="none" cap="none" strike="noStrike">
              <a:solidFill>
                <a:schemeClr val="dk1"/>
              </a:solidFill>
              <a:latin typeface="Calibri"/>
              <a:ea typeface="Calibri"/>
              <a:cs typeface="Calibri"/>
              <a:sym typeface="Calibri"/>
            </a:endParaRPr>
          </a:p>
        </p:txBody>
      </p:sp>
      <p:sp>
        <p:nvSpPr>
          <p:cNvPr id="511" name="Google Shape;511;p16"/>
          <p:cNvSpPr/>
          <p:nvPr/>
        </p:nvSpPr>
        <p:spPr>
          <a:xfrm>
            <a:off x="7223760" y="1280160"/>
            <a:ext cx="4416552" cy="4754880"/>
          </a:xfrm>
          <a:prstGeom prst="roundRect">
            <a:avLst>
              <a:gd fmla="val 1656"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 name="Google Shape;512;p16"/>
          <p:cNvSpPr/>
          <p:nvPr/>
        </p:nvSpPr>
        <p:spPr>
          <a:xfrm>
            <a:off x="7452360" y="1508760"/>
            <a:ext cx="3959352" cy="548640"/>
          </a:xfrm>
          <a:prstGeom prst="roundRect">
            <a:avLst>
              <a:gd fmla="val 16667" name="adj"/>
            </a:avLst>
          </a:prstGeom>
          <a:solidFill>
            <a:schemeClr val="accent3"/>
          </a:solidFill>
          <a:ln cap="flat" cmpd="sng" w="9525">
            <a:solidFill>
              <a:schemeClr val="accent3"/>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700"/>
              <a:buFont typeface="Calibri"/>
              <a:buNone/>
            </a:pPr>
            <a:r>
              <a:rPr b="1" i="0" lang="en-US" sz="1700" u="none" cap="none" strike="noStrike">
                <a:solidFill>
                  <a:schemeClr val="lt1"/>
                </a:solidFill>
                <a:latin typeface="Calibri"/>
                <a:ea typeface="Calibri"/>
                <a:cs typeface="Calibri"/>
                <a:sym typeface="Calibri"/>
              </a:rPr>
              <a:t>Eligible, not selected</a:t>
            </a:r>
            <a:endParaRPr b="0" i="0" sz="1700" u="none" cap="none" strike="noStrike">
              <a:solidFill>
                <a:schemeClr val="dk1"/>
              </a:solidFill>
              <a:latin typeface="Calibri"/>
              <a:ea typeface="Calibri"/>
              <a:cs typeface="Calibri"/>
              <a:sym typeface="Calibri"/>
            </a:endParaRPr>
          </a:p>
        </p:txBody>
      </p:sp>
      <p:sp>
        <p:nvSpPr>
          <p:cNvPr id="513" name="Google Shape;513;p16"/>
          <p:cNvSpPr txBox="1"/>
          <p:nvPr/>
        </p:nvSpPr>
        <p:spPr>
          <a:xfrm>
            <a:off x="7452360" y="2286000"/>
            <a:ext cx="3959352" cy="2377440"/>
          </a:xfrm>
          <a:prstGeom prst="rect">
            <a:avLst/>
          </a:prstGeom>
          <a:noFill/>
          <a:ln>
            <a:noFill/>
          </a:ln>
        </p:spPr>
        <p:txBody>
          <a:bodyPr anchorCtr="0" anchor="t" bIns="0" lIns="0" spcFirstLastPara="1" rIns="0" wrap="square" tIns="0">
            <a:noAutofit/>
          </a:bodyPr>
          <a:lstStyle/>
          <a:p>
            <a:pPr indent="-203200" lvl="0" marL="203200" marR="0" rtl="0" algn="l">
              <a:spcBef>
                <a:spcPts val="0"/>
              </a:spcBef>
              <a:spcAft>
                <a:spcPts val="0"/>
              </a:spcAft>
              <a:buClr>
                <a:schemeClr val="dk1"/>
              </a:buClr>
              <a:buSzPts val="1500"/>
              <a:buFont typeface="Calibri"/>
              <a:buChar char="•"/>
            </a:pPr>
            <a:r>
              <a:rPr b="0" i="0" lang="en-US" sz="1500" u="none" cap="none" strike="noStrike">
                <a:solidFill>
                  <a:schemeClr val="dk1"/>
                </a:solidFill>
                <a:latin typeface="Calibri"/>
                <a:ea typeface="Calibri"/>
                <a:cs typeface="Calibri"/>
                <a:sym typeface="Calibri"/>
              </a:rPr>
              <a:t>Highest recall: misses only 12 diabetic patients</a:t>
            </a:r>
            <a:endParaRPr b="0" i="0" sz="1500" u="none" cap="none" strike="noStrike">
              <a:solidFill>
                <a:schemeClr val="dk1"/>
              </a:solidFill>
              <a:latin typeface="Calibri"/>
              <a:ea typeface="Calibri"/>
              <a:cs typeface="Calibri"/>
              <a:sym typeface="Calibri"/>
            </a:endParaRPr>
          </a:p>
          <a:p>
            <a:pPr indent="-203200" lvl="0" marL="203200" marR="0" rtl="0" algn="l">
              <a:spcBef>
                <a:spcPts val="600"/>
              </a:spcBef>
              <a:spcAft>
                <a:spcPts val="0"/>
              </a:spcAft>
              <a:buClr>
                <a:schemeClr val="dk1"/>
              </a:buClr>
              <a:buSzPts val="1500"/>
              <a:buFont typeface="Calibri"/>
              <a:buChar char="•"/>
            </a:pPr>
            <a:r>
              <a:rPr b="0" i="0" lang="en-US" sz="1500" u="none" cap="none" strike="noStrike">
                <a:solidFill>
                  <a:schemeClr val="dk1"/>
                </a:solidFill>
                <a:latin typeface="Calibri"/>
                <a:ea typeface="Calibri"/>
                <a:cs typeface="Calibri"/>
                <a:sym typeface="Calibri"/>
              </a:rPr>
              <a:t>But the most false alarms (35) and the lowest precision (0.55)</a:t>
            </a:r>
            <a:endParaRPr b="0" i="0" sz="1500" u="none" cap="none" strike="noStrike">
              <a:solidFill>
                <a:schemeClr val="dk1"/>
              </a:solidFill>
              <a:latin typeface="Calibri"/>
              <a:ea typeface="Calibri"/>
              <a:cs typeface="Calibri"/>
              <a:sym typeface="Calibri"/>
            </a:endParaRPr>
          </a:p>
          <a:p>
            <a:pPr indent="-203200" lvl="0" marL="203200" marR="0" rtl="0" algn="l">
              <a:spcBef>
                <a:spcPts val="600"/>
              </a:spcBef>
              <a:spcAft>
                <a:spcPts val="0"/>
              </a:spcAft>
              <a:buClr>
                <a:schemeClr val="dk1"/>
              </a:buClr>
              <a:buSzPts val="1500"/>
              <a:buFont typeface="Calibri"/>
              <a:buChar char="•"/>
            </a:pPr>
            <a:r>
              <a:rPr b="0" i="0" lang="en-US" sz="1500" u="none" cap="none" strike="noStrike">
                <a:solidFill>
                  <a:schemeClr val="dk1"/>
                </a:solidFill>
                <a:latin typeface="Calibri"/>
                <a:ea typeface="Calibri"/>
                <a:cs typeface="Calibri"/>
                <a:sym typeface="Calibri"/>
              </a:rPr>
              <a:t>Lower overall score than Random Forest</a:t>
            </a:r>
            <a:endParaRPr b="0" i="0" sz="1500" u="none" cap="none" strike="noStrike">
              <a:solidFill>
                <a:schemeClr val="dk1"/>
              </a:solidFill>
              <a:latin typeface="Calibri"/>
              <a:ea typeface="Calibri"/>
              <a:cs typeface="Calibri"/>
              <a:sym typeface="Calibri"/>
            </a:endParaRPr>
          </a:p>
        </p:txBody>
      </p:sp>
      <p:sp>
        <p:nvSpPr>
          <p:cNvPr id="514" name="Google Shape;514;p16"/>
          <p:cNvSpPr txBox="1"/>
          <p:nvPr/>
        </p:nvSpPr>
        <p:spPr>
          <a:xfrm>
            <a:off x="7452360" y="4754880"/>
            <a:ext cx="3959352"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300"/>
              <a:buFont typeface="Calibri"/>
              <a:buNone/>
            </a:pPr>
            <a:r>
              <a:rPr b="1" i="0" lang="en-US" sz="1300" u="none" cap="none" strike="noStrike">
                <a:solidFill>
                  <a:schemeClr val="dk2"/>
                </a:solidFill>
                <a:latin typeface="Calibri"/>
                <a:ea typeface="Calibri"/>
                <a:cs typeface="Calibri"/>
                <a:sym typeface="Calibri"/>
              </a:rPr>
              <a:t>Overall score: </a:t>
            </a:r>
            <a:r>
              <a:rPr b="0" i="0" lang="en-US" sz="1300" u="none" cap="none" strike="noStrike">
                <a:solidFill>
                  <a:schemeClr val="dk2"/>
                </a:solidFill>
                <a:latin typeface="Calibri"/>
                <a:ea typeface="Calibri"/>
                <a:cs typeface="Calibri"/>
                <a:sym typeface="Calibri"/>
              </a:rPr>
              <a:t>0.7054  (mean of 5 metrics, CV + test)</a:t>
            </a:r>
            <a:endParaRPr b="0" i="0" sz="1300" u="none" cap="none" strike="noStrike">
              <a:solidFill>
                <a:schemeClr val="dk1"/>
              </a:solidFill>
              <a:latin typeface="Calibri"/>
              <a:ea typeface="Calibri"/>
              <a:cs typeface="Calibri"/>
              <a:sym typeface="Calibri"/>
            </a:endParaRPr>
          </a:p>
        </p:txBody>
      </p:sp>
      <p:sp>
        <p:nvSpPr>
          <p:cNvPr id="515" name="Google Shape;515;p16">
            <a:hlinkClick action="ppaction://hlinksldjump" r:id="rId4"/>
          </p:cNvPr>
          <p:cNvSpPr/>
          <p:nvPr/>
        </p:nvSpPr>
        <p:spPr>
          <a:xfrm>
            <a:off x="10680192" y="6336792"/>
            <a:ext cx="960120" cy="365760"/>
          </a:xfrm>
          <a:prstGeom prst="roundRect">
            <a:avLst>
              <a:gd fmla="val 25000" name="adj"/>
            </a:avLst>
          </a:prstGeom>
          <a:solidFill>
            <a:schemeClr val="accent1"/>
          </a:solidFill>
          <a:ln cap="flat" cmpd="sng" w="9525">
            <a:solidFill>
              <a:schemeClr val="accent1"/>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DT ›</a:t>
            </a:r>
            <a:endParaRPr b="0" i="0" sz="1200" u="none" cap="none" strike="noStrike">
              <a:solidFill>
                <a:schemeClr val="dk1"/>
              </a:solidFill>
              <a:latin typeface="Calibri"/>
              <a:ea typeface="Calibri"/>
              <a:cs typeface="Calibri"/>
              <a:sym typeface="Calibri"/>
            </a:endParaRPr>
          </a:p>
        </p:txBody>
      </p:sp>
      <p:sp>
        <p:nvSpPr>
          <p:cNvPr id="516" name="Google Shape;516;p16">
            <a:hlinkClick action="ppaction://hlinksldjump" r:id="rId5"/>
          </p:cNvPr>
          <p:cNvSpPr/>
          <p:nvPr/>
        </p:nvSpPr>
        <p:spPr>
          <a:xfrm>
            <a:off x="9610344" y="6336792"/>
            <a:ext cx="960120" cy="365760"/>
          </a:xfrm>
          <a:prstGeom prst="roundRect">
            <a:avLst>
              <a:gd fmla="val 25000"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1" i="0" lang="en-US" sz="1200" u="none" cap="none" strike="noStrike">
                <a:solidFill>
                  <a:schemeClr val="dk2"/>
                </a:solidFill>
                <a:latin typeface="Calibri"/>
                <a:ea typeface="Calibri"/>
                <a:cs typeface="Calibri"/>
                <a:sym typeface="Calibri"/>
              </a:rPr>
              <a:t>Agenda</a:t>
            </a:r>
            <a:endParaRPr b="0" i="0" sz="1200" u="none" cap="none" strike="noStrike">
              <a:solidFill>
                <a:schemeClr val="dk1"/>
              </a:solidFill>
              <a:latin typeface="Calibri"/>
              <a:ea typeface="Calibri"/>
              <a:cs typeface="Calibri"/>
              <a:sym typeface="Calibri"/>
            </a:endParaRPr>
          </a:p>
        </p:txBody>
      </p:sp>
      <p:sp>
        <p:nvSpPr>
          <p:cNvPr id="517" name="Google Shape;517;p16">
            <a:hlinkClick action="ppaction://hlinksldjump" r:id="rId6"/>
          </p:cNvPr>
          <p:cNvSpPr/>
          <p:nvPr/>
        </p:nvSpPr>
        <p:spPr>
          <a:xfrm>
            <a:off x="8540496" y="6336792"/>
            <a:ext cx="960120" cy="365760"/>
          </a:xfrm>
          <a:prstGeom prst="roundRect">
            <a:avLst>
              <a:gd fmla="val 25000"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1" i="0" lang="en-US" sz="1200" u="none" cap="none" strike="noStrike">
                <a:solidFill>
                  <a:schemeClr val="dk2"/>
                </a:solidFill>
                <a:latin typeface="Calibri"/>
                <a:ea typeface="Calibri"/>
                <a:cs typeface="Calibri"/>
                <a:sym typeface="Calibri"/>
              </a:rPr>
              <a:t>‹ LR</a:t>
            </a:r>
            <a:endParaRPr b="0" i="0" sz="1200" u="none" cap="none" strike="noStrike">
              <a:solidFill>
                <a:schemeClr val="dk1"/>
              </a:solidFill>
              <a:latin typeface="Calibri"/>
              <a:ea typeface="Calibri"/>
              <a:cs typeface="Calibri"/>
              <a:sym typeface="Calibri"/>
            </a:endParaRPr>
          </a:p>
        </p:txBody>
      </p:sp>
      <p:sp>
        <p:nvSpPr>
          <p:cNvPr id="518" name="Google Shape;518;p16">
            <a:hlinkClick action="ppaction://hlinksldjump" r:id="rId7"/>
          </p:cNvPr>
          <p:cNvSpPr/>
          <p:nvPr/>
        </p:nvSpPr>
        <p:spPr>
          <a:xfrm>
            <a:off x="6693408" y="6336792"/>
            <a:ext cx="1737360" cy="365760"/>
          </a:xfrm>
          <a:prstGeom prst="roundRect">
            <a:avLst>
              <a:gd fmla="val 25000" name="adj"/>
            </a:avLst>
          </a:prstGeom>
          <a:solidFill>
            <a:schemeClr val="accent2"/>
          </a:solidFill>
          <a:ln cap="flat" cmpd="sng" w="9525">
            <a:solidFill>
              <a:schemeClr val="accen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 Model Explorer</a:t>
            </a:r>
            <a:endParaRPr b="0" i="0" sz="1200" u="none" cap="none" strike="noStrike">
              <a:solidFill>
                <a:schemeClr val="dk1"/>
              </a:solidFill>
              <a:latin typeface="Calibri"/>
              <a:ea typeface="Calibri"/>
              <a:cs typeface="Calibri"/>
              <a:sym typeface="Calibri"/>
            </a:endParaRPr>
          </a:p>
        </p:txBody>
      </p:sp>
      <p:sp>
        <p:nvSpPr>
          <p:cNvPr id="519" name="Google Shape;519;p16"/>
          <p:cNvSpPr txBox="1"/>
          <p:nvPr>
            <p:ph idx="4294967295" type="sldNum"/>
          </p:nvPr>
        </p:nvSpPr>
        <p:spPr>
          <a:xfrm>
            <a:off x="8732520" y="6382512"/>
            <a:ext cx="502920" cy="292608"/>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accent5"/>
                </a:solidFill>
                <a:latin typeface="Calibri"/>
                <a:ea typeface="Calibri"/>
                <a:cs typeface="Calibri"/>
                <a:sym typeface="Calibri"/>
              </a:rPr>
              <a:t>‹#›</a:t>
            </a:fld>
            <a:endParaRPr b="0" i="0" sz="1000" u="none" cap="none" strike="noStrike">
              <a:solidFill>
                <a:schemeClr val="accent5"/>
              </a:solidFill>
              <a:latin typeface="Calibri"/>
              <a:ea typeface="Calibri"/>
              <a:cs typeface="Calibri"/>
              <a:sym typeface="Calibri"/>
            </a:endParaRPr>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524" name="Shape 524"/>
        <p:cNvGrpSpPr/>
        <p:nvPr/>
      </p:nvGrpSpPr>
      <p:grpSpPr>
        <a:xfrm>
          <a:off x="0" y="0"/>
          <a:ext cx="0" cy="0"/>
          <a:chOff x="0" y="0"/>
          <a:chExt cx="0" cy="0"/>
        </a:xfrm>
      </p:grpSpPr>
      <p:sp>
        <p:nvSpPr>
          <p:cNvPr id="525" name="Google Shape;525;p17"/>
          <p:cNvSpPr txBox="1"/>
          <p:nvPr>
            <p:ph type="title"/>
          </p:nvPr>
        </p:nvSpPr>
        <p:spPr>
          <a:xfrm>
            <a:off x="548640" y="347472"/>
            <a:ext cx="11064240" cy="7315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accent5"/>
              </a:buClr>
              <a:buSzPts val="3200"/>
              <a:buFont typeface="Cambria"/>
              <a:buNone/>
            </a:pPr>
            <a:r>
              <a:rPr b="1" lang="en-US" sz="3200">
                <a:solidFill>
                  <a:schemeClr val="accent5"/>
                </a:solidFill>
                <a:latin typeface="Cambria"/>
                <a:ea typeface="Cambria"/>
                <a:cs typeface="Cambria"/>
                <a:sym typeface="Cambria"/>
              </a:rPr>
              <a:t>Model Explorer  |  </a:t>
            </a:r>
            <a:r>
              <a:rPr b="1" lang="en-US" sz="3200">
                <a:solidFill>
                  <a:schemeClr val="dk2"/>
                </a:solidFill>
                <a:latin typeface="Cambria"/>
                <a:ea typeface="Cambria"/>
                <a:cs typeface="Cambria"/>
                <a:sym typeface="Cambria"/>
              </a:rPr>
              <a:t>Decision Tree</a:t>
            </a:r>
            <a:endParaRPr sz="3200"/>
          </a:p>
        </p:txBody>
      </p:sp>
      <p:sp>
        <p:nvSpPr>
          <p:cNvPr id="526" name="Google Shape;526;p17"/>
          <p:cNvSpPr/>
          <p:nvPr/>
        </p:nvSpPr>
        <p:spPr>
          <a:xfrm>
            <a:off x="548640" y="1280160"/>
            <a:ext cx="868680" cy="868680"/>
          </a:xfrm>
          <a:prstGeom prst="ellipse">
            <a:avLst/>
          </a:prstGeom>
          <a:solidFill>
            <a:srgbClr val="7A8B94"/>
          </a:solidFill>
          <a:ln cap="flat" cmpd="sng" w="12700">
            <a:solidFill>
              <a:srgbClr val="7A8B9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527" name="Google Shape;527;p17"/>
          <p:cNvPicPr preferRelativeResize="0"/>
          <p:nvPr/>
        </p:nvPicPr>
        <p:blipFill rotWithShape="1">
          <a:blip r:embed="rId3">
            <a:alphaModFix/>
          </a:blip>
          <a:srcRect b="0" l="0" r="0" t="0"/>
          <a:stretch/>
        </p:blipFill>
        <p:spPr>
          <a:xfrm>
            <a:off x="757123" y="1488643"/>
            <a:ext cx="451714" cy="451714"/>
          </a:xfrm>
          <a:prstGeom prst="rect">
            <a:avLst/>
          </a:prstGeom>
          <a:noFill/>
          <a:ln>
            <a:noFill/>
          </a:ln>
        </p:spPr>
      </p:pic>
      <p:sp>
        <p:nvSpPr>
          <p:cNvPr id="528" name="Google Shape;528;p17"/>
          <p:cNvSpPr txBox="1"/>
          <p:nvPr/>
        </p:nvSpPr>
        <p:spPr>
          <a:xfrm>
            <a:off x="1600200" y="1325880"/>
            <a:ext cx="5029200" cy="7772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700"/>
              <a:buFont typeface="Calibri"/>
              <a:buNone/>
            </a:pPr>
            <a:r>
              <a:rPr b="1" i="0" lang="en-US" sz="1700" u="none" cap="none" strike="noStrike">
                <a:solidFill>
                  <a:schemeClr val="dk2"/>
                </a:solidFill>
                <a:latin typeface="Calibri"/>
                <a:ea typeface="Calibri"/>
                <a:cs typeface="Calibri"/>
                <a:sym typeface="Calibri"/>
              </a:rPr>
              <a:t>Rule-based tree</a:t>
            </a:r>
            <a:endParaRPr b="0" i="0" sz="15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accent5"/>
              </a:buClr>
              <a:buSzPts val="1400"/>
              <a:buFont typeface="Calibri"/>
              <a:buNone/>
            </a:pPr>
            <a:r>
              <a:rPr b="0" i="1" lang="en-US" sz="1400" u="none" cap="none" strike="noStrike">
                <a:solidFill>
                  <a:schemeClr val="accent5"/>
                </a:solidFill>
                <a:latin typeface="Calibri"/>
                <a:ea typeface="Calibri"/>
                <a:cs typeface="Calibri"/>
                <a:sym typeface="Calibri"/>
              </a:rPr>
              <a:t>max_depth = 5, min_samples_leaf = 5</a:t>
            </a:r>
            <a:endParaRPr b="0" i="0" sz="1500" u="none" cap="none" strike="noStrike">
              <a:solidFill>
                <a:schemeClr val="dk1"/>
              </a:solidFill>
              <a:latin typeface="Calibri"/>
              <a:ea typeface="Calibri"/>
              <a:cs typeface="Calibri"/>
              <a:sym typeface="Calibri"/>
            </a:endParaRPr>
          </a:p>
        </p:txBody>
      </p:sp>
      <p:sp>
        <p:nvSpPr>
          <p:cNvPr id="529" name="Google Shape;529;p17"/>
          <p:cNvSpPr/>
          <p:nvPr/>
        </p:nvSpPr>
        <p:spPr>
          <a:xfrm>
            <a:off x="548640" y="2377440"/>
            <a:ext cx="1188720" cy="1188720"/>
          </a:xfrm>
          <a:prstGeom prst="roundRect">
            <a:avLst>
              <a:gd fmla="val 6154"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 name="Google Shape;530;p17"/>
          <p:cNvSpPr txBox="1"/>
          <p:nvPr/>
        </p:nvSpPr>
        <p:spPr>
          <a:xfrm>
            <a:off x="548640" y="2487168"/>
            <a:ext cx="11887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2"/>
              </a:buClr>
              <a:buSzPts val="2200"/>
              <a:buFont typeface="Cambria"/>
              <a:buNone/>
            </a:pPr>
            <a:r>
              <a:rPr b="1" i="0" lang="en-US" sz="2200" u="none" cap="none" strike="noStrike">
                <a:solidFill>
                  <a:schemeClr val="dk2"/>
                </a:solidFill>
                <a:latin typeface="Cambria"/>
                <a:ea typeface="Cambria"/>
                <a:cs typeface="Cambria"/>
                <a:sym typeface="Cambria"/>
              </a:rPr>
              <a:t>0.727</a:t>
            </a:r>
            <a:endParaRPr b="0" i="0" sz="2200" u="none" cap="none" strike="noStrike">
              <a:solidFill>
                <a:schemeClr val="dk1"/>
              </a:solidFill>
              <a:latin typeface="Calibri"/>
              <a:ea typeface="Calibri"/>
              <a:cs typeface="Calibri"/>
              <a:sym typeface="Calibri"/>
            </a:endParaRPr>
          </a:p>
        </p:txBody>
      </p:sp>
      <p:sp>
        <p:nvSpPr>
          <p:cNvPr id="531" name="Google Shape;531;p17"/>
          <p:cNvSpPr txBox="1"/>
          <p:nvPr/>
        </p:nvSpPr>
        <p:spPr>
          <a:xfrm>
            <a:off x="548640" y="3063240"/>
            <a:ext cx="1188720" cy="36576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dk1"/>
              </a:buClr>
              <a:buSzPts val="1200"/>
              <a:buFont typeface="Calibri"/>
              <a:buNone/>
            </a:pPr>
            <a:r>
              <a:rPr b="0" i="0" lang="en-US" sz="1200" u="none" cap="none" strike="noStrike">
                <a:solidFill>
                  <a:schemeClr val="dk1"/>
                </a:solidFill>
                <a:latin typeface="Calibri"/>
                <a:ea typeface="Calibri"/>
                <a:cs typeface="Calibri"/>
                <a:sym typeface="Calibri"/>
              </a:rPr>
              <a:t>Accuracy</a:t>
            </a:r>
            <a:endParaRPr b="0" i="0" sz="1200" u="none" cap="none" strike="noStrike">
              <a:solidFill>
                <a:schemeClr val="dk1"/>
              </a:solidFill>
              <a:latin typeface="Calibri"/>
              <a:ea typeface="Calibri"/>
              <a:cs typeface="Calibri"/>
              <a:sym typeface="Calibri"/>
            </a:endParaRPr>
          </a:p>
        </p:txBody>
      </p:sp>
      <p:sp>
        <p:nvSpPr>
          <p:cNvPr id="532" name="Google Shape;532;p17"/>
          <p:cNvSpPr/>
          <p:nvPr/>
        </p:nvSpPr>
        <p:spPr>
          <a:xfrm>
            <a:off x="1856232" y="2377440"/>
            <a:ext cx="1188720" cy="1188720"/>
          </a:xfrm>
          <a:prstGeom prst="roundRect">
            <a:avLst>
              <a:gd fmla="val 6154"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 name="Google Shape;533;p17"/>
          <p:cNvSpPr txBox="1"/>
          <p:nvPr/>
        </p:nvSpPr>
        <p:spPr>
          <a:xfrm>
            <a:off x="1856232" y="2487168"/>
            <a:ext cx="11887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2"/>
              </a:buClr>
              <a:buSzPts val="2200"/>
              <a:buFont typeface="Cambria"/>
              <a:buNone/>
            </a:pPr>
            <a:r>
              <a:rPr b="1" i="0" lang="en-US" sz="2200" u="none" cap="none" strike="noStrike">
                <a:solidFill>
                  <a:schemeClr val="dk2"/>
                </a:solidFill>
                <a:latin typeface="Cambria"/>
                <a:ea typeface="Cambria"/>
                <a:cs typeface="Cambria"/>
                <a:sym typeface="Cambria"/>
              </a:rPr>
              <a:t>0.583</a:t>
            </a:r>
            <a:endParaRPr b="0" i="0" sz="2200" u="none" cap="none" strike="noStrike">
              <a:solidFill>
                <a:schemeClr val="dk1"/>
              </a:solidFill>
              <a:latin typeface="Calibri"/>
              <a:ea typeface="Calibri"/>
              <a:cs typeface="Calibri"/>
              <a:sym typeface="Calibri"/>
            </a:endParaRPr>
          </a:p>
        </p:txBody>
      </p:sp>
      <p:sp>
        <p:nvSpPr>
          <p:cNvPr id="534" name="Google Shape;534;p17"/>
          <p:cNvSpPr txBox="1"/>
          <p:nvPr/>
        </p:nvSpPr>
        <p:spPr>
          <a:xfrm>
            <a:off x="1856232" y="3063240"/>
            <a:ext cx="1188720" cy="36576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dk1"/>
              </a:buClr>
              <a:buSzPts val="1200"/>
              <a:buFont typeface="Calibri"/>
              <a:buNone/>
            </a:pPr>
            <a:r>
              <a:rPr b="0" i="0" lang="en-US" sz="1200" u="none" cap="none" strike="noStrike">
                <a:solidFill>
                  <a:schemeClr val="dk1"/>
                </a:solidFill>
                <a:latin typeface="Calibri"/>
                <a:ea typeface="Calibri"/>
                <a:cs typeface="Calibri"/>
                <a:sym typeface="Calibri"/>
              </a:rPr>
              <a:t>Precision</a:t>
            </a:r>
            <a:endParaRPr b="0" i="0" sz="1200" u="none" cap="none" strike="noStrike">
              <a:solidFill>
                <a:schemeClr val="dk1"/>
              </a:solidFill>
              <a:latin typeface="Calibri"/>
              <a:ea typeface="Calibri"/>
              <a:cs typeface="Calibri"/>
              <a:sym typeface="Calibri"/>
            </a:endParaRPr>
          </a:p>
        </p:txBody>
      </p:sp>
      <p:sp>
        <p:nvSpPr>
          <p:cNvPr id="535" name="Google Shape;535;p17"/>
          <p:cNvSpPr/>
          <p:nvPr/>
        </p:nvSpPr>
        <p:spPr>
          <a:xfrm>
            <a:off x="3163824" y="2377440"/>
            <a:ext cx="1188720" cy="1188720"/>
          </a:xfrm>
          <a:prstGeom prst="roundRect">
            <a:avLst>
              <a:gd fmla="val 6154" name="adj"/>
            </a:avLst>
          </a:prstGeom>
          <a:solidFill>
            <a:srgbClr val="FDE3E1"/>
          </a:solidFill>
          <a:ln cap="flat" cmpd="sng" w="12700">
            <a:solidFill>
              <a:srgbClr val="FDE3E1"/>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 name="Google Shape;536;p17"/>
          <p:cNvSpPr txBox="1"/>
          <p:nvPr/>
        </p:nvSpPr>
        <p:spPr>
          <a:xfrm>
            <a:off x="3163824" y="2487168"/>
            <a:ext cx="11887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accent2"/>
              </a:buClr>
              <a:buSzPts val="2200"/>
              <a:buFont typeface="Cambria"/>
              <a:buNone/>
            </a:pPr>
            <a:r>
              <a:rPr b="1" i="0" lang="en-US" sz="2200" u="none" cap="none" strike="noStrike">
                <a:solidFill>
                  <a:schemeClr val="accent2"/>
                </a:solidFill>
                <a:latin typeface="Cambria"/>
                <a:ea typeface="Cambria"/>
                <a:cs typeface="Cambria"/>
                <a:sym typeface="Cambria"/>
              </a:rPr>
              <a:t>0.778</a:t>
            </a:r>
            <a:endParaRPr b="0" i="0" sz="2200" u="none" cap="none" strike="noStrike">
              <a:solidFill>
                <a:schemeClr val="dk1"/>
              </a:solidFill>
              <a:latin typeface="Calibri"/>
              <a:ea typeface="Calibri"/>
              <a:cs typeface="Calibri"/>
              <a:sym typeface="Calibri"/>
            </a:endParaRPr>
          </a:p>
        </p:txBody>
      </p:sp>
      <p:sp>
        <p:nvSpPr>
          <p:cNvPr id="537" name="Google Shape;537;p17"/>
          <p:cNvSpPr txBox="1"/>
          <p:nvPr/>
        </p:nvSpPr>
        <p:spPr>
          <a:xfrm>
            <a:off x="3163824" y="3063240"/>
            <a:ext cx="1188720" cy="36576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dk1"/>
              </a:buClr>
              <a:buSzPts val="1200"/>
              <a:buFont typeface="Calibri"/>
              <a:buNone/>
            </a:pPr>
            <a:r>
              <a:rPr b="0" i="0" lang="en-US" sz="1200" u="none" cap="none" strike="noStrike">
                <a:solidFill>
                  <a:schemeClr val="dk1"/>
                </a:solidFill>
                <a:latin typeface="Calibri"/>
                <a:ea typeface="Calibri"/>
                <a:cs typeface="Calibri"/>
                <a:sym typeface="Calibri"/>
              </a:rPr>
              <a:t>Recall</a:t>
            </a:r>
            <a:endParaRPr b="0" i="0" sz="1200" u="none" cap="none" strike="noStrike">
              <a:solidFill>
                <a:schemeClr val="dk1"/>
              </a:solidFill>
              <a:latin typeface="Calibri"/>
              <a:ea typeface="Calibri"/>
              <a:cs typeface="Calibri"/>
              <a:sym typeface="Calibri"/>
            </a:endParaRPr>
          </a:p>
        </p:txBody>
      </p:sp>
      <p:sp>
        <p:nvSpPr>
          <p:cNvPr id="538" name="Google Shape;538;p17"/>
          <p:cNvSpPr/>
          <p:nvPr/>
        </p:nvSpPr>
        <p:spPr>
          <a:xfrm>
            <a:off x="4471416" y="2377440"/>
            <a:ext cx="1188720" cy="1188720"/>
          </a:xfrm>
          <a:prstGeom prst="roundRect">
            <a:avLst>
              <a:gd fmla="val 6154"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 name="Google Shape;539;p17"/>
          <p:cNvSpPr txBox="1"/>
          <p:nvPr/>
        </p:nvSpPr>
        <p:spPr>
          <a:xfrm>
            <a:off x="4471416" y="2487168"/>
            <a:ext cx="11887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2"/>
              </a:buClr>
              <a:buSzPts val="2200"/>
              <a:buFont typeface="Cambria"/>
              <a:buNone/>
            </a:pPr>
            <a:r>
              <a:rPr b="1" i="0" lang="en-US" sz="2200" u="none" cap="none" strike="noStrike">
                <a:solidFill>
                  <a:schemeClr val="dk2"/>
                </a:solidFill>
                <a:latin typeface="Cambria"/>
                <a:ea typeface="Cambria"/>
                <a:cs typeface="Cambria"/>
                <a:sym typeface="Cambria"/>
              </a:rPr>
              <a:t>0.667</a:t>
            </a:r>
            <a:endParaRPr b="0" i="0" sz="2200" u="none" cap="none" strike="noStrike">
              <a:solidFill>
                <a:schemeClr val="dk1"/>
              </a:solidFill>
              <a:latin typeface="Calibri"/>
              <a:ea typeface="Calibri"/>
              <a:cs typeface="Calibri"/>
              <a:sym typeface="Calibri"/>
            </a:endParaRPr>
          </a:p>
        </p:txBody>
      </p:sp>
      <p:sp>
        <p:nvSpPr>
          <p:cNvPr id="540" name="Google Shape;540;p17"/>
          <p:cNvSpPr txBox="1"/>
          <p:nvPr/>
        </p:nvSpPr>
        <p:spPr>
          <a:xfrm>
            <a:off x="4471416" y="3063240"/>
            <a:ext cx="1188720" cy="36576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dk1"/>
              </a:buClr>
              <a:buSzPts val="1200"/>
              <a:buFont typeface="Calibri"/>
              <a:buNone/>
            </a:pPr>
            <a:r>
              <a:rPr b="0" i="0" lang="en-US" sz="1200" u="none" cap="none" strike="noStrike">
                <a:solidFill>
                  <a:schemeClr val="dk1"/>
                </a:solidFill>
                <a:latin typeface="Calibri"/>
                <a:ea typeface="Calibri"/>
                <a:cs typeface="Calibri"/>
                <a:sym typeface="Calibri"/>
              </a:rPr>
              <a:t>F1</a:t>
            </a:r>
            <a:endParaRPr b="0" i="0" sz="1200" u="none" cap="none" strike="noStrike">
              <a:solidFill>
                <a:schemeClr val="dk1"/>
              </a:solidFill>
              <a:latin typeface="Calibri"/>
              <a:ea typeface="Calibri"/>
              <a:cs typeface="Calibri"/>
              <a:sym typeface="Calibri"/>
            </a:endParaRPr>
          </a:p>
        </p:txBody>
      </p:sp>
      <p:sp>
        <p:nvSpPr>
          <p:cNvPr id="541" name="Google Shape;541;p17"/>
          <p:cNvSpPr/>
          <p:nvPr/>
        </p:nvSpPr>
        <p:spPr>
          <a:xfrm>
            <a:off x="5779008" y="2377440"/>
            <a:ext cx="1188720" cy="1188720"/>
          </a:xfrm>
          <a:prstGeom prst="roundRect">
            <a:avLst>
              <a:gd fmla="val 6154"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 name="Google Shape;542;p17"/>
          <p:cNvSpPr txBox="1"/>
          <p:nvPr/>
        </p:nvSpPr>
        <p:spPr>
          <a:xfrm>
            <a:off x="5779008" y="2487168"/>
            <a:ext cx="11887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2"/>
              </a:buClr>
              <a:buSzPts val="2200"/>
              <a:buFont typeface="Cambria"/>
              <a:buNone/>
            </a:pPr>
            <a:r>
              <a:rPr b="1" i="0" lang="en-US" sz="2200" u="none" cap="none" strike="noStrike">
                <a:solidFill>
                  <a:schemeClr val="dk2"/>
                </a:solidFill>
                <a:latin typeface="Cambria"/>
                <a:ea typeface="Cambria"/>
                <a:cs typeface="Cambria"/>
                <a:sym typeface="Cambria"/>
              </a:rPr>
              <a:t>0.762</a:t>
            </a:r>
            <a:endParaRPr b="0" i="0" sz="2200" u="none" cap="none" strike="noStrike">
              <a:solidFill>
                <a:schemeClr val="dk1"/>
              </a:solidFill>
              <a:latin typeface="Calibri"/>
              <a:ea typeface="Calibri"/>
              <a:cs typeface="Calibri"/>
              <a:sym typeface="Calibri"/>
            </a:endParaRPr>
          </a:p>
        </p:txBody>
      </p:sp>
      <p:sp>
        <p:nvSpPr>
          <p:cNvPr id="543" name="Google Shape;543;p17"/>
          <p:cNvSpPr txBox="1"/>
          <p:nvPr/>
        </p:nvSpPr>
        <p:spPr>
          <a:xfrm>
            <a:off x="5779008" y="3063240"/>
            <a:ext cx="1188720" cy="36576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dk1"/>
              </a:buClr>
              <a:buSzPts val="1200"/>
              <a:buFont typeface="Calibri"/>
              <a:buNone/>
            </a:pPr>
            <a:r>
              <a:rPr b="0" i="0" lang="en-US" sz="1200" u="none" cap="none" strike="noStrike">
                <a:solidFill>
                  <a:schemeClr val="dk1"/>
                </a:solidFill>
                <a:latin typeface="Calibri"/>
                <a:ea typeface="Calibri"/>
                <a:cs typeface="Calibri"/>
                <a:sym typeface="Calibri"/>
              </a:rPr>
              <a:t>ROC-AUC</a:t>
            </a:r>
            <a:endParaRPr b="0" i="0" sz="1200" u="none" cap="none" strike="noStrike">
              <a:solidFill>
                <a:schemeClr val="dk1"/>
              </a:solidFill>
              <a:latin typeface="Calibri"/>
              <a:ea typeface="Calibri"/>
              <a:cs typeface="Calibri"/>
              <a:sym typeface="Calibri"/>
            </a:endParaRPr>
          </a:p>
        </p:txBody>
      </p:sp>
      <p:sp>
        <p:nvSpPr>
          <p:cNvPr id="544" name="Google Shape;544;p17"/>
          <p:cNvSpPr txBox="1"/>
          <p:nvPr/>
        </p:nvSpPr>
        <p:spPr>
          <a:xfrm>
            <a:off x="548640" y="3703320"/>
            <a:ext cx="640080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5"/>
              </a:buClr>
              <a:buSzPts val="1200"/>
              <a:buFont typeface="Calibri"/>
              <a:buNone/>
            </a:pPr>
            <a:r>
              <a:rPr b="0" i="1" lang="en-US" sz="1200" u="none" cap="none" strike="noStrike">
                <a:solidFill>
                  <a:schemeClr val="accent5"/>
                </a:solidFill>
                <a:latin typeface="Calibri"/>
                <a:ea typeface="Calibri"/>
                <a:cs typeface="Calibri"/>
                <a:sym typeface="Calibri"/>
              </a:rPr>
              <a:t>Test set (154 patients)  |  specificity 0.70  |  5-fold CV ROC-AUC 0.762 ± 0.013, CV recall 0.687</a:t>
            </a:r>
            <a:endParaRPr b="0" i="0" sz="1200" u="none" cap="none" strike="noStrike">
              <a:solidFill>
                <a:schemeClr val="dk1"/>
              </a:solidFill>
              <a:latin typeface="Calibri"/>
              <a:ea typeface="Calibri"/>
              <a:cs typeface="Calibri"/>
              <a:sym typeface="Calibri"/>
            </a:endParaRPr>
          </a:p>
        </p:txBody>
      </p:sp>
      <p:sp>
        <p:nvSpPr>
          <p:cNvPr id="545" name="Google Shape;545;p17"/>
          <p:cNvSpPr txBox="1"/>
          <p:nvPr/>
        </p:nvSpPr>
        <p:spPr>
          <a:xfrm>
            <a:off x="548640" y="4069080"/>
            <a:ext cx="3657600" cy="29260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400"/>
              <a:buFont typeface="Calibri"/>
              <a:buNone/>
            </a:pPr>
            <a:r>
              <a:rPr b="1" i="0" lang="en-US" sz="1400" u="none" cap="none" strike="noStrike">
                <a:solidFill>
                  <a:schemeClr val="dk2"/>
                </a:solidFill>
                <a:latin typeface="Calibri"/>
                <a:ea typeface="Calibri"/>
                <a:cs typeface="Calibri"/>
                <a:sym typeface="Calibri"/>
              </a:rPr>
              <a:t>Confusion matrix (test)</a:t>
            </a:r>
            <a:endParaRPr b="0" i="0" sz="1400" u="none" cap="none" strike="noStrike">
              <a:solidFill>
                <a:schemeClr val="dk1"/>
              </a:solidFill>
              <a:latin typeface="Calibri"/>
              <a:ea typeface="Calibri"/>
              <a:cs typeface="Calibri"/>
              <a:sym typeface="Calibri"/>
            </a:endParaRPr>
          </a:p>
        </p:txBody>
      </p:sp>
      <p:sp>
        <p:nvSpPr>
          <p:cNvPr id="546" name="Google Shape;546;p17"/>
          <p:cNvSpPr txBox="1"/>
          <p:nvPr/>
        </p:nvSpPr>
        <p:spPr>
          <a:xfrm>
            <a:off x="1417320" y="4389120"/>
            <a:ext cx="1325880" cy="237744"/>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accent5"/>
              </a:buClr>
              <a:buSzPts val="1100"/>
              <a:buFont typeface="Calibri"/>
              <a:buNone/>
            </a:pPr>
            <a:r>
              <a:rPr b="0" i="0" lang="en-US" sz="1100" u="none" cap="none" strike="noStrike">
                <a:solidFill>
                  <a:schemeClr val="accent5"/>
                </a:solidFill>
                <a:latin typeface="Calibri"/>
                <a:ea typeface="Calibri"/>
                <a:cs typeface="Calibri"/>
                <a:sym typeface="Calibri"/>
              </a:rPr>
              <a:t>Predicted −</a:t>
            </a:r>
            <a:endParaRPr b="0" i="0" sz="1100" u="none" cap="none" strike="noStrike">
              <a:solidFill>
                <a:schemeClr val="dk1"/>
              </a:solidFill>
              <a:latin typeface="Calibri"/>
              <a:ea typeface="Calibri"/>
              <a:cs typeface="Calibri"/>
              <a:sym typeface="Calibri"/>
            </a:endParaRPr>
          </a:p>
        </p:txBody>
      </p:sp>
      <p:sp>
        <p:nvSpPr>
          <p:cNvPr id="547" name="Google Shape;547;p17"/>
          <p:cNvSpPr txBox="1"/>
          <p:nvPr/>
        </p:nvSpPr>
        <p:spPr>
          <a:xfrm>
            <a:off x="2834640" y="4389120"/>
            <a:ext cx="1325880" cy="237744"/>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accent5"/>
              </a:buClr>
              <a:buSzPts val="1100"/>
              <a:buFont typeface="Calibri"/>
              <a:buNone/>
            </a:pPr>
            <a:r>
              <a:rPr b="0" i="0" lang="en-US" sz="1100" u="none" cap="none" strike="noStrike">
                <a:solidFill>
                  <a:schemeClr val="accent5"/>
                </a:solidFill>
                <a:latin typeface="Calibri"/>
                <a:ea typeface="Calibri"/>
                <a:cs typeface="Calibri"/>
                <a:sym typeface="Calibri"/>
              </a:rPr>
              <a:t>Predicted +</a:t>
            </a:r>
            <a:endParaRPr b="0" i="0" sz="1100" u="none" cap="none" strike="noStrike">
              <a:solidFill>
                <a:schemeClr val="dk1"/>
              </a:solidFill>
              <a:latin typeface="Calibri"/>
              <a:ea typeface="Calibri"/>
              <a:cs typeface="Calibri"/>
              <a:sym typeface="Calibri"/>
            </a:endParaRPr>
          </a:p>
        </p:txBody>
      </p:sp>
      <p:sp>
        <p:nvSpPr>
          <p:cNvPr id="548" name="Google Shape;548;p17"/>
          <p:cNvSpPr/>
          <p:nvPr/>
        </p:nvSpPr>
        <p:spPr>
          <a:xfrm>
            <a:off x="1417320" y="4663440"/>
            <a:ext cx="1325880" cy="713232"/>
          </a:xfrm>
          <a:prstGeom prst="roundRect">
            <a:avLst>
              <a:gd fmla="val 7692"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2000"/>
              <a:buFont typeface="Calibri"/>
              <a:buNone/>
            </a:pPr>
            <a:r>
              <a:rPr b="1" i="0" lang="en-US" sz="2000" u="none" cap="none" strike="noStrike">
                <a:solidFill>
                  <a:schemeClr val="dk2"/>
                </a:solidFill>
                <a:latin typeface="Calibri"/>
                <a:ea typeface="Calibri"/>
                <a:cs typeface="Calibri"/>
                <a:sym typeface="Calibri"/>
              </a:rPr>
              <a:t>70</a:t>
            </a:r>
            <a:endParaRPr b="0" i="0" sz="2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chemeClr val="dk2"/>
              </a:buClr>
              <a:buSzPts val="1100"/>
              <a:buFont typeface="Calibri"/>
              <a:buNone/>
            </a:pPr>
            <a:r>
              <a:rPr b="0" i="0" lang="en-US" sz="1100" u="none" cap="none" strike="noStrike">
                <a:solidFill>
                  <a:schemeClr val="dk2"/>
                </a:solidFill>
                <a:latin typeface="Calibri"/>
                <a:ea typeface="Calibri"/>
                <a:cs typeface="Calibri"/>
                <a:sym typeface="Calibri"/>
              </a:rPr>
              <a:t>TN</a:t>
            </a:r>
            <a:endParaRPr b="0" i="0" sz="2000" u="none" cap="none" strike="noStrike">
              <a:solidFill>
                <a:schemeClr val="dk1"/>
              </a:solidFill>
              <a:latin typeface="Calibri"/>
              <a:ea typeface="Calibri"/>
              <a:cs typeface="Calibri"/>
              <a:sym typeface="Calibri"/>
            </a:endParaRPr>
          </a:p>
        </p:txBody>
      </p:sp>
      <p:sp>
        <p:nvSpPr>
          <p:cNvPr id="549" name="Google Shape;549;p17"/>
          <p:cNvSpPr/>
          <p:nvPr/>
        </p:nvSpPr>
        <p:spPr>
          <a:xfrm>
            <a:off x="2834640" y="4663440"/>
            <a:ext cx="1325880" cy="713232"/>
          </a:xfrm>
          <a:prstGeom prst="roundRect">
            <a:avLst>
              <a:gd fmla="val 7692"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2000"/>
              <a:buFont typeface="Calibri"/>
              <a:buNone/>
            </a:pPr>
            <a:r>
              <a:rPr b="1" i="0" lang="en-US" sz="2000" u="none" cap="none" strike="noStrike">
                <a:solidFill>
                  <a:schemeClr val="dk2"/>
                </a:solidFill>
                <a:latin typeface="Calibri"/>
                <a:ea typeface="Calibri"/>
                <a:cs typeface="Calibri"/>
                <a:sym typeface="Calibri"/>
              </a:rPr>
              <a:t>30</a:t>
            </a:r>
            <a:endParaRPr b="0" i="0" sz="2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chemeClr val="dk2"/>
              </a:buClr>
              <a:buSzPts val="1100"/>
              <a:buFont typeface="Calibri"/>
              <a:buNone/>
            </a:pPr>
            <a:r>
              <a:rPr b="0" i="0" lang="en-US" sz="1100" u="none" cap="none" strike="noStrike">
                <a:solidFill>
                  <a:schemeClr val="dk2"/>
                </a:solidFill>
                <a:latin typeface="Calibri"/>
                <a:ea typeface="Calibri"/>
                <a:cs typeface="Calibri"/>
                <a:sym typeface="Calibri"/>
              </a:rPr>
              <a:t>FP</a:t>
            </a:r>
            <a:endParaRPr b="0" i="0" sz="2000" u="none" cap="none" strike="noStrike">
              <a:solidFill>
                <a:schemeClr val="dk1"/>
              </a:solidFill>
              <a:latin typeface="Calibri"/>
              <a:ea typeface="Calibri"/>
              <a:cs typeface="Calibri"/>
              <a:sym typeface="Calibri"/>
            </a:endParaRPr>
          </a:p>
        </p:txBody>
      </p:sp>
      <p:sp>
        <p:nvSpPr>
          <p:cNvPr id="550" name="Google Shape;550;p17"/>
          <p:cNvSpPr/>
          <p:nvPr/>
        </p:nvSpPr>
        <p:spPr>
          <a:xfrm>
            <a:off x="1417320" y="5449824"/>
            <a:ext cx="1325880" cy="713232"/>
          </a:xfrm>
          <a:prstGeom prst="roundRect">
            <a:avLst>
              <a:gd fmla="val 7692" name="adj"/>
            </a:avLst>
          </a:prstGeom>
          <a:solidFill>
            <a:schemeClr val="accent2"/>
          </a:solidFill>
          <a:ln cap="flat" cmpd="sng" w="9525">
            <a:solidFill>
              <a:schemeClr val="accen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2000"/>
              <a:buFont typeface="Calibri"/>
              <a:buNone/>
            </a:pPr>
            <a:r>
              <a:rPr b="1" i="0" lang="en-US" sz="2000" u="none" cap="none" strike="noStrike">
                <a:solidFill>
                  <a:schemeClr val="lt1"/>
                </a:solidFill>
                <a:latin typeface="Calibri"/>
                <a:ea typeface="Calibri"/>
                <a:cs typeface="Calibri"/>
                <a:sym typeface="Calibri"/>
              </a:rPr>
              <a:t>12</a:t>
            </a:r>
            <a:endParaRPr b="0" i="0" sz="2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chemeClr val="lt1"/>
              </a:buClr>
              <a:buSzPts val="1100"/>
              <a:buFont typeface="Calibri"/>
              <a:buNone/>
            </a:pPr>
            <a:r>
              <a:rPr b="0" i="0" lang="en-US" sz="1100" u="none" cap="none" strike="noStrike">
                <a:solidFill>
                  <a:schemeClr val="lt1"/>
                </a:solidFill>
                <a:latin typeface="Calibri"/>
                <a:ea typeface="Calibri"/>
                <a:cs typeface="Calibri"/>
                <a:sym typeface="Calibri"/>
              </a:rPr>
              <a:t>FN</a:t>
            </a:r>
            <a:endParaRPr b="0" i="0" sz="2000" u="none" cap="none" strike="noStrike">
              <a:solidFill>
                <a:schemeClr val="dk1"/>
              </a:solidFill>
              <a:latin typeface="Calibri"/>
              <a:ea typeface="Calibri"/>
              <a:cs typeface="Calibri"/>
              <a:sym typeface="Calibri"/>
            </a:endParaRPr>
          </a:p>
        </p:txBody>
      </p:sp>
      <p:sp>
        <p:nvSpPr>
          <p:cNvPr id="551" name="Google Shape;551;p17"/>
          <p:cNvSpPr/>
          <p:nvPr/>
        </p:nvSpPr>
        <p:spPr>
          <a:xfrm>
            <a:off x="2834640" y="5449824"/>
            <a:ext cx="1325880" cy="713232"/>
          </a:xfrm>
          <a:prstGeom prst="roundRect">
            <a:avLst>
              <a:gd fmla="val 7692" name="adj"/>
            </a:avLst>
          </a:prstGeom>
          <a:solidFill>
            <a:schemeClr val="accent1"/>
          </a:solidFill>
          <a:ln cap="flat" cmpd="sng" w="9525">
            <a:solidFill>
              <a:schemeClr val="accent1"/>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2000"/>
              <a:buFont typeface="Calibri"/>
              <a:buNone/>
            </a:pPr>
            <a:r>
              <a:rPr b="1" i="0" lang="en-US" sz="2000" u="none" cap="none" strike="noStrike">
                <a:solidFill>
                  <a:schemeClr val="lt1"/>
                </a:solidFill>
                <a:latin typeface="Calibri"/>
                <a:ea typeface="Calibri"/>
                <a:cs typeface="Calibri"/>
                <a:sym typeface="Calibri"/>
              </a:rPr>
              <a:t>42</a:t>
            </a:r>
            <a:endParaRPr b="0" i="0" sz="2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chemeClr val="lt1"/>
              </a:buClr>
              <a:buSzPts val="1100"/>
              <a:buFont typeface="Calibri"/>
              <a:buNone/>
            </a:pPr>
            <a:r>
              <a:rPr b="0" i="0" lang="en-US" sz="1100" u="none" cap="none" strike="noStrike">
                <a:solidFill>
                  <a:schemeClr val="lt1"/>
                </a:solidFill>
                <a:latin typeface="Calibri"/>
                <a:ea typeface="Calibri"/>
                <a:cs typeface="Calibri"/>
                <a:sym typeface="Calibri"/>
              </a:rPr>
              <a:t>TP</a:t>
            </a:r>
            <a:endParaRPr b="0" i="0" sz="2000" u="none" cap="none" strike="noStrike">
              <a:solidFill>
                <a:schemeClr val="dk1"/>
              </a:solidFill>
              <a:latin typeface="Calibri"/>
              <a:ea typeface="Calibri"/>
              <a:cs typeface="Calibri"/>
              <a:sym typeface="Calibri"/>
            </a:endParaRPr>
          </a:p>
        </p:txBody>
      </p:sp>
      <p:sp>
        <p:nvSpPr>
          <p:cNvPr id="552" name="Google Shape;552;p17"/>
          <p:cNvSpPr txBox="1"/>
          <p:nvPr/>
        </p:nvSpPr>
        <p:spPr>
          <a:xfrm>
            <a:off x="548640" y="4663440"/>
            <a:ext cx="822960" cy="7132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5"/>
              </a:buClr>
              <a:buSzPts val="1100"/>
              <a:buFont typeface="Calibri"/>
              <a:buNone/>
            </a:pPr>
            <a:r>
              <a:rPr b="0" i="0" lang="en-US" sz="1100" u="none" cap="none" strike="noStrike">
                <a:solidFill>
                  <a:schemeClr val="accent5"/>
                </a:solidFill>
                <a:latin typeface="Calibri"/>
                <a:ea typeface="Calibri"/>
                <a:cs typeface="Calibri"/>
                <a:sym typeface="Calibri"/>
              </a:rPr>
              <a:t>Actual −</a:t>
            </a:r>
            <a:endParaRPr b="0" i="0" sz="1100" u="none" cap="none" strike="noStrike">
              <a:solidFill>
                <a:schemeClr val="dk1"/>
              </a:solidFill>
              <a:latin typeface="Calibri"/>
              <a:ea typeface="Calibri"/>
              <a:cs typeface="Calibri"/>
              <a:sym typeface="Calibri"/>
            </a:endParaRPr>
          </a:p>
        </p:txBody>
      </p:sp>
      <p:sp>
        <p:nvSpPr>
          <p:cNvPr id="553" name="Google Shape;553;p17"/>
          <p:cNvSpPr txBox="1"/>
          <p:nvPr/>
        </p:nvSpPr>
        <p:spPr>
          <a:xfrm>
            <a:off x="548640" y="5449824"/>
            <a:ext cx="822960" cy="7132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5"/>
              </a:buClr>
              <a:buSzPts val="1100"/>
              <a:buFont typeface="Calibri"/>
              <a:buNone/>
            </a:pPr>
            <a:r>
              <a:rPr b="0" i="0" lang="en-US" sz="1100" u="none" cap="none" strike="noStrike">
                <a:solidFill>
                  <a:schemeClr val="accent5"/>
                </a:solidFill>
                <a:latin typeface="Calibri"/>
                <a:ea typeface="Calibri"/>
                <a:cs typeface="Calibri"/>
                <a:sym typeface="Calibri"/>
              </a:rPr>
              <a:t>Actual +</a:t>
            </a:r>
            <a:endParaRPr b="0" i="0" sz="1100" u="none" cap="none" strike="noStrike">
              <a:solidFill>
                <a:schemeClr val="dk1"/>
              </a:solidFill>
              <a:latin typeface="Calibri"/>
              <a:ea typeface="Calibri"/>
              <a:cs typeface="Calibri"/>
              <a:sym typeface="Calibri"/>
            </a:endParaRPr>
          </a:p>
        </p:txBody>
      </p:sp>
      <p:sp>
        <p:nvSpPr>
          <p:cNvPr id="554" name="Google Shape;554;p17"/>
          <p:cNvSpPr/>
          <p:nvPr/>
        </p:nvSpPr>
        <p:spPr>
          <a:xfrm>
            <a:off x="7223760" y="1280160"/>
            <a:ext cx="4416552" cy="4754880"/>
          </a:xfrm>
          <a:prstGeom prst="roundRect">
            <a:avLst>
              <a:gd fmla="val 1656"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 name="Google Shape;555;p17"/>
          <p:cNvSpPr/>
          <p:nvPr/>
        </p:nvSpPr>
        <p:spPr>
          <a:xfrm>
            <a:off x="7452360" y="1508760"/>
            <a:ext cx="3959352" cy="548640"/>
          </a:xfrm>
          <a:prstGeom prst="roundRect">
            <a:avLst>
              <a:gd fmla="val 16667" name="adj"/>
            </a:avLst>
          </a:prstGeom>
          <a:solidFill>
            <a:schemeClr val="accent5"/>
          </a:solidFill>
          <a:ln cap="flat" cmpd="sng" w="9525">
            <a:solidFill>
              <a:schemeClr val="accent5"/>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700"/>
              <a:buFont typeface="Calibri"/>
              <a:buNone/>
            </a:pPr>
            <a:r>
              <a:rPr b="1" i="0" lang="en-US" sz="1700" u="none" cap="none" strike="noStrike">
                <a:solidFill>
                  <a:schemeClr val="lt1"/>
                </a:solidFill>
                <a:latin typeface="Calibri"/>
                <a:ea typeface="Calibri"/>
                <a:cs typeface="Calibri"/>
                <a:sym typeface="Calibri"/>
              </a:rPr>
              <a:t>Not selected</a:t>
            </a:r>
            <a:endParaRPr b="0" i="0" sz="1700" u="none" cap="none" strike="noStrike">
              <a:solidFill>
                <a:schemeClr val="dk1"/>
              </a:solidFill>
              <a:latin typeface="Calibri"/>
              <a:ea typeface="Calibri"/>
              <a:cs typeface="Calibri"/>
              <a:sym typeface="Calibri"/>
            </a:endParaRPr>
          </a:p>
        </p:txBody>
      </p:sp>
      <p:sp>
        <p:nvSpPr>
          <p:cNvPr id="556" name="Google Shape;556;p17"/>
          <p:cNvSpPr txBox="1"/>
          <p:nvPr/>
        </p:nvSpPr>
        <p:spPr>
          <a:xfrm>
            <a:off x="7452360" y="2286000"/>
            <a:ext cx="3959352" cy="2377440"/>
          </a:xfrm>
          <a:prstGeom prst="rect">
            <a:avLst/>
          </a:prstGeom>
          <a:noFill/>
          <a:ln>
            <a:noFill/>
          </a:ln>
        </p:spPr>
        <p:txBody>
          <a:bodyPr anchorCtr="0" anchor="t" bIns="0" lIns="0" spcFirstLastPara="1" rIns="0" wrap="square" tIns="0">
            <a:noAutofit/>
          </a:bodyPr>
          <a:lstStyle/>
          <a:p>
            <a:pPr indent="-203200" lvl="0" marL="203200" marR="0" rtl="0" algn="l">
              <a:spcBef>
                <a:spcPts val="0"/>
              </a:spcBef>
              <a:spcAft>
                <a:spcPts val="0"/>
              </a:spcAft>
              <a:buClr>
                <a:schemeClr val="dk1"/>
              </a:buClr>
              <a:buSzPts val="1500"/>
              <a:buFont typeface="Calibri"/>
              <a:buChar char="•"/>
            </a:pPr>
            <a:r>
              <a:rPr b="0" i="0" lang="en-US" sz="1500" u="none" cap="none" strike="noStrike">
                <a:solidFill>
                  <a:schemeClr val="dk1"/>
                </a:solidFill>
                <a:latin typeface="Calibri"/>
                <a:ea typeface="Calibri"/>
                <a:cs typeface="Calibri"/>
                <a:sym typeface="Calibri"/>
              </a:rPr>
              <a:t>Readable if/else rules and high test recall</a:t>
            </a:r>
            <a:endParaRPr b="0" i="0" sz="1500" u="none" cap="none" strike="noStrike">
              <a:solidFill>
                <a:schemeClr val="dk1"/>
              </a:solidFill>
              <a:latin typeface="Calibri"/>
              <a:ea typeface="Calibri"/>
              <a:cs typeface="Calibri"/>
              <a:sym typeface="Calibri"/>
            </a:endParaRPr>
          </a:p>
          <a:p>
            <a:pPr indent="-203200" lvl="0" marL="203200" marR="0" rtl="0" algn="l">
              <a:spcBef>
                <a:spcPts val="600"/>
              </a:spcBef>
              <a:spcAft>
                <a:spcPts val="0"/>
              </a:spcAft>
              <a:buClr>
                <a:schemeClr val="dk1"/>
              </a:buClr>
              <a:buSzPts val="1500"/>
              <a:buFont typeface="Calibri"/>
              <a:buChar char="•"/>
            </a:pPr>
            <a:r>
              <a:rPr b="0" i="0" lang="en-US" sz="1500" u="none" cap="none" strike="noStrike">
                <a:solidFill>
                  <a:schemeClr val="dk1"/>
                </a:solidFill>
                <a:latin typeface="Calibri"/>
                <a:ea typeface="Calibri"/>
                <a:cs typeface="Calibri"/>
                <a:sym typeface="Calibri"/>
              </a:rPr>
              <a:t>Lowest ROC-AUC: a shallow tree gives only a few distinct probabilities</a:t>
            </a:r>
            <a:endParaRPr b="0" i="0" sz="1500" u="none" cap="none" strike="noStrike">
              <a:solidFill>
                <a:schemeClr val="dk1"/>
              </a:solidFill>
              <a:latin typeface="Calibri"/>
              <a:ea typeface="Calibri"/>
              <a:cs typeface="Calibri"/>
              <a:sym typeface="Calibri"/>
            </a:endParaRPr>
          </a:p>
          <a:p>
            <a:pPr indent="-203200" lvl="0" marL="203200" marR="0" rtl="0" algn="l">
              <a:spcBef>
                <a:spcPts val="600"/>
              </a:spcBef>
              <a:spcAft>
                <a:spcPts val="0"/>
              </a:spcAft>
              <a:buClr>
                <a:schemeClr val="dk1"/>
              </a:buClr>
              <a:buSzPts val="1500"/>
              <a:buFont typeface="Calibri"/>
              <a:buChar char="•"/>
            </a:pPr>
            <a:r>
              <a:rPr b="0" i="0" lang="en-US" sz="1500" u="none" cap="none" strike="noStrike">
                <a:solidFill>
                  <a:schemeClr val="dk1"/>
                </a:solidFill>
                <a:latin typeface="Calibri"/>
                <a:ea typeface="Calibri"/>
                <a:cs typeface="Calibri"/>
                <a:sym typeface="Calibri"/>
              </a:rPr>
              <a:t>Cross-validated recall 0.687 fails the 0.70 rule</a:t>
            </a:r>
            <a:endParaRPr b="0" i="0" sz="1500" u="none" cap="none" strike="noStrike">
              <a:solidFill>
                <a:schemeClr val="dk1"/>
              </a:solidFill>
              <a:latin typeface="Calibri"/>
              <a:ea typeface="Calibri"/>
              <a:cs typeface="Calibri"/>
              <a:sym typeface="Calibri"/>
            </a:endParaRPr>
          </a:p>
        </p:txBody>
      </p:sp>
      <p:sp>
        <p:nvSpPr>
          <p:cNvPr id="557" name="Google Shape;557;p17"/>
          <p:cNvSpPr txBox="1"/>
          <p:nvPr/>
        </p:nvSpPr>
        <p:spPr>
          <a:xfrm>
            <a:off x="7452360" y="4754880"/>
            <a:ext cx="3959352"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300"/>
              <a:buFont typeface="Calibri"/>
              <a:buNone/>
            </a:pPr>
            <a:r>
              <a:rPr b="1" i="0" lang="en-US" sz="1300" u="none" cap="none" strike="noStrike">
                <a:solidFill>
                  <a:schemeClr val="dk2"/>
                </a:solidFill>
                <a:latin typeface="Calibri"/>
                <a:ea typeface="Calibri"/>
                <a:cs typeface="Calibri"/>
                <a:sym typeface="Calibri"/>
              </a:rPr>
              <a:t>Overall score: </a:t>
            </a:r>
            <a:r>
              <a:rPr b="0" i="0" lang="en-US" sz="1300" u="none" cap="none" strike="noStrike">
                <a:solidFill>
                  <a:schemeClr val="dk2"/>
                </a:solidFill>
                <a:latin typeface="Calibri"/>
                <a:ea typeface="Calibri"/>
                <a:cs typeface="Calibri"/>
                <a:sym typeface="Calibri"/>
              </a:rPr>
              <a:t>0.6835  (mean of 5 metrics, CV + test)</a:t>
            </a:r>
            <a:endParaRPr b="0" i="0" sz="1300" u="none" cap="none" strike="noStrike">
              <a:solidFill>
                <a:schemeClr val="dk1"/>
              </a:solidFill>
              <a:latin typeface="Calibri"/>
              <a:ea typeface="Calibri"/>
              <a:cs typeface="Calibri"/>
              <a:sym typeface="Calibri"/>
            </a:endParaRPr>
          </a:p>
        </p:txBody>
      </p:sp>
      <p:sp>
        <p:nvSpPr>
          <p:cNvPr id="558" name="Google Shape;558;p17">
            <a:hlinkClick action="ppaction://hlinksldjump" r:id="rId4"/>
          </p:cNvPr>
          <p:cNvSpPr/>
          <p:nvPr/>
        </p:nvSpPr>
        <p:spPr>
          <a:xfrm>
            <a:off x="10680192" y="6336792"/>
            <a:ext cx="960120" cy="365760"/>
          </a:xfrm>
          <a:prstGeom prst="roundRect">
            <a:avLst>
              <a:gd fmla="val 25000" name="adj"/>
            </a:avLst>
          </a:prstGeom>
          <a:solidFill>
            <a:schemeClr val="accent1"/>
          </a:solidFill>
          <a:ln cap="flat" cmpd="sng" w="9525">
            <a:solidFill>
              <a:schemeClr val="accent1"/>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RF ›</a:t>
            </a:r>
            <a:endParaRPr b="0" i="0" sz="1200" u="none" cap="none" strike="noStrike">
              <a:solidFill>
                <a:schemeClr val="dk1"/>
              </a:solidFill>
              <a:latin typeface="Calibri"/>
              <a:ea typeface="Calibri"/>
              <a:cs typeface="Calibri"/>
              <a:sym typeface="Calibri"/>
            </a:endParaRPr>
          </a:p>
        </p:txBody>
      </p:sp>
      <p:sp>
        <p:nvSpPr>
          <p:cNvPr id="559" name="Google Shape;559;p17">
            <a:hlinkClick action="ppaction://hlinksldjump" r:id="rId5"/>
          </p:cNvPr>
          <p:cNvSpPr/>
          <p:nvPr/>
        </p:nvSpPr>
        <p:spPr>
          <a:xfrm>
            <a:off x="9610344" y="6336792"/>
            <a:ext cx="960120" cy="365760"/>
          </a:xfrm>
          <a:prstGeom prst="roundRect">
            <a:avLst>
              <a:gd fmla="val 25000"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1" i="0" lang="en-US" sz="1200" u="none" cap="none" strike="noStrike">
                <a:solidFill>
                  <a:schemeClr val="dk2"/>
                </a:solidFill>
                <a:latin typeface="Calibri"/>
                <a:ea typeface="Calibri"/>
                <a:cs typeface="Calibri"/>
                <a:sym typeface="Calibri"/>
              </a:rPr>
              <a:t>Agenda</a:t>
            </a:r>
            <a:endParaRPr b="0" i="0" sz="1200" u="none" cap="none" strike="noStrike">
              <a:solidFill>
                <a:schemeClr val="dk1"/>
              </a:solidFill>
              <a:latin typeface="Calibri"/>
              <a:ea typeface="Calibri"/>
              <a:cs typeface="Calibri"/>
              <a:sym typeface="Calibri"/>
            </a:endParaRPr>
          </a:p>
        </p:txBody>
      </p:sp>
      <p:sp>
        <p:nvSpPr>
          <p:cNvPr id="560" name="Google Shape;560;p17">
            <a:hlinkClick action="ppaction://hlinksldjump" r:id="rId6"/>
          </p:cNvPr>
          <p:cNvSpPr/>
          <p:nvPr/>
        </p:nvSpPr>
        <p:spPr>
          <a:xfrm>
            <a:off x="8540496" y="6336792"/>
            <a:ext cx="960120" cy="365760"/>
          </a:xfrm>
          <a:prstGeom prst="roundRect">
            <a:avLst>
              <a:gd fmla="val 25000"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1" i="0" lang="en-US" sz="1200" u="none" cap="none" strike="noStrike">
                <a:solidFill>
                  <a:schemeClr val="dk2"/>
                </a:solidFill>
                <a:latin typeface="Calibri"/>
                <a:ea typeface="Calibri"/>
                <a:cs typeface="Calibri"/>
                <a:sym typeface="Calibri"/>
              </a:rPr>
              <a:t>‹ KNN</a:t>
            </a:r>
            <a:endParaRPr b="0" i="0" sz="1200" u="none" cap="none" strike="noStrike">
              <a:solidFill>
                <a:schemeClr val="dk1"/>
              </a:solidFill>
              <a:latin typeface="Calibri"/>
              <a:ea typeface="Calibri"/>
              <a:cs typeface="Calibri"/>
              <a:sym typeface="Calibri"/>
            </a:endParaRPr>
          </a:p>
        </p:txBody>
      </p:sp>
      <p:sp>
        <p:nvSpPr>
          <p:cNvPr id="561" name="Google Shape;561;p17">
            <a:hlinkClick action="ppaction://hlinksldjump" r:id="rId7"/>
          </p:cNvPr>
          <p:cNvSpPr/>
          <p:nvPr/>
        </p:nvSpPr>
        <p:spPr>
          <a:xfrm>
            <a:off x="6693408" y="6336792"/>
            <a:ext cx="1737360" cy="365760"/>
          </a:xfrm>
          <a:prstGeom prst="roundRect">
            <a:avLst>
              <a:gd fmla="val 25000" name="adj"/>
            </a:avLst>
          </a:prstGeom>
          <a:solidFill>
            <a:schemeClr val="accent2"/>
          </a:solidFill>
          <a:ln cap="flat" cmpd="sng" w="9525">
            <a:solidFill>
              <a:schemeClr val="accen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 Model Explorer</a:t>
            </a:r>
            <a:endParaRPr b="0" i="0" sz="1200" u="none" cap="none" strike="noStrike">
              <a:solidFill>
                <a:schemeClr val="dk1"/>
              </a:solidFill>
              <a:latin typeface="Calibri"/>
              <a:ea typeface="Calibri"/>
              <a:cs typeface="Calibri"/>
              <a:sym typeface="Calibri"/>
            </a:endParaRPr>
          </a:p>
        </p:txBody>
      </p:sp>
      <p:sp>
        <p:nvSpPr>
          <p:cNvPr id="562" name="Google Shape;562;p17"/>
          <p:cNvSpPr txBox="1"/>
          <p:nvPr>
            <p:ph idx="4294967295" type="sldNum"/>
          </p:nvPr>
        </p:nvSpPr>
        <p:spPr>
          <a:xfrm>
            <a:off x="8732520" y="6382512"/>
            <a:ext cx="502920" cy="292608"/>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accent5"/>
                </a:solidFill>
                <a:latin typeface="Calibri"/>
                <a:ea typeface="Calibri"/>
                <a:cs typeface="Calibri"/>
                <a:sym typeface="Calibri"/>
              </a:rPr>
              <a:t>‹#›</a:t>
            </a:fld>
            <a:endParaRPr b="0" i="0" sz="1000" u="none" cap="none" strike="noStrike">
              <a:solidFill>
                <a:schemeClr val="accent5"/>
              </a:solidFill>
              <a:latin typeface="Calibri"/>
              <a:ea typeface="Calibri"/>
              <a:cs typeface="Calibri"/>
              <a:sym typeface="Calibri"/>
            </a:endParaRPr>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567" name="Shape 567"/>
        <p:cNvGrpSpPr/>
        <p:nvPr/>
      </p:nvGrpSpPr>
      <p:grpSpPr>
        <a:xfrm>
          <a:off x="0" y="0"/>
          <a:ext cx="0" cy="0"/>
          <a:chOff x="0" y="0"/>
          <a:chExt cx="0" cy="0"/>
        </a:xfrm>
      </p:grpSpPr>
      <p:sp>
        <p:nvSpPr>
          <p:cNvPr id="568" name="Google Shape;568;p18"/>
          <p:cNvSpPr txBox="1"/>
          <p:nvPr>
            <p:ph type="title"/>
          </p:nvPr>
        </p:nvSpPr>
        <p:spPr>
          <a:xfrm>
            <a:off x="548640" y="347472"/>
            <a:ext cx="11064240" cy="7315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accent5"/>
              </a:buClr>
              <a:buSzPts val="3200"/>
              <a:buFont typeface="Cambria"/>
              <a:buNone/>
            </a:pPr>
            <a:r>
              <a:rPr b="1" lang="en-US" sz="3200">
                <a:solidFill>
                  <a:schemeClr val="accent5"/>
                </a:solidFill>
                <a:latin typeface="Cambria"/>
                <a:ea typeface="Cambria"/>
                <a:cs typeface="Cambria"/>
                <a:sym typeface="Cambria"/>
              </a:rPr>
              <a:t>Model Explorer  |  </a:t>
            </a:r>
            <a:r>
              <a:rPr b="1" lang="en-US" sz="3200">
                <a:solidFill>
                  <a:schemeClr val="dk2"/>
                </a:solidFill>
                <a:latin typeface="Cambria"/>
                <a:ea typeface="Cambria"/>
                <a:cs typeface="Cambria"/>
                <a:sym typeface="Cambria"/>
              </a:rPr>
              <a:t>Random Forest</a:t>
            </a:r>
            <a:endParaRPr sz="3200"/>
          </a:p>
        </p:txBody>
      </p:sp>
      <p:sp>
        <p:nvSpPr>
          <p:cNvPr id="569" name="Google Shape;569;p18"/>
          <p:cNvSpPr/>
          <p:nvPr/>
        </p:nvSpPr>
        <p:spPr>
          <a:xfrm>
            <a:off x="548640" y="1280160"/>
            <a:ext cx="868680" cy="868680"/>
          </a:xfrm>
          <a:prstGeom prst="ellipse">
            <a:avLst/>
          </a:prstGeom>
          <a:solidFill>
            <a:srgbClr val="0E7C86"/>
          </a:solidFill>
          <a:ln cap="flat" cmpd="sng" w="12700">
            <a:solidFill>
              <a:srgbClr val="0E7C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570" name="Google Shape;570;p18"/>
          <p:cNvPicPr preferRelativeResize="0"/>
          <p:nvPr/>
        </p:nvPicPr>
        <p:blipFill rotWithShape="1">
          <a:blip r:embed="rId3">
            <a:alphaModFix/>
          </a:blip>
          <a:srcRect b="0" l="0" r="0" t="0"/>
          <a:stretch/>
        </p:blipFill>
        <p:spPr>
          <a:xfrm>
            <a:off x="757123" y="1488643"/>
            <a:ext cx="451714" cy="451714"/>
          </a:xfrm>
          <a:prstGeom prst="rect">
            <a:avLst/>
          </a:prstGeom>
          <a:noFill/>
          <a:ln>
            <a:noFill/>
          </a:ln>
        </p:spPr>
      </p:pic>
      <p:sp>
        <p:nvSpPr>
          <p:cNvPr id="571" name="Google Shape;571;p18"/>
          <p:cNvSpPr txBox="1"/>
          <p:nvPr/>
        </p:nvSpPr>
        <p:spPr>
          <a:xfrm>
            <a:off x="1600200" y="1325880"/>
            <a:ext cx="5029200" cy="7772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700"/>
              <a:buFont typeface="Calibri"/>
              <a:buNone/>
            </a:pPr>
            <a:r>
              <a:rPr b="1" i="0" lang="en-US" sz="1700" u="none" cap="none" strike="noStrike">
                <a:solidFill>
                  <a:schemeClr val="dk2"/>
                </a:solidFill>
                <a:latin typeface="Calibri"/>
                <a:ea typeface="Calibri"/>
                <a:cs typeface="Calibri"/>
                <a:sym typeface="Calibri"/>
              </a:rPr>
              <a:t>Bagging ensemble</a:t>
            </a:r>
            <a:endParaRPr b="0" i="0" sz="15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accent5"/>
              </a:buClr>
              <a:buSzPts val="1400"/>
              <a:buFont typeface="Calibri"/>
              <a:buNone/>
            </a:pPr>
            <a:r>
              <a:rPr b="0" i="1" lang="en-US" sz="1400" u="none" cap="none" strike="noStrike">
                <a:solidFill>
                  <a:schemeClr val="accent5"/>
                </a:solidFill>
                <a:latin typeface="Calibri"/>
                <a:ea typeface="Calibri"/>
                <a:cs typeface="Calibri"/>
                <a:sym typeface="Calibri"/>
              </a:rPr>
              <a:t>300 trees, min_samples_leaf = 2</a:t>
            </a:r>
            <a:endParaRPr b="0" i="0" sz="1500" u="none" cap="none" strike="noStrike">
              <a:solidFill>
                <a:schemeClr val="dk1"/>
              </a:solidFill>
              <a:latin typeface="Calibri"/>
              <a:ea typeface="Calibri"/>
              <a:cs typeface="Calibri"/>
              <a:sym typeface="Calibri"/>
            </a:endParaRPr>
          </a:p>
        </p:txBody>
      </p:sp>
      <p:sp>
        <p:nvSpPr>
          <p:cNvPr id="572" name="Google Shape;572;p18"/>
          <p:cNvSpPr/>
          <p:nvPr/>
        </p:nvSpPr>
        <p:spPr>
          <a:xfrm>
            <a:off x="548640" y="2377440"/>
            <a:ext cx="1188720" cy="1188720"/>
          </a:xfrm>
          <a:prstGeom prst="roundRect">
            <a:avLst>
              <a:gd fmla="val 6154"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 name="Google Shape;573;p18"/>
          <p:cNvSpPr txBox="1"/>
          <p:nvPr/>
        </p:nvSpPr>
        <p:spPr>
          <a:xfrm>
            <a:off x="548640" y="2487168"/>
            <a:ext cx="11887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2"/>
              </a:buClr>
              <a:buSzPts val="2200"/>
              <a:buFont typeface="Cambria"/>
              <a:buNone/>
            </a:pPr>
            <a:r>
              <a:rPr b="1" i="0" lang="en-US" sz="2200" u="none" cap="none" strike="noStrike">
                <a:solidFill>
                  <a:schemeClr val="dk2"/>
                </a:solidFill>
                <a:latin typeface="Cambria"/>
                <a:ea typeface="Cambria"/>
                <a:cs typeface="Cambria"/>
                <a:sym typeface="Cambria"/>
              </a:rPr>
              <a:t>0.747</a:t>
            </a:r>
            <a:endParaRPr b="0" i="0" sz="2200" u="none" cap="none" strike="noStrike">
              <a:solidFill>
                <a:schemeClr val="dk1"/>
              </a:solidFill>
              <a:latin typeface="Calibri"/>
              <a:ea typeface="Calibri"/>
              <a:cs typeface="Calibri"/>
              <a:sym typeface="Calibri"/>
            </a:endParaRPr>
          </a:p>
        </p:txBody>
      </p:sp>
      <p:sp>
        <p:nvSpPr>
          <p:cNvPr id="574" name="Google Shape;574;p18"/>
          <p:cNvSpPr txBox="1"/>
          <p:nvPr/>
        </p:nvSpPr>
        <p:spPr>
          <a:xfrm>
            <a:off x="548640" y="3063240"/>
            <a:ext cx="1188720" cy="36576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dk1"/>
              </a:buClr>
              <a:buSzPts val="1200"/>
              <a:buFont typeface="Calibri"/>
              <a:buNone/>
            </a:pPr>
            <a:r>
              <a:rPr b="0" i="0" lang="en-US" sz="1200" u="none" cap="none" strike="noStrike">
                <a:solidFill>
                  <a:schemeClr val="dk1"/>
                </a:solidFill>
                <a:latin typeface="Calibri"/>
                <a:ea typeface="Calibri"/>
                <a:cs typeface="Calibri"/>
                <a:sym typeface="Calibri"/>
              </a:rPr>
              <a:t>Accuracy</a:t>
            </a:r>
            <a:endParaRPr b="0" i="0" sz="1200" u="none" cap="none" strike="noStrike">
              <a:solidFill>
                <a:schemeClr val="dk1"/>
              </a:solidFill>
              <a:latin typeface="Calibri"/>
              <a:ea typeface="Calibri"/>
              <a:cs typeface="Calibri"/>
              <a:sym typeface="Calibri"/>
            </a:endParaRPr>
          </a:p>
        </p:txBody>
      </p:sp>
      <p:sp>
        <p:nvSpPr>
          <p:cNvPr id="575" name="Google Shape;575;p18"/>
          <p:cNvSpPr/>
          <p:nvPr/>
        </p:nvSpPr>
        <p:spPr>
          <a:xfrm>
            <a:off x="1856232" y="2377440"/>
            <a:ext cx="1188720" cy="1188720"/>
          </a:xfrm>
          <a:prstGeom prst="roundRect">
            <a:avLst>
              <a:gd fmla="val 6154"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 name="Google Shape;576;p18"/>
          <p:cNvSpPr txBox="1"/>
          <p:nvPr/>
        </p:nvSpPr>
        <p:spPr>
          <a:xfrm>
            <a:off x="1856232" y="2487168"/>
            <a:ext cx="11887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2"/>
              </a:buClr>
              <a:buSzPts val="2200"/>
              <a:buFont typeface="Cambria"/>
              <a:buNone/>
            </a:pPr>
            <a:r>
              <a:rPr b="1" i="0" lang="en-US" sz="2200" u="none" cap="none" strike="noStrike">
                <a:solidFill>
                  <a:schemeClr val="dk2"/>
                </a:solidFill>
                <a:latin typeface="Cambria"/>
                <a:ea typeface="Cambria"/>
                <a:cs typeface="Cambria"/>
                <a:sym typeface="Cambria"/>
              </a:rPr>
              <a:t>0.615</a:t>
            </a:r>
            <a:endParaRPr b="0" i="0" sz="2200" u="none" cap="none" strike="noStrike">
              <a:solidFill>
                <a:schemeClr val="dk1"/>
              </a:solidFill>
              <a:latin typeface="Calibri"/>
              <a:ea typeface="Calibri"/>
              <a:cs typeface="Calibri"/>
              <a:sym typeface="Calibri"/>
            </a:endParaRPr>
          </a:p>
        </p:txBody>
      </p:sp>
      <p:sp>
        <p:nvSpPr>
          <p:cNvPr id="577" name="Google Shape;577;p18"/>
          <p:cNvSpPr txBox="1"/>
          <p:nvPr/>
        </p:nvSpPr>
        <p:spPr>
          <a:xfrm>
            <a:off x="1856232" y="3063240"/>
            <a:ext cx="1188720" cy="36576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dk1"/>
              </a:buClr>
              <a:buSzPts val="1200"/>
              <a:buFont typeface="Calibri"/>
              <a:buNone/>
            </a:pPr>
            <a:r>
              <a:rPr b="0" i="0" lang="en-US" sz="1200" u="none" cap="none" strike="noStrike">
                <a:solidFill>
                  <a:schemeClr val="dk1"/>
                </a:solidFill>
                <a:latin typeface="Calibri"/>
                <a:ea typeface="Calibri"/>
                <a:cs typeface="Calibri"/>
                <a:sym typeface="Calibri"/>
              </a:rPr>
              <a:t>Precision</a:t>
            </a:r>
            <a:endParaRPr b="0" i="0" sz="1200" u="none" cap="none" strike="noStrike">
              <a:solidFill>
                <a:schemeClr val="dk1"/>
              </a:solidFill>
              <a:latin typeface="Calibri"/>
              <a:ea typeface="Calibri"/>
              <a:cs typeface="Calibri"/>
              <a:sym typeface="Calibri"/>
            </a:endParaRPr>
          </a:p>
        </p:txBody>
      </p:sp>
      <p:sp>
        <p:nvSpPr>
          <p:cNvPr id="578" name="Google Shape;578;p18"/>
          <p:cNvSpPr/>
          <p:nvPr/>
        </p:nvSpPr>
        <p:spPr>
          <a:xfrm>
            <a:off x="3163824" y="2377440"/>
            <a:ext cx="1188720" cy="1188720"/>
          </a:xfrm>
          <a:prstGeom prst="roundRect">
            <a:avLst>
              <a:gd fmla="val 6154" name="adj"/>
            </a:avLst>
          </a:prstGeom>
          <a:solidFill>
            <a:srgbClr val="FDE3E1"/>
          </a:solidFill>
          <a:ln cap="flat" cmpd="sng" w="12700">
            <a:solidFill>
              <a:srgbClr val="FDE3E1"/>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 name="Google Shape;579;p18"/>
          <p:cNvSpPr txBox="1"/>
          <p:nvPr/>
        </p:nvSpPr>
        <p:spPr>
          <a:xfrm>
            <a:off x="3163824" y="2487168"/>
            <a:ext cx="11887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accent2"/>
              </a:buClr>
              <a:buSzPts val="2200"/>
              <a:buFont typeface="Cambria"/>
              <a:buNone/>
            </a:pPr>
            <a:r>
              <a:rPr b="1" i="0" lang="en-US" sz="2200" u="none" cap="none" strike="noStrike">
                <a:solidFill>
                  <a:schemeClr val="accent2"/>
                </a:solidFill>
                <a:latin typeface="Cambria"/>
                <a:ea typeface="Cambria"/>
                <a:cs typeface="Cambria"/>
                <a:sym typeface="Cambria"/>
              </a:rPr>
              <a:t>0.741</a:t>
            </a:r>
            <a:endParaRPr b="0" i="0" sz="2200" u="none" cap="none" strike="noStrike">
              <a:solidFill>
                <a:schemeClr val="dk1"/>
              </a:solidFill>
              <a:latin typeface="Calibri"/>
              <a:ea typeface="Calibri"/>
              <a:cs typeface="Calibri"/>
              <a:sym typeface="Calibri"/>
            </a:endParaRPr>
          </a:p>
        </p:txBody>
      </p:sp>
      <p:sp>
        <p:nvSpPr>
          <p:cNvPr id="580" name="Google Shape;580;p18"/>
          <p:cNvSpPr txBox="1"/>
          <p:nvPr/>
        </p:nvSpPr>
        <p:spPr>
          <a:xfrm>
            <a:off x="3163824" y="3063240"/>
            <a:ext cx="1188720" cy="36576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dk1"/>
              </a:buClr>
              <a:buSzPts val="1200"/>
              <a:buFont typeface="Calibri"/>
              <a:buNone/>
            </a:pPr>
            <a:r>
              <a:rPr b="0" i="0" lang="en-US" sz="1200" u="none" cap="none" strike="noStrike">
                <a:solidFill>
                  <a:schemeClr val="dk1"/>
                </a:solidFill>
                <a:latin typeface="Calibri"/>
                <a:ea typeface="Calibri"/>
                <a:cs typeface="Calibri"/>
                <a:sym typeface="Calibri"/>
              </a:rPr>
              <a:t>Recall</a:t>
            </a:r>
            <a:endParaRPr b="0" i="0" sz="1200" u="none" cap="none" strike="noStrike">
              <a:solidFill>
                <a:schemeClr val="dk1"/>
              </a:solidFill>
              <a:latin typeface="Calibri"/>
              <a:ea typeface="Calibri"/>
              <a:cs typeface="Calibri"/>
              <a:sym typeface="Calibri"/>
            </a:endParaRPr>
          </a:p>
        </p:txBody>
      </p:sp>
      <p:sp>
        <p:nvSpPr>
          <p:cNvPr id="581" name="Google Shape;581;p18"/>
          <p:cNvSpPr/>
          <p:nvPr/>
        </p:nvSpPr>
        <p:spPr>
          <a:xfrm>
            <a:off x="4471416" y="2377440"/>
            <a:ext cx="1188720" cy="1188720"/>
          </a:xfrm>
          <a:prstGeom prst="roundRect">
            <a:avLst>
              <a:gd fmla="val 6154"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 name="Google Shape;582;p18"/>
          <p:cNvSpPr txBox="1"/>
          <p:nvPr/>
        </p:nvSpPr>
        <p:spPr>
          <a:xfrm>
            <a:off x="4471416" y="2487168"/>
            <a:ext cx="11887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2"/>
              </a:buClr>
              <a:buSzPts val="2200"/>
              <a:buFont typeface="Cambria"/>
              <a:buNone/>
            </a:pPr>
            <a:r>
              <a:rPr b="1" i="0" lang="en-US" sz="2200" u="none" cap="none" strike="noStrike">
                <a:solidFill>
                  <a:schemeClr val="dk2"/>
                </a:solidFill>
                <a:latin typeface="Cambria"/>
                <a:ea typeface="Cambria"/>
                <a:cs typeface="Cambria"/>
                <a:sym typeface="Cambria"/>
              </a:rPr>
              <a:t>0.672</a:t>
            </a:r>
            <a:endParaRPr b="0" i="0" sz="2200" u="none" cap="none" strike="noStrike">
              <a:solidFill>
                <a:schemeClr val="dk1"/>
              </a:solidFill>
              <a:latin typeface="Calibri"/>
              <a:ea typeface="Calibri"/>
              <a:cs typeface="Calibri"/>
              <a:sym typeface="Calibri"/>
            </a:endParaRPr>
          </a:p>
        </p:txBody>
      </p:sp>
      <p:sp>
        <p:nvSpPr>
          <p:cNvPr id="583" name="Google Shape;583;p18"/>
          <p:cNvSpPr txBox="1"/>
          <p:nvPr/>
        </p:nvSpPr>
        <p:spPr>
          <a:xfrm>
            <a:off x="4471416" y="3063240"/>
            <a:ext cx="1188720" cy="36576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dk1"/>
              </a:buClr>
              <a:buSzPts val="1200"/>
              <a:buFont typeface="Calibri"/>
              <a:buNone/>
            </a:pPr>
            <a:r>
              <a:rPr b="0" i="0" lang="en-US" sz="1200" u="none" cap="none" strike="noStrike">
                <a:solidFill>
                  <a:schemeClr val="dk1"/>
                </a:solidFill>
                <a:latin typeface="Calibri"/>
                <a:ea typeface="Calibri"/>
                <a:cs typeface="Calibri"/>
                <a:sym typeface="Calibri"/>
              </a:rPr>
              <a:t>F1</a:t>
            </a:r>
            <a:endParaRPr b="0" i="0" sz="1200" u="none" cap="none" strike="noStrike">
              <a:solidFill>
                <a:schemeClr val="dk1"/>
              </a:solidFill>
              <a:latin typeface="Calibri"/>
              <a:ea typeface="Calibri"/>
              <a:cs typeface="Calibri"/>
              <a:sym typeface="Calibri"/>
            </a:endParaRPr>
          </a:p>
        </p:txBody>
      </p:sp>
      <p:sp>
        <p:nvSpPr>
          <p:cNvPr id="584" name="Google Shape;584;p18"/>
          <p:cNvSpPr/>
          <p:nvPr/>
        </p:nvSpPr>
        <p:spPr>
          <a:xfrm>
            <a:off x="5779008" y="2377440"/>
            <a:ext cx="1188720" cy="1188720"/>
          </a:xfrm>
          <a:prstGeom prst="roundRect">
            <a:avLst>
              <a:gd fmla="val 6154"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 name="Google Shape;585;p18"/>
          <p:cNvSpPr txBox="1"/>
          <p:nvPr/>
        </p:nvSpPr>
        <p:spPr>
          <a:xfrm>
            <a:off x="5779008" y="2487168"/>
            <a:ext cx="11887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2"/>
              </a:buClr>
              <a:buSzPts val="2200"/>
              <a:buFont typeface="Cambria"/>
              <a:buNone/>
            </a:pPr>
            <a:r>
              <a:rPr b="1" i="0" lang="en-US" sz="2200" u="none" cap="none" strike="noStrike">
                <a:solidFill>
                  <a:schemeClr val="dk2"/>
                </a:solidFill>
                <a:latin typeface="Cambria"/>
                <a:ea typeface="Cambria"/>
                <a:cs typeface="Cambria"/>
                <a:sym typeface="Cambria"/>
              </a:rPr>
              <a:t>0.809</a:t>
            </a:r>
            <a:endParaRPr b="0" i="0" sz="2200" u="none" cap="none" strike="noStrike">
              <a:solidFill>
                <a:schemeClr val="dk1"/>
              </a:solidFill>
              <a:latin typeface="Calibri"/>
              <a:ea typeface="Calibri"/>
              <a:cs typeface="Calibri"/>
              <a:sym typeface="Calibri"/>
            </a:endParaRPr>
          </a:p>
        </p:txBody>
      </p:sp>
      <p:sp>
        <p:nvSpPr>
          <p:cNvPr id="586" name="Google Shape;586;p18"/>
          <p:cNvSpPr txBox="1"/>
          <p:nvPr/>
        </p:nvSpPr>
        <p:spPr>
          <a:xfrm>
            <a:off x="5779008" y="3063240"/>
            <a:ext cx="1188720" cy="36576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dk1"/>
              </a:buClr>
              <a:buSzPts val="1200"/>
              <a:buFont typeface="Calibri"/>
              <a:buNone/>
            </a:pPr>
            <a:r>
              <a:rPr b="0" i="0" lang="en-US" sz="1200" u="none" cap="none" strike="noStrike">
                <a:solidFill>
                  <a:schemeClr val="dk1"/>
                </a:solidFill>
                <a:latin typeface="Calibri"/>
                <a:ea typeface="Calibri"/>
                <a:cs typeface="Calibri"/>
                <a:sym typeface="Calibri"/>
              </a:rPr>
              <a:t>ROC-AUC</a:t>
            </a:r>
            <a:endParaRPr b="0" i="0" sz="1200" u="none" cap="none" strike="noStrike">
              <a:solidFill>
                <a:schemeClr val="dk1"/>
              </a:solidFill>
              <a:latin typeface="Calibri"/>
              <a:ea typeface="Calibri"/>
              <a:cs typeface="Calibri"/>
              <a:sym typeface="Calibri"/>
            </a:endParaRPr>
          </a:p>
        </p:txBody>
      </p:sp>
      <p:sp>
        <p:nvSpPr>
          <p:cNvPr id="587" name="Google Shape;587;p18"/>
          <p:cNvSpPr txBox="1"/>
          <p:nvPr/>
        </p:nvSpPr>
        <p:spPr>
          <a:xfrm>
            <a:off x="548640" y="3703320"/>
            <a:ext cx="640080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5"/>
              </a:buClr>
              <a:buSzPts val="1200"/>
              <a:buFont typeface="Calibri"/>
              <a:buNone/>
            </a:pPr>
            <a:r>
              <a:rPr b="0" i="1" lang="en-US" sz="1200" u="none" cap="none" strike="noStrike">
                <a:solidFill>
                  <a:schemeClr val="accent5"/>
                </a:solidFill>
                <a:latin typeface="Calibri"/>
                <a:ea typeface="Calibri"/>
                <a:cs typeface="Calibri"/>
                <a:sym typeface="Calibri"/>
              </a:rPr>
              <a:t>Test set (154 patients)  |  specificity 0.75  |  5-fold CV ROC-AUC 0.829 ± 0.025, CV recall 0.715</a:t>
            </a:r>
            <a:endParaRPr b="0" i="0" sz="1200" u="none" cap="none" strike="noStrike">
              <a:solidFill>
                <a:schemeClr val="dk1"/>
              </a:solidFill>
              <a:latin typeface="Calibri"/>
              <a:ea typeface="Calibri"/>
              <a:cs typeface="Calibri"/>
              <a:sym typeface="Calibri"/>
            </a:endParaRPr>
          </a:p>
        </p:txBody>
      </p:sp>
      <p:sp>
        <p:nvSpPr>
          <p:cNvPr id="588" name="Google Shape;588;p18"/>
          <p:cNvSpPr txBox="1"/>
          <p:nvPr/>
        </p:nvSpPr>
        <p:spPr>
          <a:xfrm>
            <a:off x="548640" y="4069080"/>
            <a:ext cx="3657600" cy="29260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400"/>
              <a:buFont typeface="Calibri"/>
              <a:buNone/>
            </a:pPr>
            <a:r>
              <a:rPr b="1" i="0" lang="en-US" sz="1400" u="none" cap="none" strike="noStrike">
                <a:solidFill>
                  <a:schemeClr val="dk2"/>
                </a:solidFill>
                <a:latin typeface="Calibri"/>
                <a:ea typeface="Calibri"/>
                <a:cs typeface="Calibri"/>
                <a:sym typeface="Calibri"/>
              </a:rPr>
              <a:t>Confusion matrix (test)</a:t>
            </a:r>
            <a:endParaRPr b="0" i="0" sz="1400" u="none" cap="none" strike="noStrike">
              <a:solidFill>
                <a:schemeClr val="dk1"/>
              </a:solidFill>
              <a:latin typeface="Calibri"/>
              <a:ea typeface="Calibri"/>
              <a:cs typeface="Calibri"/>
              <a:sym typeface="Calibri"/>
            </a:endParaRPr>
          </a:p>
        </p:txBody>
      </p:sp>
      <p:sp>
        <p:nvSpPr>
          <p:cNvPr id="589" name="Google Shape;589;p18"/>
          <p:cNvSpPr txBox="1"/>
          <p:nvPr/>
        </p:nvSpPr>
        <p:spPr>
          <a:xfrm>
            <a:off x="1417320" y="4389120"/>
            <a:ext cx="1325880" cy="237744"/>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accent5"/>
              </a:buClr>
              <a:buSzPts val="1100"/>
              <a:buFont typeface="Calibri"/>
              <a:buNone/>
            </a:pPr>
            <a:r>
              <a:rPr b="0" i="0" lang="en-US" sz="1100" u="none" cap="none" strike="noStrike">
                <a:solidFill>
                  <a:schemeClr val="accent5"/>
                </a:solidFill>
                <a:latin typeface="Calibri"/>
                <a:ea typeface="Calibri"/>
                <a:cs typeface="Calibri"/>
                <a:sym typeface="Calibri"/>
              </a:rPr>
              <a:t>Predicted −</a:t>
            </a:r>
            <a:endParaRPr b="0" i="0" sz="1100" u="none" cap="none" strike="noStrike">
              <a:solidFill>
                <a:schemeClr val="dk1"/>
              </a:solidFill>
              <a:latin typeface="Calibri"/>
              <a:ea typeface="Calibri"/>
              <a:cs typeface="Calibri"/>
              <a:sym typeface="Calibri"/>
            </a:endParaRPr>
          </a:p>
        </p:txBody>
      </p:sp>
      <p:sp>
        <p:nvSpPr>
          <p:cNvPr id="590" name="Google Shape;590;p18"/>
          <p:cNvSpPr txBox="1"/>
          <p:nvPr/>
        </p:nvSpPr>
        <p:spPr>
          <a:xfrm>
            <a:off x="2834640" y="4389120"/>
            <a:ext cx="1325880" cy="237744"/>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accent5"/>
              </a:buClr>
              <a:buSzPts val="1100"/>
              <a:buFont typeface="Calibri"/>
              <a:buNone/>
            </a:pPr>
            <a:r>
              <a:rPr b="0" i="0" lang="en-US" sz="1100" u="none" cap="none" strike="noStrike">
                <a:solidFill>
                  <a:schemeClr val="accent5"/>
                </a:solidFill>
                <a:latin typeface="Calibri"/>
                <a:ea typeface="Calibri"/>
                <a:cs typeface="Calibri"/>
                <a:sym typeface="Calibri"/>
              </a:rPr>
              <a:t>Predicted +</a:t>
            </a:r>
            <a:endParaRPr b="0" i="0" sz="1100" u="none" cap="none" strike="noStrike">
              <a:solidFill>
                <a:schemeClr val="dk1"/>
              </a:solidFill>
              <a:latin typeface="Calibri"/>
              <a:ea typeface="Calibri"/>
              <a:cs typeface="Calibri"/>
              <a:sym typeface="Calibri"/>
            </a:endParaRPr>
          </a:p>
        </p:txBody>
      </p:sp>
      <p:sp>
        <p:nvSpPr>
          <p:cNvPr id="591" name="Google Shape;591;p18"/>
          <p:cNvSpPr/>
          <p:nvPr/>
        </p:nvSpPr>
        <p:spPr>
          <a:xfrm>
            <a:off x="1417320" y="4663440"/>
            <a:ext cx="1325880" cy="713232"/>
          </a:xfrm>
          <a:prstGeom prst="roundRect">
            <a:avLst>
              <a:gd fmla="val 7692"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2000"/>
              <a:buFont typeface="Calibri"/>
              <a:buNone/>
            </a:pPr>
            <a:r>
              <a:rPr b="1" i="0" lang="en-US" sz="2000" u="none" cap="none" strike="noStrike">
                <a:solidFill>
                  <a:schemeClr val="dk2"/>
                </a:solidFill>
                <a:latin typeface="Calibri"/>
                <a:ea typeface="Calibri"/>
                <a:cs typeface="Calibri"/>
                <a:sym typeface="Calibri"/>
              </a:rPr>
              <a:t>75</a:t>
            </a:r>
            <a:endParaRPr b="0" i="0" sz="2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chemeClr val="dk2"/>
              </a:buClr>
              <a:buSzPts val="1100"/>
              <a:buFont typeface="Calibri"/>
              <a:buNone/>
            </a:pPr>
            <a:r>
              <a:rPr b="0" i="0" lang="en-US" sz="1100" u="none" cap="none" strike="noStrike">
                <a:solidFill>
                  <a:schemeClr val="dk2"/>
                </a:solidFill>
                <a:latin typeface="Calibri"/>
                <a:ea typeface="Calibri"/>
                <a:cs typeface="Calibri"/>
                <a:sym typeface="Calibri"/>
              </a:rPr>
              <a:t>TN</a:t>
            </a:r>
            <a:endParaRPr b="0" i="0" sz="2000" u="none" cap="none" strike="noStrike">
              <a:solidFill>
                <a:schemeClr val="dk1"/>
              </a:solidFill>
              <a:latin typeface="Calibri"/>
              <a:ea typeface="Calibri"/>
              <a:cs typeface="Calibri"/>
              <a:sym typeface="Calibri"/>
            </a:endParaRPr>
          </a:p>
        </p:txBody>
      </p:sp>
      <p:sp>
        <p:nvSpPr>
          <p:cNvPr id="592" name="Google Shape;592;p18"/>
          <p:cNvSpPr/>
          <p:nvPr/>
        </p:nvSpPr>
        <p:spPr>
          <a:xfrm>
            <a:off x="2834640" y="4663440"/>
            <a:ext cx="1325880" cy="713232"/>
          </a:xfrm>
          <a:prstGeom prst="roundRect">
            <a:avLst>
              <a:gd fmla="val 7692"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2000"/>
              <a:buFont typeface="Calibri"/>
              <a:buNone/>
            </a:pPr>
            <a:r>
              <a:rPr b="1" i="0" lang="en-US" sz="2000" u="none" cap="none" strike="noStrike">
                <a:solidFill>
                  <a:schemeClr val="dk2"/>
                </a:solidFill>
                <a:latin typeface="Calibri"/>
                <a:ea typeface="Calibri"/>
                <a:cs typeface="Calibri"/>
                <a:sym typeface="Calibri"/>
              </a:rPr>
              <a:t>25</a:t>
            </a:r>
            <a:endParaRPr b="0" i="0" sz="2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chemeClr val="dk2"/>
              </a:buClr>
              <a:buSzPts val="1100"/>
              <a:buFont typeface="Calibri"/>
              <a:buNone/>
            </a:pPr>
            <a:r>
              <a:rPr b="0" i="0" lang="en-US" sz="1100" u="none" cap="none" strike="noStrike">
                <a:solidFill>
                  <a:schemeClr val="dk2"/>
                </a:solidFill>
                <a:latin typeface="Calibri"/>
                <a:ea typeface="Calibri"/>
                <a:cs typeface="Calibri"/>
                <a:sym typeface="Calibri"/>
              </a:rPr>
              <a:t>FP</a:t>
            </a:r>
            <a:endParaRPr b="0" i="0" sz="2000" u="none" cap="none" strike="noStrike">
              <a:solidFill>
                <a:schemeClr val="dk1"/>
              </a:solidFill>
              <a:latin typeface="Calibri"/>
              <a:ea typeface="Calibri"/>
              <a:cs typeface="Calibri"/>
              <a:sym typeface="Calibri"/>
            </a:endParaRPr>
          </a:p>
        </p:txBody>
      </p:sp>
      <p:sp>
        <p:nvSpPr>
          <p:cNvPr id="593" name="Google Shape;593;p18"/>
          <p:cNvSpPr/>
          <p:nvPr/>
        </p:nvSpPr>
        <p:spPr>
          <a:xfrm>
            <a:off x="1417320" y="5449824"/>
            <a:ext cx="1325880" cy="713232"/>
          </a:xfrm>
          <a:prstGeom prst="roundRect">
            <a:avLst>
              <a:gd fmla="val 7692" name="adj"/>
            </a:avLst>
          </a:prstGeom>
          <a:solidFill>
            <a:schemeClr val="accent2"/>
          </a:solidFill>
          <a:ln cap="flat" cmpd="sng" w="9525">
            <a:solidFill>
              <a:schemeClr val="accen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2000"/>
              <a:buFont typeface="Calibri"/>
              <a:buNone/>
            </a:pPr>
            <a:r>
              <a:rPr b="1" i="0" lang="en-US" sz="2000" u="none" cap="none" strike="noStrike">
                <a:solidFill>
                  <a:schemeClr val="lt1"/>
                </a:solidFill>
                <a:latin typeface="Calibri"/>
                <a:ea typeface="Calibri"/>
                <a:cs typeface="Calibri"/>
                <a:sym typeface="Calibri"/>
              </a:rPr>
              <a:t>14</a:t>
            </a:r>
            <a:endParaRPr b="0" i="0" sz="2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chemeClr val="lt1"/>
              </a:buClr>
              <a:buSzPts val="1100"/>
              <a:buFont typeface="Calibri"/>
              <a:buNone/>
            </a:pPr>
            <a:r>
              <a:rPr b="0" i="0" lang="en-US" sz="1100" u="none" cap="none" strike="noStrike">
                <a:solidFill>
                  <a:schemeClr val="lt1"/>
                </a:solidFill>
                <a:latin typeface="Calibri"/>
                <a:ea typeface="Calibri"/>
                <a:cs typeface="Calibri"/>
                <a:sym typeface="Calibri"/>
              </a:rPr>
              <a:t>FN</a:t>
            </a:r>
            <a:endParaRPr b="0" i="0" sz="2000" u="none" cap="none" strike="noStrike">
              <a:solidFill>
                <a:schemeClr val="dk1"/>
              </a:solidFill>
              <a:latin typeface="Calibri"/>
              <a:ea typeface="Calibri"/>
              <a:cs typeface="Calibri"/>
              <a:sym typeface="Calibri"/>
            </a:endParaRPr>
          </a:p>
        </p:txBody>
      </p:sp>
      <p:sp>
        <p:nvSpPr>
          <p:cNvPr id="594" name="Google Shape;594;p18"/>
          <p:cNvSpPr/>
          <p:nvPr/>
        </p:nvSpPr>
        <p:spPr>
          <a:xfrm>
            <a:off x="2834640" y="5449824"/>
            <a:ext cx="1325880" cy="713232"/>
          </a:xfrm>
          <a:prstGeom prst="roundRect">
            <a:avLst>
              <a:gd fmla="val 7692" name="adj"/>
            </a:avLst>
          </a:prstGeom>
          <a:solidFill>
            <a:schemeClr val="accent1"/>
          </a:solidFill>
          <a:ln cap="flat" cmpd="sng" w="9525">
            <a:solidFill>
              <a:schemeClr val="accent1"/>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2000"/>
              <a:buFont typeface="Calibri"/>
              <a:buNone/>
            </a:pPr>
            <a:r>
              <a:rPr b="1" i="0" lang="en-US" sz="2000" u="none" cap="none" strike="noStrike">
                <a:solidFill>
                  <a:schemeClr val="lt1"/>
                </a:solidFill>
                <a:latin typeface="Calibri"/>
                <a:ea typeface="Calibri"/>
                <a:cs typeface="Calibri"/>
                <a:sym typeface="Calibri"/>
              </a:rPr>
              <a:t>40</a:t>
            </a:r>
            <a:endParaRPr b="0" i="0" sz="2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chemeClr val="lt1"/>
              </a:buClr>
              <a:buSzPts val="1100"/>
              <a:buFont typeface="Calibri"/>
              <a:buNone/>
            </a:pPr>
            <a:r>
              <a:rPr b="0" i="0" lang="en-US" sz="1100" u="none" cap="none" strike="noStrike">
                <a:solidFill>
                  <a:schemeClr val="lt1"/>
                </a:solidFill>
                <a:latin typeface="Calibri"/>
                <a:ea typeface="Calibri"/>
                <a:cs typeface="Calibri"/>
                <a:sym typeface="Calibri"/>
              </a:rPr>
              <a:t>TP</a:t>
            </a:r>
            <a:endParaRPr b="0" i="0" sz="2000" u="none" cap="none" strike="noStrike">
              <a:solidFill>
                <a:schemeClr val="dk1"/>
              </a:solidFill>
              <a:latin typeface="Calibri"/>
              <a:ea typeface="Calibri"/>
              <a:cs typeface="Calibri"/>
              <a:sym typeface="Calibri"/>
            </a:endParaRPr>
          </a:p>
        </p:txBody>
      </p:sp>
      <p:sp>
        <p:nvSpPr>
          <p:cNvPr id="595" name="Google Shape;595;p18"/>
          <p:cNvSpPr txBox="1"/>
          <p:nvPr/>
        </p:nvSpPr>
        <p:spPr>
          <a:xfrm>
            <a:off x="548640" y="4663440"/>
            <a:ext cx="822960" cy="7132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5"/>
              </a:buClr>
              <a:buSzPts val="1100"/>
              <a:buFont typeface="Calibri"/>
              <a:buNone/>
            </a:pPr>
            <a:r>
              <a:rPr b="0" i="0" lang="en-US" sz="1100" u="none" cap="none" strike="noStrike">
                <a:solidFill>
                  <a:schemeClr val="accent5"/>
                </a:solidFill>
                <a:latin typeface="Calibri"/>
                <a:ea typeface="Calibri"/>
                <a:cs typeface="Calibri"/>
                <a:sym typeface="Calibri"/>
              </a:rPr>
              <a:t>Actual −</a:t>
            </a:r>
            <a:endParaRPr b="0" i="0" sz="1100" u="none" cap="none" strike="noStrike">
              <a:solidFill>
                <a:schemeClr val="dk1"/>
              </a:solidFill>
              <a:latin typeface="Calibri"/>
              <a:ea typeface="Calibri"/>
              <a:cs typeface="Calibri"/>
              <a:sym typeface="Calibri"/>
            </a:endParaRPr>
          </a:p>
        </p:txBody>
      </p:sp>
      <p:sp>
        <p:nvSpPr>
          <p:cNvPr id="596" name="Google Shape;596;p18"/>
          <p:cNvSpPr txBox="1"/>
          <p:nvPr/>
        </p:nvSpPr>
        <p:spPr>
          <a:xfrm>
            <a:off x="548640" y="5449824"/>
            <a:ext cx="822960" cy="7132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5"/>
              </a:buClr>
              <a:buSzPts val="1100"/>
              <a:buFont typeface="Calibri"/>
              <a:buNone/>
            </a:pPr>
            <a:r>
              <a:rPr b="0" i="0" lang="en-US" sz="1100" u="none" cap="none" strike="noStrike">
                <a:solidFill>
                  <a:schemeClr val="accent5"/>
                </a:solidFill>
                <a:latin typeface="Calibri"/>
                <a:ea typeface="Calibri"/>
                <a:cs typeface="Calibri"/>
                <a:sym typeface="Calibri"/>
              </a:rPr>
              <a:t>Actual +</a:t>
            </a:r>
            <a:endParaRPr b="0" i="0" sz="1100" u="none" cap="none" strike="noStrike">
              <a:solidFill>
                <a:schemeClr val="dk1"/>
              </a:solidFill>
              <a:latin typeface="Calibri"/>
              <a:ea typeface="Calibri"/>
              <a:cs typeface="Calibri"/>
              <a:sym typeface="Calibri"/>
            </a:endParaRPr>
          </a:p>
        </p:txBody>
      </p:sp>
      <p:sp>
        <p:nvSpPr>
          <p:cNvPr id="597" name="Google Shape;597;p18"/>
          <p:cNvSpPr/>
          <p:nvPr/>
        </p:nvSpPr>
        <p:spPr>
          <a:xfrm>
            <a:off x="7223760" y="1280160"/>
            <a:ext cx="4416552" cy="4754880"/>
          </a:xfrm>
          <a:prstGeom prst="roundRect">
            <a:avLst>
              <a:gd fmla="val 1656"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 name="Google Shape;598;p18"/>
          <p:cNvSpPr/>
          <p:nvPr/>
        </p:nvSpPr>
        <p:spPr>
          <a:xfrm>
            <a:off x="7452360" y="1508760"/>
            <a:ext cx="3959352" cy="548640"/>
          </a:xfrm>
          <a:prstGeom prst="roundRect">
            <a:avLst>
              <a:gd fmla="val 16667" name="adj"/>
            </a:avLst>
          </a:prstGeom>
          <a:solidFill>
            <a:schemeClr val="accent1"/>
          </a:solidFill>
          <a:ln cap="flat" cmpd="sng" w="9525">
            <a:solidFill>
              <a:schemeClr val="accent1"/>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700"/>
              <a:buFont typeface="Calibri"/>
              <a:buNone/>
            </a:pPr>
            <a:r>
              <a:rPr b="1" i="0" lang="en-US" sz="1700" u="none" cap="none" strike="noStrike">
                <a:solidFill>
                  <a:schemeClr val="lt1"/>
                </a:solidFill>
                <a:latin typeface="Calibri"/>
                <a:ea typeface="Calibri"/>
                <a:cs typeface="Calibri"/>
                <a:sym typeface="Calibri"/>
              </a:rPr>
              <a:t>SELECTED final model</a:t>
            </a:r>
            <a:endParaRPr b="0" i="0" sz="1700" u="none" cap="none" strike="noStrike">
              <a:solidFill>
                <a:schemeClr val="dk1"/>
              </a:solidFill>
              <a:latin typeface="Calibri"/>
              <a:ea typeface="Calibri"/>
              <a:cs typeface="Calibri"/>
              <a:sym typeface="Calibri"/>
            </a:endParaRPr>
          </a:p>
        </p:txBody>
      </p:sp>
      <p:sp>
        <p:nvSpPr>
          <p:cNvPr id="599" name="Google Shape;599;p18"/>
          <p:cNvSpPr txBox="1"/>
          <p:nvPr/>
        </p:nvSpPr>
        <p:spPr>
          <a:xfrm>
            <a:off x="7452360" y="2286000"/>
            <a:ext cx="3959352" cy="2377440"/>
          </a:xfrm>
          <a:prstGeom prst="rect">
            <a:avLst/>
          </a:prstGeom>
          <a:noFill/>
          <a:ln>
            <a:noFill/>
          </a:ln>
        </p:spPr>
        <p:txBody>
          <a:bodyPr anchorCtr="0" anchor="t" bIns="0" lIns="0" spcFirstLastPara="1" rIns="0" wrap="square" tIns="0">
            <a:noAutofit/>
          </a:bodyPr>
          <a:lstStyle/>
          <a:p>
            <a:pPr indent="-203200" lvl="0" marL="203200" marR="0" rtl="0" algn="l">
              <a:spcBef>
                <a:spcPts val="0"/>
              </a:spcBef>
              <a:spcAft>
                <a:spcPts val="0"/>
              </a:spcAft>
              <a:buClr>
                <a:schemeClr val="dk1"/>
              </a:buClr>
              <a:buSzPts val="1500"/>
              <a:buFont typeface="Calibri"/>
              <a:buChar char="•"/>
            </a:pPr>
            <a:r>
              <a:rPr b="0" i="0" lang="en-US" sz="1500" u="none" cap="none" strike="noStrike">
                <a:solidFill>
                  <a:schemeClr val="dk1"/>
                </a:solidFill>
                <a:latin typeface="Calibri"/>
                <a:ea typeface="Calibri"/>
                <a:cs typeface="Calibri"/>
                <a:sym typeface="Calibri"/>
              </a:rPr>
              <a:t>Recall ≥ 0.70 in both cross-validation (0.715) and test (0.741)</a:t>
            </a:r>
            <a:endParaRPr b="0" i="0" sz="1500" u="none" cap="none" strike="noStrike">
              <a:solidFill>
                <a:schemeClr val="dk1"/>
              </a:solidFill>
              <a:latin typeface="Calibri"/>
              <a:ea typeface="Calibri"/>
              <a:cs typeface="Calibri"/>
              <a:sym typeface="Calibri"/>
            </a:endParaRPr>
          </a:p>
          <a:p>
            <a:pPr indent="-203200" lvl="0" marL="203200" marR="0" rtl="0" algn="l">
              <a:spcBef>
                <a:spcPts val="600"/>
              </a:spcBef>
              <a:spcAft>
                <a:spcPts val="0"/>
              </a:spcAft>
              <a:buClr>
                <a:schemeClr val="dk1"/>
              </a:buClr>
              <a:buSzPts val="1500"/>
              <a:buFont typeface="Calibri"/>
              <a:buChar char="•"/>
            </a:pPr>
            <a:r>
              <a:rPr b="0" i="0" lang="en-US" sz="1500" u="none" cap="none" strike="noStrike">
                <a:solidFill>
                  <a:schemeClr val="dk1"/>
                </a:solidFill>
                <a:latin typeface="Calibri"/>
                <a:ea typeface="Calibri"/>
                <a:cs typeface="Calibri"/>
                <a:sym typeface="Calibri"/>
              </a:rPr>
              <a:t>First or second on most metrics in both evaluations</a:t>
            </a:r>
            <a:endParaRPr b="0" i="0" sz="1500" u="none" cap="none" strike="noStrike">
              <a:solidFill>
                <a:schemeClr val="dk1"/>
              </a:solidFill>
              <a:latin typeface="Calibri"/>
              <a:ea typeface="Calibri"/>
              <a:cs typeface="Calibri"/>
              <a:sym typeface="Calibri"/>
            </a:endParaRPr>
          </a:p>
          <a:p>
            <a:pPr indent="-203200" lvl="0" marL="203200" marR="0" rtl="0" algn="l">
              <a:spcBef>
                <a:spcPts val="600"/>
              </a:spcBef>
              <a:spcAft>
                <a:spcPts val="0"/>
              </a:spcAft>
              <a:buClr>
                <a:schemeClr val="dk1"/>
              </a:buClr>
              <a:buSzPts val="1500"/>
              <a:buFont typeface="Calibri"/>
              <a:buChar char="•"/>
            </a:pPr>
            <a:r>
              <a:rPr b="0" i="0" lang="en-US" sz="1500" u="none" cap="none" strike="noStrike">
                <a:solidFill>
                  <a:schemeClr val="dk1"/>
                </a:solidFill>
                <a:latin typeface="Calibri"/>
                <a:ea typeface="Calibri"/>
                <a:cs typeface="Calibri"/>
                <a:sym typeface="Calibri"/>
              </a:rPr>
              <a:t>Highest overall score (0.727): balanced and stable</a:t>
            </a:r>
            <a:endParaRPr b="0" i="0" sz="1500" u="none" cap="none" strike="noStrike">
              <a:solidFill>
                <a:schemeClr val="dk1"/>
              </a:solidFill>
              <a:latin typeface="Calibri"/>
              <a:ea typeface="Calibri"/>
              <a:cs typeface="Calibri"/>
              <a:sym typeface="Calibri"/>
            </a:endParaRPr>
          </a:p>
        </p:txBody>
      </p:sp>
      <p:sp>
        <p:nvSpPr>
          <p:cNvPr id="600" name="Google Shape;600;p18"/>
          <p:cNvSpPr txBox="1"/>
          <p:nvPr/>
        </p:nvSpPr>
        <p:spPr>
          <a:xfrm>
            <a:off x="7452360" y="4754880"/>
            <a:ext cx="3959352"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300"/>
              <a:buFont typeface="Calibri"/>
              <a:buNone/>
            </a:pPr>
            <a:r>
              <a:rPr b="1" i="0" lang="en-US" sz="1300" u="none" cap="none" strike="noStrike">
                <a:solidFill>
                  <a:schemeClr val="dk2"/>
                </a:solidFill>
                <a:latin typeface="Calibri"/>
                <a:ea typeface="Calibri"/>
                <a:cs typeface="Calibri"/>
                <a:sym typeface="Calibri"/>
              </a:rPr>
              <a:t>Overall score: </a:t>
            </a:r>
            <a:r>
              <a:rPr b="0" i="0" lang="en-US" sz="1300" u="none" cap="none" strike="noStrike">
                <a:solidFill>
                  <a:schemeClr val="dk2"/>
                </a:solidFill>
                <a:latin typeface="Calibri"/>
                <a:ea typeface="Calibri"/>
                <a:cs typeface="Calibri"/>
                <a:sym typeface="Calibri"/>
              </a:rPr>
              <a:t>0.7272  (mean of 5 metrics, CV + test)</a:t>
            </a:r>
            <a:endParaRPr b="0" i="0" sz="1300" u="none" cap="none" strike="noStrike">
              <a:solidFill>
                <a:schemeClr val="dk1"/>
              </a:solidFill>
              <a:latin typeface="Calibri"/>
              <a:ea typeface="Calibri"/>
              <a:cs typeface="Calibri"/>
              <a:sym typeface="Calibri"/>
            </a:endParaRPr>
          </a:p>
        </p:txBody>
      </p:sp>
      <p:sp>
        <p:nvSpPr>
          <p:cNvPr id="601" name="Google Shape;601;p18">
            <a:hlinkClick action="ppaction://hlinksldjump" r:id="rId4"/>
          </p:cNvPr>
          <p:cNvSpPr/>
          <p:nvPr/>
        </p:nvSpPr>
        <p:spPr>
          <a:xfrm>
            <a:off x="10680192" y="6336792"/>
            <a:ext cx="960120" cy="365760"/>
          </a:xfrm>
          <a:prstGeom prst="roundRect">
            <a:avLst>
              <a:gd fmla="val 25000" name="adj"/>
            </a:avLst>
          </a:prstGeom>
          <a:solidFill>
            <a:schemeClr val="accent1"/>
          </a:solidFill>
          <a:ln cap="flat" cmpd="sng" w="9525">
            <a:solidFill>
              <a:schemeClr val="accent1"/>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XGB ›</a:t>
            </a:r>
            <a:endParaRPr b="0" i="0" sz="1200" u="none" cap="none" strike="noStrike">
              <a:solidFill>
                <a:schemeClr val="dk1"/>
              </a:solidFill>
              <a:latin typeface="Calibri"/>
              <a:ea typeface="Calibri"/>
              <a:cs typeface="Calibri"/>
              <a:sym typeface="Calibri"/>
            </a:endParaRPr>
          </a:p>
        </p:txBody>
      </p:sp>
      <p:sp>
        <p:nvSpPr>
          <p:cNvPr id="602" name="Google Shape;602;p18">
            <a:hlinkClick action="ppaction://hlinksldjump" r:id="rId5"/>
          </p:cNvPr>
          <p:cNvSpPr/>
          <p:nvPr/>
        </p:nvSpPr>
        <p:spPr>
          <a:xfrm>
            <a:off x="9610344" y="6336792"/>
            <a:ext cx="960120" cy="365760"/>
          </a:xfrm>
          <a:prstGeom prst="roundRect">
            <a:avLst>
              <a:gd fmla="val 25000"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1" i="0" lang="en-US" sz="1200" u="none" cap="none" strike="noStrike">
                <a:solidFill>
                  <a:schemeClr val="dk2"/>
                </a:solidFill>
                <a:latin typeface="Calibri"/>
                <a:ea typeface="Calibri"/>
                <a:cs typeface="Calibri"/>
                <a:sym typeface="Calibri"/>
              </a:rPr>
              <a:t>Agenda</a:t>
            </a:r>
            <a:endParaRPr b="0" i="0" sz="1200" u="none" cap="none" strike="noStrike">
              <a:solidFill>
                <a:schemeClr val="dk1"/>
              </a:solidFill>
              <a:latin typeface="Calibri"/>
              <a:ea typeface="Calibri"/>
              <a:cs typeface="Calibri"/>
              <a:sym typeface="Calibri"/>
            </a:endParaRPr>
          </a:p>
        </p:txBody>
      </p:sp>
      <p:sp>
        <p:nvSpPr>
          <p:cNvPr id="603" name="Google Shape;603;p18">
            <a:hlinkClick action="ppaction://hlinksldjump" r:id="rId6"/>
          </p:cNvPr>
          <p:cNvSpPr/>
          <p:nvPr/>
        </p:nvSpPr>
        <p:spPr>
          <a:xfrm>
            <a:off x="8540496" y="6336792"/>
            <a:ext cx="960120" cy="365760"/>
          </a:xfrm>
          <a:prstGeom prst="roundRect">
            <a:avLst>
              <a:gd fmla="val 25000"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1" i="0" lang="en-US" sz="1200" u="none" cap="none" strike="noStrike">
                <a:solidFill>
                  <a:schemeClr val="dk2"/>
                </a:solidFill>
                <a:latin typeface="Calibri"/>
                <a:ea typeface="Calibri"/>
                <a:cs typeface="Calibri"/>
                <a:sym typeface="Calibri"/>
              </a:rPr>
              <a:t>‹ DT</a:t>
            </a:r>
            <a:endParaRPr b="0" i="0" sz="1200" u="none" cap="none" strike="noStrike">
              <a:solidFill>
                <a:schemeClr val="dk1"/>
              </a:solidFill>
              <a:latin typeface="Calibri"/>
              <a:ea typeface="Calibri"/>
              <a:cs typeface="Calibri"/>
              <a:sym typeface="Calibri"/>
            </a:endParaRPr>
          </a:p>
        </p:txBody>
      </p:sp>
      <p:sp>
        <p:nvSpPr>
          <p:cNvPr id="604" name="Google Shape;604;p18">
            <a:hlinkClick action="ppaction://hlinksldjump" r:id="rId7"/>
          </p:cNvPr>
          <p:cNvSpPr/>
          <p:nvPr/>
        </p:nvSpPr>
        <p:spPr>
          <a:xfrm>
            <a:off x="6693408" y="6336792"/>
            <a:ext cx="1737360" cy="365760"/>
          </a:xfrm>
          <a:prstGeom prst="roundRect">
            <a:avLst>
              <a:gd fmla="val 25000" name="adj"/>
            </a:avLst>
          </a:prstGeom>
          <a:solidFill>
            <a:schemeClr val="accent2"/>
          </a:solidFill>
          <a:ln cap="flat" cmpd="sng" w="9525">
            <a:solidFill>
              <a:schemeClr val="accen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 Model Explorer</a:t>
            </a:r>
            <a:endParaRPr b="0" i="0" sz="1200" u="none" cap="none" strike="noStrike">
              <a:solidFill>
                <a:schemeClr val="dk1"/>
              </a:solidFill>
              <a:latin typeface="Calibri"/>
              <a:ea typeface="Calibri"/>
              <a:cs typeface="Calibri"/>
              <a:sym typeface="Calibri"/>
            </a:endParaRPr>
          </a:p>
        </p:txBody>
      </p:sp>
      <p:sp>
        <p:nvSpPr>
          <p:cNvPr id="605" name="Google Shape;605;p18"/>
          <p:cNvSpPr txBox="1"/>
          <p:nvPr>
            <p:ph idx="4294967295" type="sldNum"/>
          </p:nvPr>
        </p:nvSpPr>
        <p:spPr>
          <a:xfrm>
            <a:off x="8732520" y="6382512"/>
            <a:ext cx="502920" cy="292608"/>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accent5"/>
                </a:solidFill>
                <a:latin typeface="Calibri"/>
                <a:ea typeface="Calibri"/>
                <a:cs typeface="Calibri"/>
                <a:sym typeface="Calibri"/>
              </a:rPr>
              <a:t>‹#›</a:t>
            </a:fld>
            <a:endParaRPr b="0" i="0" sz="1000" u="none" cap="none" strike="noStrike">
              <a:solidFill>
                <a:schemeClr val="accent5"/>
              </a:solidFill>
              <a:latin typeface="Calibri"/>
              <a:ea typeface="Calibri"/>
              <a:cs typeface="Calibri"/>
              <a:sym typeface="Calibri"/>
            </a:endParaRPr>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610" name="Shape 610"/>
        <p:cNvGrpSpPr/>
        <p:nvPr/>
      </p:nvGrpSpPr>
      <p:grpSpPr>
        <a:xfrm>
          <a:off x="0" y="0"/>
          <a:ext cx="0" cy="0"/>
          <a:chOff x="0" y="0"/>
          <a:chExt cx="0" cy="0"/>
        </a:xfrm>
      </p:grpSpPr>
      <p:sp>
        <p:nvSpPr>
          <p:cNvPr id="611" name="Google Shape;611;p19"/>
          <p:cNvSpPr txBox="1"/>
          <p:nvPr>
            <p:ph type="title"/>
          </p:nvPr>
        </p:nvSpPr>
        <p:spPr>
          <a:xfrm>
            <a:off x="548640" y="347472"/>
            <a:ext cx="11064240" cy="7315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accent5"/>
              </a:buClr>
              <a:buSzPts val="3200"/>
              <a:buFont typeface="Cambria"/>
              <a:buNone/>
            </a:pPr>
            <a:r>
              <a:rPr b="1" lang="en-US" sz="3200">
                <a:solidFill>
                  <a:schemeClr val="accent5"/>
                </a:solidFill>
                <a:latin typeface="Cambria"/>
                <a:ea typeface="Cambria"/>
                <a:cs typeface="Cambria"/>
                <a:sym typeface="Cambria"/>
              </a:rPr>
              <a:t>Model Explorer  |  </a:t>
            </a:r>
            <a:r>
              <a:rPr b="1" lang="en-US" sz="3200">
                <a:solidFill>
                  <a:schemeClr val="dk2"/>
                </a:solidFill>
                <a:latin typeface="Cambria"/>
                <a:ea typeface="Cambria"/>
                <a:cs typeface="Cambria"/>
                <a:sym typeface="Cambria"/>
              </a:rPr>
              <a:t>XGBoost</a:t>
            </a:r>
            <a:endParaRPr sz="3200"/>
          </a:p>
        </p:txBody>
      </p:sp>
      <p:sp>
        <p:nvSpPr>
          <p:cNvPr id="612" name="Google Shape;612;p19"/>
          <p:cNvSpPr/>
          <p:nvPr/>
        </p:nvSpPr>
        <p:spPr>
          <a:xfrm>
            <a:off x="548640" y="1280160"/>
            <a:ext cx="868680" cy="868680"/>
          </a:xfrm>
          <a:prstGeom prst="ellipse">
            <a:avLst/>
          </a:prstGeom>
          <a:solidFill>
            <a:srgbClr val="6B4E9B"/>
          </a:solidFill>
          <a:ln cap="flat" cmpd="sng" w="12700">
            <a:solidFill>
              <a:srgbClr val="6B4E9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con" id="613" name="Google Shape;613;p19"/>
          <p:cNvPicPr preferRelativeResize="0"/>
          <p:nvPr/>
        </p:nvPicPr>
        <p:blipFill rotWithShape="1">
          <a:blip r:embed="rId3">
            <a:alphaModFix/>
          </a:blip>
          <a:srcRect b="0" l="0" r="0" t="0"/>
          <a:stretch/>
        </p:blipFill>
        <p:spPr>
          <a:xfrm>
            <a:off x="757123" y="1488643"/>
            <a:ext cx="451714" cy="451714"/>
          </a:xfrm>
          <a:prstGeom prst="rect">
            <a:avLst/>
          </a:prstGeom>
          <a:noFill/>
          <a:ln>
            <a:noFill/>
          </a:ln>
        </p:spPr>
      </p:pic>
      <p:sp>
        <p:nvSpPr>
          <p:cNvPr id="614" name="Google Shape;614;p19"/>
          <p:cNvSpPr txBox="1"/>
          <p:nvPr/>
        </p:nvSpPr>
        <p:spPr>
          <a:xfrm>
            <a:off x="1600200" y="1325880"/>
            <a:ext cx="5029200" cy="7772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700"/>
              <a:buFont typeface="Calibri"/>
              <a:buNone/>
            </a:pPr>
            <a:r>
              <a:rPr b="1" i="0" lang="en-US" sz="1700" u="none" cap="none" strike="noStrike">
                <a:solidFill>
                  <a:schemeClr val="dk2"/>
                </a:solidFill>
                <a:latin typeface="Calibri"/>
                <a:ea typeface="Calibri"/>
                <a:cs typeface="Calibri"/>
                <a:sym typeface="Calibri"/>
              </a:rPr>
              <a:t>Gradient-boosting ensemble</a:t>
            </a:r>
            <a:endParaRPr b="0" i="0" sz="15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accent5"/>
              </a:buClr>
              <a:buSzPts val="1400"/>
              <a:buFont typeface="Calibri"/>
              <a:buNone/>
            </a:pPr>
            <a:r>
              <a:rPr b="0" i="1" lang="en-US" sz="1400" u="none" cap="none" strike="noStrike">
                <a:solidFill>
                  <a:schemeClr val="accent5"/>
                </a:solidFill>
                <a:latin typeface="Calibri"/>
                <a:ea typeface="Calibri"/>
                <a:cs typeface="Calibri"/>
                <a:sym typeface="Calibri"/>
              </a:rPr>
              <a:t>200 trees, depth 3, lr 0.05</a:t>
            </a:r>
            <a:endParaRPr b="0" i="0" sz="1500" u="none" cap="none" strike="noStrike">
              <a:solidFill>
                <a:schemeClr val="dk1"/>
              </a:solidFill>
              <a:latin typeface="Calibri"/>
              <a:ea typeface="Calibri"/>
              <a:cs typeface="Calibri"/>
              <a:sym typeface="Calibri"/>
            </a:endParaRPr>
          </a:p>
        </p:txBody>
      </p:sp>
      <p:sp>
        <p:nvSpPr>
          <p:cNvPr id="615" name="Google Shape;615;p19"/>
          <p:cNvSpPr/>
          <p:nvPr/>
        </p:nvSpPr>
        <p:spPr>
          <a:xfrm>
            <a:off x="548640" y="2377440"/>
            <a:ext cx="1188720" cy="1188720"/>
          </a:xfrm>
          <a:prstGeom prst="roundRect">
            <a:avLst>
              <a:gd fmla="val 6154"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 name="Google Shape;616;p19"/>
          <p:cNvSpPr txBox="1"/>
          <p:nvPr/>
        </p:nvSpPr>
        <p:spPr>
          <a:xfrm>
            <a:off x="548640" y="2487168"/>
            <a:ext cx="11887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2"/>
              </a:buClr>
              <a:buSzPts val="2200"/>
              <a:buFont typeface="Cambria"/>
              <a:buNone/>
            </a:pPr>
            <a:r>
              <a:rPr b="1" i="0" lang="en-US" sz="2200" u="none" cap="none" strike="noStrike">
                <a:solidFill>
                  <a:schemeClr val="dk2"/>
                </a:solidFill>
                <a:latin typeface="Cambria"/>
                <a:ea typeface="Cambria"/>
                <a:cs typeface="Cambria"/>
                <a:sym typeface="Cambria"/>
              </a:rPr>
              <a:t>0.753</a:t>
            </a:r>
            <a:endParaRPr b="0" i="0" sz="2200" u="none" cap="none" strike="noStrike">
              <a:solidFill>
                <a:schemeClr val="dk1"/>
              </a:solidFill>
              <a:latin typeface="Calibri"/>
              <a:ea typeface="Calibri"/>
              <a:cs typeface="Calibri"/>
              <a:sym typeface="Calibri"/>
            </a:endParaRPr>
          </a:p>
        </p:txBody>
      </p:sp>
      <p:sp>
        <p:nvSpPr>
          <p:cNvPr id="617" name="Google Shape;617;p19"/>
          <p:cNvSpPr txBox="1"/>
          <p:nvPr/>
        </p:nvSpPr>
        <p:spPr>
          <a:xfrm>
            <a:off x="548640" y="3063240"/>
            <a:ext cx="1188720" cy="36576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dk1"/>
              </a:buClr>
              <a:buSzPts val="1200"/>
              <a:buFont typeface="Calibri"/>
              <a:buNone/>
            </a:pPr>
            <a:r>
              <a:rPr b="0" i="0" lang="en-US" sz="1200" u="none" cap="none" strike="noStrike">
                <a:solidFill>
                  <a:schemeClr val="dk1"/>
                </a:solidFill>
                <a:latin typeface="Calibri"/>
                <a:ea typeface="Calibri"/>
                <a:cs typeface="Calibri"/>
                <a:sym typeface="Calibri"/>
              </a:rPr>
              <a:t>Accuracy</a:t>
            </a:r>
            <a:endParaRPr b="0" i="0" sz="1200" u="none" cap="none" strike="noStrike">
              <a:solidFill>
                <a:schemeClr val="dk1"/>
              </a:solidFill>
              <a:latin typeface="Calibri"/>
              <a:ea typeface="Calibri"/>
              <a:cs typeface="Calibri"/>
              <a:sym typeface="Calibri"/>
            </a:endParaRPr>
          </a:p>
        </p:txBody>
      </p:sp>
      <p:sp>
        <p:nvSpPr>
          <p:cNvPr id="618" name="Google Shape;618;p19"/>
          <p:cNvSpPr/>
          <p:nvPr/>
        </p:nvSpPr>
        <p:spPr>
          <a:xfrm>
            <a:off x="1856232" y="2377440"/>
            <a:ext cx="1188720" cy="1188720"/>
          </a:xfrm>
          <a:prstGeom prst="roundRect">
            <a:avLst>
              <a:gd fmla="val 6154"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 name="Google Shape;619;p19"/>
          <p:cNvSpPr txBox="1"/>
          <p:nvPr/>
        </p:nvSpPr>
        <p:spPr>
          <a:xfrm>
            <a:off x="1856232" y="2487168"/>
            <a:ext cx="11887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2"/>
              </a:buClr>
              <a:buSzPts val="2200"/>
              <a:buFont typeface="Cambria"/>
              <a:buNone/>
            </a:pPr>
            <a:r>
              <a:rPr b="1" i="0" lang="en-US" sz="2200" u="none" cap="none" strike="noStrike">
                <a:solidFill>
                  <a:schemeClr val="dk2"/>
                </a:solidFill>
                <a:latin typeface="Cambria"/>
                <a:ea typeface="Cambria"/>
                <a:cs typeface="Cambria"/>
                <a:sym typeface="Cambria"/>
              </a:rPr>
              <a:t>0.625</a:t>
            </a:r>
            <a:endParaRPr b="0" i="0" sz="2200" u="none" cap="none" strike="noStrike">
              <a:solidFill>
                <a:schemeClr val="dk1"/>
              </a:solidFill>
              <a:latin typeface="Calibri"/>
              <a:ea typeface="Calibri"/>
              <a:cs typeface="Calibri"/>
              <a:sym typeface="Calibri"/>
            </a:endParaRPr>
          </a:p>
        </p:txBody>
      </p:sp>
      <p:sp>
        <p:nvSpPr>
          <p:cNvPr id="620" name="Google Shape;620;p19"/>
          <p:cNvSpPr txBox="1"/>
          <p:nvPr/>
        </p:nvSpPr>
        <p:spPr>
          <a:xfrm>
            <a:off x="1856232" y="3063240"/>
            <a:ext cx="1188720" cy="36576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dk1"/>
              </a:buClr>
              <a:buSzPts val="1200"/>
              <a:buFont typeface="Calibri"/>
              <a:buNone/>
            </a:pPr>
            <a:r>
              <a:rPr b="0" i="0" lang="en-US" sz="1200" u="none" cap="none" strike="noStrike">
                <a:solidFill>
                  <a:schemeClr val="dk1"/>
                </a:solidFill>
                <a:latin typeface="Calibri"/>
                <a:ea typeface="Calibri"/>
                <a:cs typeface="Calibri"/>
                <a:sym typeface="Calibri"/>
              </a:rPr>
              <a:t>Precision</a:t>
            </a:r>
            <a:endParaRPr b="0" i="0" sz="1200" u="none" cap="none" strike="noStrike">
              <a:solidFill>
                <a:schemeClr val="dk1"/>
              </a:solidFill>
              <a:latin typeface="Calibri"/>
              <a:ea typeface="Calibri"/>
              <a:cs typeface="Calibri"/>
              <a:sym typeface="Calibri"/>
            </a:endParaRPr>
          </a:p>
        </p:txBody>
      </p:sp>
      <p:sp>
        <p:nvSpPr>
          <p:cNvPr id="621" name="Google Shape;621;p19"/>
          <p:cNvSpPr/>
          <p:nvPr/>
        </p:nvSpPr>
        <p:spPr>
          <a:xfrm>
            <a:off x="3163824" y="2377440"/>
            <a:ext cx="1188720" cy="1188720"/>
          </a:xfrm>
          <a:prstGeom prst="roundRect">
            <a:avLst>
              <a:gd fmla="val 6154" name="adj"/>
            </a:avLst>
          </a:prstGeom>
          <a:solidFill>
            <a:srgbClr val="FDE3E1"/>
          </a:solidFill>
          <a:ln cap="flat" cmpd="sng" w="12700">
            <a:solidFill>
              <a:srgbClr val="FDE3E1"/>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2" name="Google Shape;622;p19"/>
          <p:cNvSpPr txBox="1"/>
          <p:nvPr/>
        </p:nvSpPr>
        <p:spPr>
          <a:xfrm>
            <a:off x="3163824" y="2487168"/>
            <a:ext cx="11887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accent2"/>
              </a:buClr>
              <a:buSzPts val="2200"/>
              <a:buFont typeface="Cambria"/>
              <a:buNone/>
            </a:pPr>
            <a:r>
              <a:rPr b="1" i="0" lang="en-US" sz="2200" u="none" cap="none" strike="noStrike">
                <a:solidFill>
                  <a:schemeClr val="accent2"/>
                </a:solidFill>
                <a:latin typeface="Cambria"/>
                <a:ea typeface="Cambria"/>
                <a:cs typeface="Cambria"/>
                <a:sym typeface="Cambria"/>
              </a:rPr>
              <a:t>0.741</a:t>
            </a:r>
            <a:endParaRPr b="0" i="0" sz="2200" u="none" cap="none" strike="noStrike">
              <a:solidFill>
                <a:schemeClr val="dk1"/>
              </a:solidFill>
              <a:latin typeface="Calibri"/>
              <a:ea typeface="Calibri"/>
              <a:cs typeface="Calibri"/>
              <a:sym typeface="Calibri"/>
            </a:endParaRPr>
          </a:p>
        </p:txBody>
      </p:sp>
      <p:sp>
        <p:nvSpPr>
          <p:cNvPr id="623" name="Google Shape;623;p19"/>
          <p:cNvSpPr txBox="1"/>
          <p:nvPr/>
        </p:nvSpPr>
        <p:spPr>
          <a:xfrm>
            <a:off x="3163824" y="3063240"/>
            <a:ext cx="1188720" cy="36576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dk1"/>
              </a:buClr>
              <a:buSzPts val="1200"/>
              <a:buFont typeface="Calibri"/>
              <a:buNone/>
            </a:pPr>
            <a:r>
              <a:rPr b="0" i="0" lang="en-US" sz="1200" u="none" cap="none" strike="noStrike">
                <a:solidFill>
                  <a:schemeClr val="dk1"/>
                </a:solidFill>
                <a:latin typeface="Calibri"/>
                <a:ea typeface="Calibri"/>
                <a:cs typeface="Calibri"/>
                <a:sym typeface="Calibri"/>
              </a:rPr>
              <a:t>Recall</a:t>
            </a:r>
            <a:endParaRPr b="0" i="0" sz="1200" u="none" cap="none" strike="noStrike">
              <a:solidFill>
                <a:schemeClr val="dk1"/>
              </a:solidFill>
              <a:latin typeface="Calibri"/>
              <a:ea typeface="Calibri"/>
              <a:cs typeface="Calibri"/>
              <a:sym typeface="Calibri"/>
            </a:endParaRPr>
          </a:p>
        </p:txBody>
      </p:sp>
      <p:sp>
        <p:nvSpPr>
          <p:cNvPr id="624" name="Google Shape;624;p19"/>
          <p:cNvSpPr/>
          <p:nvPr/>
        </p:nvSpPr>
        <p:spPr>
          <a:xfrm>
            <a:off x="4471416" y="2377440"/>
            <a:ext cx="1188720" cy="1188720"/>
          </a:xfrm>
          <a:prstGeom prst="roundRect">
            <a:avLst>
              <a:gd fmla="val 6154"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 name="Google Shape;625;p19"/>
          <p:cNvSpPr txBox="1"/>
          <p:nvPr/>
        </p:nvSpPr>
        <p:spPr>
          <a:xfrm>
            <a:off x="4471416" y="2487168"/>
            <a:ext cx="11887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2"/>
              </a:buClr>
              <a:buSzPts val="2200"/>
              <a:buFont typeface="Cambria"/>
              <a:buNone/>
            </a:pPr>
            <a:r>
              <a:rPr b="1" i="0" lang="en-US" sz="2200" u="none" cap="none" strike="noStrike">
                <a:solidFill>
                  <a:schemeClr val="dk2"/>
                </a:solidFill>
                <a:latin typeface="Cambria"/>
                <a:ea typeface="Cambria"/>
                <a:cs typeface="Cambria"/>
                <a:sym typeface="Cambria"/>
              </a:rPr>
              <a:t>0.678</a:t>
            </a:r>
            <a:endParaRPr b="0" i="0" sz="2200" u="none" cap="none" strike="noStrike">
              <a:solidFill>
                <a:schemeClr val="dk1"/>
              </a:solidFill>
              <a:latin typeface="Calibri"/>
              <a:ea typeface="Calibri"/>
              <a:cs typeface="Calibri"/>
              <a:sym typeface="Calibri"/>
            </a:endParaRPr>
          </a:p>
        </p:txBody>
      </p:sp>
      <p:sp>
        <p:nvSpPr>
          <p:cNvPr id="626" name="Google Shape;626;p19"/>
          <p:cNvSpPr txBox="1"/>
          <p:nvPr/>
        </p:nvSpPr>
        <p:spPr>
          <a:xfrm>
            <a:off x="4471416" y="3063240"/>
            <a:ext cx="1188720" cy="36576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dk1"/>
              </a:buClr>
              <a:buSzPts val="1200"/>
              <a:buFont typeface="Calibri"/>
              <a:buNone/>
            </a:pPr>
            <a:r>
              <a:rPr b="0" i="0" lang="en-US" sz="1200" u="none" cap="none" strike="noStrike">
                <a:solidFill>
                  <a:schemeClr val="dk1"/>
                </a:solidFill>
                <a:latin typeface="Calibri"/>
                <a:ea typeface="Calibri"/>
                <a:cs typeface="Calibri"/>
                <a:sym typeface="Calibri"/>
              </a:rPr>
              <a:t>F1</a:t>
            </a:r>
            <a:endParaRPr b="0" i="0" sz="1200" u="none" cap="none" strike="noStrike">
              <a:solidFill>
                <a:schemeClr val="dk1"/>
              </a:solidFill>
              <a:latin typeface="Calibri"/>
              <a:ea typeface="Calibri"/>
              <a:cs typeface="Calibri"/>
              <a:sym typeface="Calibri"/>
            </a:endParaRPr>
          </a:p>
        </p:txBody>
      </p:sp>
      <p:sp>
        <p:nvSpPr>
          <p:cNvPr id="627" name="Google Shape;627;p19"/>
          <p:cNvSpPr/>
          <p:nvPr/>
        </p:nvSpPr>
        <p:spPr>
          <a:xfrm>
            <a:off x="5779008" y="2377440"/>
            <a:ext cx="1188720" cy="1188720"/>
          </a:xfrm>
          <a:prstGeom prst="roundRect">
            <a:avLst>
              <a:gd fmla="val 6154"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 name="Google Shape;628;p19"/>
          <p:cNvSpPr txBox="1"/>
          <p:nvPr/>
        </p:nvSpPr>
        <p:spPr>
          <a:xfrm>
            <a:off x="5779008" y="2487168"/>
            <a:ext cx="11887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2"/>
              </a:buClr>
              <a:buSzPts val="2200"/>
              <a:buFont typeface="Cambria"/>
              <a:buNone/>
            </a:pPr>
            <a:r>
              <a:rPr b="1" i="0" lang="en-US" sz="2200" u="none" cap="none" strike="noStrike">
                <a:solidFill>
                  <a:schemeClr val="dk2"/>
                </a:solidFill>
                <a:latin typeface="Cambria"/>
                <a:ea typeface="Cambria"/>
                <a:cs typeface="Cambria"/>
                <a:sym typeface="Cambria"/>
              </a:rPr>
              <a:t>0.826</a:t>
            </a:r>
            <a:endParaRPr b="0" i="0" sz="2200" u="none" cap="none" strike="noStrike">
              <a:solidFill>
                <a:schemeClr val="dk1"/>
              </a:solidFill>
              <a:latin typeface="Calibri"/>
              <a:ea typeface="Calibri"/>
              <a:cs typeface="Calibri"/>
              <a:sym typeface="Calibri"/>
            </a:endParaRPr>
          </a:p>
        </p:txBody>
      </p:sp>
      <p:sp>
        <p:nvSpPr>
          <p:cNvPr id="629" name="Google Shape;629;p19"/>
          <p:cNvSpPr txBox="1"/>
          <p:nvPr/>
        </p:nvSpPr>
        <p:spPr>
          <a:xfrm>
            <a:off x="5779008" y="3063240"/>
            <a:ext cx="1188720" cy="36576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dk1"/>
              </a:buClr>
              <a:buSzPts val="1200"/>
              <a:buFont typeface="Calibri"/>
              <a:buNone/>
            </a:pPr>
            <a:r>
              <a:rPr b="0" i="0" lang="en-US" sz="1200" u="none" cap="none" strike="noStrike">
                <a:solidFill>
                  <a:schemeClr val="dk1"/>
                </a:solidFill>
                <a:latin typeface="Calibri"/>
                <a:ea typeface="Calibri"/>
                <a:cs typeface="Calibri"/>
                <a:sym typeface="Calibri"/>
              </a:rPr>
              <a:t>ROC-AUC</a:t>
            </a:r>
            <a:endParaRPr b="0" i="0" sz="1200" u="none" cap="none" strike="noStrike">
              <a:solidFill>
                <a:schemeClr val="dk1"/>
              </a:solidFill>
              <a:latin typeface="Calibri"/>
              <a:ea typeface="Calibri"/>
              <a:cs typeface="Calibri"/>
              <a:sym typeface="Calibri"/>
            </a:endParaRPr>
          </a:p>
        </p:txBody>
      </p:sp>
      <p:sp>
        <p:nvSpPr>
          <p:cNvPr id="630" name="Google Shape;630;p19"/>
          <p:cNvSpPr txBox="1"/>
          <p:nvPr/>
        </p:nvSpPr>
        <p:spPr>
          <a:xfrm>
            <a:off x="548640" y="3703320"/>
            <a:ext cx="640080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5"/>
              </a:buClr>
              <a:buSzPts val="1200"/>
              <a:buFont typeface="Calibri"/>
              <a:buNone/>
            </a:pPr>
            <a:r>
              <a:rPr b="0" i="1" lang="en-US" sz="1200" u="none" cap="none" strike="noStrike">
                <a:solidFill>
                  <a:schemeClr val="accent5"/>
                </a:solidFill>
                <a:latin typeface="Calibri"/>
                <a:ea typeface="Calibri"/>
                <a:cs typeface="Calibri"/>
                <a:sym typeface="Calibri"/>
              </a:rPr>
              <a:t>Test set (154 patients)  |  specificity 0.76  |  5-fold CV ROC-AUC 0.822 ± 0.030, CV recall 0.687</a:t>
            </a:r>
            <a:endParaRPr b="0" i="0" sz="1200" u="none" cap="none" strike="noStrike">
              <a:solidFill>
                <a:schemeClr val="dk1"/>
              </a:solidFill>
              <a:latin typeface="Calibri"/>
              <a:ea typeface="Calibri"/>
              <a:cs typeface="Calibri"/>
              <a:sym typeface="Calibri"/>
            </a:endParaRPr>
          </a:p>
        </p:txBody>
      </p:sp>
      <p:sp>
        <p:nvSpPr>
          <p:cNvPr id="631" name="Google Shape;631;p19"/>
          <p:cNvSpPr txBox="1"/>
          <p:nvPr/>
        </p:nvSpPr>
        <p:spPr>
          <a:xfrm>
            <a:off x="548640" y="4069080"/>
            <a:ext cx="3657600" cy="29260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400"/>
              <a:buFont typeface="Calibri"/>
              <a:buNone/>
            </a:pPr>
            <a:r>
              <a:rPr b="1" i="0" lang="en-US" sz="1400" u="none" cap="none" strike="noStrike">
                <a:solidFill>
                  <a:schemeClr val="dk2"/>
                </a:solidFill>
                <a:latin typeface="Calibri"/>
                <a:ea typeface="Calibri"/>
                <a:cs typeface="Calibri"/>
                <a:sym typeface="Calibri"/>
              </a:rPr>
              <a:t>Confusion matrix (test)</a:t>
            </a:r>
            <a:endParaRPr b="0" i="0" sz="1400" u="none" cap="none" strike="noStrike">
              <a:solidFill>
                <a:schemeClr val="dk1"/>
              </a:solidFill>
              <a:latin typeface="Calibri"/>
              <a:ea typeface="Calibri"/>
              <a:cs typeface="Calibri"/>
              <a:sym typeface="Calibri"/>
            </a:endParaRPr>
          </a:p>
        </p:txBody>
      </p:sp>
      <p:sp>
        <p:nvSpPr>
          <p:cNvPr id="632" name="Google Shape;632;p19"/>
          <p:cNvSpPr txBox="1"/>
          <p:nvPr/>
        </p:nvSpPr>
        <p:spPr>
          <a:xfrm>
            <a:off x="1417320" y="4389120"/>
            <a:ext cx="1325880" cy="237744"/>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accent5"/>
              </a:buClr>
              <a:buSzPts val="1100"/>
              <a:buFont typeface="Calibri"/>
              <a:buNone/>
            </a:pPr>
            <a:r>
              <a:rPr b="0" i="0" lang="en-US" sz="1100" u="none" cap="none" strike="noStrike">
                <a:solidFill>
                  <a:schemeClr val="accent5"/>
                </a:solidFill>
                <a:latin typeface="Calibri"/>
                <a:ea typeface="Calibri"/>
                <a:cs typeface="Calibri"/>
                <a:sym typeface="Calibri"/>
              </a:rPr>
              <a:t>Predicted −</a:t>
            </a:r>
            <a:endParaRPr b="0" i="0" sz="1100" u="none" cap="none" strike="noStrike">
              <a:solidFill>
                <a:schemeClr val="dk1"/>
              </a:solidFill>
              <a:latin typeface="Calibri"/>
              <a:ea typeface="Calibri"/>
              <a:cs typeface="Calibri"/>
              <a:sym typeface="Calibri"/>
            </a:endParaRPr>
          </a:p>
        </p:txBody>
      </p:sp>
      <p:sp>
        <p:nvSpPr>
          <p:cNvPr id="633" name="Google Shape;633;p19"/>
          <p:cNvSpPr txBox="1"/>
          <p:nvPr/>
        </p:nvSpPr>
        <p:spPr>
          <a:xfrm>
            <a:off x="2834640" y="4389120"/>
            <a:ext cx="1325880" cy="237744"/>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accent5"/>
              </a:buClr>
              <a:buSzPts val="1100"/>
              <a:buFont typeface="Calibri"/>
              <a:buNone/>
            </a:pPr>
            <a:r>
              <a:rPr b="0" i="0" lang="en-US" sz="1100" u="none" cap="none" strike="noStrike">
                <a:solidFill>
                  <a:schemeClr val="accent5"/>
                </a:solidFill>
                <a:latin typeface="Calibri"/>
                <a:ea typeface="Calibri"/>
                <a:cs typeface="Calibri"/>
                <a:sym typeface="Calibri"/>
              </a:rPr>
              <a:t>Predicted +</a:t>
            </a:r>
            <a:endParaRPr b="0" i="0" sz="1100" u="none" cap="none" strike="noStrike">
              <a:solidFill>
                <a:schemeClr val="dk1"/>
              </a:solidFill>
              <a:latin typeface="Calibri"/>
              <a:ea typeface="Calibri"/>
              <a:cs typeface="Calibri"/>
              <a:sym typeface="Calibri"/>
            </a:endParaRPr>
          </a:p>
        </p:txBody>
      </p:sp>
      <p:sp>
        <p:nvSpPr>
          <p:cNvPr id="634" name="Google Shape;634;p19"/>
          <p:cNvSpPr/>
          <p:nvPr/>
        </p:nvSpPr>
        <p:spPr>
          <a:xfrm>
            <a:off x="1417320" y="4663440"/>
            <a:ext cx="1325880" cy="713232"/>
          </a:xfrm>
          <a:prstGeom prst="roundRect">
            <a:avLst>
              <a:gd fmla="val 7692"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2000"/>
              <a:buFont typeface="Calibri"/>
              <a:buNone/>
            </a:pPr>
            <a:r>
              <a:rPr b="1" i="0" lang="en-US" sz="2000" u="none" cap="none" strike="noStrike">
                <a:solidFill>
                  <a:schemeClr val="dk2"/>
                </a:solidFill>
                <a:latin typeface="Calibri"/>
                <a:ea typeface="Calibri"/>
                <a:cs typeface="Calibri"/>
                <a:sym typeface="Calibri"/>
              </a:rPr>
              <a:t>76</a:t>
            </a:r>
            <a:endParaRPr b="0" i="0" sz="2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chemeClr val="dk2"/>
              </a:buClr>
              <a:buSzPts val="1100"/>
              <a:buFont typeface="Calibri"/>
              <a:buNone/>
            </a:pPr>
            <a:r>
              <a:rPr b="0" i="0" lang="en-US" sz="1100" u="none" cap="none" strike="noStrike">
                <a:solidFill>
                  <a:schemeClr val="dk2"/>
                </a:solidFill>
                <a:latin typeface="Calibri"/>
                <a:ea typeface="Calibri"/>
                <a:cs typeface="Calibri"/>
                <a:sym typeface="Calibri"/>
              </a:rPr>
              <a:t>TN</a:t>
            </a:r>
            <a:endParaRPr b="0" i="0" sz="2000" u="none" cap="none" strike="noStrike">
              <a:solidFill>
                <a:schemeClr val="dk1"/>
              </a:solidFill>
              <a:latin typeface="Calibri"/>
              <a:ea typeface="Calibri"/>
              <a:cs typeface="Calibri"/>
              <a:sym typeface="Calibri"/>
            </a:endParaRPr>
          </a:p>
        </p:txBody>
      </p:sp>
      <p:sp>
        <p:nvSpPr>
          <p:cNvPr id="635" name="Google Shape;635;p19"/>
          <p:cNvSpPr/>
          <p:nvPr/>
        </p:nvSpPr>
        <p:spPr>
          <a:xfrm>
            <a:off x="2834640" y="4663440"/>
            <a:ext cx="1325880" cy="713232"/>
          </a:xfrm>
          <a:prstGeom prst="roundRect">
            <a:avLst>
              <a:gd fmla="val 7692"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2000"/>
              <a:buFont typeface="Calibri"/>
              <a:buNone/>
            </a:pPr>
            <a:r>
              <a:rPr b="1" i="0" lang="en-US" sz="2000" u="none" cap="none" strike="noStrike">
                <a:solidFill>
                  <a:schemeClr val="dk2"/>
                </a:solidFill>
                <a:latin typeface="Calibri"/>
                <a:ea typeface="Calibri"/>
                <a:cs typeface="Calibri"/>
                <a:sym typeface="Calibri"/>
              </a:rPr>
              <a:t>24</a:t>
            </a:r>
            <a:endParaRPr b="0" i="0" sz="2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chemeClr val="dk2"/>
              </a:buClr>
              <a:buSzPts val="1100"/>
              <a:buFont typeface="Calibri"/>
              <a:buNone/>
            </a:pPr>
            <a:r>
              <a:rPr b="0" i="0" lang="en-US" sz="1100" u="none" cap="none" strike="noStrike">
                <a:solidFill>
                  <a:schemeClr val="dk2"/>
                </a:solidFill>
                <a:latin typeface="Calibri"/>
                <a:ea typeface="Calibri"/>
                <a:cs typeface="Calibri"/>
                <a:sym typeface="Calibri"/>
              </a:rPr>
              <a:t>FP</a:t>
            </a:r>
            <a:endParaRPr b="0" i="0" sz="2000" u="none" cap="none" strike="noStrike">
              <a:solidFill>
                <a:schemeClr val="dk1"/>
              </a:solidFill>
              <a:latin typeface="Calibri"/>
              <a:ea typeface="Calibri"/>
              <a:cs typeface="Calibri"/>
              <a:sym typeface="Calibri"/>
            </a:endParaRPr>
          </a:p>
        </p:txBody>
      </p:sp>
      <p:sp>
        <p:nvSpPr>
          <p:cNvPr id="636" name="Google Shape;636;p19"/>
          <p:cNvSpPr/>
          <p:nvPr/>
        </p:nvSpPr>
        <p:spPr>
          <a:xfrm>
            <a:off x="1417320" y="5449824"/>
            <a:ext cx="1325880" cy="713232"/>
          </a:xfrm>
          <a:prstGeom prst="roundRect">
            <a:avLst>
              <a:gd fmla="val 7692" name="adj"/>
            </a:avLst>
          </a:prstGeom>
          <a:solidFill>
            <a:schemeClr val="accent2"/>
          </a:solidFill>
          <a:ln cap="flat" cmpd="sng" w="9525">
            <a:solidFill>
              <a:schemeClr val="accen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2000"/>
              <a:buFont typeface="Calibri"/>
              <a:buNone/>
            </a:pPr>
            <a:r>
              <a:rPr b="1" i="0" lang="en-US" sz="2000" u="none" cap="none" strike="noStrike">
                <a:solidFill>
                  <a:schemeClr val="lt1"/>
                </a:solidFill>
                <a:latin typeface="Calibri"/>
                <a:ea typeface="Calibri"/>
                <a:cs typeface="Calibri"/>
                <a:sym typeface="Calibri"/>
              </a:rPr>
              <a:t>14</a:t>
            </a:r>
            <a:endParaRPr b="0" i="0" sz="2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chemeClr val="lt1"/>
              </a:buClr>
              <a:buSzPts val="1100"/>
              <a:buFont typeface="Calibri"/>
              <a:buNone/>
            </a:pPr>
            <a:r>
              <a:rPr b="0" i="0" lang="en-US" sz="1100" u="none" cap="none" strike="noStrike">
                <a:solidFill>
                  <a:schemeClr val="lt1"/>
                </a:solidFill>
                <a:latin typeface="Calibri"/>
                <a:ea typeface="Calibri"/>
                <a:cs typeface="Calibri"/>
                <a:sym typeface="Calibri"/>
              </a:rPr>
              <a:t>FN</a:t>
            </a:r>
            <a:endParaRPr b="0" i="0" sz="2000" u="none" cap="none" strike="noStrike">
              <a:solidFill>
                <a:schemeClr val="dk1"/>
              </a:solidFill>
              <a:latin typeface="Calibri"/>
              <a:ea typeface="Calibri"/>
              <a:cs typeface="Calibri"/>
              <a:sym typeface="Calibri"/>
            </a:endParaRPr>
          </a:p>
        </p:txBody>
      </p:sp>
      <p:sp>
        <p:nvSpPr>
          <p:cNvPr id="637" name="Google Shape;637;p19"/>
          <p:cNvSpPr/>
          <p:nvPr/>
        </p:nvSpPr>
        <p:spPr>
          <a:xfrm>
            <a:off x="2834640" y="5449824"/>
            <a:ext cx="1325880" cy="713232"/>
          </a:xfrm>
          <a:prstGeom prst="roundRect">
            <a:avLst>
              <a:gd fmla="val 7692" name="adj"/>
            </a:avLst>
          </a:prstGeom>
          <a:solidFill>
            <a:schemeClr val="accent1"/>
          </a:solidFill>
          <a:ln cap="flat" cmpd="sng" w="9525">
            <a:solidFill>
              <a:schemeClr val="accent1"/>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2000"/>
              <a:buFont typeface="Calibri"/>
              <a:buNone/>
            </a:pPr>
            <a:r>
              <a:rPr b="1" i="0" lang="en-US" sz="2000" u="none" cap="none" strike="noStrike">
                <a:solidFill>
                  <a:schemeClr val="lt1"/>
                </a:solidFill>
                <a:latin typeface="Calibri"/>
                <a:ea typeface="Calibri"/>
                <a:cs typeface="Calibri"/>
                <a:sym typeface="Calibri"/>
              </a:rPr>
              <a:t>40</a:t>
            </a:r>
            <a:endParaRPr b="0" i="0" sz="2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chemeClr val="lt1"/>
              </a:buClr>
              <a:buSzPts val="1100"/>
              <a:buFont typeface="Calibri"/>
              <a:buNone/>
            </a:pPr>
            <a:r>
              <a:rPr b="0" i="0" lang="en-US" sz="1100" u="none" cap="none" strike="noStrike">
                <a:solidFill>
                  <a:schemeClr val="lt1"/>
                </a:solidFill>
                <a:latin typeface="Calibri"/>
                <a:ea typeface="Calibri"/>
                <a:cs typeface="Calibri"/>
                <a:sym typeface="Calibri"/>
              </a:rPr>
              <a:t>TP</a:t>
            </a:r>
            <a:endParaRPr b="0" i="0" sz="2000" u="none" cap="none" strike="noStrike">
              <a:solidFill>
                <a:schemeClr val="dk1"/>
              </a:solidFill>
              <a:latin typeface="Calibri"/>
              <a:ea typeface="Calibri"/>
              <a:cs typeface="Calibri"/>
              <a:sym typeface="Calibri"/>
            </a:endParaRPr>
          </a:p>
        </p:txBody>
      </p:sp>
      <p:sp>
        <p:nvSpPr>
          <p:cNvPr id="638" name="Google Shape;638;p19"/>
          <p:cNvSpPr txBox="1"/>
          <p:nvPr/>
        </p:nvSpPr>
        <p:spPr>
          <a:xfrm>
            <a:off x="548640" y="4663440"/>
            <a:ext cx="822960" cy="7132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5"/>
              </a:buClr>
              <a:buSzPts val="1100"/>
              <a:buFont typeface="Calibri"/>
              <a:buNone/>
            </a:pPr>
            <a:r>
              <a:rPr b="0" i="0" lang="en-US" sz="1100" u="none" cap="none" strike="noStrike">
                <a:solidFill>
                  <a:schemeClr val="accent5"/>
                </a:solidFill>
                <a:latin typeface="Calibri"/>
                <a:ea typeface="Calibri"/>
                <a:cs typeface="Calibri"/>
                <a:sym typeface="Calibri"/>
              </a:rPr>
              <a:t>Actual −</a:t>
            </a:r>
            <a:endParaRPr b="0" i="0" sz="1100" u="none" cap="none" strike="noStrike">
              <a:solidFill>
                <a:schemeClr val="dk1"/>
              </a:solidFill>
              <a:latin typeface="Calibri"/>
              <a:ea typeface="Calibri"/>
              <a:cs typeface="Calibri"/>
              <a:sym typeface="Calibri"/>
            </a:endParaRPr>
          </a:p>
        </p:txBody>
      </p:sp>
      <p:sp>
        <p:nvSpPr>
          <p:cNvPr id="639" name="Google Shape;639;p19"/>
          <p:cNvSpPr txBox="1"/>
          <p:nvPr/>
        </p:nvSpPr>
        <p:spPr>
          <a:xfrm>
            <a:off x="548640" y="5449824"/>
            <a:ext cx="822960" cy="7132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5"/>
              </a:buClr>
              <a:buSzPts val="1100"/>
              <a:buFont typeface="Calibri"/>
              <a:buNone/>
            </a:pPr>
            <a:r>
              <a:rPr b="0" i="0" lang="en-US" sz="1100" u="none" cap="none" strike="noStrike">
                <a:solidFill>
                  <a:schemeClr val="accent5"/>
                </a:solidFill>
                <a:latin typeface="Calibri"/>
                <a:ea typeface="Calibri"/>
                <a:cs typeface="Calibri"/>
                <a:sym typeface="Calibri"/>
              </a:rPr>
              <a:t>Actual +</a:t>
            </a:r>
            <a:endParaRPr b="0" i="0" sz="1100" u="none" cap="none" strike="noStrike">
              <a:solidFill>
                <a:schemeClr val="dk1"/>
              </a:solidFill>
              <a:latin typeface="Calibri"/>
              <a:ea typeface="Calibri"/>
              <a:cs typeface="Calibri"/>
              <a:sym typeface="Calibri"/>
            </a:endParaRPr>
          </a:p>
        </p:txBody>
      </p:sp>
      <p:sp>
        <p:nvSpPr>
          <p:cNvPr id="640" name="Google Shape;640;p19"/>
          <p:cNvSpPr/>
          <p:nvPr/>
        </p:nvSpPr>
        <p:spPr>
          <a:xfrm>
            <a:off x="7223760" y="1280160"/>
            <a:ext cx="4416552" cy="4754880"/>
          </a:xfrm>
          <a:prstGeom prst="roundRect">
            <a:avLst>
              <a:gd fmla="val 1656"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1" name="Google Shape;641;p19"/>
          <p:cNvSpPr/>
          <p:nvPr/>
        </p:nvSpPr>
        <p:spPr>
          <a:xfrm>
            <a:off x="7452360" y="1508760"/>
            <a:ext cx="3959352" cy="548640"/>
          </a:xfrm>
          <a:prstGeom prst="roundRect">
            <a:avLst>
              <a:gd fmla="val 16667" name="adj"/>
            </a:avLst>
          </a:prstGeom>
          <a:solidFill>
            <a:schemeClr val="accent5"/>
          </a:solidFill>
          <a:ln cap="flat" cmpd="sng" w="9525">
            <a:solidFill>
              <a:schemeClr val="accent5"/>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700"/>
              <a:buFont typeface="Calibri"/>
              <a:buNone/>
            </a:pPr>
            <a:r>
              <a:rPr b="1" i="0" lang="en-US" sz="1700" u="none" cap="none" strike="noStrike">
                <a:solidFill>
                  <a:schemeClr val="lt1"/>
                </a:solidFill>
                <a:latin typeface="Calibri"/>
                <a:ea typeface="Calibri"/>
                <a:cs typeface="Calibri"/>
                <a:sym typeface="Calibri"/>
              </a:rPr>
              <a:t>Not selected</a:t>
            </a:r>
            <a:endParaRPr b="0" i="0" sz="1700" u="none" cap="none" strike="noStrike">
              <a:solidFill>
                <a:schemeClr val="dk1"/>
              </a:solidFill>
              <a:latin typeface="Calibri"/>
              <a:ea typeface="Calibri"/>
              <a:cs typeface="Calibri"/>
              <a:sym typeface="Calibri"/>
            </a:endParaRPr>
          </a:p>
        </p:txBody>
      </p:sp>
      <p:sp>
        <p:nvSpPr>
          <p:cNvPr id="642" name="Google Shape;642;p19"/>
          <p:cNvSpPr txBox="1"/>
          <p:nvPr/>
        </p:nvSpPr>
        <p:spPr>
          <a:xfrm>
            <a:off x="7452360" y="2286000"/>
            <a:ext cx="3959352" cy="2377440"/>
          </a:xfrm>
          <a:prstGeom prst="rect">
            <a:avLst/>
          </a:prstGeom>
          <a:noFill/>
          <a:ln>
            <a:noFill/>
          </a:ln>
        </p:spPr>
        <p:txBody>
          <a:bodyPr anchorCtr="0" anchor="t" bIns="0" lIns="0" spcFirstLastPara="1" rIns="0" wrap="square" tIns="0">
            <a:noAutofit/>
          </a:bodyPr>
          <a:lstStyle/>
          <a:p>
            <a:pPr indent="-203200" lvl="0" marL="203200" marR="0" rtl="0" algn="l">
              <a:spcBef>
                <a:spcPts val="0"/>
              </a:spcBef>
              <a:spcAft>
                <a:spcPts val="0"/>
              </a:spcAft>
              <a:buClr>
                <a:schemeClr val="dk1"/>
              </a:buClr>
              <a:buSzPts val="1500"/>
              <a:buFont typeface="Calibri"/>
              <a:buChar char="•"/>
            </a:pPr>
            <a:r>
              <a:rPr b="0" i="0" lang="en-US" sz="1500" u="none" cap="none" strike="noStrike">
                <a:solidFill>
                  <a:schemeClr val="dk1"/>
                </a:solidFill>
                <a:latin typeface="Calibri"/>
                <a:ea typeface="Calibri"/>
                <a:cs typeface="Calibri"/>
                <a:sym typeface="Calibri"/>
              </a:rPr>
              <a:t>Best test accuracy, precision, F1 and ROC-AUC</a:t>
            </a:r>
            <a:endParaRPr b="0" i="0" sz="1500" u="none" cap="none" strike="noStrike">
              <a:solidFill>
                <a:schemeClr val="dk1"/>
              </a:solidFill>
              <a:latin typeface="Calibri"/>
              <a:ea typeface="Calibri"/>
              <a:cs typeface="Calibri"/>
              <a:sym typeface="Calibri"/>
            </a:endParaRPr>
          </a:p>
          <a:p>
            <a:pPr indent="-203200" lvl="0" marL="203200" marR="0" rtl="0" algn="l">
              <a:spcBef>
                <a:spcPts val="600"/>
              </a:spcBef>
              <a:spcAft>
                <a:spcPts val="0"/>
              </a:spcAft>
              <a:buClr>
                <a:schemeClr val="dk1"/>
              </a:buClr>
              <a:buSzPts val="1500"/>
              <a:buFont typeface="Calibri"/>
              <a:buChar char="•"/>
            </a:pPr>
            <a:r>
              <a:rPr b="0" i="0" lang="en-US" sz="1500" u="none" cap="none" strike="noStrike">
                <a:solidFill>
                  <a:schemeClr val="dk1"/>
                </a:solidFill>
                <a:latin typeface="Calibri"/>
                <a:ea typeface="Calibri"/>
                <a:cs typeface="Calibri"/>
                <a:sym typeface="Calibri"/>
              </a:rPr>
              <a:t>But cross-validated recall 0.687 is below the 0.70 rule</a:t>
            </a:r>
            <a:endParaRPr b="0" i="0" sz="1500" u="none" cap="none" strike="noStrike">
              <a:solidFill>
                <a:schemeClr val="dk1"/>
              </a:solidFill>
              <a:latin typeface="Calibri"/>
              <a:ea typeface="Calibri"/>
              <a:cs typeface="Calibri"/>
              <a:sym typeface="Calibri"/>
            </a:endParaRPr>
          </a:p>
          <a:p>
            <a:pPr indent="-203200" lvl="0" marL="203200" marR="0" rtl="0" algn="l">
              <a:spcBef>
                <a:spcPts val="600"/>
              </a:spcBef>
              <a:spcAft>
                <a:spcPts val="0"/>
              </a:spcAft>
              <a:buClr>
                <a:schemeClr val="dk1"/>
              </a:buClr>
              <a:buSzPts val="1500"/>
              <a:buFont typeface="Calibri"/>
              <a:buChar char="•"/>
            </a:pPr>
            <a:r>
              <a:rPr b="0" i="0" lang="en-US" sz="1500" u="none" cap="none" strike="noStrike">
                <a:solidFill>
                  <a:schemeClr val="dk1"/>
                </a:solidFill>
                <a:latin typeface="Calibri"/>
                <a:ea typeface="Calibri"/>
                <a:cs typeface="Calibri"/>
                <a:sym typeface="Calibri"/>
              </a:rPr>
              <a:t>Strong on one split, less consistent across folds</a:t>
            </a:r>
            <a:endParaRPr b="0" i="0" sz="1500" u="none" cap="none" strike="noStrike">
              <a:solidFill>
                <a:schemeClr val="dk1"/>
              </a:solidFill>
              <a:latin typeface="Calibri"/>
              <a:ea typeface="Calibri"/>
              <a:cs typeface="Calibri"/>
              <a:sym typeface="Calibri"/>
            </a:endParaRPr>
          </a:p>
        </p:txBody>
      </p:sp>
      <p:sp>
        <p:nvSpPr>
          <p:cNvPr id="643" name="Google Shape;643;p19"/>
          <p:cNvSpPr txBox="1"/>
          <p:nvPr/>
        </p:nvSpPr>
        <p:spPr>
          <a:xfrm>
            <a:off x="7452360" y="4754880"/>
            <a:ext cx="3959352"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300"/>
              <a:buFont typeface="Calibri"/>
              <a:buNone/>
            </a:pPr>
            <a:r>
              <a:rPr b="1" i="0" lang="en-US" sz="1300" u="none" cap="none" strike="noStrike">
                <a:solidFill>
                  <a:schemeClr val="dk2"/>
                </a:solidFill>
                <a:latin typeface="Calibri"/>
                <a:ea typeface="Calibri"/>
                <a:cs typeface="Calibri"/>
                <a:sym typeface="Calibri"/>
              </a:rPr>
              <a:t>Overall score: </a:t>
            </a:r>
            <a:r>
              <a:rPr b="0" i="0" lang="en-US" sz="1300" u="none" cap="none" strike="noStrike">
                <a:solidFill>
                  <a:schemeClr val="dk2"/>
                </a:solidFill>
                <a:latin typeface="Calibri"/>
                <a:ea typeface="Calibri"/>
                <a:cs typeface="Calibri"/>
                <a:sym typeface="Calibri"/>
              </a:rPr>
              <a:t>0.7171  (mean of 5 metrics, CV + test)</a:t>
            </a:r>
            <a:endParaRPr b="0" i="0" sz="1300" u="none" cap="none" strike="noStrike">
              <a:solidFill>
                <a:schemeClr val="dk1"/>
              </a:solidFill>
              <a:latin typeface="Calibri"/>
              <a:ea typeface="Calibri"/>
              <a:cs typeface="Calibri"/>
              <a:sym typeface="Calibri"/>
            </a:endParaRPr>
          </a:p>
        </p:txBody>
      </p:sp>
      <p:sp>
        <p:nvSpPr>
          <p:cNvPr id="644" name="Google Shape;644;p19">
            <a:hlinkClick action="ppaction://hlinksldjump" r:id="rId4"/>
          </p:cNvPr>
          <p:cNvSpPr/>
          <p:nvPr/>
        </p:nvSpPr>
        <p:spPr>
          <a:xfrm>
            <a:off x="10680192" y="6336792"/>
            <a:ext cx="960120" cy="365760"/>
          </a:xfrm>
          <a:prstGeom prst="roundRect">
            <a:avLst>
              <a:gd fmla="val 25000" name="adj"/>
            </a:avLst>
          </a:prstGeom>
          <a:solidFill>
            <a:schemeClr val="accent1"/>
          </a:solidFill>
          <a:ln cap="flat" cmpd="sng" w="9525">
            <a:solidFill>
              <a:schemeClr val="accent1"/>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LR ›</a:t>
            </a:r>
            <a:endParaRPr b="0" i="0" sz="1200" u="none" cap="none" strike="noStrike">
              <a:solidFill>
                <a:schemeClr val="dk1"/>
              </a:solidFill>
              <a:latin typeface="Calibri"/>
              <a:ea typeface="Calibri"/>
              <a:cs typeface="Calibri"/>
              <a:sym typeface="Calibri"/>
            </a:endParaRPr>
          </a:p>
        </p:txBody>
      </p:sp>
      <p:sp>
        <p:nvSpPr>
          <p:cNvPr id="645" name="Google Shape;645;p19">
            <a:hlinkClick action="ppaction://hlinksldjump" r:id="rId5"/>
          </p:cNvPr>
          <p:cNvSpPr/>
          <p:nvPr/>
        </p:nvSpPr>
        <p:spPr>
          <a:xfrm>
            <a:off x="9610344" y="6336792"/>
            <a:ext cx="960120" cy="365760"/>
          </a:xfrm>
          <a:prstGeom prst="roundRect">
            <a:avLst>
              <a:gd fmla="val 25000"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1" i="0" lang="en-US" sz="1200" u="none" cap="none" strike="noStrike">
                <a:solidFill>
                  <a:schemeClr val="dk2"/>
                </a:solidFill>
                <a:latin typeface="Calibri"/>
                <a:ea typeface="Calibri"/>
                <a:cs typeface="Calibri"/>
                <a:sym typeface="Calibri"/>
              </a:rPr>
              <a:t>Agenda</a:t>
            </a:r>
            <a:endParaRPr b="0" i="0" sz="1200" u="none" cap="none" strike="noStrike">
              <a:solidFill>
                <a:schemeClr val="dk1"/>
              </a:solidFill>
              <a:latin typeface="Calibri"/>
              <a:ea typeface="Calibri"/>
              <a:cs typeface="Calibri"/>
              <a:sym typeface="Calibri"/>
            </a:endParaRPr>
          </a:p>
        </p:txBody>
      </p:sp>
      <p:sp>
        <p:nvSpPr>
          <p:cNvPr id="646" name="Google Shape;646;p19">
            <a:hlinkClick action="ppaction://hlinksldjump" r:id="rId6"/>
          </p:cNvPr>
          <p:cNvSpPr/>
          <p:nvPr/>
        </p:nvSpPr>
        <p:spPr>
          <a:xfrm>
            <a:off x="8540496" y="6336792"/>
            <a:ext cx="960120" cy="365760"/>
          </a:xfrm>
          <a:prstGeom prst="roundRect">
            <a:avLst>
              <a:gd fmla="val 25000"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1" i="0" lang="en-US" sz="1200" u="none" cap="none" strike="noStrike">
                <a:solidFill>
                  <a:schemeClr val="dk2"/>
                </a:solidFill>
                <a:latin typeface="Calibri"/>
                <a:ea typeface="Calibri"/>
                <a:cs typeface="Calibri"/>
                <a:sym typeface="Calibri"/>
              </a:rPr>
              <a:t>‹ RF</a:t>
            </a:r>
            <a:endParaRPr b="0" i="0" sz="1200" u="none" cap="none" strike="noStrike">
              <a:solidFill>
                <a:schemeClr val="dk1"/>
              </a:solidFill>
              <a:latin typeface="Calibri"/>
              <a:ea typeface="Calibri"/>
              <a:cs typeface="Calibri"/>
              <a:sym typeface="Calibri"/>
            </a:endParaRPr>
          </a:p>
        </p:txBody>
      </p:sp>
      <p:sp>
        <p:nvSpPr>
          <p:cNvPr id="647" name="Google Shape;647;p19">
            <a:hlinkClick action="ppaction://hlinksldjump" r:id="rId7"/>
          </p:cNvPr>
          <p:cNvSpPr/>
          <p:nvPr/>
        </p:nvSpPr>
        <p:spPr>
          <a:xfrm>
            <a:off x="6693408" y="6336792"/>
            <a:ext cx="1737360" cy="365760"/>
          </a:xfrm>
          <a:prstGeom prst="roundRect">
            <a:avLst>
              <a:gd fmla="val 25000" name="adj"/>
            </a:avLst>
          </a:prstGeom>
          <a:solidFill>
            <a:schemeClr val="accent2"/>
          </a:solidFill>
          <a:ln cap="flat" cmpd="sng" w="9525">
            <a:solidFill>
              <a:schemeClr val="accen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 Model Explorer</a:t>
            </a:r>
            <a:endParaRPr b="0" i="0" sz="1200" u="none" cap="none" strike="noStrike">
              <a:solidFill>
                <a:schemeClr val="dk1"/>
              </a:solidFill>
              <a:latin typeface="Calibri"/>
              <a:ea typeface="Calibri"/>
              <a:cs typeface="Calibri"/>
              <a:sym typeface="Calibri"/>
            </a:endParaRPr>
          </a:p>
        </p:txBody>
      </p:sp>
      <p:sp>
        <p:nvSpPr>
          <p:cNvPr id="648" name="Google Shape;648;p19"/>
          <p:cNvSpPr txBox="1"/>
          <p:nvPr>
            <p:ph idx="4294967295" type="sldNum"/>
          </p:nvPr>
        </p:nvSpPr>
        <p:spPr>
          <a:xfrm>
            <a:off x="8732520" y="6382512"/>
            <a:ext cx="502920" cy="292608"/>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accent5"/>
                </a:solidFill>
                <a:latin typeface="Calibri"/>
                <a:ea typeface="Calibri"/>
                <a:cs typeface="Calibri"/>
                <a:sym typeface="Calibri"/>
              </a:rPr>
              <a:t>‹#›</a:t>
            </a:fld>
            <a:endParaRPr b="0" i="0" sz="1000" u="none" cap="none" strike="noStrike">
              <a:solidFill>
                <a:schemeClr val="accent5"/>
              </a:solidFill>
              <a:latin typeface="Calibri"/>
              <a:ea typeface="Calibri"/>
              <a:cs typeface="Calibri"/>
              <a:sym typeface="Calibri"/>
            </a:endParaRPr>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653" name="Shape 653"/>
        <p:cNvGrpSpPr/>
        <p:nvPr/>
      </p:nvGrpSpPr>
      <p:grpSpPr>
        <a:xfrm>
          <a:off x="0" y="0"/>
          <a:ext cx="0" cy="0"/>
          <a:chOff x="0" y="0"/>
          <a:chExt cx="0" cy="0"/>
        </a:xfrm>
      </p:grpSpPr>
      <p:sp>
        <p:nvSpPr>
          <p:cNvPr id="654" name="Google Shape;654;p20"/>
          <p:cNvSpPr txBox="1"/>
          <p:nvPr>
            <p:ph type="title"/>
          </p:nvPr>
        </p:nvSpPr>
        <p:spPr>
          <a:xfrm>
            <a:off x="548640" y="347472"/>
            <a:ext cx="11064240" cy="7315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200"/>
              <a:buFont typeface="Cambria"/>
              <a:buNone/>
            </a:pPr>
            <a:r>
              <a:rPr b="1" lang="en-US" sz="3200">
                <a:solidFill>
                  <a:schemeClr val="dk2"/>
                </a:solidFill>
                <a:latin typeface="Cambria"/>
                <a:ea typeface="Cambria"/>
                <a:cs typeface="Cambria"/>
                <a:sym typeface="Cambria"/>
              </a:rPr>
              <a:t>Drill-down: Correlation Heatmap</a:t>
            </a:r>
            <a:endParaRPr sz="3200"/>
          </a:p>
        </p:txBody>
      </p:sp>
      <p:pic>
        <p:nvPicPr>
          <p:cNvPr descr="Correlation heatmap of features and outcome" id="655" name="Google Shape;655;p20"/>
          <p:cNvPicPr preferRelativeResize="0"/>
          <p:nvPr/>
        </p:nvPicPr>
        <p:blipFill rotWithShape="1">
          <a:blip r:embed="rId3">
            <a:alphaModFix/>
          </a:blip>
          <a:srcRect b="0" l="0" r="0" t="0"/>
          <a:stretch/>
        </p:blipFill>
        <p:spPr>
          <a:xfrm>
            <a:off x="548640" y="1188720"/>
            <a:ext cx="5718200" cy="5029200"/>
          </a:xfrm>
          <a:prstGeom prst="rect">
            <a:avLst/>
          </a:prstGeom>
          <a:noFill/>
          <a:ln>
            <a:noFill/>
          </a:ln>
        </p:spPr>
      </p:pic>
      <p:sp>
        <p:nvSpPr>
          <p:cNvPr id="656" name="Google Shape;656;p20"/>
          <p:cNvSpPr txBox="1"/>
          <p:nvPr/>
        </p:nvSpPr>
        <p:spPr>
          <a:xfrm>
            <a:off x="6629400" y="1371600"/>
            <a:ext cx="4983480" cy="4206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1" i="0" lang="en-US" sz="1500" u="none" cap="none" strike="noStrike">
                <a:solidFill>
                  <a:schemeClr val="dk1"/>
                </a:solidFill>
                <a:latin typeface="Calibri"/>
                <a:ea typeface="Calibri"/>
                <a:cs typeface="Calibri"/>
                <a:sym typeface="Calibri"/>
              </a:rPr>
              <a:t>Glucose </a:t>
            </a:r>
            <a:r>
              <a:rPr b="0" i="0" lang="en-US" sz="1500" u="none" cap="none" strike="noStrike">
                <a:solidFill>
                  <a:schemeClr val="dk1"/>
                </a:solidFill>
                <a:latin typeface="Calibri"/>
                <a:ea typeface="Calibri"/>
                <a:cs typeface="Calibri"/>
                <a:sym typeface="Calibri"/>
              </a:rPr>
              <a:t>has the strongest link with Outcome (0.49)</a:t>
            </a:r>
            <a:endParaRPr b="0" i="0" sz="1500" u="none" cap="none" strike="noStrike">
              <a:solidFill>
                <a:schemeClr val="dk1"/>
              </a:solidFill>
              <a:latin typeface="Calibri"/>
              <a:ea typeface="Calibri"/>
              <a:cs typeface="Calibri"/>
              <a:sym typeface="Calibri"/>
            </a:endParaRPr>
          </a:p>
          <a:p>
            <a:pPr indent="0" lvl="0" marL="0" marR="0" rtl="0" algn="l">
              <a:spcBef>
                <a:spcPts val="600"/>
              </a:spcBef>
              <a:spcAft>
                <a:spcPts val="0"/>
              </a:spcAft>
              <a:buClr>
                <a:schemeClr val="dk1"/>
              </a:buClr>
              <a:buSzPts val="1500"/>
              <a:buFont typeface="Calibri"/>
              <a:buNone/>
            </a:pPr>
            <a:r>
              <a:rPr b="1" i="0" lang="en-US" sz="1500" u="none" cap="none" strike="noStrike">
                <a:solidFill>
                  <a:schemeClr val="dk1"/>
                </a:solidFill>
                <a:latin typeface="Calibri"/>
                <a:ea typeface="Calibri"/>
                <a:cs typeface="Calibri"/>
                <a:sym typeface="Calibri"/>
              </a:rPr>
              <a:t>BMI 0.31, Insulin 0.30, </a:t>
            </a:r>
            <a:r>
              <a:rPr b="0" i="0" lang="en-US" sz="1500" u="none" cap="none" strike="noStrike">
                <a:solidFill>
                  <a:schemeClr val="dk1"/>
                </a:solidFill>
                <a:latin typeface="Calibri"/>
                <a:ea typeface="Calibri"/>
                <a:cs typeface="Calibri"/>
                <a:sym typeface="Calibri"/>
              </a:rPr>
              <a:t>SkinThickness 0.26, Age 0.24</a:t>
            </a:r>
            <a:endParaRPr b="0" i="0" sz="1500" u="none" cap="none" strike="noStrike">
              <a:solidFill>
                <a:schemeClr val="dk1"/>
              </a:solidFill>
              <a:latin typeface="Calibri"/>
              <a:ea typeface="Calibri"/>
              <a:cs typeface="Calibri"/>
              <a:sym typeface="Calibri"/>
            </a:endParaRPr>
          </a:p>
          <a:p>
            <a:pPr indent="0" lvl="0" marL="0" marR="0" rtl="0" algn="l">
              <a:spcBef>
                <a:spcPts val="600"/>
              </a:spcBef>
              <a:spcAft>
                <a:spcPts val="0"/>
              </a:spcAft>
              <a:buClr>
                <a:schemeClr val="dk1"/>
              </a:buClr>
              <a:buSzPts val="1500"/>
              <a:buFont typeface="Calibri"/>
              <a:buNone/>
            </a:pPr>
            <a:r>
              <a:rPr b="1" i="0" lang="en-US" sz="1500" u="none" cap="none" strike="noStrike">
                <a:solidFill>
                  <a:schemeClr val="dk1"/>
                </a:solidFill>
                <a:latin typeface="Calibri"/>
                <a:ea typeface="Calibri"/>
                <a:cs typeface="Calibri"/>
                <a:sym typeface="Calibri"/>
              </a:rPr>
              <a:t>Strongest feature pairs: </a:t>
            </a:r>
            <a:r>
              <a:rPr b="0" i="0" lang="en-US" sz="1500" u="none" cap="none" strike="noStrike">
                <a:solidFill>
                  <a:schemeClr val="dk1"/>
                </a:solidFill>
                <a:latin typeface="Calibri"/>
                <a:ea typeface="Calibri"/>
                <a:cs typeface="Calibri"/>
                <a:sym typeface="Calibri"/>
              </a:rPr>
              <a:t>SkinThickness–BMI 0.65, Glucose–Insulin 0.58, Pregnancies–Age 0.54</a:t>
            </a:r>
            <a:endParaRPr b="0" i="0" sz="1500" u="none" cap="none" strike="noStrike">
              <a:solidFill>
                <a:schemeClr val="dk1"/>
              </a:solidFill>
              <a:latin typeface="Calibri"/>
              <a:ea typeface="Calibri"/>
              <a:cs typeface="Calibri"/>
              <a:sym typeface="Calibri"/>
            </a:endParaRPr>
          </a:p>
          <a:p>
            <a:pPr indent="-203200" lvl="0" marL="203200" marR="0" rtl="0" algn="l">
              <a:spcBef>
                <a:spcPts val="600"/>
              </a:spcBef>
              <a:spcAft>
                <a:spcPts val="0"/>
              </a:spcAft>
              <a:buClr>
                <a:schemeClr val="dk1"/>
              </a:buClr>
              <a:buSzPts val="1500"/>
              <a:buFont typeface="Calibri"/>
              <a:buChar char="•"/>
            </a:pPr>
            <a:r>
              <a:rPr b="0" i="0" lang="en-US" sz="1500" u="none" cap="none" strike="noStrike">
                <a:solidFill>
                  <a:schemeClr val="dk1"/>
                </a:solidFill>
                <a:latin typeface="Calibri"/>
                <a:ea typeface="Calibri"/>
                <a:cs typeface="Calibri"/>
                <a:sym typeface="Calibri"/>
              </a:rPr>
              <a:t>Moderate, so no feature was removed for multicollinearity</a:t>
            </a:r>
            <a:endParaRPr b="0" i="0" sz="1500" u="none" cap="none" strike="noStrike">
              <a:solidFill>
                <a:schemeClr val="dk1"/>
              </a:solidFill>
              <a:latin typeface="Calibri"/>
              <a:ea typeface="Calibri"/>
              <a:cs typeface="Calibri"/>
              <a:sym typeface="Calibri"/>
            </a:endParaRPr>
          </a:p>
          <a:p>
            <a:pPr indent="-203200" lvl="0" marL="203200" marR="0" rtl="0" algn="l">
              <a:spcBef>
                <a:spcPts val="600"/>
              </a:spcBef>
              <a:spcAft>
                <a:spcPts val="0"/>
              </a:spcAft>
              <a:buClr>
                <a:schemeClr val="dk1"/>
              </a:buClr>
              <a:buSzPts val="1500"/>
              <a:buFont typeface="Calibri"/>
              <a:buChar char="•"/>
            </a:pPr>
            <a:r>
              <a:rPr b="0" i="0" lang="en-US" sz="1500" u="none" cap="none" strike="noStrike">
                <a:solidFill>
                  <a:schemeClr val="dk1"/>
                </a:solidFill>
                <a:latin typeface="Calibri"/>
                <a:ea typeface="Calibri"/>
                <a:cs typeface="Calibri"/>
                <a:sym typeface="Calibri"/>
              </a:rPr>
              <a:t>Pairwise-complete correlations after zeros → NaN</a:t>
            </a:r>
            <a:endParaRPr b="0" i="0" sz="1500" u="none" cap="none" strike="noStrike">
              <a:solidFill>
                <a:schemeClr val="dk1"/>
              </a:solidFill>
              <a:latin typeface="Calibri"/>
              <a:ea typeface="Calibri"/>
              <a:cs typeface="Calibri"/>
              <a:sym typeface="Calibri"/>
            </a:endParaRPr>
          </a:p>
        </p:txBody>
      </p:sp>
      <p:sp>
        <p:nvSpPr>
          <p:cNvPr id="657" name="Google Shape;657;p20">
            <a:hlinkClick action="ppaction://hlinksldjump" r:id="rId4"/>
          </p:cNvPr>
          <p:cNvSpPr/>
          <p:nvPr/>
        </p:nvSpPr>
        <p:spPr>
          <a:xfrm>
            <a:off x="10680192" y="6336792"/>
            <a:ext cx="960120" cy="365760"/>
          </a:xfrm>
          <a:prstGeom prst="roundRect">
            <a:avLst>
              <a:gd fmla="val 25000"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1" i="0" lang="en-US" sz="1200" u="none" cap="none" strike="noStrike">
                <a:solidFill>
                  <a:schemeClr val="dk2"/>
                </a:solidFill>
                <a:latin typeface="Calibri"/>
                <a:ea typeface="Calibri"/>
                <a:cs typeface="Calibri"/>
                <a:sym typeface="Calibri"/>
              </a:rPr>
              <a:t>Agenda</a:t>
            </a:r>
            <a:endParaRPr b="0" i="0" sz="1200" u="none" cap="none" strike="noStrike">
              <a:solidFill>
                <a:schemeClr val="dk1"/>
              </a:solidFill>
              <a:latin typeface="Calibri"/>
              <a:ea typeface="Calibri"/>
              <a:cs typeface="Calibri"/>
              <a:sym typeface="Calibri"/>
            </a:endParaRPr>
          </a:p>
        </p:txBody>
      </p:sp>
      <p:sp>
        <p:nvSpPr>
          <p:cNvPr id="658" name="Google Shape;658;p20">
            <a:hlinkClick action="ppaction://hlinksldjump" r:id="rId5"/>
          </p:cNvPr>
          <p:cNvSpPr/>
          <p:nvPr/>
        </p:nvSpPr>
        <p:spPr>
          <a:xfrm>
            <a:off x="8833104" y="6336792"/>
            <a:ext cx="1737360" cy="365760"/>
          </a:xfrm>
          <a:prstGeom prst="roundRect">
            <a:avLst>
              <a:gd fmla="val 25000" name="adj"/>
            </a:avLst>
          </a:prstGeom>
          <a:solidFill>
            <a:schemeClr val="accent2"/>
          </a:solidFill>
          <a:ln cap="flat" cmpd="sng" w="9525">
            <a:solidFill>
              <a:schemeClr val="accen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 Back to EDA</a:t>
            </a:r>
            <a:endParaRPr b="0" i="0" sz="1200" u="none" cap="none" strike="noStrike">
              <a:solidFill>
                <a:schemeClr val="dk1"/>
              </a:solidFill>
              <a:latin typeface="Calibri"/>
              <a:ea typeface="Calibri"/>
              <a:cs typeface="Calibri"/>
              <a:sym typeface="Calibri"/>
            </a:endParaRPr>
          </a:p>
        </p:txBody>
      </p:sp>
      <p:sp>
        <p:nvSpPr>
          <p:cNvPr id="659" name="Google Shape;659;p20"/>
          <p:cNvSpPr txBox="1"/>
          <p:nvPr>
            <p:ph idx="4294967295" type="sldNum"/>
          </p:nvPr>
        </p:nvSpPr>
        <p:spPr>
          <a:xfrm>
            <a:off x="8732520" y="6382512"/>
            <a:ext cx="502920" cy="292608"/>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accent5"/>
                </a:solidFill>
                <a:latin typeface="Calibri"/>
                <a:ea typeface="Calibri"/>
                <a:cs typeface="Calibri"/>
                <a:sym typeface="Calibri"/>
              </a:rPr>
              <a:t>‹#›</a:t>
            </a:fld>
            <a:endParaRPr b="0" i="0" sz="1000" u="none" cap="none" strike="noStrike">
              <a:solidFill>
                <a:schemeClr val="accent5"/>
              </a:solidFill>
              <a:latin typeface="Calibri"/>
              <a:ea typeface="Calibri"/>
              <a:cs typeface="Calibri"/>
              <a:sym typeface="Calibri"/>
            </a:endParaRPr>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664" name="Shape 664"/>
        <p:cNvGrpSpPr/>
        <p:nvPr/>
      </p:nvGrpSpPr>
      <p:grpSpPr>
        <a:xfrm>
          <a:off x="0" y="0"/>
          <a:ext cx="0" cy="0"/>
          <a:chOff x="0" y="0"/>
          <a:chExt cx="0" cy="0"/>
        </a:xfrm>
      </p:grpSpPr>
      <p:sp>
        <p:nvSpPr>
          <p:cNvPr id="665" name="Google Shape;665;p21"/>
          <p:cNvSpPr txBox="1"/>
          <p:nvPr>
            <p:ph type="title"/>
          </p:nvPr>
        </p:nvSpPr>
        <p:spPr>
          <a:xfrm>
            <a:off x="548640" y="347472"/>
            <a:ext cx="11064240" cy="7315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200"/>
              <a:buFont typeface="Cambria"/>
              <a:buNone/>
            </a:pPr>
            <a:r>
              <a:rPr b="1" lang="en-US" sz="3200">
                <a:solidFill>
                  <a:schemeClr val="dk2"/>
                </a:solidFill>
                <a:latin typeface="Cambria"/>
                <a:ea typeface="Cambria"/>
                <a:cs typeface="Cambria"/>
                <a:sym typeface="Cambria"/>
              </a:rPr>
              <a:t>Drill-down: Feature Importance in Every Model</a:t>
            </a:r>
            <a:endParaRPr sz="3200"/>
          </a:p>
        </p:txBody>
      </p:sp>
      <p:pic>
        <p:nvPicPr>
          <p:cNvPr descr="Feature importance of Decision Tree, Random Forest, XGBoost and Logistic Regression" id="666" name="Google Shape;666;p21"/>
          <p:cNvPicPr preferRelativeResize="0"/>
          <p:nvPr/>
        </p:nvPicPr>
        <p:blipFill rotWithShape="1">
          <a:blip r:embed="rId3">
            <a:alphaModFix/>
          </a:blip>
          <a:srcRect b="0" l="0" r="0" t="0"/>
          <a:stretch/>
        </p:blipFill>
        <p:spPr>
          <a:xfrm>
            <a:off x="548640" y="1234440"/>
            <a:ext cx="11064240" cy="2729216"/>
          </a:xfrm>
          <a:prstGeom prst="rect">
            <a:avLst/>
          </a:prstGeom>
          <a:noFill/>
          <a:ln>
            <a:noFill/>
          </a:ln>
        </p:spPr>
      </p:pic>
      <p:sp>
        <p:nvSpPr>
          <p:cNvPr id="667" name="Google Shape;667;p21"/>
          <p:cNvSpPr/>
          <p:nvPr/>
        </p:nvSpPr>
        <p:spPr>
          <a:xfrm>
            <a:off x="548640" y="4206240"/>
            <a:ext cx="3566160" cy="1783080"/>
          </a:xfrm>
          <a:prstGeom prst="roundRect">
            <a:avLst>
              <a:gd fmla="val 4103"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8" name="Google Shape;668;p21"/>
          <p:cNvSpPr txBox="1"/>
          <p:nvPr/>
        </p:nvSpPr>
        <p:spPr>
          <a:xfrm>
            <a:off x="731520" y="4343400"/>
            <a:ext cx="3200400" cy="1508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600"/>
              <a:buFont typeface="Calibri"/>
              <a:buNone/>
            </a:pPr>
            <a:r>
              <a:rPr b="1" i="0" lang="en-US" sz="1600" u="none" cap="none" strike="noStrike">
                <a:solidFill>
                  <a:schemeClr val="dk2"/>
                </a:solidFill>
                <a:latin typeface="Calibri"/>
                <a:ea typeface="Calibri"/>
                <a:cs typeface="Calibri"/>
                <a:sym typeface="Calibri"/>
              </a:rPr>
              <a:t>Glucose is #1 in all four models</a:t>
            </a:r>
            <a:endParaRPr b="0" i="0" sz="15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300"/>
              <a:buFont typeface="Calibri"/>
              <a:buNone/>
            </a:pPr>
            <a:r>
              <a:rPr b="0" i="0" lang="en-US" sz="1300" u="none" cap="none" strike="noStrike">
                <a:solidFill>
                  <a:schemeClr val="dk1"/>
                </a:solidFill>
                <a:latin typeface="Calibri"/>
                <a:ea typeface="Calibri"/>
                <a:cs typeface="Calibri"/>
                <a:sym typeface="Calibri"/>
              </a:rPr>
              <a:t>DT 0.551  |  RF 0.276  |  XGB 0.299  |  LR |coef| 1.258</a:t>
            </a:r>
            <a:endParaRPr b="0" i="0" sz="1500" u="none" cap="none" strike="noStrike">
              <a:solidFill>
                <a:schemeClr val="dk1"/>
              </a:solidFill>
              <a:latin typeface="Calibri"/>
              <a:ea typeface="Calibri"/>
              <a:cs typeface="Calibri"/>
              <a:sym typeface="Calibri"/>
            </a:endParaRPr>
          </a:p>
        </p:txBody>
      </p:sp>
      <p:sp>
        <p:nvSpPr>
          <p:cNvPr id="669" name="Google Shape;669;p21"/>
          <p:cNvSpPr/>
          <p:nvPr/>
        </p:nvSpPr>
        <p:spPr>
          <a:xfrm>
            <a:off x="4297680" y="4206240"/>
            <a:ext cx="3566160" cy="1783080"/>
          </a:xfrm>
          <a:prstGeom prst="roundRect">
            <a:avLst>
              <a:gd fmla="val 4103"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0" name="Google Shape;670;p21"/>
          <p:cNvSpPr txBox="1"/>
          <p:nvPr/>
        </p:nvSpPr>
        <p:spPr>
          <a:xfrm>
            <a:off x="4480560" y="4343400"/>
            <a:ext cx="3200400" cy="1508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600"/>
              <a:buFont typeface="Calibri"/>
              <a:buNone/>
            </a:pPr>
            <a:r>
              <a:rPr b="1" i="0" lang="en-US" sz="1600" u="none" cap="none" strike="noStrike">
                <a:solidFill>
                  <a:schemeClr val="dk2"/>
                </a:solidFill>
                <a:latin typeface="Calibri"/>
                <a:ea typeface="Calibri"/>
                <a:cs typeface="Calibri"/>
                <a:sym typeface="Calibri"/>
              </a:rPr>
              <a:t>BMI is consistently #2</a:t>
            </a:r>
            <a:endParaRPr b="0" i="0" sz="15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300"/>
              <a:buFont typeface="Calibri"/>
              <a:buNone/>
            </a:pPr>
            <a:r>
              <a:rPr b="0" i="0" lang="en-US" sz="1300" u="none" cap="none" strike="noStrike">
                <a:solidFill>
                  <a:schemeClr val="dk1"/>
                </a:solidFill>
                <a:latin typeface="Calibri"/>
                <a:ea typeface="Calibri"/>
                <a:cs typeface="Calibri"/>
                <a:sym typeface="Calibri"/>
              </a:rPr>
              <a:t>RF 0.175  |  XGB 0.172  |  LR |coef| 0.768</a:t>
            </a:r>
            <a:endParaRPr b="0" i="0" sz="1500" u="none" cap="none" strike="noStrike">
              <a:solidFill>
                <a:schemeClr val="dk1"/>
              </a:solidFill>
              <a:latin typeface="Calibri"/>
              <a:ea typeface="Calibri"/>
              <a:cs typeface="Calibri"/>
              <a:sym typeface="Calibri"/>
            </a:endParaRPr>
          </a:p>
        </p:txBody>
      </p:sp>
      <p:sp>
        <p:nvSpPr>
          <p:cNvPr id="671" name="Google Shape;671;p21"/>
          <p:cNvSpPr/>
          <p:nvPr/>
        </p:nvSpPr>
        <p:spPr>
          <a:xfrm>
            <a:off x="8046720" y="4206240"/>
            <a:ext cx="3566160" cy="1783080"/>
          </a:xfrm>
          <a:prstGeom prst="roundRect">
            <a:avLst>
              <a:gd fmla="val 4103"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2" name="Google Shape;672;p21"/>
          <p:cNvSpPr txBox="1"/>
          <p:nvPr/>
        </p:nvSpPr>
        <p:spPr>
          <a:xfrm>
            <a:off x="8229600" y="4343400"/>
            <a:ext cx="3200400" cy="1508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600"/>
              <a:buFont typeface="Calibri"/>
              <a:buNone/>
            </a:pPr>
            <a:r>
              <a:rPr b="1" i="0" lang="en-US" sz="1600" u="none" cap="none" strike="noStrike">
                <a:solidFill>
                  <a:schemeClr val="accent2"/>
                </a:solidFill>
                <a:latin typeface="Calibri"/>
                <a:ea typeface="Calibri"/>
                <a:cs typeface="Calibri"/>
                <a:sym typeface="Calibri"/>
              </a:rPr>
              <a:t>Importance ≠ causation</a:t>
            </a:r>
            <a:endParaRPr b="0" i="0" sz="15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300"/>
              <a:buFont typeface="Calibri"/>
              <a:buNone/>
            </a:pPr>
            <a:r>
              <a:rPr b="0" i="0" lang="en-US" sz="1300" u="none" cap="none" strike="noStrike">
                <a:solidFill>
                  <a:schemeClr val="dk1"/>
                </a:solidFill>
                <a:latin typeface="Calibri"/>
                <a:ea typeface="Calibri"/>
                <a:cs typeface="Calibri"/>
                <a:sym typeface="Calibri"/>
              </a:rPr>
              <a:t>Impurity importance favours continuous features and is shared between correlated ones</a:t>
            </a:r>
            <a:endParaRPr b="0" i="0" sz="1500" u="none" cap="none" strike="noStrike">
              <a:solidFill>
                <a:schemeClr val="dk1"/>
              </a:solidFill>
              <a:latin typeface="Calibri"/>
              <a:ea typeface="Calibri"/>
              <a:cs typeface="Calibri"/>
              <a:sym typeface="Calibri"/>
            </a:endParaRPr>
          </a:p>
        </p:txBody>
      </p:sp>
      <p:sp>
        <p:nvSpPr>
          <p:cNvPr id="673" name="Google Shape;673;p21">
            <a:hlinkClick action="ppaction://hlinksldjump" r:id="rId4"/>
          </p:cNvPr>
          <p:cNvSpPr/>
          <p:nvPr/>
        </p:nvSpPr>
        <p:spPr>
          <a:xfrm>
            <a:off x="10680192" y="6336792"/>
            <a:ext cx="960120" cy="365760"/>
          </a:xfrm>
          <a:prstGeom prst="roundRect">
            <a:avLst>
              <a:gd fmla="val 25000"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1" i="0" lang="en-US" sz="1200" u="none" cap="none" strike="noStrike">
                <a:solidFill>
                  <a:schemeClr val="dk2"/>
                </a:solidFill>
                <a:latin typeface="Calibri"/>
                <a:ea typeface="Calibri"/>
                <a:cs typeface="Calibri"/>
                <a:sym typeface="Calibri"/>
              </a:rPr>
              <a:t>Agenda</a:t>
            </a:r>
            <a:endParaRPr b="0" i="0" sz="1200" u="none" cap="none" strike="noStrike">
              <a:solidFill>
                <a:schemeClr val="dk1"/>
              </a:solidFill>
              <a:latin typeface="Calibri"/>
              <a:ea typeface="Calibri"/>
              <a:cs typeface="Calibri"/>
              <a:sym typeface="Calibri"/>
            </a:endParaRPr>
          </a:p>
        </p:txBody>
      </p:sp>
      <p:sp>
        <p:nvSpPr>
          <p:cNvPr id="674" name="Google Shape;674;p21">
            <a:hlinkClick action="ppaction://hlinksldjump" r:id="rId5"/>
          </p:cNvPr>
          <p:cNvSpPr/>
          <p:nvPr/>
        </p:nvSpPr>
        <p:spPr>
          <a:xfrm>
            <a:off x="8284464" y="6336792"/>
            <a:ext cx="2286000" cy="365760"/>
          </a:xfrm>
          <a:prstGeom prst="roundRect">
            <a:avLst>
              <a:gd fmla="val 25000" name="adj"/>
            </a:avLst>
          </a:prstGeom>
          <a:solidFill>
            <a:schemeClr val="accent2"/>
          </a:solidFill>
          <a:ln cap="flat" cmpd="sng" w="9525">
            <a:solidFill>
              <a:schemeClr val="accen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 Back to Interpretation</a:t>
            </a:r>
            <a:endParaRPr b="0" i="0" sz="1200" u="none" cap="none" strike="noStrike">
              <a:solidFill>
                <a:schemeClr val="dk1"/>
              </a:solidFill>
              <a:latin typeface="Calibri"/>
              <a:ea typeface="Calibri"/>
              <a:cs typeface="Calibri"/>
              <a:sym typeface="Calibri"/>
            </a:endParaRPr>
          </a:p>
        </p:txBody>
      </p:sp>
      <p:sp>
        <p:nvSpPr>
          <p:cNvPr id="675" name="Google Shape;675;p21"/>
          <p:cNvSpPr txBox="1"/>
          <p:nvPr>
            <p:ph idx="4294967295" type="sldNum"/>
          </p:nvPr>
        </p:nvSpPr>
        <p:spPr>
          <a:xfrm>
            <a:off x="8732520" y="6382512"/>
            <a:ext cx="502920" cy="292608"/>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accent5"/>
                </a:solidFill>
                <a:latin typeface="Calibri"/>
                <a:ea typeface="Calibri"/>
                <a:cs typeface="Calibri"/>
                <a:sym typeface="Calibri"/>
              </a:rPr>
              <a:t>‹#›</a:t>
            </a:fld>
            <a:endParaRPr b="0" i="0" sz="1000" u="none" cap="none" strike="noStrike">
              <a:solidFill>
                <a:schemeClr val="accent5"/>
              </a:solidFill>
              <a:latin typeface="Calibri"/>
              <a:ea typeface="Calibri"/>
              <a:cs typeface="Calibri"/>
              <a:sym typeface="Calibri"/>
            </a:endParaRPr>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680" name="Shape 680"/>
        <p:cNvGrpSpPr/>
        <p:nvPr/>
      </p:nvGrpSpPr>
      <p:grpSpPr>
        <a:xfrm>
          <a:off x="0" y="0"/>
          <a:ext cx="0" cy="0"/>
          <a:chOff x="0" y="0"/>
          <a:chExt cx="0" cy="0"/>
        </a:xfrm>
      </p:grpSpPr>
      <p:sp>
        <p:nvSpPr>
          <p:cNvPr id="681" name="Google Shape;681;p22"/>
          <p:cNvSpPr txBox="1"/>
          <p:nvPr>
            <p:ph type="title"/>
          </p:nvPr>
        </p:nvSpPr>
        <p:spPr>
          <a:xfrm>
            <a:off x="548640" y="347472"/>
            <a:ext cx="11064240" cy="7315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200"/>
              <a:buFont typeface="Cambria"/>
              <a:buNone/>
            </a:pPr>
            <a:r>
              <a:rPr b="1" lang="en-US" sz="3200">
                <a:solidFill>
                  <a:schemeClr val="dk2"/>
                </a:solidFill>
                <a:latin typeface="Cambria"/>
                <a:ea typeface="Cambria"/>
                <a:cs typeface="Cambria"/>
                <a:sym typeface="Cambria"/>
              </a:rPr>
              <a:t>Viva Q&amp;A: Prepared Answers</a:t>
            </a:r>
            <a:endParaRPr sz="3200"/>
          </a:p>
        </p:txBody>
      </p:sp>
      <p:sp>
        <p:nvSpPr>
          <p:cNvPr id="682" name="Google Shape;682;p22"/>
          <p:cNvSpPr/>
          <p:nvPr/>
        </p:nvSpPr>
        <p:spPr>
          <a:xfrm>
            <a:off x="548640" y="1234440"/>
            <a:ext cx="5458968" cy="1115568"/>
          </a:xfrm>
          <a:prstGeom prst="roundRect">
            <a:avLst>
              <a:gd fmla="val 6557"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 name="Google Shape;683;p22"/>
          <p:cNvSpPr txBox="1"/>
          <p:nvPr/>
        </p:nvSpPr>
        <p:spPr>
          <a:xfrm>
            <a:off x="713232" y="1325880"/>
            <a:ext cx="5120640" cy="9326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400"/>
              <a:buFont typeface="Calibri"/>
              <a:buNone/>
            </a:pPr>
            <a:r>
              <a:rPr b="1" i="0" lang="en-US" sz="1400" u="none" cap="none" strike="noStrike">
                <a:solidFill>
                  <a:schemeClr val="dk2"/>
                </a:solidFill>
                <a:latin typeface="Calibri"/>
                <a:ea typeface="Calibri"/>
                <a:cs typeface="Calibri"/>
                <a:sym typeface="Calibri"/>
              </a:rPr>
              <a:t>Q: Why not drop rows with zeros?</a:t>
            </a:r>
            <a:endParaRPr b="0" i="0" sz="15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300"/>
              <a:buFont typeface="Calibri"/>
              <a:buNone/>
            </a:pPr>
            <a:r>
              <a:rPr b="0" i="0" lang="en-US" sz="1300" u="none" cap="none" strike="noStrike">
                <a:solidFill>
                  <a:schemeClr val="dk1"/>
                </a:solidFill>
                <a:latin typeface="Calibri"/>
                <a:ea typeface="Calibri"/>
                <a:cs typeface="Calibri"/>
                <a:sym typeface="Calibri"/>
              </a:rPr>
              <a:t>It would remove about half the data (Insulin is 48.7 % missing); median imputation keeps all 768 rows.</a:t>
            </a:r>
            <a:endParaRPr b="0" i="0" sz="1500" u="none" cap="none" strike="noStrike">
              <a:solidFill>
                <a:schemeClr val="dk1"/>
              </a:solidFill>
              <a:latin typeface="Calibri"/>
              <a:ea typeface="Calibri"/>
              <a:cs typeface="Calibri"/>
              <a:sym typeface="Calibri"/>
            </a:endParaRPr>
          </a:p>
        </p:txBody>
      </p:sp>
      <p:sp>
        <p:nvSpPr>
          <p:cNvPr id="684" name="Google Shape;684;p22"/>
          <p:cNvSpPr/>
          <p:nvPr/>
        </p:nvSpPr>
        <p:spPr>
          <a:xfrm>
            <a:off x="6153912" y="1234440"/>
            <a:ext cx="5458968" cy="1115568"/>
          </a:xfrm>
          <a:prstGeom prst="roundRect">
            <a:avLst>
              <a:gd fmla="val 6557"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5" name="Google Shape;685;p22"/>
          <p:cNvSpPr txBox="1"/>
          <p:nvPr/>
        </p:nvSpPr>
        <p:spPr>
          <a:xfrm>
            <a:off x="6318504" y="1325880"/>
            <a:ext cx="5120640" cy="9326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400"/>
              <a:buFont typeface="Calibri"/>
              <a:buNone/>
            </a:pPr>
            <a:r>
              <a:rPr b="1" i="0" lang="en-US" sz="1400" u="none" cap="none" strike="noStrike">
                <a:solidFill>
                  <a:schemeClr val="dk2"/>
                </a:solidFill>
                <a:latin typeface="Calibri"/>
                <a:ea typeface="Calibri"/>
                <a:cs typeface="Calibri"/>
                <a:sym typeface="Calibri"/>
              </a:rPr>
              <a:t>Q: Why the median, not the mean?</a:t>
            </a:r>
            <a:endParaRPr b="0" i="0" sz="15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300"/>
              <a:buFont typeface="Calibri"/>
              <a:buNone/>
            </a:pPr>
            <a:r>
              <a:rPr b="0" i="0" lang="en-US" sz="1300" u="none" cap="none" strike="noStrike">
                <a:solidFill>
                  <a:schemeClr val="dk1"/>
                </a:solidFill>
                <a:latin typeface="Calibri"/>
                <a:ea typeface="Calibri"/>
                <a:cs typeface="Calibri"/>
                <a:sym typeface="Calibri"/>
              </a:rPr>
              <a:t>Insulin and SkinThickness are right-skewed; the median is robust to outliers.</a:t>
            </a:r>
            <a:endParaRPr b="0" i="0" sz="1500" u="none" cap="none" strike="noStrike">
              <a:solidFill>
                <a:schemeClr val="dk1"/>
              </a:solidFill>
              <a:latin typeface="Calibri"/>
              <a:ea typeface="Calibri"/>
              <a:cs typeface="Calibri"/>
              <a:sym typeface="Calibri"/>
            </a:endParaRPr>
          </a:p>
        </p:txBody>
      </p:sp>
      <p:sp>
        <p:nvSpPr>
          <p:cNvPr id="686" name="Google Shape;686;p22"/>
          <p:cNvSpPr/>
          <p:nvPr/>
        </p:nvSpPr>
        <p:spPr>
          <a:xfrm>
            <a:off x="548640" y="2487168"/>
            <a:ext cx="5458968" cy="1115568"/>
          </a:xfrm>
          <a:prstGeom prst="roundRect">
            <a:avLst>
              <a:gd fmla="val 6557"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 name="Google Shape;687;p22"/>
          <p:cNvSpPr txBox="1"/>
          <p:nvPr/>
        </p:nvSpPr>
        <p:spPr>
          <a:xfrm>
            <a:off x="713232" y="2578608"/>
            <a:ext cx="5120640" cy="9326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400"/>
              <a:buFont typeface="Calibri"/>
              <a:buNone/>
            </a:pPr>
            <a:r>
              <a:rPr b="1" i="0" lang="en-US" sz="1400" u="none" cap="none" strike="noStrike">
                <a:solidFill>
                  <a:schemeClr val="dk2"/>
                </a:solidFill>
                <a:latin typeface="Calibri"/>
                <a:ea typeface="Calibri"/>
                <a:cs typeface="Calibri"/>
                <a:sym typeface="Calibri"/>
              </a:rPr>
              <a:t>Q: Why split before imputation and SMOTE?</a:t>
            </a:r>
            <a:endParaRPr b="0" i="0" sz="15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300"/>
              <a:buFont typeface="Calibri"/>
              <a:buNone/>
            </a:pPr>
            <a:r>
              <a:rPr b="0" i="0" lang="en-US" sz="1300" u="none" cap="none" strike="noStrike">
                <a:solidFill>
                  <a:schemeClr val="dk1"/>
                </a:solidFill>
                <a:latin typeface="Calibri"/>
                <a:ea typeface="Calibri"/>
                <a:cs typeface="Calibri"/>
                <a:sym typeface="Calibri"/>
              </a:rPr>
              <a:t>Otherwise test information leaks into training and scores become optimistic.</a:t>
            </a:r>
            <a:endParaRPr b="0" i="0" sz="1500" u="none" cap="none" strike="noStrike">
              <a:solidFill>
                <a:schemeClr val="dk1"/>
              </a:solidFill>
              <a:latin typeface="Calibri"/>
              <a:ea typeface="Calibri"/>
              <a:cs typeface="Calibri"/>
              <a:sym typeface="Calibri"/>
            </a:endParaRPr>
          </a:p>
        </p:txBody>
      </p:sp>
      <p:sp>
        <p:nvSpPr>
          <p:cNvPr id="688" name="Google Shape;688;p22"/>
          <p:cNvSpPr/>
          <p:nvPr/>
        </p:nvSpPr>
        <p:spPr>
          <a:xfrm>
            <a:off x="6153912" y="2487168"/>
            <a:ext cx="5458968" cy="1115568"/>
          </a:xfrm>
          <a:prstGeom prst="roundRect">
            <a:avLst>
              <a:gd fmla="val 6557"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 name="Google Shape;689;p22"/>
          <p:cNvSpPr txBox="1"/>
          <p:nvPr/>
        </p:nvSpPr>
        <p:spPr>
          <a:xfrm>
            <a:off x="6318504" y="2578608"/>
            <a:ext cx="5120640" cy="9326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400"/>
              <a:buFont typeface="Calibri"/>
              <a:buNone/>
            </a:pPr>
            <a:r>
              <a:rPr b="1" i="0" lang="en-US" sz="1400" u="none" cap="none" strike="noStrike">
                <a:solidFill>
                  <a:schemeClr val="dk2"/>
                </a:solidFill>
                <a:latin typeface="Calibri"/>
                <a:ea typeface="Calibri"/>
                <a:cs typeface="Calibri"/>
                <a:sym typeface="Calibri"/>
              </a:rPr>
              <a:t>Q: Why is the test set not resampled?</a:t>
            </a:r>
            <a:endParaRPr b="0" i="0" sz="15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300"/>
              <a:buFont typeface="Calibri"/>
              <a:buNone/>
            </a:pPr>
            <a:r>
              <a:rPr b="0" i="0" lang="en-US" sz="1300" u="none" cap="none" strike="noStrike">
                <a:solidFill>
                  <a:schemeClr val="dk1"/>
                </a:solidFill>
                <a:latin typeface="Calibri"/>
                <a:ea typeface="Calibri"/>
                <a:cs typeface="Calibri"/>
                <a:sym typeface="Calibri"/>
              </a:rPr>
              <a:t>It must reflect the real class distribution of future patients.</a:t>
            </a:r>
            <a:endParaRPr b="0" i="0" sz="1500" u="none" cap="none" strike="noStrike">
              <a:solidFill>
                <a:schemeClr val="dk1"/>
              </a:solidFill>
              <a:latin typeface="Calibri"/>
              <a:ea typeface="Calibri"/>
              <a:cs typeface="Calibri"/>
              <a:sym typeface="Calibri"/>
            </a:endParaRPr>
          </a:p>
        </p:txBody>
      </p:sp>
      <p:sp>
        <p:nvSpPr>
          <p:cNvPr id="690" name="Google Shape;690;p22"/>
          <p:cNvSpPr/>
          <p:nvPr/>
        </p:nvSpPr>
        <p:spPr>
          <a:xfrm>
            <a:off x="548640" y="3739896"/>
            <a:ext cx="5458968" cy="1115568"/>
          </a:xfrm>
          <a:prstGeom prst="roundRect">
            <a:avLst>
              <a:gd fmla="val 6557"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1" name="Google Shape;691;p22"/>
          <p:cNvSpPr txBox="1"/>
          <p:nvPr/>
        </p:nvSpPr>
        <p:spPr>
          <a:xfrm>
            <a:off x="713232" y="3831336"/>
            <a:ext cx="5120640" cy="9326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400"/>
              <a:buFont typeface="Calibri"/>
              <a:buNone/>
            </a:pPr>
            <a:r>
              <a:rPr b="1" i="0" lang="en-US" sz="1400" u="none" cap="none" strike="noStrike">
                <a:solidFill>
                  <a:schemeClr val="dk2"/>
                </a:solidFill>
                <a:latin typeface="Calibri"/>
                <a:ea typeface="Calibri"/>
                <a:cs typeface="Calibri"/>
                <a:sym typeface="Calibri"/>
              </a:rPr>
              <a:t>Q: Why scale tree models?</a:t>
            </a:r>
            <a:endParaRPr b="0" i="0" sz="15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300"/>
              <a:buFont typeface="Calibri"/>
              <a:buNone/>
            </a:pPr>
            <a:r>
              <a:rPr b="0" i="0" lang="en-US" sz="1300" u="none" cap="none" strike="noStrike">
                <a:solidFill>
                  <a:schemeClr val="dk1"/>
                </a:solidFill>
                <a:latin typeface="Calibri"/>
                <a:ea typeface="Calibri"/>
                <a:cs typeface="Calibri"/>
                <a:sym typeface="Calibri"/>
              </a:rPr>
              <a:t>Not needed for trees, but it keeps one pipeline and gives SMOTE comparable distances.</a:t>
            </a:r>
            <a:endParaRPr b="0" i="0" sz="1500" u="none" cap="none" strike="noStrike">
              <a:solidFill>
                <a:schemeClr val="dk1"/>
              </a:solidFill>
              <a:latin typeface="Calibri"/>
              <a:ea typeface="Calibri"/>
              <a:cs typeface="Calibri"/>
              <a:sym typeface="Calibri"/>
            </a:endParaRPr>
          </a:p>
        </p:txBody>
      </p:sp>
      <p:sp>
        <p:nvSpPr>
          <p:cNvPr id="692" name="Google Shape;692;p22"/>
          <p:cNvSpPr/>
          <p:nvPr/>
        </p:nvSpPr>
        <p:spPr>
          <a:xfrm>
            <a:off x="6153912" y="3739896"/>
            <a:ext cx="5458968" cy="1115568"/>
          </a:xfrm>
          <a:prstGeom prst="roundRect">
            <a:avLst>
              <a:gd fmla="val 6557"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3" name="Google Shape;693;p22"/>
          <p:cNvSpPr txBox="1"/>
          <p:nvPr/>
        </p:nvSpPr>
        <p:spPr>
          <a:xfrm>
            <a:off x="6318504" y="3831336"/>
            <a:ext cx="5120640" cy="9326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400"/>
              <a:buFont typeface="Calibri"/>
              <a:buNone/>
            </a:pPr>
            <a:r>
              <a:rPr b="1" i="0" lang="en-US" sz="1400" u="none" cap="none" strike="noStrike">
                <a:solidFill>
                  <a:schemeClr val="dk2"/>
                </a:solidFill>
                <a:latin typeface="Calibri"/>
                <a:ea typeface="Calibri"/>
                <a:cs typeface="Calibri"/>
                <a:sym typeface="Calibri"/>
              </a:rPr>
              <a:t>Q: Why not XGBoost (best test AUC)?</a:t>
            </a:r>
            <a:endParaRPr b="0" i="0" sz="15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300"/>
              <a:buFont typeface="Calibri"/>
              <a:buNone/>
            </a:pPr>
            <a:r>
              <a:rPr b="0" i="0" lang="en-US" sz="1300" u="none" cap="none" strike="noStrike">
                <a:solidFill>
                  <a:schemeClr val="dk1"/>
                </a:solidFill>
                <a:latin typeface="Calibri"/>
                <a:ea typeface="Calibri"/>
                <a:cs typeface="Calibri"/>
                <a:sym typeface="Calibri"/>
              </a:rPr>
              <a:t>Its cross-validated recall (0.687) failed the screening rule; RF was consistent.</a:t>
            </a:r>
            <a:endParaRPr b="0" i="0" sz="1500" u="none" cap="none" strike="noStrike">
              <a:solidFill>
                <a:schemeClr val="dk1"/>
              </a:solidFill>
              <a:latin typeface="Calibri"/>
              <a:ea typeface="Calibri"/>
              <a:cs typeface="Calibri"/>
              <a:sym typeface="Calibri"/>
            </a:endParaRPr>
          </a:p>
        </p:txBody>
      </p:sp>
      <p:sp>
        <p:nvSpPr>
          <p:cNvPr id="694" name="Google Shape;694;p22"/>
          <p:cNvSpPr/>
          <p:nvPr/>
        </p:nvSpPr>
        <p:spPr>
          <a:xfrm>
            <a:off x="548640" y="4992624"/>
            <a:ext cx="5458968" cy="1115568"/>
          </a:xfrm>
          <a:prstGeom prst="roundRect">
            <a:avLst>
              <a:gd fmla="val 6557"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 name="Google Shape;695;p22"/>
          <p:cNvSpPr txBox="1"/>
          <p:nvPr/>
        </p:nvSpPr>
        <p:spPr>
          <a:xfrm>
            <a:off x="713232" y="5084064"/>
            <a:ext cx="5120640" cy="9326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400"/>
              <a:buFont typeface="Calibri"/>
              <a:buNone/>
            </a:pPr>
            <a:r>
              <a:rPr b="1" i="0" lang="en-US" sz="1400" u="none" cap="none" strike="noStrike">
                <a:solidFill>
                  <a:schemeClr val="dk2"/>
                </a:solidFill>
                <a:latin typeface="Calibri"/>
                <a:ea typeface="Calibri"/>
                <a:cs typeface="Calibri"/>
                <a:sym typeface="Calibri"/>
              </a:rPr>
              <a:t>Q: What does ROC-AUC 0.809 mean?</a:t>
            </a:r>
            <a:endParaRPr b="0" i="0" sz="15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300"/>
              <a:buFont typeface="Calibri"/>
              <a:buNone/>
            </a:pPr>
            <a:r>
              <a:rPr b="0" i="0" lang="en-US" sz="1300" u="none" cap="none" strike="noStrike">
                <a:solidFill>
                  <a:schemeClr val="dk1"/>
                </a:solidFill>
                <a:latin typeface="Calibri"/>
                <a:ea typeface="Calibri"/>
                <a:cs typeface="Calibri"/>
                <a:sym typeface="Calibri"/>
              </a:rPr>
              <a:t>An 80.9 % chance a random diabetic patient is ranked above a random non-diabetic one.</a:t>
            </a:r>
            <a:endParaRPr b="0" i="0" sz="1500" u="none" cap="none" strike="noStrike">
              <a:solidFill>
                <a:schemeClr val="dk1"/>
              </a:solidFill>
              <a:latin typeface="Calibri"/>
              <a:ea typeface="Calibri"/>
              <a:cs typeface="Calibri"/>
              <a:sym typeface="Calibri"/>
            </a:endParaRPr>
          </a:p>
        </p:txBody>
      </p:sp>
      <p:sp>
        <p:nvSpPr>
          <p:cNvPr id="696" name="Google Shape;696;p22"/>
          <p:cNvSpPr/>
          <p:nvPr/>
        </p:nvSpPr>
        <p:spPr>
          <a:xfrm>
            <a:off x="6153912" y="4992624"/>
            <a:ext cx="5458968" cy="1115568"/>
          </a:xfrm>
          <a:prstGeom prst="roundRect">
            <a:avLst>
              <a:gd fmla="val 6557" name="adj"/>
            </a:avLst>
          </a:prstGeom>
          <a:solidFill>
            <a:schemeClr val="lt2"/>
          </a:solidFill>
          <a:ln cap="flat" cmpd="sng" w="12700">
            <a:solidFill>
              <a:schemeClr val="lt2"/>
            </a:solidFill>
            <a:prstDash val="solid"/>
            <a:round/>
            <a:headEnd len="sm" w="sm" type="none"/>
            <a:tailEnd len="sm" w="sm" type="none"/>
          </a:ln>
          <a:effectLst>
            <a:outerShdw blurRad="76200" rotWithShape="0" algn="bl" dir="5400000" dist="25400">
              <a:srgbClr val="000000">
                <a:alpha val="1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7" name="Google Shape;697;p22"/>
          <p:cNvSpPr txBox="1"/>
          <p:nvPr/>
        </p:nvSpPr>
        <p:spPr>
          <a:xfrm>
            <a:off x="6318504" y="5084064"/>
            <a:ext cx="5120640" cy="9326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400"/>
              <a:buFont typeface="Calibri"/>
              <a:buNone/>
            </a:pPr>
            <a:r>
              <a:rPr b="1" i="0" lang="en-US" sz="1400" u="none" cap="none" strike="noStrike">
                <a:solidFill>
                  <a:schemeClr val="dk2"/>
                </a:solidFill>
                <a:latin typeface="Calibri"/>
                <a:ea typeface="Calibri"/>
                <a:cs typeface="Calibri"/>
                <a:sym typeface="Calibri"/>
              </a:rPr>
              <a:t>Q: Does SHAP prove glucose causes diabetes?</a:t>
            </a:r>
            <a:endParaRPr b="0" i="0" sz="15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300"/>
              <a:buFont typeface="Calibri"/>
              <a:buNone/>
            </a:pPr>
            <a:r>
              <a:rPr b="0" i="0" lang="en-US" sz="1300" u="none" cap="none" strike="noStrike">
                <a:solidFill>
                  <a:schemeClr val="dk1"/>
                </a:solidFill>
                <a:latin typeface="Calibri"/>
                <a:ea typeface="Calibri"/>
                <a:cs typeface="Calibri"/>
                <a:sym typeface="Calibri"/>
              </a:rPr>
              <a:t>No. It explains how the model uses features, which reflects associations.</a:t>
            </a:r>
            <a:endParaRPr b="0" i="0" sz="1500" u="none" cap="none" strike="noStrike">
              <a:solidFill>
                <a:schemeClr val="dk1"/>
              </a:solidFill>
              <a:latin typeface="Calibri"/>
              <a:ea typeface="Calibri"/>
              <a:cs typeface="Calibri"/>
              <a:sym typeface="Calibri"/>
            </a:endParaRPr>
          </a:p>
        </p:txBody>
      </p:sp>
      <p:sp>
        <p:nvSpPr>
          <p:cNvPr id="698" name="Google Shape;698;p22">
            <a:hlinkClick action="ppaction://hlinksldjump" r:id="rId3"/>
          </p:cNvPr>
          <p:cNvSpPr/>
          <p:nvPr/>
        </p:nvSpPr>
        <p:spPr>
          <a:xfrm>
            <a:off x="10680192" y="6336792"/>
            <a:ext cx="960120" cy="365760"/>
          </a:xfrm>
          <a:prstGeom prst="roundRect">
            <a:avLst>
              <a:gd fmla="val 25000" name="adj"/>
            </a:avLst>
          </a:prstGeom>
          <a:solidFill>
            <a:schemeClr val="lt2"/>
          </a:solidFill>
          <a:ln cap="flat" cmpd="sng" w="9525">
            <a:solidFill>
              <a:schemeClr val="l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1" i="0" lang="en-US" sz="1200" u="none" cap="none" strike="noStrike">
                <a:solidFill>
                  <a:schemeClr val="dk2"/>
                </a:solidFill>
                <a:latin typeface="Calibri"/>
                <a:ea typeface="Calibri"/>
                <a:cs typeface="Calibri"/>
                <a:sym typeface="Calibri"/>
              </a:rPr>
              <a:t>Agenda</a:t>
            </a:r>
            <a:endParaRPr b="0" i="0" sz="1200" u="none" cap="none" strike="noStrike">
              <a:solidFill>
                <a:schemeClr val="dk1"/>
              </a:solidFill>
              <a:latin typeface="Calibri"/>
              <a:ea typeface="Calibri"/>
              <a:cs typeface="Calibri"/>
              <a:sym typeface="Calibri"/>
            </a:endParaRPr>
          </a:p>
        </p:txBody>
      </p:sp>
      <p:sp>
        <p:nvSpPr>
          <p:cNvPr id="699" name="Google Shape;699;p22">
            <a:hlinkClick action="ppaction://hlinksldjump" r:id="rId4"/>
          </p:cNvPr>
          <p:cNvSpPr/>
          <p:nvPr/>
        </p:nvSpPr>
        <p:spPr>
          <a:xfrm>
            <a:off x="8467344" y="6336792"/>
            <a:ext cx="2103120" cy="365760"/>
          </a:xfrm>
          <a:prstGeom prst="roundRect">
            <a:avLst>
              <a:gd fmla="val 25000" name="adj"/>
            </a:avLst>
          </a:prstGeom>
          <a:solidFill>
            <a:schemeClr val="accent2"/>
          </a:solidFill>
          <a:ln cap="flat" cmpd="sng" w="9525">
            <a:solidFill>
              <a:schemeClr val="accent2"/>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 Back to Conclusion</a:t>
            </a:r>
            <a:endParaRPr b="0" i="0" sz="1200" u="none" cap="none" strike="noStrike">
              <a:solidFill>
                <a:schemeClr val="dk1"/>
              </a:solidFill>
              <a:latin typeface="Calibri"/>
              <a:ea typeface="Calibri"/>
              <a:cs typeface="Calibri"/>
              <a:sym typeface="Calibri"/>
            </a:endParaRPr>
          </a:p>
        </p:txBody>
      </p:sp>
      <p:sp>
        <p:nvSpPr>
          <p:cNvPr id="700" name="Google Shape;700;p22"/>
          <p:cNvSpPr txBox="1"/>
          <p:nvPr>
            <p:ph idx="4294967295" type="sldNum"/>
          </p:nvPr>
        </p:nvSpPr>
        <p:spPr>
          <a:xfrm>
            <a:off x="8732520" y="6382512"/>
            <a:ext cx="502920" cy="292608"/>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accent5"/>
                </a:solidFill>
                <a:latin typeface="Calibri"/>
                <a:ea typeface="Calibri"/>
                <a:cs typeface="Calibri"/>
                <a:sym typeface="Calibri"/>
              </a:rPr>
              <a:t>‹#›</a:t>
            </a:fld>
            <a:endParaRPr b="0" i="0" sz="1000" u="none" cap="none" strike="noStrike">
              <a:solidFill>
                <a:schemeClr val="accent5"/>
              </a:solidFill>
              <a:latin typeface="Calibri"/>
              <a:ea typeface="Calibri"/>
              <a:cs typeface="Calibri"/>
              <a:sym typeface="Calibri"/>
            </a:endParaRPr>
          </a:p>
        </p:txBody>
      </p:sp>
    </p:spTree>
  </p:cSld>
  <p:clrMapOvr>
    <a:masterClrMapping/>
  </p:clrMapOvr>
  <p:transition spd="med">
    <p:fade/>
  </p:transition>
</p:sld>
</file>

<file path=ppt/theme/theme1.xml><?xml version="1.0" encoding="utf-8"?>
<a:theme xmlns:a="http://schemas.openxmlformats.org/drawingml/2006/main" xmlns:r="http://schemas.openxmlformats.org/officeDocument/2006/relationships" name="Glucose Teal">
  <a:themeElements>
    <a:clrScheme name="Glucose Teal">
      <a:dk1>
        <a:srgbClr val="1B2A33"/>
      </a:dk1>
      <a:lt1>
        <a:srgbClr val="FFFFFF"/>
      </a:lt1>
      <a:dk2>
        <a:srgbClr val="0B3C49"/>
      </a:dk2>
      <a:lt2>
        <a:srgbClr val="EAF3F4"/>
      </a:lt2>
      <a:accent1>
        <a:srgbClr val="0E7C86"/>
      </a:accent1>
      <a:accent2>
        <a:srgbClr val="F25C54"/>
      </a:accent2>
      <a:accent3>
        <a:srgbClr val="F4B942"/>
      </a:accent3>
      <a:accent4>
        <a:srgbClr val="3A5A98"/>
      </a:accent4>
      <a:accent5>
        <a:srgbClr val="7A8B94"/>
      </a:accent5>
      <a:accent6>
        <a:srgbClr val="6B4E9B"/>
      </a:accent6>
      <a:hlink>
        <a:srgbClr val="0E7C86"/>
      </a:hlink>
      <a:folHlink>
        <a:srgbClr val="6B4E9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Glucose Teal">
  <a:themeElements>
    <a:clrScheme name="Glucose Teal">
      <a:dk1>
        <a:srgbClr val="1B2A33"/>
      </a:dk1>
      <a:lt1>
        <a:srgbClr val="FFFFFF"/>
      </a:lt1>
      <a:dk2>
        <a:srgbClr val="0B3C49"/>
      </a:dk2>
      <a:lt2>
        <a:srgbClr val="EAF3F4"/>
      </a:lt2>
      <a:accent1>
        <a:srgbClr val="0E7C86"/>
      </a:accent1>
      <a:accent2>
        <a:srgbClr val="F25C54"/>
      </a:accent2>
      <a:accent3>
        <a:srgbClr val="F4B942"/>
      </a:accent3>
      <a:accent4>
        <a:srgbClr val="3A5A98"/>
      </a:accent4>
      <a:accent5>
        <a:srgbClr val="7A8B94"/>
      </a:accent5>
      <a:accent6>
        <a:srgbClr val="6B4E9B"/>
      </a:accent6>
      <a:hlink>
        <a:srgbClr val="0E7C86"/>
      </a:hlink>
      <a:folHlink>
        <a:srgbClr val="6B4E9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2026-10-10T17:18:33Z</dcterms:created>
  <dc:creator>Hardik Jain</dc:creator>
</cp:coreProperties>
</file>